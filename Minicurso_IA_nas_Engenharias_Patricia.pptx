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1"/>
  </p:notesMasterIdLst>
  <p:sldIdLst>
    <p:sldId id="256" r:id="rId2"/>
    <p:sldId id="292" r:id="rId3"/>
    <p:sldId id="288" r:id="rId4"/>
    <p:sldId id="289" r:id="rId5"/>
    <p:sldId id="275" r:id="rId6"/>
    <p:sldId id="352" r:id="rId7"/>
    <p:sldId id="350" r:id="rId8"/>
    <p:sldId id="353" r:id="rId9"/>
    <p:sldId id="351" r:id="rId10"/>
    <p:sldId id="318" r:id="rId11"/>
    <p:sldId id="317" r:id="rId12"/>
    <p:sldId id="259" r:id="rId13"/>
    <p:sldId id="257" r:id="rId14"/>
    <p:sldId id="356" r:id="rId15"/>
    <p:sldId id="258" r:id="rId16"/>
    <p:sldId id="357" r:id="rId17"/>
    <p:sldId id="355" r:id="rId18"/>
    <p:sldId id="359" r:id="rId19"/>
    <p:sldId id="260" r:id="rId20"/>
    <p:sldId id="360" r:id="rId21"/>
    <p:sldId id="261" r:id="rId22"/>
    <p:sldId id="296" r:id="rId23"/>
    <p:sldId id="349" r:id="rId24"/>
    <p:sldId id="314" r:id="rId25"/>
    <p:sldId id="368" r:id="rId26"/>
    <p:sldId id="369" r:id="rId27"/>
    <p:sldId id="293" r:id="rId28"/>
    <p:sldId id="294" r:id="rId29"/>
    <p:sldId id="295" r:id="rId30"/>
    <p:sldId id="297" r:id="rId31"/>
    <p:sldId id="298" r:id="rId32"/>
    <p:sldId id="299" r:id="rId33"/>
    <p:sldId id="354" r:id="rId34"/>
    <p:sldId id="266" r:id="rId35"/>
    <p:sldId id="267" r:id="rId36"/>
    <p:sldId id="371" r:id="rId37"/>
    <p:sldId id="370" r:id="rId38"/>
    <p:sldId id="361" r:id="rId39"/>
    <p:sldId id="363" r:id="rId40"/>
    <p:sldId id="362" r:id="rId41"/>
    <p:sldId id="364" r:id="rId42"/>
    <p:sldId id="365" r:id="rId43"/>
    <p:sldId id="366" r:id="rId44"/>
    <p:sldId id="367" r:id="rId45"/>
    <p:sldId id="372" r:id="rId46"/>
    <p:sldId id="373" r:id="rId47"/>
    <p:sldId id="375" r:id="rId48"/>
    <p:sldId id="376" r:id="rId49"/>
    <p:sldId id="329" r:id="rId50"/>
    <p:sldId id="279" r:id="rId51"/>
    <p:sldId id="338" r:id="rId52"/>
    <p:sldId id="339" r:id="rId53"/>
    <p:sldId id="340" r:id="rId54"/>
    <p:sldId id="341" r:id="rId55"/>
    <p:sldId id="342" r:id="rId56"/>
    <p:sldId id="343" r:id="rId57"/>
    <p:sldId id="344" r:id="rId58"/>
    <p:sldId id="345" r:id="rId59"/>
    <p:sldId id="346" r:id="rId60"/>
    <p:sldId id="347" r:id="rId61"/>
    <p:sldId id="278" r:id="rId62"/>
    <p:sldId id="320" r:id="rId63"/>
    <p:sldId id="285" r:id="rId64"/>
    <p:sldId id="311" r:id="rId65"/>
    <p:sldId id="325" r:id="rId66"/>
    <p:sldId id="286" r:id="rId67"/>
    <p:sldId id="305" r:id="rId68"/>
    <p:sldId id="336" r:id="rId69"/>
    <p:sldId id="312" r:id="rId7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F6F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237"/>
    <p:restoredTop sz="94673"/>
  </p:normalViewPr>
  <p:slideViewPr>
    <p:cSldViewPr snapToGrid="0" snapToObjects="1">
      <p:cViewPr varScale="1">
        <p:scale>
          <a:sx n="58" d="100"/>
          <a:sy n="58" d="100"/>
        </p:scale>
        <p:origin x="224" y="6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B22B3C-6648-4C4E-A97E-AC674580C3C4}" type="datetimeFigureOut">
              <a:rPr lang="pt-BR" smtClean="0"/>
              <a:t>29/10/2026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FEB861-6EB2-5E4F-8BA0-0EAB20C42F44}" type="slidenum">
              <a:rPr lang="pt-BR" smtClean="0"/>
              <a:t>‹nº›</a:t>
            </a:fld>
            <a:endParaRPr lang="pt-BR"/>
          </a:p>
        </p:txBody>
      </p:sp>
    </p:spTree>
    <p:extLst>
      <p:ext uri="{BB962C8B-B14F-4D97-AF65-F5344CB8AC3E}">
        <p14:creationId xmlns:p14="http://schemas.microsoft.com/office/powerpoint/2010/main" val="4045240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HISTÓRIA (3 min · começa em 01:30). Conte em ordem cronológica, com um fio condutor: dados e imagens, sempre. 1999: ensino médio no CETEC, já com o curso técnico em Processamento de Dados, que foi o primeiro contato com programação. 2002 a 2006: Engenharia Elétrica com ênfase em Computação. Em 2006, mudança para São Carlos e trabalho na Enalta. 2009: estágio na Embrapa de São Carlos. 2010: entrada na USP, na Engenharia Elétrica, na área de processamento de imagens, com estágio no laboratório do Dr. Lúcio André, e o mestrado concluído em 2014 (os próximos dois slides). Depois, a docência no Liceu Tec, onde você ensinou eletrotécnica, eletrônica e automação industrial. Em 2020, a chegada ao Hospital de Amor e o doutorado em Oncologia Molecular. Em 2023 e 2024, a especialização em Data Science e Analytics na USP/ESALQ, e hoje a especialização em Gestão de Negócios Digitais e IA. [Inserir: o ano em que deixou o Liceu Tec, o ano de início e de defesa do doutorado e 1 episódio pessoal que marcou a virada para a saúde.]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ENALTA (1 min · começa em 05:30). Seu primeiro emprego, em São Carlos, em 2006 e 2007. Você desenvolveu um controlador para um equipamento de rolo de irrigação usando um microcontrolador PIC. O controlador atuava na lâmina de água aplicada na plantação: o aspersor recebe água de uma motobomba, e o controle decide quando e quanto aplicar. Explique para quem nunca viu: lâmina é a quantidade de água aplicada sobre o solo. Mensagem para os alunos: era um sistema completo, com sensor, decisão e acionamento no campo, e foi ali que você aprendeu a pensar em sistemas com realimentação, ideia que volta no slide sobre o que a engenharia elétrica ensinou. Se tiver, conte uma dificuldade real do projeto, como o ambiente do campo ou a programação do PIC. As imagens são ilustrativas; se tiver fotos do equipamento da Enalta, troque.</a:t>
            </a:r>
          </a:p>
        </p:txBody>
      </p:sp>
    </p:spTree>
    <p:extLst>
      <p:ext uri="{BB962C8B-B14F-4D97-AF65-F5344CB8AC3E}">
        <p14:creationId xmlns:p14="http://schemas.microsoft.com/office/powerpoint/2010/main" val="2481164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MESTRADO: GREENING (2 min · começa em 06:30). Aqui está a origem do que faço hoje: imagens, textura e aprendizado de máquina para diferenciar o que parece igual a olho nu. O greening (HLB) é a doença mais grave dos citros, e seus sintomas se confundem com os de outras doenças e deficiências nutricionais, o que atrapalha os inspetores. A dissertação (EESC-USP, área de Processamento de Sinais e Instrumentação, defendida em 07/05/2014) foi orientada pela Profa. Maria Stela Veludo de Paiva, com co-orientação do Dr. Lúcio André de Castro Jorge, da Embrapa Instrumentação. O método combinou descritores de textura (LBP, LFP e Haralick) com classificação por distância χ² e por algoritmos do Weka (IBK e rede MLP). O LBP foi o melhor, com sensibilidade de 97,02% a 99,94% e 99,94% para o greening, enquanto Haralick não passou de 46% nas comparações por quadrante. A análise por quadrantes da folha foi a configuração mais eficaz. Faça a ponte: textura em folhas hoje é textura em lâminas histopatológicas. [Inserir: uma foto de folha com greening e a lição que você levou para a oncologia.]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MBA, METILAÇÃO (1 min · começa em 30:00). Este foi o trabalho de conclusão do seu MBA em Data Science e Analytics (USP/ESALQ, 2024), em coautoria com Ana Julia Righetto. É o elo entre a tese e a calculadora de risco: aqui você testou se a metilação de 12 genes, somada a HPV, citologia e biópsia, ajuda a separar lesões de baixo e alto risco. Foram 407 amostras coletadas em Barretos entre 2014 e 2015. O melhor modelo foi o Random Forest: no treino e na validação, acurácia média de 84,92% (±4,50), AUC 0,92, sensibilidade 0,76 e especificidade 0,65. No teste, acurácia 84,15%, AUC 0,91, sensibilidade 0,82 e especificidade 0,58. Seja honesta sobre o limite: a sensibilidade é boa, mas a especificidade ainda é modesta, e o estudo é retrospectivo. A mensagem é que dados moleculares mais aprendizado de máquina podem tornar o rastreio mais preciso e economicamente viável. [Inserir: o que você aprendeu aqui e levou para a calculadora de risco.]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TILs EM MELANOMA (2 min · começa em 25:30). Explique que a imunoterapia anti-PD-1 funciona para parte dos pacientes e que o padrão de infiltração de linfócitos no tumor é uma pista biológica. Mostre o fluxo: lâmina, classificação dos TILs (brisk versus non-brisk), associação com a resposta. Destaque a publicação em Genes &amp; Immunity (2026). Se tiver, mostre uma imagem de lâmina de cada padrão no lugar dos cartões ou ao lado. [Inserir: 1 resultado principal do artigo e o tamanho da amostra.]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ASSINATURA NANOSTRING (1,5 min · começa em 31:00). A mensagem principal é que validar é tão importante quanto descobrir. A assinatura de quatro genes (ZNF100, PRR5, GLS2 e MAPT) fica fixa e é testada em coortes independentes, sem reajuste. Explique em uma frase o que é NSCLC e o que o NanoString mede. Destaque a robustez do script: ler os rótulos pelos títulos das amostras evita erros silenciosos de posição, um bug clássico em análises de bioinformática. [Inserir: desempenho da assinatura nos dois conjuntos.]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CALCULADORA DE RISCO CERVICAL (2,5 min · começa em 27:30). É o projeto mais completo de ponta a ponta: dados clínicos e genotipagem de HPV, pipeline reproduzível em 10 scripts, dois desfechos (NIC2+ e NIC3+) e um aplicativo que qualquer pessoa da equipe pode abrir no navegador. Mostre uma demonstração ao vivo ou um print do app. Cuidado ao falar da regra que reclassifica NIC2 isolado como negativo no desfecho NIC3+: ela ainda aguarda validação da Dra. Lidia, então apresente como decisão metodológica em validação. [Inserir: desempenho do modelo, como AUC e calibração, e o que o app devolve ao usuário.]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ENGENHARIA (1 min · começa em 04:30). Conecte a formação às práticas de hoje. Sistemas: pense no diagrama de blocos com realimentação e mostre que um pipeline de IA clínica é igual. Sinal e ruído: cite um exemplo real do seu trabalho, como a diferença entre imagens de equipamentos ou planilhas de coortes diferentes. Automação: lembre da experiência como docente de Automação Industrial e dos pipelines de scripts que você constrói hoje. Ajuste os três exemplos com suas palavras.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MERCADO HOJE (1,5 min · começa em 08:30). Comece pelo mercado, porque é o que mais interessa a alunos e docentes. O Fórum Econômico Mundial (Future of Jobs 2025) projeta 170 milhões de empregos criados e 92 milhões eliminados até 2030, com saldo positivo de 78 milhões, e cerca de 40% das habilidades mudando. No Brasil, o Barômetro de Empregos de IA 2026 da PwC, com anúncios de vagas, mostra que as funções mais expostas à IA ganharam em média 314 novas habilidades por ocupação desde 2021, contra 88 nas menos expostas. Atenção: são médias por ocupação, não o que se exige de uma pessoa, e parte do aumento reflete mais vagas. As três ideias do slide: aprender sempre, saber usar a IA e pensar criticamente (verificar o que ela gera e decidir com responsabilidade). A frase final resume: o diferencial é saber quando, como e por que usar a tecnologia. Use a sua trajetória como exemplo: engenharia elétrica, imagens, oncologia e agora gestão de negócios digitais e IA.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IDEIA CENTRAL. O coordenador pediu foco nas engenharias: mostre que Civil, Produção, Elétrica, Mecânica e Química geram dados o tempo todo (ensaios, sensores, processos). A IA entra para transformar dado em decisão. O método se repete; o que muda é o dado e a pergunta. Cada uma terá um bloco prático hoje. A saúde aparece como mais um exemplo: o seu caminho no doutorado.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21220-3C3E-9DA2-A5DC-82E50FFD9B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CE9D79-E284-C26C-1319-E7EAB64E5CC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F23D9D6-2A7F-6906-635E-0255051E52F9}"/>
              </a:ext>
            </a:extLst>
          </p:cNvPr>
          <p:cNvSpPr>
            <a:spLocks noGrp="1"/>
          </p:cNvSpPr>
          <p:nvPr>
            <p:ph type="body" sz="quarter" idx="3"/>
          </p:nvPr>
        </p:nvSpPr>
        <p:spPr/>
        <p:txBody>
          <a:bodyPr/>
          <a:lstStyle/>
          <a:p>
            <a:r>
              <a:t>A IDEIA CENTRAL. O coordenador pediu foco nas engenharias: mostre que Civil, Produção, Elétrica, Mecânica e Química geram dados o tempo todo (ensaios, sensores, processos). A IA entra para transformar dado em decisão. O método se repete; o que muda é o dado e a pergunta. Cada uma terá um bloco prático hoje. A saúde aparece como mais um exemplo: o seu caminho no doutorado.</a:t>
            </a:r>
          </a:p>
        </p:txBody>
      </p:sp>
      <p:sp>
        <p:nvSpPr>
          <p:cNvPr id="4" name="Slide Number Placeholder 3">
            <a:extLst>
              <a:ext uri="{FF2B5EF4-FFF2-40B4-BE49-F238E27FC236}">
                <a16:creationId xmlns:a16="http://schemas.microsoft.com/office/drawing/2014/main" id="{33FCB8D8-0D5B-5E47-D76C-A41A9CCA5323}"/>
              </a:ext>
            </a:extLst>
          </p:cNvPr>
          <p:cNvSpPr>
            <a:spLocks noGrp="1"/>
          </p:cNvSpPr>
          <p:nvPr>
            <p:ph type="sldNum" sz="quarter" idx="5"/>
          </p:nvPr>
        </p:nvSpPr>
        <p:spPr/>
      </p:sp>
    </p:spTree>
    <p:extLst>
      <p:ext uri="{BB962C8B-B14F-4D97-AF65-F5344CB8AC3E}">
        <p14:creationId xmlns:p14="http://schemas.microsoft.com/office/powerpoint/2010/main" val="1226283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7CEBF-AE6A-BD52-7B4F-0C87812BB0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40261B-A269-7930-5C70-1B5B54CE053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CB885EA-09D7-D998-22FC-5FD8FFD3CC7D}"/>
              </a:ext>
            </a:extLst>
          </p:cNvPr>
          <p:cNvSpPr>
            <a:spLocks noGrp="1"/>
          </p:cNvSpPr>
          <p:nvPr>
            <p:ph type="body" sz="quarter" idx="3"/>
          </p:nvPr>
        </p:nvSpPr>
        <p:spPr/>
        <p:txBody>
          <a:bodyPr/>
          <a:lstStyle/>
          <a:p>
            <a:r>
              <a:t>A IDEIA CENTRAL. O coordenador pediu foco nas engenharias: mostre que Civil, Produção, Elétrica, Mecânica e Química geram dados o tempo todo (ensaios, sensores, processos). A IA entra para transformar dado em decisão. O método se repete; o que muda é o dado e a pergunta. Cada uma terá um bloco prático hoje. A saúde aparece como mais um exemplo: o seu caminho no doutorado.</a:t>
            </a:r>
          </a:p>
        </p:txBody>
      </p:sp>
      <p:sp>
        <p:nvSpPr>
          <p:cNvPr id="4" name="Slide Number Placeholder 3">
            <a:extLst>
              <a:ext uri="{FF2B5EF4-FFF2-40B4-BE49-F238E27FC236}">
                <a16:creationId xmlns:a16="http://schemas.microsoft.com/office/drawing/2014/main" id="{A8A3C945-90F2-650B-4632-EB882AFC2450}"/>
              </a:ext>
            </a:extLst>
          </p:cNvPr>
          <p:cNvSpPr>
            <a:spLocks noGrp="1"/>
          </p:cNvSpPr>
          <p:nvPr>
            <p:ph type="sldNum" sz="quarter" idx="5"/>
          </p:nvPr>
        </p:nvSpPr>
        <p:spPr/>
      </p:sp>
    </p:spTree>
    <p:extLst>
      <p:ext uri="{BB962C8B-B14F-4D97-AF65-F5344CB8AC3E}">
        <p14:creationId xmlns:p14="http://schemas.microsoft.com/office/powerpoint/2010/main" val="28357627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1032D-6963-B8B7-09CA-F68336547A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6076D6-567B-0728-25B5-1ECE93B0AD5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E5A215E-CD46-D6F2-D72F-5873BCF560D2}"/>
              </a:ext>
            </a:extLst>
          </p:cNvPr>
          <p:cNvSpPr>
            <a:spLocks noGrp="1"/>
          </p:cNvSpPr>
          <p:nvPr>
            <p:ph type="body" sz="quarter" idx="3"/>
          </p:nvPr>
        </p:nvSpPr>
        <p:spPr/>
        <p:txBody>
          <a:bodyPr/>
          <a:lstStyle/>
          <a:p>
            <a:r>
              <a:t>A IDEIA CENTRAL. O coordenador pediu foco nas engenharias: mostre que Civil, Produção, Elétrica, Mecânica e Química geram dados o tempo todo (ensaios, sensores, processos). A IA entra para transformar dado em decisão. O método se repete; o que muda é o dado e a pergunta. Cada uma terá um bloco prático hoje. A saúde aparece como mais um exemplo: o seu caminho no doutorado.</a:t>
            </a:r>
          </a:p>
        </p:txBody>
      </p:sp>
      <p:sp>
        <p:nvSpPr>
          <p:cNvPr id="4" name="Slide Number Placeholder 3">
            <a:extLst>
              <a:ext uri="{FF2B5EF4-FFF2-40B4-BE49-F238E27FC236}">
                <a16:creationId xmlns:a16="http://schemas.microsoft.com/office/drawing/2014/main" id="{2BB26EC7-BA91-7A58-CFE8-496A79FBC6E6}"/>
              </a:ext>
            </a:extLst>
          </p:cNvPr>
          <p:cNvSpPr>
            <a:spLocks noGrp="1"/>
          </p:cNvSpPr>
          <p:nvPr>
            <p:ph type="sldNum" sz="quarter" idx="5"/>
          </p:nvPr>
        </p:nvSpPr>
        <p:spPr/>
      </p:sp>
    </p:spTree>
    <p:extLst>
      <p:ext uri="{BB962C8B-B14F-4D97-AF65-F5344CB8AC3E}">
        <p14:creationId xmlns:p14="http://schemas.microsoft.com/office/powerpoint/2010/main" val="42497943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ECC9B-357A-C6F3-2E19-5E00710AB5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AAED0-5C1E-5979-590B-4E873C94231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3095694-BC0C-FB3E-D47E-B20B49158460}"/>
              </a:ext>
            </a:extLst>
          </p:cNvPr>
          <p:cNvSpPr>
            <a:spLocks noGrp="1"/>
          </p:cNvSpPr>
          <p:nvPr>
            <p:ph type="body" sz="quarter" idx="3"/>
          </p:nvPr>
        </p:nvSpPr>
        <p:spPr/>
        <p:txBody>
          <a:bodyPr/>
          <a:lstStyle/>
          <a:p>
            <a:r>
              <a:t>A IDEIA CENTRAL. O coordenador pediu foco nas engenharias: mostre que Civil, Produção, Elétrica, Mecânica e Química geram dados o tempo todo (ensaios, sensores, processos). A IA entra para transformar dado em decisão. O método se repete; o que muda é o dado e a pergunta. Cada uma terá um bloco prático hoje. A saúde aparece como mais um exemplo: o seu caminho no doutorado.</a:t>
            </a:r>
          </a:p>
        </p:txBody>
      </p:sp>
      <p:sp>
        <p:nvSpPr>
          <p:cNvPr id="4" name="Slide Number Placeholder 3">
            <a:extLst>
              <a:ext uri="{FF2B5EF4-FFF2-40B4-BE49-F238E27FC236}">
                <a16:creationId xmlns:a16="http://schemas.microsoft.com/office/drawing/2014/main" id="{6D75CA20-753F-659A-0535-98C91AF65720}"/>
              </a:ext>
            </a:extLst>
          </p:cNvPr>
          <p:cNvSpPr>
            <a:spLocks noGrp="1"/>
          </p:cNvSpPr>
          <p:nvPr>
            <p:ph type="sldNum" sz="quarter" idx="5"/>
          </p:nvPr>
        </p:nvSpPr>
        <p:spPr/>
      </p:sp>
    </p:spTree>
    <p:extLst>
      <p:ext uri="{BB962C8B-B14F-4D97-AF65-F5344CB8AC3E}">
        <p14:creationId xmlns:p14="http://schemas.microsoft.com/office/powerpoint/2010/main" val="16468245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 QUE É IA (1,5 min · começa em 10:00). Explique em camadas, de fora para dentro. IA é o campo amplo: sistemas que imitam capacidades humanas como raciocinar, aprender e se adaptar. Aprendizado de máquina é o subconjunto em que o modelo aprende com dados, em vez de seguir regras escritas à mão. Foi o que você usou no TCC do MBA, com Random Forest, SVM e LDA. Aprendizado profundo usa redes neurais com muitas camadas, e foi o que revolucionou a análise de imagens, como nas retinografias. Por fim, a IA generativa e os modelos de fundação, treinados em enormes volumes de dados, que hoje chegam à patologia. Mensagem: não é tudo igual. Cada camada serve a um tipo de problema, e a técnica certa depende do dado e da pergunta. Se quiser, faça a ponte com o mestrado: a textura com LBP era visão computacional clássica, antes do aprendizado profundo.</a:t>
            </a:r>
          </a:p>
          <a:p>
            <a:endParaRPr/>
          </a:p>
          <a:p>
            <a:r>
              <a:t>DEEP LEARNING: é Machine Learning com redes neurais de muitas camadas, que aprendem as características direto dos dados brutos (imagens, sinais, texto). Exemplos de engenharia: inspeção visual de defeitos em peças, folhas doentes em fotos, falhas no sinal bruto de vibração. No curso: o Teachable Machine (slides 27 a 32, Bônus A) usa uma rede profunda já treinada com milhões de imagens; no Colab, o Bônus C treina uma rede neural pequena para prever a resistência do concreto (MAE 1,87 MPa contra 2,16 do Random Forest). Em dados de tabela com poucos exemplos, o ML clássico costuma ser suficiente e mais fácil de explicar.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F0E03-3B0B-2993-DBC5-7099EF335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DE4CC0-75DB-7A6B-18B6-D3F9E8A20F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D180C8-BF0A-6036-35D9-8E9B1246195F}"/>
              </a:ext>
            </a:extLst>
          </p:cNvPr>
          <p:cNvSpPr>
            <a:spLocks noGrp="1"/>
          </p:cNvSpPr>
          <p:nvPr>
            <p:ph type="body" idx="1"/>
          </p:nvPr>
        </p:nvSpPr>
        <p:spPr/>
        <p:txBody>
          <a:bodyPr/>
          <a:lstStyle/>
          <a:p>
            <a:r>
              <a:rPr dirty="0"/>
              <a:t>TÉCNICAS DE IA (2 min · </a:t>
            </a:r>
            <a:r>
              <a:rPr dirty="0" err="1"/>
              <a:t>começa</a:t>
            </a:r>
            <a:r>
              <a:rPr dirty="0"/>
              <a:t> </a:t>
            </a:r>
            <a:r>
              <a:rPr dirty="0" err="1"/>
              <a:t>em</a:t>
            </a:r>
            <a:r>
              <a:rPr dirty="0"/>
              <a:t> 25:00). </a:t>
            </a:r>
            <a:r>
              <a:rPr dirty="0" err="1"/>
              <a:t>Visão</a:t>
            </a:r>
            <a:r>
              <a:rPr dirty="0"/>
              <a:t> </a:t>
            </a:r>
            <a:r>
              <a:rPr dirty="0" err="1"/>
              <a:t>geral</a:t>
            </a:r>
            <a:r>
              <a:rPr dirty="0"/>
              <a:t> do </a:t>
            </a:r>
            <a:r>
              <a:rPr dirty="0" err="1"/>
              <a:t>que</a:t>
            </a:r>
            <a:r>
              <a:rPr dirty="0"/>
              <a:t> </a:t>
            </a:r>
            <a:r>
              <a:rPr dirty="0" err="1"/>
              <a:t>existe</a:t>
            </a:r>
            <a:r>
              <a:rPr dirty="0"/>
              <a:t> </a:t>
            </a:r>
            <a:r>
              <a:rPr dirty="0" err="1"/>
              <a:t>hoje</a:t>
            </a:r>
            <a:r>
              <a:rPr dirty="0"/>
              <a:t> e </a:t>
            </a:r>
            <a:r>
              <a:rPr dirty="0" err="1"/>
              <a:t>onde</a:t>
            </a:r>
            <a:r>
              <a:rPr dirty="0"/>
              <a:t> </a:t>
            </a:r>
            <a:r>
              <a:rPr dirty="0" err="1"/>
              <a:t>encontramos</a:t>
            </a:r>
            <a:r>
              <a:rPr dirty="0"/>
              <a:t> </a:t>
            </a:r>
            <a:r>
              <a:rPr dirty="0" err="1"/>
              <a:t>cada</a:t>
            </a:r>
            <a:r>
              <a:rPr dirty="0"/>
              <a:t> </a:t>
            </a:r>
            <a:r>
              <a:rPr dirty="0" err="1"/>
              <a:t>técnica</a:t>
            </a:r>
            <a:r>
              <a:rPr dirty="0"/>
              <a:t>. </a:t>
            </a:r>
            <a:r>
              <a:rPr dirty="0" err="1"/>
              <a:t>Aprendizado</a:t>
            </a:r>
            <a:r>
              <a:rPr dirty="0"/>
              <a:t> </a:t>
            </a:r>
            <a:r>
              <a:rPr dirty="0" err="1"/>
              <a:t>supervisionado</a:t>
            </a:r>
            <a:r>
              <a:rPr dirty="0"/>
              <a:t>: </a:t>
            </a:r>
            <a:r>
              <a:rPr dirty="0" err="1"/>
              <a:t>aprende</a:t>
            </a:r>
            <a:r>
              <a:rPr dirty="0"/>
              <a:t> com </a:t>
            </a:r>
            <a:r>
              <a:rPr dirty="0" err="1"/>
              <a:t>exemplos</a:t>
            </a:r>
            <a:r>
              <a:rPr dirty="0"/>
              <a:t> </a:t>
            </a:r>
            <a:r>
              <a:rPr dirty="0" err="1"/>
              <a:t>que</a:t>
            </a:r>
            <a:r>
              <a:rPr dirty="0"/>
              <a:t> </a:t>
            </a:r>
            <a:r>
              <a:rPr dirty="0" err="1"/>
              <a:t>já</a:t>
            </a:r>
            <a:r>
              <a:rPr dirty="0"/>
              <a:t> </a:t>
            </a:r>
            <a:r>
              <a:rPr dirty="0" err="1"/>
              <a:t>têm</a:t>
            </a:r>
            <a:r>
              <a:rPr dirty="0"/>
              <a:t> a </a:t>
            </a:r>
            <a:r>
              <a:rPr dirty="0" err="1"/>
              <a:t>resposta</a:t>
            </a:r>
            <a:r>
              <a:rPr dirty="0"/>
              <a:t>; </a:t>
            </a:r>
            <a:r>
              <a:rPr dirty="0" err="1"/>
              <a:t>é</a:t>
            </a:r>
            <a:r>
              <a:rPr dirty="0"/>
              <a:t> o </a:t>
            </a:r>
            <a:r>
              <a:rPr dirty="0" err="1"/>
              <a:t>modelo</a:t>
            </a:r>
            <a:r>
              <a:rPr dirty="0"/>
              <a:t> de </a:t>
            </a:r>
            <a:r>
              <a:rPr dirty="0" err="1"/>
              <a:t>risco</a:t>
            </a:r>
            <a:r>
              <a:rPr dirty="0"/>
              <a:t> do </a:t>
            </a:r>
            <a:r>
              <a:rPr dirty="0" err="1"/>
              <a:t>colo</a:t>
            </a:r>
            <a:r>
              <a:rPr dirty="0"/>
              <a:t> do </a:t>
            </a:r>
            <a:r>
              <a:rPr dirty="0" err="1"/>
              <a:t>útero</a:t>
            </a:r>
            <a:r>
              <a:rPr dirty="0"/>
              <a:t> e o TCC do MBA, e </a:t>
            </a:r>
            <a:r>
              <a:rPr dirty="0" err="1"/>
              <a:t>na</a:t>
            </a:r>
            <a:r>
              <a:rPr dirty="0"/>
              <a:t> </a:t>
            </a:r>
            <a:r>
              <a:rPr dirty="0" err="1"/>
              <a:t>engenharia</a:t>
            </a:r>
            <a:r>
              <a:rPr dirty="0"/>
              <a:t> a </a:t>
            </a:r>
            <a:r>
              <a:rPr dirty="0" err="1"/>
              <a:t>previsão</a:t>
            </a:r>
            <a:r>
              <a:rPr dirty="0"/>
              <a:t> de </a:t>
            </a:r>
            <a:r>
              <a:rPr dirty="0" err="1"/>
              <a:t>falhas</a:t>
            </a:r>
            <a:r>
              <a:rPr dirty="0"/>
              <a:t>. </a:t>
            </a:r>
            <a:r>
              <a:rPr dirty="0" err="1"/>
              <a:t>Não</a:t>
            </a:r>
            <a:r>
              <a:rPr dirty="0"/>
              <a:t> </a:t>
            </a:r>
            <a:r>
              <a:rPr dirty="0" err="1"/>
              <a:t>supervisionado</a:t>
            </a:r>
            <a:r>
              <a:rPr dirty="0"/>
              <a:t>: </a:t>
            </a:r>
            <a:r>
              <a:rPr dirty="0" err="1"/>
              <a:t>acha</a:t>
            </a:r>
            <a:r>
              <a:rPr dirty="0"/>
              <a:t> </a:t>
            </a:r>
            <a:r>
              <a:rPr dirty="0" err="1"/>
              <a:t>grupos</a:t>
            </a:r>
            <a:r>
              <a:rPr dirty="0"/>
              <a:t> e </a:t>
            </a:r>
            <a:r>
              <a:rPr dirty="0" err="1"/>
              <a:t>padrões</a:t>
            </a:r>
            <a:r>
              <a:rPr dirty="0"/>
              <a:t> </a:t>
            </a:r>
            <a:r>
              <a:rPr dirty="0" err="1"/>
              <a:t>sem</a:t>
            </a:r>
            <a:r>
              <a:rPr dirty="0"/>
              <a:t> </a:t>
            </a:r>
            <a:r>
              <a:rPr dirty="0" err="1"/>
              <a:t>resposta</a:t>
            </a:r>
            <a:r>
              <a:rPr dirty="0"/>
              <a:t> </a:t>
            </a:r>
            <a:r>
              <a:rPr dirty="0" err="1"/>
              <a:t>pronta</a:t>
            </a:r>
            <a:r>
              <a:rPr dirty="0"/>
              <a:t>; </a:t>
            </a:r>
            <a:r>
              <a:rPr dirty="0" err="1"/>
              <a:t>recomendações</a:t>
            </a:r>
            <a:r>
              <a:rPr dirty="0"/>
              <a:t> de </a:t>
            </a:r>
            <a:r>
              <a:rPr dirty="0" err="1"/>
              <a:t>compra</a:t>
            </a:r>
            <a:r>
              <a:rPr dirty="0"/>
              <a:t> no </a:t>
            </a:r>
            <a:r>
              <a:rPr dirty="0" err="1"/>
              <a:t>dia</a:t>
            </a:r>
            <a:r>
              <a:rPr dirty="0"/>
              <a:t> a </a:t>
            </a:r>
            <a:r>
              <a:rPr dirty="0" err="1"/>
              <a:t>dia</a:t>
            </a:r>
            <a:r>
              <a:rPr dirty="0"/>
              <a:t>, e </a:t>
            </a:r>
            <a:r>
              <a:rPr dirty="0" err="1"/>
              <a:t>na</a:t>
            </a:r>
            <a:r>
              <a:rPr dirty="0"/>
              <a:t> </a:t>
            </a:r>
            <a:r>
              <a:rPr dirty="0" err="1"/>
              <a:t>saúde</a:t>
            </a:r>
            <a:r>
              <a:rPr dirty="0"/>
              <a:t> </a:t>
            </a:r>
            <a:r>
              <a:rPr dirty="0" err="1"/>
              <a:t>grupos</a:t>
            </a:r>
            <a:r>
              <a:rPr dirty="0"/>
              <a:t> de </a:t>
            </a:r>
            <a:r>
              <a:rPr dirty="0" err="1"/>
              <a:t>pacientes</a:t>
            </a:r>
            <a:r>
              <a:rPr dirty="0"/>
              <a:t> </a:t>
            </a:r>
            <a:r>
              <a:rPr dirty="0" err="1"/>
              <a:t>por</a:t>
            </a:r>
            <a:r>
              <a:rPr dirty="0"/>
              <a:t> </a:t>
            </a:r>
            <a:r>
              <a:rPr dirty="0" err="1"/>
              <a:t>perfil</a:t>
            </a:r>
            <a:r>
              <a:rPr dirty="0"/>
              <a:t> molecular. Redes </a:t>
            </a:r>
            <a:r>
              <a:rPr dirty="0" err="1"/>
              <a:t>neurais</a:t>
            </a:r>
            <a:r>
              <a:rPr dirty="0"/>
              <a:t>: </a:t>
            </a:r>
            <a:r>
              <a:rPr dirty="0" err="1"/>
              <a:t>muitas</a:t>
            </a:r>
            <a:r>
              <a:rPr dirty="0"/>
              <a:t> </a:t>
            </a:r>
            <a:r>
              <a:rPr dirty="0" err="1"/>
              <a:t>camadas</a:t>
            </a:r>
            <a:r>
              <a:rPr dirty="0"/>
              <a:t>, </a:t>
            </a:r>
            <a:r>
              <a:rPr dirty="0" err="1"/>
              <a:t>aprendem</a:t>
            </a:r>
            <a:r>
              <a:rPr dirty="0"/>
              <a:t> </a:t>
            </a:r>
            <a:r>
              <a:rPr dirty="0" err="1"/>
              <a:t>padrões</a:t>
            </a:r>
            <a:r>
              <a:rPr dirty="0"/>
              <a:t> </a:t>
            </a:r>
            <a:r>
              <a:rPr dirty="0" err="1"/>
              <a:t>complexos</a:t>
            </a:r>
            <a:r>
              <a:rPr dirty="0"/>
              <a:t>; </a:t>
            </a:r>
            <a:r>
              <a:rPr dirty="0" err="1"/>
              <a:t>voz</a:t>
            </a:r>
            <a:r>
              <a:rPr dirty="0"/>
              <a:t> e </a:t>
            </a:r>
            <a:r>
              <a:rPr dirty="0" err="1"/>
              <a:t>tradução</a:t>
            </a:r>
            <a:r>
              <a:rPr dirty="0"/>
              <a:t> no </a:t>
            </a:r>
            <a:r>
              <a:rPr dirty="0" err="1"/>
              <a:t>dia</a:t>
            </a:r>
            <a:r>
              <a:rPr dirty="0"/>
              <a:t> a </a:t>
            </a:r>
            <a:r>
              <a:rPr dirty="0" err="1"/>
              <a:t>dia</a:t>
            </a:r>
            <a:r>
              <a:rPr dirty="0"/>
              <a:t>, </a:t>
            </a:r>
            <a:r>
              <a:rPr dirty="0" err="1"/>
              <a:t>retinografias</a:t>
            </a:r>
            <a:r>
              <a:rPr dirty="0"/>
              <a:t> e </a:t>
            </a:r>
            <a:r>
              <a:rPr dirty="0" err="1"/>
              <a:t>lâminas</a:t>
            </a:r>
            <a:r>
              <a:rPr dirty="0"/>
              <a:t> </a:t>
            </a:r>
            <a:r>
              <a:rPr dirty="0" err="1"/>
              <a:t>na</a:t>
            </a:r>
            <a:r>
              <a:rPr dirty="0"/>
              <a:t> </a:t>
            </a:r>
            <a:r>
              <a:rPr dirty="0" err="1"/>
              <a:t>saúde</a:t>
            </a:r>
            <a:r>
              <a:rPr dirty="0"/>
              <a:t>. </a:t>
            </a:r>
            <a:r>
              <a:rPr dirty="0" err="1"/>
              <a:t>Visão</a:t>
            </a:r>
            <a:r>
              <a:rPr dirty="0"/>
              <a:t> </a:t>
            </a:r>
            <a:r>
              <a:rPr dirty="0" err="1"/>
              <a:t>computacional</a:t>
            </a:r>
            <a:r>
              <a:rPr dirty="0"/>
              <a:t>: </a:t>
            </a:r>
            <a:r>
              <a:rPr dirty="0" err="1"/>
              <a:t>extrai</a:t>
            </a:r>
            <a:r>
              <a:rPr dirty="0"/>
              <a:t> </a:t>
            </a:r>
            <a:r>
              <a:rPr dirty="0" err="1"/>
              <a:t>informação</a:t>
            </a:r>
            <a:r>
              <a:rPr dirty="0"/>
              <a:t> de imagens; no meu </a:t>
            </a:r>
            <a:r>
              <a:rPr dirty="0" err="1"/>
              <a:t>mestrado</a:t>
            </a:r>
            <a:r>
              <a:rPr dirty="0"/>
              <a:t> </a:t>
            </a:r>
            <a:r>
              <a:rPr dirty="0" err="1"/>
              <a:t>foi</a:t>
            </a:r>
            <a:r>
              <a:rPr dirty="0"/>
              <a:t> o greening, e </a:t>
            </a:r>
            <a:r>
              <a:rPr dirty="0" err="1"/>
              <a:t>hoje</a:t>
            </a:r>
            <a:r>
              <a:rPr dirty="0"/>
              <a:t> </a:t>
            </a:r>
            <a:r>
              <a:rPr dirty="0" err="1"/>
              <a:t>inspeção</a:t>
            </a:r>
            <a:r>
              <a:rPr dirty="0"/>
              <a:t> de </a:t>
            </a:r>
            <a:r>
              <a:rPr dirty="0" err="1"/>
              <a:t>frutas</a:t>
            </a:r>
            <a:r>
              <a:rPr dirty="0"/>
              <a:t> e </a:t>
            </a:r>
            <a:r>
              <a:rPr dirty="0" err="1"/>
              <a:t>carros</a:t>
            </a:r>
            <a:r>
              <a:rPr dirty="0"/>
              <a:t>. IA </a:t>
            </a:r>
            <a:r>
              <a:rPr dirty="0" err="1"/>
              <a:t>generativa</a:t>
            </a:r>
            <a:r>
              <a:rPr dirty="0"/>
              <a:t>: </a:t>
            </a:r>
            <a:r>
              <a:rPr dirty="0" err="1"/>
              <a:t>cria</a:t>
            </a:r>
            <a:r>
              <a:rPr dirty="0"/>
              <a:t> </a:t>
            </a:r>
            <a:r>
              <a:rPr dirty="0" err="1"/>
              <a:t>texto</a:t>
            </a:r>
            <a:r>
              <a:rPr dirty="0"/>
              <a:t>, </a:t>
            </a:r>
            <a:r>
              <a:rPr dirty="0" err="1"/>
              <a:t>imagem</a:t>
            </a:r>
            <a:r>
              <a:rPr dirty="0"/>
              <a:t> e </a:t>
            </a:r>
            <a:r>
              <a:rPr dirty="0" err="1"/>
              <a:t>código</a:t>
            </a:r>
            <a:r>
              <a:rPr dirty="0"/>
              <a:t>. </a:t>
            </a:r>
            <a:r>
              <a:rPr dirty="0" err="1"/>
              <a:t>Mensagem</a:t>
            </a:r>
            <a:r>
              <a:rPr dirty="0"/>
              <a:t>: a </a:t>
            </a:r>
            <a:r>
              <a:rPr dirty="0" err="1"/>
              <a:t>técnica</a:t>
            </a:r>
            <a:r>
              <a:rPr dirty="0"/>
              <a:t> </a:t>
            </a:r>
            <a:r>
              <a:rPr dirty="0" err="1"/>
              <a:t>muda</a:t>
            </a:r>
            <a:r>
              <a:rPr dirty="0"/>
              <a:t> </a:t>
            </a:r>
            <a:r>
              <a:rPr dirty="0" err="1"/>
              <a:t>pouco</a:t>
            </a:r>
            <a:r>
              <a:rPr dirty="0"/>
              <a:t>, o </a:t>
            </a:r>
            <a:r>
              <a:rPr dirty="0" err="1"/>
              <a:t>que</a:t>
            </a:r>
            <a:r>
              <a:rPr dirty="0"/>
              <a:t> </a:t>
            </a:r>
            <a:r>
              <a:rPr dirty="0" err="1"/>
              <a:t>muda</a:t>
            </a:r>
            <a:r>
              <a:rPr dirty="0"/>
              <a:t> </a:t>
            </a:r>
            <a:r>
              <a:rPr dirty="0" err="1"/>
              <a:t>é</a:t>
            </a:r>
            <a:r>
              <a:rPr dirty="0"/>
              <a:t> o dado. Se </a:t>
            </a:r>
            <a:r>
              <a:rPr dirty="0" err="1"/>
              <a:t>quiser</a:t>
            </a:r>
            <a:r>
              <a:rPr dirty="0"/>
              <a:t>, cite </a:t>
            </a:r>
            <a:r>
              <a:rPr dirty="0" err="1"/>
              <a:t>também</a:t>
            </a:r>
            <a:r>
              <a:rPr dirty="0"/>
              <a:t> o </a:t>
            </a:r>
            <a:r>
              <a:rPr dirty="0" err="1"/>
              <a:t>aprendizado</a:t>
            </a:r>
            <a:r>
              <a:rPr dirty="0"/>
              <a:t> </a:t>
            </a:r>
            <a:r>
              <a:rPr dirty="0" err="1"/>
              <a:t>por</a:t>
            </a:r>
            <a:r>
              <a:rPr dirty="0"/>
              <a:t> </a:t>
            </a:r>
            <a:r>
              <a:rPr dirty="0" err="1"/>
              <a:t>reforço</a:t>
            </a:r>
            <a:r>
              <a:rPr dirty="0"/>
              <a:t> (</a:t>
            </a:r>
            <a:r>
              <a:rPr dirty="0" err="1"/>
              <a:t>aprende</a:t>
            </a:r>
            <a:r>
              <a:rPr dirty="0"/>
              <a:t> </a:t>
            </a:r>
            <a:r>
              <a:rPr dirty="0" err="1"/>
              <a:t>por</a:t>
            </a:r>
            <a:r>
              <a:rPr dirty="0"/>
              <a:t> </a:t>
            </a:r>
            <a:r>
              <a:rPr dirty="0" err="1"/>
              <a:t>tentativa</a:t>
            </a:r>
            <a:r>
              <a:rPr dirty="0"/>
              <a:t> e </a:t>
            </a:r>
            <a:r>
              <a:rPr dirty="0" err="1"/>
              <a:t>recompensa</a:t>
            </a:r>
            <a:r>
              <a:rPr dirty="0"/>
              <a:t>, </a:t>
            </a:r>
            <a:r>
              <a:rPr dirty="0" err="1"/>
              <a:t>como</a:t>
            </a:r>
            <a:r>
              <a:rPr dirty="0"/>
              <a:t> </a:t>
            </a:r>
            <a:r>
              <a:rPr dirty="0" err="1"/>
              <a:t>robôs</a:t>
            </a:r>
            <a:r>
              <a:rPr dirty="0"/>
              <a:t> e </a:t>
            </a:r>
            <a:r>
              <a:rPr dirty="0" err="1"/>
              <a:t>jogos</a:t>
            </a:r>
            <a:r>
              <a:rPr dirty="0"/>
              <a:t>).</a:t>
            </a:r>
          </a:p>
        </p:txBody>
      </p:sp>
      <p:sp>
        <p:nvSpPr>
          <p:cNvPr id="4" name="Slide Number Placeholder 3">
            <a:extLst>
              <a:ext uri="{FF2B5EF4-FFF2-40B4-BE49-F238E27FC236}">
                <a16:creationId xmlns:a16="http://schemas.microsoft.com/office/drawing/2014/main" id="{61022F18-F590-3ED6-7E3F-D86F9B1367A7}"/>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42044348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LEITURA DOS GRÁFICOS (igual ao Colab e à apostila)</a:t>
            </a:r>
          </a:p>
          <a:p>
            <a:endParaRPr/>
          </a:p>
          <a:p>
            <a:r>
              <a:t>Leitura do gráfico (leia antes das perguntas)</a:t>
            </a:r>
          </a:p>
          <a:p>
            <a:r>
              <a:t>• O que cada ponto é: um motor já inspecionado. Eixo horizontal: vibração (mm/s). Eixo vertical: temperatura (°C). Verde: motor normal. Laranja: motor que falhou.</a:t>
            </a:r>
          </a:p>
          <a:p>
            <a:r>
              <a:t>• O que os pontos mostram: os motores com falha têm vibração e temperatura mais altas, no canto superior direito. Os normais ficam no canto inferior esquerdo. Quando a vibração sobe, a temperatura também sobe, o que faz sentido para um motor com defeito.</a:t>
            </a:r>
          </a:p>
          <a:p>
            <a:r>
              <a:t>• O que a reta tracejada é: a fronteira de decisão, não uma tendência dos dados. Ela precisa passar entre os dois grupos e, como eles estão em diagonal, a fronteira cai de cima à esquerda para baixo à direita. Essa inclinação negativa vem só da posição dos grupos: a reta não diz que mais temperatura significa menos vibração.</a:t>
            </a:r>
          </a:p>
          <a:p>
            <a:r>
              <a:t>• Como ler: tudo acima e à direita da reta é classificado como Falha, e tudo abaixo e à esquerda como Normal. A estrela (máquina nova, vibração ≈ 3,4 e temperatura ≈ 74 °C) cai um pouco acima da reta, então o modelo diz Falha, mas com pouca folga. Isso bate com a probabilidade de cerca de 64% impressa acima.</a:t>
            </a:r>
          </a:p>
          <a:p>
            <a:r>
              <a:t>• Os pesos β (impressos acima): com as variáveis padronizadas, um aumento de 1 desvio-padrão na vibração soma 1,83 ao log-odds de falha, e na temperatura soma 2,35. Os dois são positivos (mais vibração ou mais temperatura, mais chance de falha) e a temperatura pesa mais. Em chances (odds), isso multiplica a chance de falha por cerca de 6 (vibração) e 10 (temperatura).</a:t>
            </a:r>
          </a:p>
          <a:p>
            <a:r>
              <a:t>• Na engenharia: o modelo transforma duas leituras de sensor em um número (a probabilidade de falha) que ajuda a decidir se a máquina deve ser inspecionada.</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LEITURA DOS GRÁFICOS (igual ao Colab e à apostila)</a:t>
            </a:r>
          </a:p>
          <a:p>
            <a:endParaRPr/>
          </a:p>
          <a:p>
            <a:r>
              <a:t>Leitura dos gráficos (os quatro painéis usam os mesmos 400 pontos)</a:t>
            </a:r>
          </a:p>
          <a:p>
            <a:r>
              <a:t>• Eixos e pontos: vibração (mm/s) na horizontal, temperatura (°C) na vertical. Cada ponto é uma leitura de motor: verde = operação normal, laranja = precisa de inspeção. Cerca de 8% dos pontos têm o rótulo trocado de propósito (ruído, como erros de apontamento na vida real).</a:t>
            </a:r>
          </a:p>
          <a:p>
            <a:r>
              <a:t>• A cor do fundo é o que o modelo decide para aquela região: azul-claro = "normal" e laranja-claro = "inspecionar". A região normal verdadeira é um retângulo (vibração de 1 a 6,5 mm/s e temperatura de 65 a 92 °C).</a:t>
            </a:r>
          </a:p>
          <a:p>
            <a:r>
              <a:t>• Painéis "Árvore 1, 2 e 3": cada árvore foi treinada com uma amostra diferente e desenha o retângulo de um jeito. Veja as "ilhas" e faixas estranhas: elas aparecem quando a árvore tenta acertar até os pontos com rótulo trocado, ou seja, decora o ruído (cada árvore sozinha é instável).</a:t>
            </a:r>
          </a:p>
          <a:p>
            <a:r>
              <a:t>• Painel "Random Forest": a votação das 200 árvores apaga as ilhas e deixa só o retângulo limpo, muito perto da região verdadeira. Por isso a acurácia no teste sobe de 82,5% (uma árvore) para 86,2% (floresta).</a:t>
            </a:r>
          </a:p>
          <a:p>
            <a:r>
              <a:t>• Na engenharia: isso é o mapeamento da janela de operação segura de uma máquina a partir de dados históricos. Uma só árvore é frágil; a média de várias é mais estável.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LEITURA DOS GRÁFICOS (igual ao Colab e à apostila)</a:t>
            </a:r>
          </a:p>
          <a:p>
            <a:endParaRPr/>
          </a:p>
          <a:p>
            <a:r>
              <a:t>Leitura do gráfico</a:t>
            </a:r>
          </a:p>
          <a:p>
            <a:r>
              <a:t>• Eixos: corrente elétrica do motor (A) na horizontal e temperatura (°C) na vertical. O alvo que queremos prever é a temperatura; a entrada é a corrente.</a:t>
            </a:r>
          </a:p>
          <a:p>
            <a:r>
              <a:t>• Pontos verde-azulados: as 150 medidas usadas no treino. A nuvem sobe com a corrente, com uma leve curvatura e ruído.</a:t>
            </a:r>
          </a:p>
          <a:p>
            <a:r>
              <a:t>• Reta tracejada (regressão linear): a melhor reta. Pela equação, α = 38,68 °C (temperatura extrapolada para corrente zero) e β = 4,66 °C por ampère. Ela acompanha a tendência geral, mas passa abaixo dos pontos entre 8 e 10 A e acima deles perto de 20 A, porque a relação não é perfeitamente reta.</a:t>
            </a:r>
          </a:p>
          <a:p>
            <a:r>
              <a:t>• Linha laranja (Random Forest): média de várias árvores; acompanha as curvas e os "degraus" dos dados. Nos extremos (4 e 20 A) ela fica plana, pois não extrapola além do que viu.</a:t>
            </a:r>
          </a:p>
          <a:p>
            <a:r>
              <a:t>• Números do teste: erro médio (MAE) de 2,96 °C para a reta e 2,34 °C para a floresta; R² de 0,977 contra 0,982. Os dois são bons; a reta é mais simples de explicar, e a floresta erra um pouco menos.</a:t>
            </a:r>
          </a:p>
          <a:p>
            <a:r>
              <a:t>• Na engenharia: estima a temperatura de operação sem precisar de um sensor térmico em cada motor.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LEITURA DOS GRÁFICOS (igual ao Colab e à apostila)</a:t>
            </a:r>
          </a:p>
          <a:p>
            <a:endParaRPr/>
          </a:p>
          <a:p>
            <a:r>
              <a:t>Leitura dos gráficos</a:t>
            </a:r>
          </a:p>
          <a:p>
            <a:r>
              <a:t>• O problema prático: o SVM separa duas classes com a fronteira mais folgada possível. Aqui, as classes são motor normal e motor com falha, e as entradas são leituras de sensor.</a:t>
            </a:r>
          </a:p>
          <a:p>
            <a:r>
              <a:t>• Painel da esquerda (reta): horizontal = vibração (mm/s), vertical = temperatura (°C). Pontos verdes = normais (treino), laranja = falha (treino), círculos brancos = motores de teste (que o modelo não viu). A linha cheia é a fronteira e as tracejadas são as margens (a "folga"). Os pontos circulados em vermelho são os vetores de suporte: são os únicos 2 de 49 pontos de treino que definem a fronteira. A reta ficou quase horizontal porque a temperatura sozinha já separa bem as duas classes (normais por volta de 58 °C, falhas por volta de 86 °C).</a:t>
            </a:r>
          </a:p>
          <a:p>
            <a:r>
              <a:t>• O que o modelo classificou (teste, 21 motores): acertou 11 normais e 10 falhas, nenhum erro: acurácia 1,00. Atenção: com dados simulados e bem separados isso é fácil. Com dados reais haveria erros.</a:t>
            </a:r>
          </a:p>
          <a:p>
            <a:r>
              <a:t>• Painel da direita (curva): exemplo de peças de uma linha de produção. Horizontal = temperatura do molde e vertical = pressão, ambas padronizadas (0 = valor ideal, ±2 = muito longe do ideal). Pontos verdes = peças boas, no centro; laranja = peças defeituosas, que aparecem quando temperatura ou pressão saem da faixa, para qualquer lado. Nenhuma reta separa o miolo do anel: a reta acerta só 56%. O kernel RBF desenha uma fronteira curva (a linha escura em volta do grupo verde) e acerta 100% no teste.</a:t>
            </a:r>
          </a:p>
          <a:p>
            <a:r>
              <a:t>• Regra prática: use o kernel linear quando uma reta basta (rápido, fácil de explicar) e o RBF quando o problema tem janela de operação (bom no meio, ruim nos dois extremos).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LEITURA DOS GRÁFICOS (igual ao Colab e à apostila)</a:t>
            </a:r>
          </a:p>
          <a:p>
            <a:endParaRPr/>
          </a:p>
          <a:p>
            <a:r>
              <a:t>Leitura do gráfico (matriz de confusão do Random Forest, 625 peças de teste)</a:t>
            </a:r>
          </a:p>
          <a:p>
            <a:r>
              <a:t>• Os quatro quadrantes: VN = 534 (peça boa, prevista boa: liberada corretamente); FP = 19 (peça boa, prevista defeito: falso alarme, vai para retrabalho sem precisar); FN = 19 (peça com defeito prevista boa: defeito que escapou, o erro mais caro); VP = 53 (defeito corretamente achado).</a:t>
            </a:r>
          </a:p>
          <a:p>
            <a:r>
              <a:t>• Como cada métrica sai da matriz: acurácia = (53 + 534)/625 = 93,9% (acertos no total); precisão = 53/(53 + 19) = 73,6% (dos alertas, quantos eram defeito); sensibilidade = 53/(53 + 19) = 73,6% (dos defeitos reais, quantos achamos); especificidade = 534/(534 + 19) = 96,6% (das peças boas, quantas liberamos).</a:t>
            </a:r>
          </a:p>
          <a:p>
            <a:r>
              <a:t>• Na engenharia: a acurácia de 93,9% parece ótima, mas ainda deixamos escapar 19 de 72 defeitos (26%). Quem decide se isso é aceitável é o custo do erro (peça defeituosa chegando ao cliente x retrabalho de peça boa).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LEITURA DOS GRÁFICOS (igual ao Colab e à apostila)</a:t>
            </a:r>
          </a:p>
          <a:p>
            <a:endParaRPr/>
          </a:p>
          <a:p>
            <a:r>
              <a:t>Leitura do gráfico</a:t>
            </a:r>
          </a:p>
          <a:p>
            <a:r>
              <a:t>• Eixos: horizontal = falsos positivos (fração das peças boas que o modelo reprova, 1 − especificidade); vertical = sensibilidade (fração dos defeitos que ele acha). Cada ponto da curva verde é um limiar de decisão diferente (a partir de que probabilidade emitimos o alerta).</a:t>
            </a:r>
          </a:p>
          <a:p>
            <a:r>
              <a:t>• Linha cinza tracejada: um modelo que chuta (AUC = 0,50). Quanto mais a curva se afasta dela para o canto superior esquerdo, melhor.</a:t>
            </a:r>
          </a:p>
          <a:p>
            <a:r>
              <a:t>• Curva verde (Random Forest): AUC = 0,96 (1,0 seria perfeito). A curva sobe quase vertical e depois se achata.</a:t>
            </a:r>
          </a:p>
          <a:p>
            <a:r>
              <a:t>• Ponto vermelho (limiar 0,5): acha 74% dos defeitos com 3,4% de falsos alarmes. Ponto laranja (limiar 0,2): acha 90% dos defeitos, mas com 8,9% de falsos alarmes.</a:t>
            </a:r>
          </a:p>
          <a:p>
            <a:r>
              <a:t>• Na engenharia: baixar o limiar acha mais defeitos e reprova mais peças boas. Se um defeito que escapa custa muito mais que um retrabalho, escolha o ponto laranja; se o retrabalho é caro, o vermelho.</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LEITURA DOS GRÁFICOS (igual ao Colab e à apostila)</a:t>
            </a:r>
          </a:p>
          <a:p>
            <a:endParaRPr/>
          </a:p>
          <a:p>
            <a:r>
              <a:t>Leitura dos gráficos (mesmo problema do Exemplo 3: prever a temperatura do motor a partir da corrente, agora com poucas medidas)</a:t>
            </a:r>
          </a:p>
          <a:p>
            <a:r>
              <a:t>• Eixos e pontos: corrente (A) na horizontal, temperatura (°C) na vertical. Pontos verdes = 14 medidas de treino (o modelo vê). Círculos laranja vazados = 22 medidas de teste (dados novos, que o modelo não viu). Abaixo de cada painel está o erro médio no treino e no teste.</a:t>
            </a:r>
          </a:p>
          <a:p>
            <a:r>
              <a:t>• Painel "Underfitting" (grau 1, uma reta): simples demais. Erra 8,3 °C no treino e 8,6 °C no teste: erra parecido nos dois, mas erra muito, porque a temperatura sobe e depois desce com a corrente e uma reta não faz curva (R² de teste 0,72).</a:t>
            </a:r>
          </a:p>
          <a:p>
            <a:r>
              <a:t>• Painel "Equilíbrio" (grau 3): a curva acompanha o formato real. Erra 1,5 °C no treino e 3,2 °C no teste (R² de teste 0,96). Um pouco pior no teste é o esperado e saudável.</a:t>
            </a:r>
          </a:p>
          <a:p>
            <a:r>
              <a:t>• Painel "Overfitting" (grau 13): a curva passa por quase todos os pontos de treino (erro 0,9 °C), mas entre eles oscila loucamente, chegando a prever temperaturas absurdas, como valores muito acima de 110 °C ou abaixo de 40 °C, para correntes que não mediu. No teste o erro vai a 24,8 °C e o R² fica negativo (−4,99), pior que simplesmente chutar a média.</a:t>
            </a:r>
          </a:p>
          <a:p>
            <a:r>
              <a:t>• O que o overfitting representa: o modelo decorou o ruído das 14 medidas em vez de aprender a relação física corrente → temperatura. Na prática, ele parece perfeito na bancada e falha no motor novo, e é por isso que sempre se avalia com dados de teste separados.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LEITURA DOS GRÁFICOS (igual ao Colab e à apostila)</a:t>
            </a:r>
          </a:p>
          <a:p>
            <a:endParaRPr/>
          </a:p>
          <a:p>
            <a:r>
              <a:t>Leitura dos gráficos (k-means sem usar a coluna "regime")</a:t>
            </a:r>
          </a:p>
          <a:p>
            <a:r>
              <a:t>• Gráfico "Método do cotovelo (inércia)": horizontal = número de grupos k, vertical = inércia (o quanto os pontos ficam longe do centro do seu grupo; menor é melhor). Ela despenca de k = 2 até 3 ou 4 e depois cai devagar: o "cotovelo" sugere 3 ou 4 grupos.</a:t>
            </a:r>
          </a:p>
          <a:p>
            <a:r>
              <a:t>• Gráfico "Silhueta": mede quão bem separados estão os grupos (maior é melhor). O maior valor é em k = 2 (0,48), mas k = 3 (0,435) e k = 5 (0,46) são parecidos. A escolha de k = 3 vem da engenharia: sabemos que o motor trabalha em 3 cargas (baixa, média, alta).</a:t>
            </a:r>
          </a:p>
          <a:p>
            <a:r>
              <a:t>• Gráfico "k-means (k = 3) em rotação x corrente": cada ponto é uma leitura, cor = grupo encontrado. Três nuvens bem separadas: grupo 0 (≈ 1.200 rpm e 8 A), grupo 1 (≈ 1.800 rpm e 12 A) e grupo 2 (≈ 2.400 rpm e 17 A). Os poucos pontos de cor "errada" no meio de outra nuvem são leituras em que o k-means (que usa as 4 variáveis) discordou do regime verdadeiro. O índice de Rand de 0,79 resume essa concordância (1,0 = idêntico).</a:t>
            </a:r>
          </a:p>
          <a:p>
            <a:r>
              <a:t>• Tabela de perfil: o grupo de maior carga tem 28% de falhas, contra 12% no médio e 1% no baixo. Os grupos descobertos têm significado na manutenção.</a:t>
            </a:r>
          </a:p>
          <a:p>
            <a:endParaRPr/>
          </a:p>
          <a:p>
            <a:r>
              <a:t>Leitura do gráfico (dendrograma de 18 motores)</a:t>
            </a:r>
          </a:p>
          <a:p>
            <a:r>
              <a:t>• Eixos: horizontal = número de cada motor; vertical = distância entre grupos no momento em que eles se juntam. Cada "U" invertido é uma fusão.</a:t>
            </a:r>
          </a:p>
          <a:p>
            <a:r>
              <a:t>• Como ler: motores que se juntam embaixo (distância pequena, por exemplo 16 e 17) são muito parecidos. Quanto mais alto o "U", mais diferentes eram os grupos que se uniram.</a:t>
            </a:r>
          </a:p>
          <a:p>
            <a:r>
              <a:t>• Onde cortar: uma linha horizontal entre as alturas 3,2 e 4,4 corta o gráfico em 3 grupos (laranja, verde e vermelho). O grande salto entre as junções (4 para 8) mostra que os grupos finais são bem distintos.</a:t>
            </a:r>
          </a:p>
          <a:p>
            <a:r>
              <a:t>• Resultado no exercício: com 3 grupos, o hierárquico concorda com os regimes verdadeiros (Rand 0,957), melhor que o k-means (0,792), com silhuetas iguais (0,434 e 0,435).</a:t>
            </a:r>
          </a:p>
          <a:p>
            <a:endParaRPr/>
          </a:p>
          <a:p>
            <a:r>
              <a:t>Leitura do gráfico ("Isolation Forest sinalizando leituras fora do padrão")</a:t>
            </a:r>
          </a:p>
          <a:p>
            <a:r>
              <a:t>• Eixos: horizontal = hora (0 a 300), vertical = vibração (mm/s). A linha escura é a série; os pontos vermelhos são as leituras que o algoritmo marcou como anomalia.</a:t>
            </a:r>
          </a:p>
          <a:p>
            <a:r>
              <a:t>• O que foi sinalizado: os 3 picos reais (horas ≈ 80, 170 e 245) foram todos achados (sensibilidade 3/3). Mas o modelo também marcou outros 3 pontos (dois valores baixos perto das horas 20 a 25 e um ponto no fim da série), que são falsos alarmes. Precisão: 3 de 6 = 0,50.</a:t>
            </a:r>
          </a:p>
          <a:p>
            <a:r>
              <a:t>• Por que isso ocorre: definimos contamination = 0.02, ou seja, dissemos que cerca de 2% das leituras são anômalas, então ele sempre marca algumas. Se aumentarmos esse valor, os alertas aumentam e os 3 reais continuam achados.</a:t>
            </a:r>
          </a:p>
          <a:p>
            <a:r>
              <a:t>• Na engenharia: sem nenhum exemplo de falha rotulado, o algoritmo já encontra os picos. O ajuste da contaminação é um trade-off entre perder anomalias e gerar alarmes demais.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LEITURA DOS GRÁFICOS (igual ao Colab e à apostila)</a:t>
            </a:r>
          </a:p>
          <a:p>
            <a:endParaRPr/>
          </a:p>
          <a:p>
            <a:r>
              <a:t>Leitura dos gráficos (900 observações de rolamentos, 6 características de vibração cada)</a:t>
            </a:r>
          </a:p>
          <a:p>
            <a:r>
              <a:t>• Gráfico da esquerda (projeção PCA): o PCA combina as 6 variáveis em 2 eixos novos para podermos desenhar. Horizontal = componente 1 (guarda 38% da informação), vertical = componente 2 (16%). Cada ponto é um rolamento: verde = saudável, laranja = falha na pista externa, vermelho = falha na pista interna.</a:t>
            </a:r>
          </a:p>
          <a:p>
            <a:r>
              <a:t>• O que se vê: os saudáveis ficam bem à esquerda, separados dos defeituosos. As duas falhas ocupam a direita e se sobrepõem um pouco, são mais difíceis de distinguir entre si.</a:t>
            </a:r>
          </a:p>
          <a:p>
            <a:r>
              <a:t>• Gráfico da direita (variância explicada): cada barra é a informação guardada por um componente (37,6%; 15,6%; 14,8%; 11,9%; 11,2%; 8,8%) e a linha laranja é a soma acumulada. Dois componentes guardam só cerca de 53%, e três, cerca de 68%: reduzir para 2 dimensões perde informação, e vamos medir quanto no exercício seguinte.</a:t>
            </a:r>
          </a:p>
          <a:p>
            <a:endParaRPr/>
          </a:p>
          <a:p>
            <a:r>
              <a:t>Leitura dos gráficos</a:t>
            </a:r>
          </a:p>
          <a:p>
            <a:r>
              <a:t>• Gráfico da esquerda, "Quantos componentes bastam?": horizontal = número de componentes do PCA, vertical = variância acumulada (%). A linha tracejada vermelha marca 95%. Com 1 componente já temos cerca de 72%; 4 componentes chegam a 95,4% (cruzam a linha) e 5 passam de 97%. As 120 variáveis originais cabem em poucos componentes.</a:t>
            </a:r>
          </a:p>
          <a:p>
            <a:r>
              <a:t>• Gráfico da direita, "Cada ponto é um espectro": horizontal = componente 1, vertical = componente 2; cor = concentração de A. As cores aparecem misturadas: com só 2 componentes não dá para ver a concentração. A informação sobre A está em componentes além dos 2 primeiros, e é por isso que precisamos de 4 ou 5 no modelo.</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LEITURA DOS GRÁFICOS (igual ao Colab e à apostila)</a:t>
            </a:r>
          </a:p>
          <a:p>
            <a:endParaRPr/>
          </a:p>
          <a:p>
            <a:r>
              <a:t>Leitura dos gráficos (600 amostras de concreto simuladas; o alvo que queremos prever depois é a resistência (MPa); as entradas são cimento, água, aditivo e idade)</a:t>
            </a:r>
          </a:p>
          <a:p>
            <a:r>
              <a:t>• Gráfico A, "Distribuição da resistência" (histograma): horizontal = resistência (MPa), vertical = quantas amostras caem em cada faixa. As resistências vão de cerca de 8 a 70 MPa, com a maior parte entre 20 e 60 MPa e média perto de 40 MPa. Não há um valor dominante nem valores absurdos, então os dados parecem razoáveis para modelar.</a:t>
            </a:r>
          </a:p>
          <a:p>
            <a:r>
              <a:t>• Gráfico B, "Mais água, menos resistência" (dispersão): horizontal = relação água/cimento, vertical = resistência (MPa), cor = logaritmo da idade (roxo = concreto novo, amarelo = concreto velho). A nuvem desce para a direita: quanto mais água por cimento, menor a resistência (Lei de Abrams). Para a mesma relação a/c, os pontos amarelos ficam acima dos roxos: concreto mais velho é mais resistente. A idade explica a "faixa" de cores.</a:t>
            </a:r>
          </a:p>
          <a:p>
            <a:r>
              <a:t>• Gráfico C, "Correlação entre variáveis" (mapa de calor): cada quadrado é a correlação entre duas variáveis (de −1 a +1; vermelho = positiva forte, azul = negativa forte). A resistência correlaciona com idade (0,62), cimento (0,55), relação a/c (−0,61) e água (−0,29); o aditivo quase não aparece (0,07). Cimento e relação a/c têm −0,86 entre si: carregam informação parecida.</a:t>
            </a:r>
          </a:p>
          <a:p>
            <a:r>
              <a:t>• Atenção: correlação mede se duas variáveis andam juntas em linha reta. A idade tem relação curva com a resistência (satura com o tempo), por isso o 0,62 subestima o quanto ela importa.</a:t>
            </a:r>
          </a:p>
          <a:p>
            <a:endParaRPr/>
          </a:p>
          <a:p>
            <a:r>
              <a:t>Leitura dos gráficos (2.500 peças simuladas; queremos prever se a peça sai boa ou defeituosa)</a:t>
            </a:r>
          </a:p>
          <a:p>
            <a:r>
              <a:t>• Gráfico A, "Classes desbalanceadas": horizontal = classe, vertical = quantidade de peças. Há cerca de 2.200 peças boas contra cerca de 290 defeituosas (≈ 11,6%). Defeitos são raros, e isso afeta como avaliamos o modelo (próximo exercício).</a:t>
            </a:r>
          </a:p>
          <a:p>
            <a:r>
              <a:t>• Gráfico B, "Temperatura do molde" (boxplot): cada caixa mostra onde estão 50% das peças (a linha no meio é a mediana). As peças boas ficam numa caixa estreita (cerca de 205 a 215 °C). As defeituosas têm uma caixa larga, e a mediana é parecida com a das boas. Ou seja, o defeito não é "temperatura alta": ele aparece quando a temperatura sai da faixa para cima ou para baixo.</a:t>
            </a:r>
          </a:p>
          <a:p>
            <a:r>
              <a:t>• Gráfico C, "Defeitos nas bordas da faixa ideal" (dispersão): horizontal = temperatura do molde (°C), vertical = pressão (bar). Pontos verde-azulados = peças boas, concentrados no centro; pontos laranja = defeitos, nas bordas (muito quente, muito frio, pressão muito alta ou muito baixa). Nenhuma reta separa essas classes, então modelos lineares vão ter dificuldade.</a:t>
            </a:r>
          </a:p>
          <a:p>
            <a:r>
              <a:t>• Na engenharia: o processo tem uma janela ideal; sair dela, para qualquer lado, aumenta o defeito.</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LEITURA DOS GRÁFICOS (igual ao Colab e à apostila)</a:t>
            </a:r>
          </a:p>
          <a:p>
            <a:endParaRPr/>
          </a:p>
          <a:p>
            <a:r>
              <a:t>Leitura dos gráficos (dados de motores elétricos simulados)</a:t>
            </a:r>
          </a:p>
          <a:p>
            <a:r>
              <a:t>• Gráfico da esquerda, "Vibração de um motor ao longo do tempo": horizontal = hora (0 a 300), vertical = vibração (mm/s). A linha sobe devagar (de cerca de 2,0 para 3,2 mm/s): é o desgaste natural. Os 3 picos perto das horas 80, 170 e 245 são eventos anormais, e são eles que queremos detectar.</a:t>
            </a:r>
          </a:p>
          <a:p>
            <a:r>
              <a:t>• Gráfico da direita, "Vibração x temperatura por regime": horizontal = vibração, vertical = temperatura (°C); cor = regime de carga (baixa, média, alta). A nuvem sobe para a direita: mais vibração, mais temperatura. Os regimes aparecem em camadas (alta carga no alto), mas se sobrepõem nas bordas, e é isso que o algoritmo vai tentar separar sem ver a coluna "regime".</a:t>
            </a:r>
          </a:p>
          <a:p>
            <a:endParaRPr/>
          </a:p>
          <a:p>
            <a:r>
              <a:t>Leitura do gráfico ("Correlação entre variáveis do motor")</a:t>
            </a:r>
          </a:p>
          <a:p>
            <a:r>
              <a:t>• Como ler: cada quadrado é a correlação entre duas variáveis (0 a 1 aqui; verde-escuro = andam juntas). A diagonal é sempre 1,00 (cada variável com ela mesma).</a:t>
            </a:r>
          </a:p>
          <a:p>
            <a:r>
              <a:t>• rpm e corrente: 0,97. Quase a mesma informação: motor que gira mais puxa mais corrente. Usar as duas é redundante.</a:t>
            </a:r>
          </a:p>
          <a:p>
            <a:r>
              <a:t>• Temperatura: correlaciona com rpm (0,79), corrente (0,76) e vibração (0,77): é a variável que "resume" o estado do motor.</a:t>
            </a:r>
          </a:p>
          <a:p>
            <a:r>
              <a:t>• Vibração e rpm: 0,34. A vibração depende pouco da rotação e carrega informação própria, útil para achar anomalias.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COMO FUNCIONAM (4 min). Todos os gráficos usam os mesmos motores simulados. Regressão logística: uma curva em S converte a vibração em probabilidade de falha; o corte em 0,5 separa as classes. Random Forest: centenas de árvores de decisão recortam o plano vibração x temperatura e votam; as cores mostram a probabilidade de falha. k-means: sem rótulos, o algoritmo coloca centros (os X) e agrupa os pontos mais próximos. Pergunte aos alunos qual dos três funcionaria sem a coluna 'falha'.</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ONDE IMPLEMENTAR: CIVIL (3 min). Contexto: usina de concreto e obra. O ensaio de compressão aos 28 dias atrasa decisões (desforma, carregamento, ajuste do traço). Um modelo de regressão estima a resistência a partir do traço e da idade. Pergunte: que outras variáveis medidas na obra poderiam entrar (temperatura de cura, slump)?</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PRÁTICA CIVIL (11 min). Esquerda: mais água por cimento, menos resistência; a cor mostra a idade. Centro: previsto x real do Random Forest. Direita: o modelo mais usou idade e cimento. Mensagem-chave: conhecimento de domínio (relação água/cimento) melhora até o modelo linear, e o Random Forest descobre sozinho o que a física ensina, ao custo da interpretabilidade.</a:t>
            </a:r>
          </a:p>
          <a:p>
            <a:endParaRPr/>
          </a:p>
          <a:p>
            <a:r>
              <a:t>LEITURA DOS GRÁFICOS (igual ao Colab e à apostila)</a:t>
            </a:r>
          </a:p>
          <a:p>
            <a:endParaRPr/>
          </a:p>
          <a:p>
            <a:r>
              <a:t>Leitura dos gráficos (600 amostras de concreto simuladas; o alvo que queremos prever depois é a resistência (MPa); as entradas são cimento, água, aditivo e idade)</a:t>
            </a:r>
          </a:p>
          <a:p>
            <a:r>
              <a:t>• Gráfico A, "Distribuição da resistência" (histograma): horizontal = resistência (MPa), vertical = quantas amostras caem em cada faixa. As resistências vão de cerca de 8 a 70 MPa, com a maior parte entre 20 e 60 MPa e média perto de 40 MPa. Não há um valor dominante nem valores absurdos, então os dados parecem razoáveis para modelar.</a:t>
            </a:r>
          </a:p>
          <a:p>
            <a:r>
              <a:t>• Gráfico B, "Mais água, menos resistência" (dispersão): horizontal = relação água/cimento, vertical = resistência (MPa), cor = logaritmo da idade (roxo = concreto novo, amarelo = concreto velho). A nuvem desce para a direita: quanto mais água por cimento, menor a resistência (Lei de Abrams). Para a mesma relação a/c, os pontos amarelos ficam acima dos roxos: concreto mais velho é mais resistente. A idade explica a "faixa" de cores.</a:t>
            </a:r>
          </a:p>
          <a:p>
            <a:r>
              <a:t>• Gráfico C, "Correlação entre variáveis" (mapa de calor): cada quadrado é a correlação entre duas variáveis (de −1 a +1; vermelho = positiva forte, azul = negativa forte). A resistência correlaciona com idade (0,62), cimento (0,55), relação a/c (−0,61) e água (−0,29); o aditivo quase não aparece (0,07). Cimento e relação a/c têm −0,86 entre si: carregam informação parecida.</a:t>
            </a:r>
          </a:p>
          <a:p>
            <a:r>
              <a:t>• Atenção: correlação mede se duas variáveis andam juntas em linha reta. A idade tem relação curva com a resistência (satura com o tempo), por isso o 0,62 subestima o quanto ela importa.</a:t>
            </a:r>
          </a:p>
          <a:p>
            <a:endParaRPr/>
          </a:p>
          <a:p>
            <a:r>
              <a:t>Leitura dos gráficos (os dois painéis mostram as 150 amostras de teste, que os modelos não viram)</a:t>
            </a:r>
          </a:p>
          <a:p>
            <a:r>
              <a:t>• Como ler um gráfico "real x previsto": horizontal = resistência real medida no ensaio (MPa); vertical = resistência prevista pelo modelo (MPa). A linha tracejada é a previsão perfeita (previsto = real). Quanto mais perto dela, melhor o modelo.</a:t>
            </a:r>
          </a:p>
          <a:p>
            <a:r>
              <a:t>• Painel "Regressão linear": os pontos formam uma nuvem larga em volta da linha: erro médio (MAE) de 5,53 MPa, R² de 0,767. Para concreto de 30 MPa, o erro típico é de quase 20%.</a:t>
            </a:r>
          </a:p>
          <a:p>
            <a:r>
              <a:t>• Painel "Random Forest": os pontos ficam colados na linha: MAE de 2,16 MPa e R² de 0,962. Ele captura as curvas (efeito da idade e da relação a/c) que a reta não captura.</a:t>
            </a:r>
          </a:p>
          <a:p>
            <a:r>
              <a:t>• Coeficientes da regressão linear (tabela acima): o β diz quanto a resistência muda quando a variável sobe 1 unidade e as outras ficam fixas: cimento +0,107 MPa, água −0,204 MPa, aditivo +0,97 MPa e idade +0,268 MPa (por unidade de cada variável; a idade em dias). O α (26,90 MPa) é o ponto de partida da conta. Cuidado: o β da idade supõe crescimento em linha reta para sempre, o que o concreto não faz.</a:t>
            </a:r>
          </a:p>
          <a:p>
            <a:r>
              <a:t>• Na engenharia: prever a resistência a partir do traço e da idade ajuda a decidir, por exemplo, quando desformar, sem esperar o ensaio de laboratório.</a:t>
            </a:r>
          </a:p>
          <a:p>
            <a:endParaRPr/>
          </a:p>
          <a:p>
            <a:r>
              <a:t>Leitura do gráfico (e dos números acima)</a:t>
            </a:r>
          </a:p>
          <a:p>
            <a:r>
              <a:t>• O que mudou nos números: a regressão linear com os atributos de engenharia (relação água/cimento e logaritmo da idade) caiu de MAE 5,53 para 3,10 MPa e subiu de R² 0,767 para 0,926, só por receber variáveis que traduzem a física do problema.</a:t>
            </a:r>
          </a:p>
          <a:p>
            <a:r>
              <a:t>• O gráfico de barras ("O que o Random Forest mais usou"): cada barra é a importância da variável nas decisões da floresta (as barras somam 1). A idade é a mais usada (≈ 0,58), depois o cimento (≈ 0,31), a água (≈ 0,10) e o aditivo (≈ 0,015, quase nada). Isso confirma o mapa de calor: idade e cimento mandam; o aditivo, neste conjunto, pouco contribui.</a:t>
            </a:r>
          </a:p>
          <a:p>
            <a:r>
              <a:t>• Cuidado: importância mostra o que o modelo usou, não prova causa. Variáveis parecidas (cimento e relação a/c) dividem a importância entre si.</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ONDE IMPLEMENTAR: PRODUÇÃO (3 min). Contexto: linha de injeção, usinagem ou montagem com CLP/MES registrando parâmetros. O modelo sinaliza peças com risco de defeito. Ponto central: classes desbalanceadas; a acurácia engana. Pergunte: o que custa mais, refugar uma peça boa ou deixar passar uma defeituosa?</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PRÁTICA PRODUÇÃO (11 min). Esquerda: defeitos nas bordas da faixa ideal, tanto temperatura baixa quanto alta. Centro: a regressão logística (reta) acerta 88% e não acha nenhum defeito; recall zero. Direita: Random Forest acha 53 de 72 defeitos. Discuta limiar de decisão (tabela do notebook) e o custo dos erros em peças de segurança.</a:t>
            </a:r>
          </a:p>
          <a:p>
            <a:endParaRPr/>
          </a:p>
          <a:p>
            <a:r>
              <a:t>LEITURA DOS GRÁFICOS (igual ao Colab e à apostila)</a:t>
            </a:r>
          </a:p>
          <a:p>
            <a:endParaRPr/>
          </a:p>
          <a:p>
            <a:r>
              <a:t>Leitura dos gráficos (2.500 peças simuladas; queremos prever se a peça sai boa ou defeituosa)</a:t>
            </a:r>
          </a:p>
          <a:p>
            <a:r>
              <a:t>• Gráfico A, "Classes desbalanceadas": horizontal = classe, vertical = quantidade de peças. Há cerca de 2.200 peças boas contra cerca de 290 defeituosas (≈ 11,6%). Defeitos são raros, e isso afeta como avaliamos o modelo (próximo exercício).</a:t>
            </a:r>
          </a:p>
          <a:p>
            <a:r>
              <a:t>• Gráfico B, "Temperatura do molde" (boxplot): cada caixa mostra onde estão 50% das peças (a linha no meio é a mediana). As peças boas ficam numa caixa estreita (cerca de 205 a 215 °C). As defeituosas têm uma caixa larga, e a mediana é parecida com a das boas. Ou seja, o defeito não é "temperatura alta": ele aparece quando a temperatura sai da faixa para cima ou para baixo.</a:t>
            </a:r>
          </a:p>
          <a:p>
            <a:r>
              <a:t>• Gráfico C, "Defeitos nas bordas da faixa ideal" (dispersão): horizontal = temperatura do molde (°C), vertical = pressão (bar). Pontos verde-azulados = peças boas, concentrados no centro; pontos laranja = defeitos, nas bordas (muito quente, muito frio, pressão muito alta ou muito baixa). Nenhuma reta separa essas classes, então modelos lineares vão ter dificuldade.</a:t>
            </a:r>
          </a:p>
          <a:p>
            <a:r>
              <a:t>• Na engenharia: o processo tem uma janela ideal; sair dela, para qualquer lado, aumenta o defeito.</a:t>
            </a:r>
          </a:p>
          <a:p>
            <a:endParaRPr/>
          </a:p>
          <a:p>
            <a:r>
              <a:t>Leitura dos gráficos (matrizes de confusão no teste: 625 peças, 72 defeituosas)</a:t>
            </a:r>
          </a:p>
          <a:p>
            <a:r>
              <a:t>• Como ler uma matriz: linhas = o que a peça realmente é; colunas = o que o modelo previu. A diagonal (de cima à esquerda para baixo à direita) são os acertos; fora da diagonal, os erros. Números maiores têm fundo azul mais escuro.</a:t>
            </a:r>
          </a:p>
          <a:p>
            <a:r>
              <a:t>• Regressão logística: acertou as 553 peças boas, mas 0 dos 72 defeitos: previu "boa" sempre. A acurácia seria 88,5% (553/625) e o modelo seria inútil: essa é a armadilha da acurácia.</a:t>
            </a:r>
          </a:p>
          <a:p>
            <a:r>
              <a:t>• Árvore de decisão: achou 51 dos 72 defeitos, mas gerou 44 falsos alarmes (peças boas marcadas como defeito).</a:t>
            </a:r>
          </a:p>
          <a:p>
            <a:r>
              <a:t>• Random Forest: achou 53 dos 72 defeitos e teve 19 falsos alarmes: é o melhor equilíbrio entre os três.</a:t>
            </a:r>
          </a:p>
          <a:p>
            <a:r>
              <a:t>• Lição: com classes raras, olhe a matriz e as métricas por classe, não só a acurácia.</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ONDE IMPLEMENTAR: ELÉTRICA (3 min). Conecte com o seu primeiro emprego (controlador com sensor, decisão e acionamento) e com a docência em automação industrial. Em manutenção preditiva, falhas são raras e poucos casos têm rótulo; por isso o não supervisionado. Opcional: alerta enviado ao n8n (Colab, seção 3.4).</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PRÁTICA ELÉTRICA (11 min). Esquerda: k-means com 4 medidas, visto em 2 componentes. Centro: o cotovelo sugere 3 grupos (a silhueta prefere 2: nenhuma métrica decide sozinha; o conhecimento do domínio pesa). Direita: série de vibração com desgaste crescente e três picos injetados; o Isolation Forest marcou os três e mais três pontos. Aviso: cluster não é diagnóstico nem causa.</a:t>
            </a:r>
          </a:p>
          <a:p>
            <a:endParaRPr/>
          </a:p>
          <a:p>
            <a:r>
              <a:t>LEITURA DOS GRÁFICOS (igual ao Colab e à apostila)</a:t>
            </a:r>
          </a:p>
          <a:p>
            <a:endParaRPr/>
          </a:p>
          <a:p>
            <a:r>
              <a:t>Leitura dos gráficos (k-means sem usar a coluna "regime")</a:t>
            </a:r>
          </a:p>
          <a:p>
            <a:r>
              <a:t>• Gráfico "Método do cotovelo (inércia)": horizontal = número de grupos k, vertical = inércia (o quanto os pontos ficam longe do centro do seu grupo; menor é melhor). Ela despenca de k = 2 até 3 ou 4 e depois cai devagar: o "cotovelo" sugere 3 ou 4 grupos.</a:t>
            </a:r>
          </a:p>
          <a:p>
            <a:r>
              <a:t>• Gráfico "Silhueta": mede quão bem separados estão os grupos (maior é melhor). O maior valor é em k = 2 (0,48), mas k = 3 (0,435) e k = 5 (0,46) são parecidos. A escolha de k = 3 vem da engenharia: sabemos que o motor trabalha em 3 cargas (baixa, média, alta).</a:t>
            </a:r>
          </a:p>
          <a:p>
            <a:r>
              <a:t>• Gráfico "k-means (k = 3) em rotação x corrente": cada ponto é uma leitura, cor = grupo encontrado. Três nuvens bem separadas: grupo 0 (≈ 1.200 rpm e 8 A), grupo 1 (≈ 1.800 rpm e 12 A) e grupo 2 (≈ 2.400 rpm e 17 A). Os poucos pontos de cor "errada" no meio de outra nuvem são leituras em que o k-means (que usa as 4 variáveis) discordou do regime verdadeiro. O índice de Rand de 0,79 resume essa concordância (1,0 = idêntico).</a:t>
            </a:r>
          </a:p>
          <a:p>
            <a:r>
              <a:t>• Tabela de perfil: o grupo de maior carga tem 28% de falhas, contra 12% no médio e 1% no baixo. Os grupos descobertos têm significado na manutenção.</a:t>
            </a:r>
          </a:p>
          <a:p>
            <a:endParaRPr/>
          </a:p>
          <a:p>
            <a:r>
              <a:t>Leitura do gráfico (dendrograma de 18 motores)</a:t>
            </a:r>
          </a:p>
          <a:p>
            <a:r>
              <a:t>• Eixos: horizontal = número de cada motor; vertical = distância entre grupos no momento em que eles se juntam. Cada "U" invertido é uma fusão.</a:t>
            </a:r>
          </a:p>
          <a:p>
            <a:r>
              <a:t>• Como ler: motores que se juntam embaixo (distância pequena, por exemplo 16 e 17) são muito parecidos. Quanto mais alto o "U", mais diferentes eram os grupos que se uniram.</a:t>
            </a:r>
          </a:p>
          <a:p>
            <a:r>
              <a:t>• Onde cortar: uma linha horizontal entre as alturas 3,2 e 4,4 corta o gráfico em 3 grupos (laranja, verde e vermelho). O grande salto entre as junções (4 para 8) mostra que os grupos finais são bem distintos.</a:t>
            </a:r>
          </a:p>
          <a:p>
            <a:r>
              <a:t>• Resultado no exercício: com 3 grupos, o hierárquico concorda com os regimes verdadeiros (Rand 0,957), melhor que o k-means (0,792), com silhuetas iguais (0,434 e 0,435).</a:t>
            </a:r>
          </a:p>
          <a:p>
            <a:endParaRPr/>
          </a:p>
          <a:p>
            <a:r>
              <a:t>Leitura do gráfico ("Isolation Forest sinalizando leituras fora do padrão")</a:t>
            </a:r>
          </a:p>
          <a:p>
            <a:r>
              <a:t>• Eixos: horizontal = hora (0 a 300), vertical = vibração (mm/s). A linha escura é a série; os pontos vermelhos são as leituras que o algoritmo marcou como anomalia.</a:t>
            </a:r>
          </a:p>
          <a:p>
            <a:r>
              <a:t>• O que foi sinalizado: os 3 picos reais (horas ≈ 80, 170 e 245) foram todos achados (sensibilidade 3/3). Mas o modelo também marcou outros 3 pontos (dois valores baixos perto das horas 20 a 25 e um ponto no fim da série), que são falsos alarmes. Precisão: 3 de 6 = 0,50.</a:t>
            </a:r>
          </a:p>
          <a:p>
            <a:r>
              <a:t>• Por que isso ocorre: definimos contamination = 0.02, ou seja, dissemos que cerca de 2% das leituras são anômalas, então ele sempre marca algumas. Se aumentarmos esse valor, os alertas aumentam e os 3 reais continuam achados.</a:t>
            </a:r>
          </a:p>
          <a:p>
            <a:r>
              <a:t>• Na engenharia: sem nenhum exemplo de falha rotulado, o algoritmo já encontra os picos. O ajuste da contaminação é um trade-off entre perder anomalias e gerar alarmes demais.</a:t>
            </a:r>
          </a:p>
          <a:p>
            <a:endParaRPr/>
          </a:p>
          <a:p>
            <a:r>
              <a:t>Leitura dos gráficos (resumo dos três métodos não supervisionados)</a:t>
            </a:r>
          </a:p>
          <a:p>
            <a:r>
              <a:t>• Esquerda, k-means: as leituras projetadas em dois eixos (componentes 1 e 2) e coloridas por grupo; o "X" marca o centro de um grupo. Mostra 3 regimes de operação.</a:t>
            </a:r>
          </a:p>
          <a:p>
            <a:r>
              <a:t>• Centro, dendrograma: o hierárquico mostra como os motores se parecem, sem fixar o número de grupos antes.</a:t>
            </a:r>
          </a:p>
          <a:p>
            <a:r>
              <a:t>• Direita, Isolation Forest: a série de vibração com os pontos marcados em vermelho: o que foge do padrão.</a:t>
            </a:r>
          </a:p>
          <a:p>
            <a:r>
              <a:t>• Na engenharia: use agrupamento para conhecer os regimes de operação e detecção de anomalias para vigiar o que sai do comum.</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ONDE IMPLEMENTAR: MECÂNICA (3 min). Contexto: máquinas rotativas com acelerômetro. Em vez do sinal bruto, usamos características (RMS, curtose, fator de crista, energia nas bandas de falha BPFO e BPFI). Com 6 variáveis não dá para olhar um gráfico: o PCA resume em 2 eixos.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PRÁTICA MECÂNICA (11 min). Esquerda: PCA mostra o saudável separado das duas falhas, que se sobrepõem. Centro: o primeiro componente guarda 38% e dois guardam 53%: PCA para visualizar não é o mesmo que PCA sem perda. Direita: o SVM confunde sobretudo as duas falhas entre si. Pergunte o que é pior: falha classificada como saudável ou o inverso.</a:t>
            </a:r>
          </a:p>
          <a:p>
            <a:endParaRPr/>
          </a:p>
          <a:p>
            <a:r>
              <a:t>LEITURA DOS GRÁFICOS (igual ao Colab e à apostila)</a:t>
            </a:r>
          </a:p>
          <a:p>
            <a:endParaRPr/>
          </a:p>
          <a:p>
            <a:r>
              <a:t>Leitura dos gráficos (900 observações de rolamentos, 6 características de vibração cada)</a:t>
            </a:r>
          </a:p>
          <a:p>
            <a:r>
              <a:t>• Gráfico da esquerda (projeção PCA): o PCA combina as 6 variáveis em 2 eixos novos para podermos desenhar. Horizontal = componente 1 (guarda 38% da informação), vertical = componente 2 (16%). Cada ponto é um rolamento: verde = saudável, laranja = falha na pista externa, vermelho = falha na pista interna.</a:t>
            </a:r>
          </a:p>
          <a:p>
            <a:r>
              <a:t>• O que se vê: os saudáveis ficam bem à esquerda, separados dos defeituosos. As duas falhas ocupam a direita e se sobrepõem um pouco, são mais difíceis de distinguir entre si.</a:t>
            </a:r>
          </a:p>
          <a:p>
            <a:r>
              <a:t>• Gráfico da direita (variância explicada): cada barra é a informação guardada por um componente (37,6%; 15,6%; 14,8%; 11,9%; 11,2%; 8,8%) e a linha laranja é a soma acumulada. Dois componentes guardam só cerca de 53%, e três, cerca de 68%: reduzir para 2 dimensões perde informação, e vamos medir quanto no exercício seguinte.</a:t>
            </a:r>
          </a:p>
          <a:p>
            <a:endParaRPr/>
          </a:p>
          <a:p>
            <a:r>
              <a:t>Leitura do gráfico (matriz de confusão do SVM com as 6 variáveis, 225 rolamentos de teste: 75 de cada condição)</a:t>
            </a:r>
          </a:p>
          <a:p>
            <a:r>
              <a:t>• Como ler: linhas = condição real; colunas = condição prevista; a diagonal são os acertos.</a:t>
            </a:r>
          </a:p>
          <a:p>
            <a:r>
              <a:t>• Saudável: 75 de 75 certos. Nenhum rolamento saudável foi condenado.</a:t>
            </a:r>
          </a:p>
          <a:p>
            <a:r>
              <a:t>• Pista externa: 67 certos, 1 confundido com saudável e 7 confundidos com pista interna.</a:t>
            </a:r>
          </a:p>
          <a:p>
            <a:r>
              <a:t>• Pista interna: 66 certos, 3 confundidos com saudável e 6 com pista externa.</a:t>
            </a:r>
          </a:p>
          <a:p>
            <a:r>
              <a:t>• Conclusão: acurácia de 92,4% ((75 + 67 + 66)/225). Os erros se concentram entre as duas falhas (13 casos) e confirmam o que o PCA mostrou: elas se parecem. Em manutenção, o pior erro é confundir falha com saudável (4 casos).</a:t>
            </a:r>
          </a:p>
          <a:p>
            <a:r>
              <a:t>• O efeito do PCA (tabela acima): SVM com as 6 variáveis 92,4%; após PCA de 3 componentes, 90,7%; de 2 componentes, 86,7%; Random Forest, 92,0%. Reduzir dimensão custa um pouco de acerto, mas facilita visualizar e explicar.</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ONDE IMPLEMENTAR: QUÍMICA (3 min). Contexto: reator ou linha com sonda NIR. Cada espectro tem 120 números muito correlacionados e deriva de linha de base. A regressão sobre componentes principais (PCR) é a base da quimiometria. Pergunte: onde estaria a incerteza em um sensor virtual instalado na planta?</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PRÁTICA QUÍMICA (11 min). Esquerda: espectros com picos sobrepostos; a cor é a concentração. Centro: 4 componentes explicam 95% da variância, mas 5 dão o menor erro (3 substâncias + linha de base): variância explicada não é tudo; valide. Direita: previsto x real do PCA + regressão. Ponte para a pesquisa: o mesmo fluxo vale para espectros de amostras clínicas.</a:t>
            </a:r>
          </a:p>
          <a:p>
            <a:endParaRPr/>
          </a:p>
          <a:p>
            <a:r>
              <a:t>LEITURA DOS GRÁFICOS (igual ao Colab e à apostila)</a:t>
            </a:r>
          </a:p>
          <a:p>
            <a:endParaRPr/>
          </a:p>
          <a:p>
            <a:r>
              <a:t>Leitura dos gráficos (220 espectros simulados; queremos estimar a concentração da substância A (%) de cada amostra)</a:t>
            </a:r>
          </a:p>
          <a:p>
            <a:r>
              <a:t>• Gráfico da esquerda, "Espectros": horizontal = comprimento de onda (nm), vertical = absorbância (quanta luz a amostra absorve). Cada linha é uma amostra. Há dois picos (por volta de 1.450 e 1.930 nm), e a cor indica a concentração de A: linhas amarelas (A alta) têm picos mais altos, e linhas roxas (A baixa) têm picos baixos. A altura da linha de base varia de amostra para amostra (um defeito do instrumento) e os picos de outras substâncias se sobrepõem, então o valor de A não se lê direto em um único ponto.</a:t>
            </a:r>
          </a:p>
          <a:p>
            <a:r>
              <a:t>• Gráfico da direita, "Concentrações de A nas amostras": horizontal = % de A (0 a 10), vertical = número de amostras. Os valores se espalham de forma razoavelmente uniforme, o que é bom para treinar (cobre toda a faixa).</a:t>
            </a:r>
          </a:p>
          <a:p>
            <a:r>
              <a:t>• Na engenharia: é a ideia de sensor virtual: em vez de um ensaio de laboratório demorado, o espectro (rápido) é usado para estimar a concentração.</a:t>
            </a:r>
          </a:p>
          <a:p>
            <a:endParaRPr/>
          </a:p>
          <a:p>
            <a:r>
              <a:t>Leitura dos gráficos</a:t>
            </a:r>
          </a:p>
          <a:p>
            <a:r>
              <a:t>• Gráfico da esquerda, "Quantos componentes bastam?": horizontal = número de componentes do PCA, vertical = variância acumulada (%). A linha tracejada vermelha marca 95%. Com 1 componente já temos cerca de 72%; 4 componentes chegam a 95,4% (cruzam a linha) e 5 passam de 97%. As 120 variáveis originais cabem em poucos componentes.</a:t>
            </a:r>
          </a:p>
          <a:p>
            <a:r>
              <a:t>• Gráfico da direita, "Cada ponto é um espectro": horizontal = componente 1, vertical = componente 2; cor = concentração de A. As cores aparecem misturadas: com só 2 componentes não dá para ver a concentração. A informação sobre A está em componentes além dos 2 primeiros, e é por isso que precisamos de 4 ou 5 no modelo.</a:t>
            </a:r>
          </a:p>
          <a:p>
            <a:endParaRPr/>
          </a:p>
          <a:p>
            <a:r>
              <a:t>Leitura do gráfico e da tabela</a:t>
            </a:r>
          </a:p>
          <a:p>
            <a:r>
              <a:t>• Gráfico "PCA (5 comp.) + linear": horizontal = concentração real de A (%), vertical = concentração prevista. A linha tracejada vermelha é a previsão perfeita. Os pontos ficam praticamente sobre a linha: erro médio de apenas 0,117 pontos percentuais e R² de 0,997.</a:t>
            </a:r>
          </a:p>
          <a:p>
            <a:r>
              <a:t>• Comparação (tabela acima, no teste): PCA 5 + linear: MAE 0,117, R² 0,997 (melhor). Linear com 120 variáveis: MAE 0,268, R² 0,986 (bom, mas usa tudo e é mais sensível ao ruído). Random Forest: MAE 0,548, R² 0,940. PCA 4 + linear: MAE 1,779, R² 0,398, ou seja, com 4 componentes (95,4% da variância) o modelo piora muito.</a:t>
            </a:r>
          </a:p>
          <a:p>
            <a:r>
              <a:t>• Lição: "explicar 95% da variância" não garante que a informação do alvo esteja ali. Teste o número de componentes pela métrica de previsão (MAE e R²), não só pela variância.</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LIÇÕES (1,5 min · começa em 38:30). Volte do geral para o seu caso: quatro lições que atravessam todos os seus projetos e que mostram os desafios na prática. Dados mandam no cronograma: cite um episódio real, como arquivos grandes travando em nuvem ou conflitos de nomes entre desfechos. Validar antes de prometer: lembre da assinatura NanoString. Pipeline reproduzível: o caso dos 10 scripts da calculadora. Privacidade desde o início: a de-identificação das retinografias. Em seguida, mostre o roteiro prático para sair do protótipo.</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686780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CONCLUSÃO (1 min · começa em 55:30). Retome o fio da palestra: do citros ao hospital, o caminho foi o mesmo. Dados bem preparados, validação rigorosa e pessoas no centro. A IA não substitui o profissional; ela amplia quem sabe aplicá-la com método e responsabilidade. Deixe a pergunta 'que problema real podemos resolver com ela?' para abrir a conversa com os alunos. Agradeça a Profa. Bina e a UniBarretos pela oportunidade.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PRÓXIMOS PASSOS (5 min). Feche o curso com a trajetória que os alunos podem seguir. Compartilhe como entrar em um grupo de pesquisa (iniciação científica, mestrado) e onde achar dados abertos. A última frase retoma o título da palestra.</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9B026-61CD-A4C5-792E-820C147A42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24E3C-C273-1EA3-4D6E-C103E73B54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3A3C3D-0817-2A98-093E-D45964295ED7}"/>
              </a:ext>
            </a:extLst>
          </p:cNvPr>
          <p:cNvSpPr>
            <a:spLocks noGrp="1"/>
          </p:cNvSpPr>
          <p:nvPr>
            <p:ph type="body" idx="1"/>
          </p:nvPr>
        </p:nvSpPr>
        <p:spPr/>
        <p:txBody>
          <a:bodyPr/>
          <a:lstStyle/>
          <a:p>
            <a:r>
              <a:t>PERGUNTAS (4 min · começa em 56:30). Preencha os agradecimentos e os contatos antes da palestra. Perguntas que costumam surgir: como começar na área vindo da engenharia; o que fazer quando os dados clínicos são pequenos; como a LGPD afeta pesquisas; se a IA vai substituir profissionais. Para a última, volte à mensagem final. Se sobrar tempo, retome o slide "Hospital como sistema inteligente" e peça exemplos do público sobre problemas do dia a dia do hospital em que sensores ou IA poderiam ajudar.</a:t>
            </a:r>
          </a:p>
        </p:txBody>
      </p:sp>
      <p:sp>
        <p:nvSpPr>
          <p:cNvPr id="4" name="Slide Number Placeholder 3">
            <a:extLst>
              <a:ext uri="{FF2B5EF4-FFF2-40B4-BE49-F238E27FC236}">
                <a16:creationId xmlns:a16="http://schemas.microsoft.com/office/drawing/2014/main" id="{69B29FBF-4642-7063-309D-690E30208C76}"/>
              </a:ext>
            </a:extLst>
          </p:cNvPr>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6364758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REFERÊNCIAS (anexo, não apresentar). Em destaque, os trabalhos do mestrado. Os demais são as fontes das inovações e do panorama regulatório. Acrescente aqui a citação completa do artigo sobre TILs (Genes &amp; Immunity, 2026) e da tese. Antes da palestra, vale conferir o andamento do PL 2.338/2023 e qualquer nova norma do CFM ou da Anvisa.</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REFERÊNCIAS, continuação (anexo, não apresentar). Fontes das inovações em engenharia: Stack Overflow, Siemens, Tesla, Karpathy/InsideEVs, TechCrunch, TOMRA, Mercado Livre, Canaltech e Istoé Dinheiro. Confira antes da palestra a fonte oficial da Tesla e a página do Mercado Livre citadas nos slides de carro e de robôs.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body">
    <p:bg>
      <p:bgPr>
        <a:solidFill>
          <a:srgbClr val="F6F3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0242B"/>
                </a:solidFill>
                <a:latin typeface="EB Garamond" pitchFamily="34" charset="0"/>
                <a:ea typeface="EB Garamond" pitchFamily="34" charset="-122"/>
                <a:cs typeface="EB Garamon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11"/>
            <a:ext cx="10566400" cy="4109789"/>
          </a:xfrm>
          <a:prstGeom prst="rect">
            <a:avLst/>
          </a:prstGeom>
          <a:noFill/>
          <a:ln/>
        </p:spPr>
        <p:txBody>
          <a:bodyPr wrap="square" lIns="0" tIns="0" rIns="0" bIns="0" rtlCol="0" anchor="t"/>
          <a:lstStyle>
            <a:lvl1pPr marL="0" indent="0" algn="l">
              <a:lnSpc>
                <a:spcPct val="140000"/>
              </a:lnSpc>
              <a:buNone/>
              <a:defRPr lang="en-US" sz="1600" dirty="0">
                <a:solidFill>
                  <a:srgbClr val="10242B"/>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5557665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91662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backgroun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F6F3EC"/>
                </a:solidFill>
                <a:latin typeface="EB Garamond" pitchFamily="34" charset="0"/>
                <a:ea typeface="EB Garamond" pitchFamily="34" charset="-122"/>
                <a:cs typeface="EB Garamon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11"/>
            <a:ext cx="10566400" cy="4109789"/>
          </a:xfrm>
          <a:prstGeom prst="rect">
            <a:avLst/>
          </a:prstGeom>
          <a:noFill/>
          <a:ln/>
        </p:spPr>
        <p:txBody>
          <a:bodyPr wrap="square" lIns="0" tIns="0" rIns="0" bIns="0" rtlCol="0" anchor="t"/>
          <a:lstStyle>
            <a:lvl1pPr marL="0" indent="0" algn="l">
              <a:lnSpc>
                <a:spcPct val="140000"/>
              </a:lnSpc>
              <a:buNone/>
              <a:defRPr lang="en-US" sz="1600" dirty="0">
                <a:solidFill>
                  <a:srgbClr val="F6F3EC"/>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124020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teachablemachine.withgoogle.com/" TargetMode="Externa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jpeg"/><Relationship Id="rId2" Type="http://schemas.openxmlformats.org/officeDocument/2006/relationships/notesSlide" Target="../notesSlides/notesSlide42.xml"/><Relationship Id="rId1" Type="http://schemas.openxmlformats.org/officeDocument/2006/relationships/slideLayout" Target="../slideLayouts/slideLayout14.xml"/><Relationship Id="rId6" Type="http://schemas.openxmlformats.org/officeDocument/2006/relationships/image" Target="../media/image49.jpeg"/><Relationship Id="rId5" Type="http://schemas.openxmlformats.org/officeDocument/2006/relationships/image" Target="../media/image48.png"/><Relationship Id="rId4" Type="http://schemas.openxmlformats.org/officeDocument/2006/relationships/image" Target="../media/image47.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A38"/>
        </a:solidFill>
        <a:effectLst/>
      </p:bgPr>
    </p:bg>
    <p:spTree>
      <p:nvGrpSpPr>
        <p:cNvPr id="1" name=""/>
        <p:cNvGrpSpPr/>
        <p:nvPr/>
      </p:nvGrpSpPr>
      <p:grpSpPr>
        <a:xfrm>
          <a:off x="0" y="0"/>
          <a:ext cx="0" cy="0"/>
          <a:chOff x="0" y="0"/>
          <a:chExt cx="0" cy="0"/>
        </a:xfrm>
      </p:grpSpPr>
      <p:sp>
        <p:nvSpPr>
          <p:cNvPr id="2" name="Rectangle 1"/>
          <p:cNvSpPr/>
          <p:nvPr/>
        </p:nvSpPr>
        <p:spPr>
          <a:xfrm>
            <a:off x="594360" y="594360"/>
            <a:ext cx="109728" cy="521208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75360" y="1571861"/>
            <a:ext cx="10241280" cy="584775"/>
          </a:xfrm>
          <a:prstGeom prst="rect">
            <a:avLst/>
          </a:prstGeom>
          <a:noFill/>
        </p:spPr>
        <p:txBody>
          <a:bodyPr wrap="square">
            <a:spAutoFit/>
          </a:bodyPr>
          <a:lstStyle/>
          <a:p>
            <a:pPr algn="ctr">
              <a:spcAft>
                <a:spcPts val="700"/>
              </a:spcAft>
            </a:pPr>
            <a:r>
              <a:rPr lang="pt-BR" sz="3200" b="1" noProof="0" dirty="0">
                <a:solidFill>
                  <a:srgbClr val="FFFFFF"/>
                </a:solidFill>
                <a:latin typeface="Georgia"/>
              </a:rPr>
              <a:t>Inteligência Artificial aplicado na Engenharia</a:t>
            </a:r>
          </a:p>
        </p:txBody>
      </p:sp>
      <p:sp>
        <p:nvSpPr>
          <p:cNvPr id="8" name="TextBox 7"/>
          <p:cNvSpPr txBox="1"/>
          <p:nvPr/>
        </p:nvSpPr>
        <p:spPr>
          <a:xfrm>
            <a:off x="812767" y="4457327"/>
            <a:ext cx="11259312" cy="951543"/>
          </a:xfrm>
          <a:prstGeom prst="rect">
            <a:avLst/>
          </a:prstGeom>
          <a:noFill/>
        </p:spPr>
        <p:txBody>
          <a:bodyPr wrap="square">
            <a:spAutoFit/>
          </a:bodyPr>
          <a:lstStyle/>
          <a:p>
            <a:pPr>
              <a:spcAft>
                <a:spcPts val="700"/>
              </a:spcAft>
            </a:pPr>
            <a:r>
              <a:rPr sz="2500" b="0" dirty="0">
                <a:solidFill>
                  <a:srgbClr val="D2DEDD"/>
                </a:solidFill>
                <a:latin typeface="Aptos"/>
              </a:rPr>
              <a:t>Dra. Patricia Pedroso Estevam Ribeiro</a:t>
            </a:r>
            <a:endParaRPr lang="pt-BR" sz="2500" b="0" dirty="0">
              <a:solidFill>
                <a:srgbClr val="D2DEDD"/>
              </a:solidFill>
              <a:latin typeface="Aptos"/>
            </a:endParaRPr>
          </a:p>
          <a:p>
            <a:pPr>
              <a:spcAft>
                <a:spcPts val="700"/>
              </a:spcAft>
            </a:pPr>
            <a:r>
              <a:rPr lang="pt-BR" sz="2500" b="0" noProof="0" dirty="0">
                <a:solidFill>
                  <a:srgbClr val="D2DEDD"/>
                </a:solidFill>
                <a:latin typeface="Aptos"/>
              </a:rPr>
              <a:t> · Engenharia Elétrica · Ciência</a:t>
            </a:r>
            <a:r>
              <a:rPr lang="pt-BR" sz="2500" dirty="0" err="1">
                <a:solidFill>
                  <a:srgbClr val="D2DEDD"/>
                </a:solidFill>
                <a:latin typeface="Aptos"/>
              </a:rPr>
              <a:t>s</a:t>
            </a:r>
            <a:r>
              <a:rPr lang="pt-BR" sz="2500" dirty="0">
                <a:solidFill>
                  <a:srgbClr val="D2DEDD"/>
                </a:solidFill>
                <a:latin typeface="Aptos"/>
              </a:rPr>
              <a:t> </a:t>
            </a:r>
            <a:r>
              <a:rPr lang="pt-BR" sz="2500" b="0" noProof="0" dirty="0">
                <a:solidFill>
                  <a:srgbClr val="D2DEDD"/>
                </a:solidFill>
                <a:latin typeface="Aptos"/>
              </a:rPr>
              <a:t>de Dados · Bioinformática (Oncologia Molecular)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711200"/>
            <a:ext cx="10883392" cy="196850"/>
          </a:xfrm>
          <a:prstGeom prst="rect">
            <a:avLst/>
          </a:prstGeom>
          <a:noFill/>
          <a:ln/>
        </p:spPr>
        <p:txBody>
          <a:bodyPr wrap="square" lIns="0" tIns="0" rIns="0" bIns="0" rtlCol="0" anchor="t">
            <a:normAutofit/>
          </a:bodyPr>
          <a:lstStyle/>
          <a:p>
            <a:pPr marL="0" indent="0" algn="l">
              <a:lnSpc>
                <a:spcPts val="1370"/>
              </a:lnSpc>
              <a:buNone/>
            </a:pPr>
            <a:r>
              <a:rPr lang="en-US" sz="979" b="1" kern="0" spc="200" dirty="0">
                <a:solidFill>
                  <a:srgbClr val="17706B"/>
                </a:solidFill>
                <a:latin typeface="DM Sans" pitchFamily="34" charset="0"/>
                <a:ea typeface="DM Sans" pitchFamily="34" charset="-122"/>
                <a:cs typeface="DM Sans" pitchFamily="34" charset="-120"/>
              </a:rPr>
              <a:t>MINHA HISTÓRIA</a:t>
            </a:r>
            <a:endParaRPr lang="en-US" sz="979" dirty="0"/>
          </a:p>
        </p:txBody>
      </p:sp>
      <p:sp>
        <p:nvSpPr>
          <p:cNvPr id="3" name="Text 1"/>
          <p:cNvSpPr>
            <a:spLocks noGrp="1"/>
          </p:cNvSpPr>
          <p:nvPr>
            <p:ph type="title"/>
          </p:nvPr>
        </p:nvSpPr>
        <p:spPr>
          <a:xfrm>
            <a:off x="812800" y="958850"/>
            <a:ext cx="10883392" cy="429468"/>
          </a:xfrm>
          <a:prstGeom prst="rect">
            <a:avLst/>
          </a:prstGeom>
          <a:noFill/>
          <a:ln/>
        </p:spPr>
        <p:txBody>
          <a:bodyPr wrap="square" lIns="0" tIns="0" rIns="0" bIns="0" rtlCol="0" anchor="t">
            <a:normAutofit/>
          </a:bodyPr>
          <a:lstStyle/>
          <a:p>
            <a:pPr marL="0" indent="0" algn="l">
              <a:lnSpc>
                <a:spcPts val="3218"/>
              </a:lnSpc>
              <a:buNone/>
            </a:pPr>
            <a:r>
              <a:rPr lang="pt-BR" sz="2925" b="1" dirty="0">
                <a:latin typeface="EB Garamond" pitchFamily="18" charset="0"/>
                <a:ea typeface="EB Garamond" pitchFamily="18" charset="-122"/>
                <a:cs typeface="EB Garamond" pitchFamily="18" charset="-120"/>
              </a:rPr>
              <a:t>Do</a:t>
            </a:r>
            <a:r>
              <a:rPr lang="pt-BR" sz="2925" b="1" i="0" noProof="0" dirty="0">
                <a:solidFill>
                  <a:srgbClr val="10242B"/>
                </a:solidFill>
                <a:latin typeface="EB Garamond" pitchFamily="18" charset="0"/>
                <a:ea typeface="EB Garamond" pitchFamily="18" charset="-122"/>
                <a:cs typeface="EB Garamond" pitchFamily="18" charset="-120"/>
              </a:rPr>
              <a:t> curso técnico para a engenharia até a </a:t>
            </a:r>
            <a:r>
              <a:rPr lang="pt-BR" sz="2925" b="1" dirty="0" err="1">
                <a:latin typeface="EB Garamond" pitchFamily="18" charset="0"/>
                <a:ea typeface="EB Garamond" pitchFamily="18" charset="-122"/>
                <a:cs typeface="EB Garamond" pitchFamily="18" charset="-120"/>
              </a:rPr>
              <a:t>b</a:t>
            </a:r>
            <a:r>
              <a:rPr lang="pt-BR" sz="2925" b="1" i="0" noProof="0" dirty="0" err="1">
                <a:solidFill>
                  <a:srgbClr val="10242B"/>
                </a:solidFill>
                <a:latin typeface="EB Garamond" pitchFamily="18" charset="0"/>
                <a:ea typeface="EB Garamond" pitchFamily="18" charset="-122"/>
                <a:cs typeface="EB Garamond" pitchFamily="18" charset="-120"/>
              </a:rPr>
              <a:t>ioinformática</a:t>
            </a:r>
            <a:r>
              <a:rPr lang="pt-BR" sz="2925" b="1" i="0" noProof="0" dirty="0">
                <a:solidFill>
                  <a:srgbClr val="10242B"/>
                </a:solidFill>
                <a:latin typeface="EB Garamond" pitchFamily="18" charset="0"/>
                <a:ea typeface="EB Garamond" pitchFamily="18" charset="-122"/>
                <a:cs typeface="EB Garamond" pitchFamily="18" charset="-120"/>
              </a:rPr>
              <a:t> em </a:t>
            </a:r>
            <a:r>
              <a:rPr lang="pt-BR" sz="2925" b="1" i="0" noProof="0" dirty="0" err="1">
                <a:solidFill>
                  <a:srgbClr val="10242B"/>
                </a:solidFill>
                <a:latin typeface="EB Garamond" pitchFamily="18" charset="0"/>
                <a:ea typeface="EB Garamond" pitchFamily="18" charset="-122"/>
                <a:cs typeface="EB Garamond" pitchFamily="18" charset="-120"/>
              </a:rPr>
              <a:t>onco</a:t>
            </a:r>
            <a:r>
              <a:rPr lang="pt-BR" sz="2925" b="1" dirty="0" err="1">
                <a:latin typeface="EB Garamond" pitchFamily="18" charset="0"/>
                <a:ea typeface="EB Garamond" pitchFamily="18" charset="-122"/>
                <a:cs typeface="EB Garamond" pitchFamily="18" charset="-120"/>
              </a:rPr>
              <a:t>logia</a:t>
            </a:r>
            <a:endParaRPr lang="pt-BR" sz="2925" noProof="0" dirty="0"/>
          </a:p>
        </p:txBody>
      </p:sp>
      <p:sp>
        <p:nvSpPr>
          <p:cNvPr id="4" name="Shape 2"/>
          <p:cNvSpPr/>
          <p:nvPr/>
        </p:nvSpPr>
        <p:spPr>
          <a:xfrm>
            <a:off x="815975" y="1594693"/>
            <a:ext cx="5175250" cy="775146"/>
          </a:xfrm>
          <a:prstGeom prst="roundRect">
            <a:avLst>
              <a:gd name="adj" fmla="val 11059"/>
            </a:avLst>
          </a:prstGeom>
          <a:solidFill>
            <a:srgbClr val="FBF9F4"/>
          </a:solidFill>
          <a:ln w="6350">
            <a:solidFill>
              <a:srgbClr val="DDD6C5"/>
            </a:solidFill>
            <a:prstDash val="solid"/>
          </a:ln>
        </p:spPr>
        <p:txBody>
          <a:bodyPr/>
          <a:lstStyle/>
          <a:p>
            <a:endParaRPr lang="pt-BR"/>
          </a:p>
        </p:txBody>
      </p:sp>
      <p:sp>
        <p:nvSpPr>
          <p:cNvPr id="5" name="Text 3"/>
          <p:cNvSpPr/>
          <p:nvPr/>
        </p:nvSpPr>
        <p:spPr>
          <a:xfrm>
            <a:off x="996950" y="1842542"/>
            <a:ext cx="1638300"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17706B"/>
                </a:solidFill>
                <a:latin typeface="EB Garamond" pitchFamily="18" charset="0"/>
                <a:ea typeface="EB Garamond" pitchFamily="18" charset="-122"/>
                <a:cs typeface="EB Garamond" pitchFamily="18" charset="-120"/>
              </a:rPr>
              <a:t>1999</a:t>
            </a:r>
            <a:endParaRPr lang="en-US" sz="2000" dirty="0"/>
          </a:p>
        </p:txBody>
      </p:sp>
      <p:sp>
        <p:nvSpPr>
          <p:cNvPr id="6" name="Text 4"/>
          <p:cNvSpPr/>
          <p:nvPr/>
        </p:nvSpPr>
        <p:spPr>
          <a:xfrm>
            <a:off x="2762250" y="1631801"/>
            <a:ext cx="313944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0242B"/>
                </a:solidFill>
                <a:latin typeface="DM Sans" pitchFamily="34" charset="0"/>
                <a:ea typeface="DM Sans" pitchFamily="34" charset="-122"/>
                <a:cs typeface="DM Sans" pitchFamily="34" charset="-120"/>
              </a:rPr>
              <a:t>CETEC</a:t>
            </a:r>
            <a:endParaRPr lang="en-US" sz="1200" dirty="0"/>
          </a:p>
        </p:txBody>
      </p:sp>
      <p:sp>
        <p:nvSpPr>
          <p:cNvPr id="7" name="Text 5"/>
          <p:cNvSpPr/>
          <p:nvPr/>
        </p:nvSpPr>
        <p:spPr>
          <a:xfrm>
            <a:off x="2762250" y="1870521"/>
            <a:ext cx="3139440"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A4F"/>
                </a:solidFill>
                <a:latin typeface="DM Sans" pitchFamily="34" charset="0"/>
                <a:ea typeface="DM Sans" pitchFamily="34" charset="-122"/>
                <a:cs typeface="DM Sans" pitchFamily="34" charset="-120"/>
              </a:rPr>
              <a:t>Ensino médio com curso técnico em Processamento de Dados</a:t>
            </a:r>
            <a:endParaRPr lang="en-US" sz="1400" dirty="0"/>
          </a:p>
        </p:txBody>
      </p:sp>
      <p:sp>
        <p:nvSpPr>
          <p:cNvPr id="8" name="Shape 6"/>
          <p:cNvSpPr/>
          <p:nvPr/>
        </p:nvSpPr>
        <p:spPr>
          <a:xfrm>
            <a:off x="815975" y="2477790"/>
            <a:ext cx="5175250" cy="775146"/>
          </a:xfrm>
          <a:prstGeom prst="roundRect">
            <a:avLst>
              <a:gd name="adj" fmla="val 11059"/>
            </a:avLst>
          </a:prstGeom>
          <a:solidFill>
            <a:srgbClr val="FBF9F4"/>
          </a:solidFill>
          <a:ln w="6350">
            <a:solidFill>
              <a:srgbClr val="DDD6C5"/>
            </a:solidFill>
            <a:prstDash val="solid"/>
          </a:ln>
        </p:spPr>
        <p:txBody>
          <a:bodyPr/>
          <a:lstStyle/>
          <a:p>
            <a:endParaRPr lang="pt-BR"/>
          </a:p>
        </p:txBody>
      </p:sp>
      <p:sp>
        <p:nvSpPr>
          <p:cNvPr id="9" name="Text 7"/>
          <p:cNvSpPr/>
          <p:nvPr/>
        </p:nvSpPr>
        <p:spPr>
          <a:xfrm>
            <a:off x="996950" y="2725638"/>
            <a:ext cx="1638300"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17706B"/>
                </a:solidFill>
                <a:latin typeface="EB Garamond" pitchFamily="18" charset="0"/>
                <a:ea typeface="EB Garamond" pitchFamily="18" charset="-122"/>
                <a:cs typeface="EB Garamond" pitchFamily="18" charset="-120"/>
              </a:rPr>
              <a:t>2002–2006</a:t>
            </a:r>
            <a:endParaRPr lang="en-US" sz="2000" dirty="0"/>
          </a:p>
        </p:txBody>
      </p:sp>
      <p:sp>
        <p:nvSpPr>
          <p:cNvPr id="10" name="Text 8"/>
          <p:cNvSpPr/>
          <p:nvPr/>
        </p:nvSpPr>
        <p:spPr>
          <a:xfrm>
            <a:off x="2762250" y="2514898"/>
            <a:ext cx="313944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0242B"/>
                </a:solidFill>
                <a:latin typeface="DM Sans" pitchFamily="34" charset="0"/>
                <a:ea typeface="DM Sans" pitchFamily="34" charset="-122"/>
                <a:cs typeface="DM Sans" pitchFamily="34" charset="-120"/>
              </a:rPr>
              <a:t>UNIFEB</a:t>
            </a:r>
            <a:endParaRPr lang="en-US" sz="1200" dirty="0"/>
          </a:p>
        </p:txBody>
      </p:sp>
      <p:sp>
        <p:nvSpPr>
          <p:cNvPr id="11" name="Text 9"/>
          <p:cNvSpPr/>
          <p:nvPr/>
        </p:nvSpPr>
        <p:spPr>
          <a:xfrm>
            <a:off x="2762250" y="2753618"/>
            <a:ext cx="3139440"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A4F"/>
                </a:solidFill>
                <a:latin typeface="DM Sans" pitchFamily="34" charset="0"/>
                <a:ea typeface="DM Sans" pitchFamily="34" charset="-122"/>
                <a:cs typeface="DM Sans" pitchFamily="34" charset="-120"/>
              </a:rPr>
              <a:t>Engenharia Elétrica com ênfase em Computação</a:t>
            </a:r>
            <a:endParaRPr lang="en-US" sz="1400" dirty="0"/>
          </a:p>
        </p:txBody>
      </p:sp>
      <p:sp>
        <p:nvSpPr>
          <p:cNvPr id="12" name="Shape 10"/>
          <p:cNvSpPr/>
          <p:nvPr/>
        </p:nvSpPr>
        <p:spPr>
          <a:xfrm>
            <a:off x="815975" y="3360886"/>
            <a:ext cx="5175250" cy="605433"/>
          </a:xfrm>
          <a:prstGeom prst="roundRect">
            <a:avLst>
              <a:gd name="adj" fmla="val 14159"/>
            </a:avLst>
          </a:prstGeom>
          <a:solidFill>
            <a:srgbClr val="FBF9F4"/>
          </a:solidFill>
          <a:ln w="6350">
            <a:solidFill>
              <a:srgbClr val="DDD6C5"/>
            </a:solidFill>
            <a:prstDash val="solid"/>
          </a:ln>
        </p:spPr>
        <p:txBody>
          <a:bodyPr/>
          <a:lstStyle/>
          <a:p>
            <a:endParaRPr lang="pt-BR"/>
          </a:p>
        </p:txBody>
      </p:sp>
      <p:sp>
        <p:nvSpPr>
          <p:cNvPr id="13" name="Text 11"/>
          <p:cNvSpPr/>
          <p:nvPr/>
        </p:nvSpPr>
        <p:spPr>
          <a:xfrm>
            <a:off x="996950" y="3523903"/>
            <a:ext cx="1638300"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17706B"/>
                </a:solidFill>
                <a:latin typeface="EB Garamond" pitchFamily="18" charset="0"/>
                <a:ea typeface="EB Garamond" pitchFamily="18" charset="-122"/>
                <a:cs typeface="EB Garamond" pitchFamily="18" charset="-120"/>
              </a:rPr>
              <a:t>2006</a:t>
            </a:r>
            <a:endParaRPr lang="en-US" sz="2000" dirty="0"/>
          </a:p>
        </p:txBody>
      </p:sp>
      <p:sp>
        <p:nvSpPr>
          <p:cNvPr id="14" name="Text 12"/>
          <p:cNvSpPr/>
          <p:nvPr/>
        </p:nvSpPr>
        <p:spPr>
          <a:xfrm>
            <a:off x="2762250" y="3428702"/>
            <a:ext cx="313944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0242B"/>
                </a:solidFill>
                <a:latin typeface="DM Sans" pitchFamily="34" charset="0"/>
                <a:ea typeface="DM Sans" pitchFamily="34" charset="-122"/>
                <a:cs typeface="DM Sans" pitchFamily="34" charset="-120"/>
              </a:rPr>
              <a:t>SÃO CARLOS</a:t>
            </a:r>
            <a:endParaRPr lang="en-US" sz="1200" dirty="0"/>
          </a:p>
        </p:txBody>
      </p:sp>
      <p:sp>
        <p:nvSpPr>
          <p:cNvPr id="15" name="Text 13"/>
          <p:cNvSpPr/>
          <p:nvPr/>
        </p:nvSpPr>
        <p:spPr>
          <a:xfrm>
            <a:off x="2762250" y="3667423"/>
            <a:ext cx="3139440"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A4F"/>
                </a:solidFill>
                <a:latin typeface="DM Sans" pitchFamily="34" charset="0"/>
                <a:ea typeface="DM Sans" pitchFamily="34" charset="-122"/>
                <a:cs typeface="DM Sans" pitchFamily="34" charset="-120"/>
              </a:rPr>
              <a:t>Primeiro emprego, na Enalta</a:t>
            </a:r>
            <a:endParaRPr lang="en-US" sz="1400" dirty="0"/>
          </a:p>
        </p:txBody>
      </p:sp>
      <p:sp>
        <p:nvSpPr>
          <p:cNvPr id="16" name="Shape 14"/>
          <p:cNvSpPr/>
          <p:nvPr/>
        </p:nvSpPr>
        <p:spPr>
          <a:xfrm>
            <a:off x="815975" y="4074269"/>
            <a:ext cx="5175250" cy="605433"/>
          </a:xfrm>
          <a:prstGeom prst="roundRect">
            <a:avLst>
              <a:gd name="adj" fmla="val 14159"/>
            </a:avLst>
          </a:prstGeom>
          <a:solidFill>
            <a:srgbClr val="FBF9F4"/>
          </a:solidFill>
          <a:ln w="6350">
            <a:solidFill>
              <a:srgbClr val="DDD6C5"/>
            </a:solidFill>
            <a:prstDash val="solid"/>
          </a:ln>
        </p:spPr>
        <p:txBody>
          <a:bodyPr/>
          <a:lstStyle/>
          <a:p>
            <a:endParaRPr lang="pt-BR"/>
          </a:p>
        </p:txBody>
      </p:sp>
      <p:sp>
        <p:nvSpPr>
          <p:cNvPr id="17" name="Text 15"/>
          <p:cNvSpPr/>
          <p:nvPr/>
        </p:nvSpPr>
        <p:spPr>
          <a:xfrm>
            <a:off x="996950" y="4237286"/>
            <a:ext cx="1638300"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17706B"/>
                </a:solidFill>
                <a:latin typeface="EB Garamond" pitchFamily="18" charset="0"/>
                <a:ea typeface="EB Garamond" pitchFamily="18" charset="-122"/>
                <a:cs typeface="EB Garamond" pitchFamily="18" charset="-120"/>
              </a:rPr>
              <a:t>2009</a:t>
            </a:r>
            <a:endParaRPr lang="en-US" sz="2000" dirty="0"/>
          </a:p>
        </p:txBody>
      </p:sp>
      <p:sp>
        <p:nvSpPr>
          <p:cNvPr id="18" name="Text 16"/>
          <p:cNvSpPr/>
          <p:nvPr/>
        </p:nvSpPr>
        <p:spPr>
          <a:xfrm>
            <a:off x="2762250" y="4142085"/>
            <a:ext cx="313944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0242B"/>
                </a:solidFill>
                <a:latin typeface="DM Sans" pitchFamily="34" charset="0"/>
                <a:ea typeface="DM Sans" pitchFamily="34" charset="-122"/>
                <a:cs typeface="DM Sans" pitchFamily="34" charset="-120"/>
              </a:rPr>
              <a:t>EMBRAPA INSTRUMENTAÇÃO</a:t>
            </a:r>
            <a:endParaRPr lang="en-US" sz="1200" dirty="0"/>
          </a:p>
        </p:txBody>
      </p:sp>
      <p:sp>
        <p:nvSpPr>
          <p:cNvPr id="19" name="Text 17"/>
          <p:cNvSpPr/>
          <p:nvPr/>
        </p:nvSpPr>
        <p:spPr>
          <a:xfrm>
            <a:off x="2762250" y="4380805"/>
            <a:ext cx="3139440"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A4F"/>
                </a:solidFill>
                <a:latin typeface="DM Sans" pitchFamily="34" charset="0"/>
                <a:ea typeface="DM Sans" pitchFamily="34" charset="-122"/>
                <a:cs typeface="DM Sans" pitchFamily="34" charset="-120"/>
              </a:rPr>
              <a:t>Estágio na Embrapa de São Carlos</a:t>
            </a:r>
            <a:endParaRPr lang="en-US" sz="1400" dirty="0"/>
          </a:p>
        </p:txBody>
      </p:sp>
      <p:sp>
        <p:nvSpPr>
          <p:cNvPr id="20" name="Shape 18"/>
          <p:cNvSpPr/>
          <p:nvPr/>
        </p:nvSpPr>
        <p:spPr>
          <a:xfrm>
            <a:off x="815975" y="4787652"/>
            <a:ext cx="5175250" cy="1358156"/>
          </a:xfrm>
          <a:prstGeom prst="roundRect">
            <a:avLst>
              <a:gd name="adj" fmla="val 7691"/>
            </a:avLst>
          </a:prstGeom>
          <a:solidFill>
            <a:srgbClr val="FBF9F4"/>
          </a:solidFill>
          <a:ln w="6350">
            <a:solidFill>
              <a:srgbClr val="DDD6C5"/>
            </a:solidFill>
            <a:prstDash val="solid"/>
          </a:ln>
        </p:spPr>
        <p:txBody>
          <a:bodyPr/>
          <a:lstStyle/>
          <a:p>
            <a:endParaRPr lang="pt-BR"/>
          </a:p>
        </p:txBody>
      </p:sp>
      <p:sp>
        <p:nvSpPr>
          <p:cNvPr id="21" name="Text 19"/>
          <p:cNvSpPr/>
          <p:nvPr/>
        </p:nvSpPr>
        <p:spPr>
          <a:xfrm>
            <a:off x="996950" y="5205264"/>
            <a:ext cx="1638300"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17706B"/>
                </a:solidFill>
                <a:latin typeface="EB Garamond" pitchFamily="18" charset="0"/>
                <a:ea typeface="EB Garamond" pitchFamily="18" charset="-122"/>
                <a:cs typeface="EB Garamond" pitchFamily="18" charset="-120"/>
              </a:rPr>
              <a:t>2010–2014</a:t>
            </a:r>
            <a:endParaRPr lang="en-US" sz="2000" dirty="0"/>
          </a:p>
        </p:txBody>
      </p:sp>
      <p:sp>
        <p:nvSpPr>
          <p:cNvPr id="22" name="Text 20"/>
          <p:cNvSpPr/>
          <p:nvPr/>
        </p:nvSpPr>
        <p:spPr>
          <a:xfrm>
            <a:off x="2762250" y="4868903"/>
            <a:ext cx="313944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0242B"/>
                </a:solidFill>
                <a:latin typeface="DM Sans" pitchFamily="34" charset="0"/>
                <a:ea typeface="DM Sans" pitchFamily="34" charset="-122"/>
                <a:cs typeface="DM Sans" pitchFamily="34" charset="-120"/>
              </a:rPr>
              <a:t>USP SÃO CARLOS</a:t>
            </a:r>
            <a:endParaRPr lang="en-US" sz="1200" dirty="0"/>
          </a:p>
        </p:txBody>
      </p:sp>
      <p:sp>
        <p:nvSpPr>
          <p:cNvPr id="23" name="Text 21"/>
          <p:cNvSpPr/>
          <p:nvPr/>
        </p:nvSpPr>
        <p:spPr>
          <a:xfrm>
            <a:off x="2762250" y="5107623"/>
            <a:ext cx="3139440" cy="94992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A4F"/>
                </a:solidFill>
                <a:latin typeface="DM Sans" pitchFamily="34" charset="0"/>
                <a:ea typeface="DM Sans" pitchFamily="34" charset="-122"/>
                <a:cs typeface="DM Sans" pitchFamily="34" charset="-120"/>
              </a:rPr>
              <a:t>Engenharia Elétrica, processamento de imagens. Estágio no laboratório do Dr. Lúcio André. Mestrado em 2014</a:t>
            </a:r>
            <a:endParaRPr lang="en-US" sz="1400" dirty="0"/>
          </a:p>
        </p:txBody>
      </p:sp>
      <p:sp>
        <p:nvSpPr>
          <p:cNvPr id="24" name="Shape 22"/>
          <p:cNvSpPr/>
          <p:nvPr/>
        </p:nvSpPr>
        <p:spPr>
          <a:xfrm>
            <a:off x="6200775" y="1594693"/>
            <a:ext cx="5175250" cy="948730"/>
          </a:xfrm>
          <a:prstGeom prst="roundRect">
            <a:avLst>
              <a:gd name="adj" fmla="val 9036"/>
            </a:avLst>
          </a:prstGeom>
          <a:solidFill>
            <a:srgbClr val="FBF9F4"/>
          </a:solidFill>
          <a:ln w="6350">
            <a:solidFill>
              <a:srgbClr val="DDD6C5"/>
            </a:solidFill>
            <a:prstDash val="solid"/>
          </a:ln>
        </p:spPr>
        <p:txBody>
          <a:bodyPr/>
          <a:lstStyle/>
          <a:p>
            <a:endParaRPr lang="pt-BR"/>
          </a:p>
        </p:txBody>
      </p:sp>
      <p:sp>
        <p:nvSpPr>
          <p:cNvPr id="25" name="Text 23"/>
          <p:cNvSpPr/>
          <p:nvPr/>
        </p:nvSpPr>
        <p:spPr>
          <a:xfrm>
            <a:off x="6381750" y="1789658"/>
            <a:ext cx="1638300" cy="5842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17706B"/>
                </a:solidFill>
                <a:latin typeface="EB Garamond" pitchFamily="18" charset="0"/>
                <a:ea typeface="EB Garamond" pitchFamily="18" charset="-122"/>
                <a:cs typeface="EB Garamond" pitchFamily="18" charset="-120"/>
              </a:rPr>
              <a:t>Depois do mestrado</a:t>
            </a:r>
            <a:endParaRPr lang="en-US" sz="2000" dirty="0"/>
          </a:p>
        </p:txBody>
      </p:sp>
      <p:sp>
        <p:nvSpPr>
          <p:cNvPr id="26" name="Text 24"/>
          <p:cNvSpPr/>
          <p:nvPr/>
        </p:nvSpPr>
        <p:spPr>
          <a:xfrm>
            <a:off x="8147050" y="1718568"/>
            <a:ext cx="313944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0242B"/>
                </a:solidFill>
                <a:latin typeface="DM Sans" pitchFamily="34" charset="0"/>
                <a:ea typeface="DM Sans" pitchFamily="34" charset="-122"/>
                <a:cs typeface="DM Sans" pitchFamily="34" charset="-120"/>
              </a:rPr>
              <a:t>LICEU TEC</a:t>
            </a:r>
            <a:endParaRPr lang="en-US" sz="1200" dirty="0"/>
          </a:p>
        </p:txBody>
      </p:sp>
      <p:sp>
        <p:nvSpPr>
          <p:cNvPr id="27" name="Text 25"/>
          <p:cNvSpPr/>
          <p:nvPr/>
        </p:nvSpPr>
        <p:spPr>
          <a:xfrm>
            <a:off x="8147050" y="1957288"/>
            <a:ext cx="3139440"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B4A4F"/>
                </a:solidFill>
                <a:latin typeface="DM Sans" pitchFamily="34" charset="0"/>
                <a:ea typeface="DM Sans" pitchFamily="34" charset="-122"/>
                <a:cs typeface="DM Sans" pitchFamily="34" charset="-120"/>
              </a:rPr>
              <a:t>Docência em Eletrotécnica, Eletrônica e Automação Industrial</a:t>
            </a:r>
            <a:endParaRPr lang="en-US" sz="1400" dirty="0"/>
          </a:p>
        </p:txBody>
      </p:sp>
      <p:sp>
        <p:nvSpPr>
          <p:cNvPr id="28" name="Shape 26"/>
          <p:cNvSpPr/>
          <p:nvPr/>
        </p:nvSpPr>
        <p:spPr>
          <a:xfrm>
            <a:off x="6197600" y="2648198"/>
            <a:ext cx="5181600" cy="942380"/>
          </a:xfrm>
          <a:prstGeom prst="roundRect">
            <a:avLst>
              <a:gd name="adj" fmla="val 9434"/>
            </a:avLst>
          </a:prstGeom>
          <a:solidFill>
            <a:srgbClr val="10242B"/>
          </a:solidFill>
          <a:ln/>
        </p:spPr>
        <p:txBody>
          <a:bodyPr/>
          <a:lstStyle/>
          <a:p>
            <a:endParaRPr lang="pt-BR"/>
          </a:p>
        </p:txBody>
      </p:sp>
      <p:sp>
        <p:nvSpPr>
          <p:cNvPr id="29" name="Text 27"/>
          <p:cNvSpPr/>
          <p:nvPr/>
        </p:nvSpPr>
        <p:spPr>
          <a:xfrm>
            <a:off x="6375400" y="2979688"/>
            <a:ext cx="1638300" cy="304800"/>
          </a:xfrm>
          <a:prstGeom prst="rect">
            <a:avLst/>
          </a:prstGeom>
          <a:noFill/>
          <a:ln/>
        </p:spPr>
        <p:txBody>
          <a:bodyPr wrap="square" lIns="0" tIns="0" rIns="0" bIns="0" rtlCol="0" anchor="t">
            <a:normAutofit/>
          </a:bodyPr>
          <a:lstStyle/>
          <a:p>
            <a:pPr>
              <a:lnSpc>
                <a:spcPts val="2200"/>
              </a:lnSpc>
            </a:pPr>
            <a:r>
              <a:rPr lang="en-US" sz="2000" b="1" dirty="0">
                <a:solidFill>
                  <a:srgbClr val="E3A63B"/>
                </a:solidFill>
                <a:latin typeface="EB Garamond" pitchFamily="18" charset="0"/>
                <a:ea typeface="EB Garamond" pitchFamily="18" charset="-122"/>
                <a:cs typeface="EB Garamond" pitchFamily="18" charset="-120"/>
              </a:rPr>
              <a:t>2020 </a:t>
            </a:r>
            <a:r>
              <a:rPr lang="pt-BR" sz="2000" b="1" dirty="0">
                <a:solidFill>
                  <a:srgbClr val="E3A63B"/>
                </a:solidFill>
                <a:latin typeface="EB Garamond" pitchFamily="18" charset="0"/>
                <a:ea typeface="EB Garamond" pitchFamily="18" charset="-122"/>
                <a:cs typeface="EB Garamond" pitchFamily="18" charset="-120"/>
              </a:rPr>
              <a:t>- 2026</a:t>
            </a:r>
            <a:endParaRPr lang="en-US" sz="2000" dirty="0"/>
          </a:p>
        </p:txBody>
      </p:sp>
      <p:sp>
        <p:nvSpPr>
          <p:cNvPr id="30" name="Text 28"/>
          <p:cNvSpPr/>
          <p:nvPr/>
        </p:nvSpPr>
        <p:spPr>
          <a:xfrm>
            <a:off x="8140700" y="2768898"/>
            <a:ext cx="315252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7FD6CB"/>
                </a:solidFill>
                <a:latin typeface="DM Sans" pitchFamily="34" charset="0"/>
                <a:ea typeface="DM Sans" pitchFamily="34" charset="-122"/>
                <a:cs typeface="DM Sans" pitchFamily="34" charset="-120"/>
              </a:rPr>
              <a:t>HOSPITAL DE AMOR</a:t>
            </a:r>
            <a:endParaRPr lang="en-US" sz="1200" dirty="0"/>
          </a:p>
        </p:txBody>
      </p:sp>
      <p:sp>
        <p:nvSpPr>
          <p:cNvPr id="31" name="Text 29"/>
          <p:cNvSpPr/>
          <p:nvPr/>
        </p:nvSpPr>
        <p:spPr>
          <a:xfrm>
            <a:off x="8140700" y="3007618"/>
            <a:ext cx="3152521"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6F3EC"/>
                </a:solidFill>
                <a:latin typeface="DM Sans" pitchFamily="34" charset="0"/>
                <a:ea typeface="DM Sans" pitchFamily="34" charset="-122"/>
                <a:cs typeface="DM Sans" pitchFamily="34" charset="-120"/>
              </a:rPr>
              <a:t>Doutorado em </a:t>
            </a:r>
            <a:r>
              <a:rPr lang="en-US" sz="1400" dirty="0" err="1">
                <a:solidFill>
                  <a:srgbClr val="F6F3EC"/>
                </a:solidFill>
                <a:latin typeface="DM Sans" pitchFamily="34" charset="0"/>
                <a:ea typeface="DM Sans" pitchFamily="34" charset="-122"/>
                <a:cs typeface="DM Sans" pitchFamily="34" charset="-120"/>
              </a:rPr>
              <a:t>Oncologia</a:t>
            </a:r>
            <a:r>
              <a:rPr lang="en-US" sz="1400" dirty="0">
                <a:solidFill>
                  <a:srgbClr val="F6F3EC"/>
                </a:solidFill>
                <a:latin typeface="DM Sans" pitchFamily="34" charset="0"/>
                <a:ea typeface="DM Sans" pitchFamily="34" charset="-122"/>
                <a:cs typeface="DM Sans" pitchFamily="34" charset="-120"/>
              </a:rPr>
              <a:t> Molecular e bolsa DTI-A</a:t>
            </a:r>
            <a:endParaRPr lang="en-US" sz="1400" dirty="0"/>
          </a:p>
        </p:txBody>
      </p:sp>
      <p:sp>
        <p:nvSpPr>
          <p:cNvPr id="32" name="Shape 30"/>
          <p:cNvSpPr/>
          <p:nvPr/>
        </p:nvSpPr>
        <p:spPr>
          <a:xfrm>
            <a:off x="6197600" y="3692178"/>
            <a:ext cx="5181600" cy="942380"/>
          </a:xfrm>
          <a:prstGeom prst="roundRect">
            <a:avLst>
              <a:gd name="adj" fmla="val 9434"/>
            </a:avLst>
          </a:prstGeom>
          <a:solidFill>
            <a:srgbClr val="10242B"/>
          </a:solidFill>
          <a:ln/>
        </p:spPr>
        <p:txBody>
          <a:bodyPr/>
          <a:lstStyle/>
          <a:p>
            <a:endParaRPr lang="pt-BR"/>
          </a:p>
        </p:txBody>
      </p:sp>
      <p:sp>
        <p:nvSpPr>
          <p:cNvPr id="33" name="Text 31"/>
          <p:cNvSpPr/>
          <p:nvPr/>
        </p:nvSpPr>
        <p:spPr>
          <a:xfrm>
            <a:off x="6375400" y="4023668"/>
            <a:ext cx="1638300"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E3A63B"/>
                </a:solidFill>
                <a:latin typeface="EB Garamond" pitchFamily="18" charset="0"/>
                <a:ea typeface="EB Garamond" pitchFamily="18" charset="-122"/>
                <a:cs typeface="EB Garamond" pitchFamily="18" charset="-120"/>
              </a:rPr>
              <a:t>2023–2024</a:t>
            </a:r>
            <a:endParaRPr lang="en-US" sz="2000" dirty="0"/>
          </a:p>
        </p:txBody>
      </p:sp>
      <p:sp>
        <p:nvSpPr>
          <p:cNvPr id="34" name="Text 32"/>
          <p:cNvSpPr/>
          <p:nvPr/>
        </p:nvSpPr>
        <p:spPr>
          <a:xfrm>
            <a:off x="8140700" y="3812877"/>
            <a:ext cx="315252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7FD6CB"/>
                </a:solidFill>
                <a:latin typeface="DM Sans" pitchFamily="34" charset="0"/>
                <a:ea typeface="DM Sans" pitchFamily="34" charset="-122"/>
                <a:cs typeface="DM Sans" pitchFamily="34" charset="-120"/>
              </a:rPr>
              <a:t>USP/ESALQ</a:t>
            </a:r>
            <a:endParaRPr lang="en-US" sz="1200" dirty="0"/>
          </a:p>
        </p:txBody>
      </p:sp>
      <p:sp>
        <p:nvSpPr>
          <p:cNvPr id="35" name="Text 33"/>
          <p:cNvSpPr/>
          <p:nvPr/>
        </p:nvSpPr>
        <p:spPr>
          <a:xfrm>
            <a:off x="8140700" y="4051598"/>
            <a:ext cx="3152521"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6F3EC"/>
                </a:solidFill>
                <a:latin typeface="DM Sans" pitchFamily="34" charset="0"/>
                <a:ea typeface="DM Sans" pitchFamily="34" charset="-122"/>
                <a:cs typeface="DM Sans" pitchFamily="34" charset="-120"/>
              </a:rPr>
              <a:t>MBA em Data Science e Analytics </a:t>
            </a:r>
            <a:endParaRPr lang="en-US" sz="1400" dirty="0"/>
          </a:p>
        </p:txBody>
      </p:sp>
      <p:sp>
        <p:nvSpPr>
          <p:cNvPr id="36" name="Shape 34"/>
          <p:cNvSpPr/>
          <p:nvPr/>
        </p:nvSpPr>
        <p:spPr>
          <a:xfrm>
            <a:off x="6197600" y="4736157"/>
            <a:ext cx="5181600" cy="1169343"/>
          </a:xfrm>
          <a:prstGeom prst="roundRect">
            <a:avLst>
              <a:gd name="adj" fmla="val 7603"/>
            </a:avLst>
          </a:prstGeom>
          <a:solidFill>
            <a:srgbClr val="10242B"/>
          </a:solidFill>
          <a:ln/>
        </p:spPr>
        <p:txBody>
          <a:bodyPr/>
          <a:lstStyle/>
          <a:p>
            <a:endParaRPr lang="pt-BR"/>
          </a:p>
        </p:txBody>
      </p:sp>
      <p:sp>
        <p:nvSpPr>
          <p:cNvPr id="37" name="Text 35"/>
          <p:cNvSpPr/>
          <p:nvPr/>
        </p:nvSpPr>
        <p:spPr>
          <a:xfrm>
            <a:off x="6375400" y="5181104"/>
            <a:ext cx="1638300" cy="304800"/>
          </a:xfrm>
          <a:prstGeom prst="rect">
            <a:avLst/>
          </a:prstGeom>
          <a:noFill/>
          <a:ln/>
        </p:spPr>
        <p:txBody>
          <a:bodyPr wrap="square" lIns="0" tIns="0" rIns="0" bIns="0" rtlCol="0" anchor="t">
            <a:normAutofit/>
          </a:bodyPr>
          <a:lstStyle/>
          <a:p>
            <a:pPr marL="0" indent="0" algn="l">
              <a:lnSpc>
                <a:spcPts val="2200"/>
              </a:lnSpc>
              <a:buNone/>
            </a:pPr>
            <a:r>
              <a:rPr lang="pt-BR" sz="2000" b="1" noProof="0" dirty="0">
                <a:solidFill>
                  <a:srgbClr val="E3A63B"/>
                </a:solidFill>
                <a:latin typeface="EB Garamond" pitchFamily="18" charset="0"/>
                <a:ea typeface="EB Garamond" pitchFamily="18" charset="-122"/>
                <a:cs typeface="EB Garamond" pitchFamily="18" charset="-120"/>
              </a:rPr>
              <a:t>2025 - Hoje</a:t>
            </a:r>
            <a:endParaRPr lang="pt-BR" sz="2000" noProof="0" dirty="0"/>
          </a:p>
        </p:txBody>
      </p:sp>
      <p:sp>
        <p:nvSpPr>
          <p:cNvPr id="38" name="Text 36"/>
          <p:cNvSpPr/>
          <p:nvPr/>
        </p:nvSpPr>
        <p:spPr>
          <a:xfrm>
            <a:off x="8140700" y="4854773"/>
            <a:ext cx="315252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7FD6CB"/>
                </a:solidFill>
                <a:latin typeface="DM Sans" pitchFamily="34" charset="0"/>
                <a:ea typeface="DM Sans" pitchFamily="34" charset="-122"/>
                <a:cs typeface="DM Sans" pitchFamily="34" charset="-120"/>
              </a:rPr>
              <a:t>USP/ESALQ</a:t>
            </a:r>
            <a:endParaRPr lang="en-US" sz="1200" dirty="0"/>
          </a:p>
        </p:txBody>
      </p:sp>
      <p:sp>
        <p:nvSpPr>
          <p:cNvPr id="39" name="Text 37"/>
          <p:cNvSpPr/>
          <p:nvPr/>
        </p:nvSpPr>
        <p:spPr>
          <a:xfrm>
            <a:off x="8140700" y="5093494"/>
            <a:ext cx="3152521" cy="718790"/>
          </a:xfrm>
          <a:prstGeom prst="rect">
            <a:avLst/>
          </a:prstGeom>
          <a:noFill/>
          <a:ln/>
        </p:spPr>
        <p:txBody>
          <a:bodyPr wrap="square" lIns="0" tIns="0" rIns="0" bIns="0" rtlCol="0" anchor="t">
            <a:normAutofit/>
          </a:bodyPr>
          <a:lstStyle/>
          <a:p>
            <a:pPr marL="0" indent="0" algn="l">
              <a:lnSpc>
                <a:spcPts val="1820"/>
              </a:lnSpc>
              <a:buNone/>
            </a:pPr>
            <a:r>
              <a:rPr lang="pt-BR" sz="1400" noProof="0" dirty="0">
                <a:solidFill>
                  <a:srgbClr val="F6F3EC"/>
                </a:solidFill>
                <a:latin typeface="DM Sans" pitchFamily="34" charset="0"/>
                <a:ea typeface="DM Sans" pitchFamily="34" charset="-122"/>
                <a:cs typeface="DM Sans" pitchFamily="34" charset="-120"/>
              </a:rPr>
              <a:t>MBA em Gestão de Negócios Digitais e IA ( em andamento)</a:t>
            </a:r>
            <a:endParaRPr lang="pt-BR" sz="1400" noProof="0" dirty="0"/>
          </a:p>
        </p:txBody>
      </p:sp>
      <p:sp>
        <p:nvSpPr>
          <p:cNvPr id="41" name="Text 3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A6E"/>
                </a:solidFill>
                <a:latin typeface="DM Sans" pitchFamily="34" charset="0"/>
                <a:ea typeface="DM Sans" pitchFamily="34" charset="-122"/>
                <a:cs typeface="DM Sans" pitchFamily="34" charset="-120"/>
              </a:rPr>
              <a:t>2</a:t>
            </a:r>
            <a:endParaRPr lang="en-US" sz="1200" dirty="0"/>
          </a:p>
        </p:txBody>
      </p:sp>
      <p:sp>
        <p:nvSpPr>
          <p:cNvPr id="42" name="Rectangle 1">
            <a:extLst>
              <a:ext uri="{FF2B5EF4-FFF2-40B4-BE49-F238E27FC236}">
                <a16:creationId xmlns:a16="http://schemas.microsoft.com/office/drawing/2014/main" id="{438A2015-3F54-B4D7-57D4-1848349424FD}"/>
              </a:ext>
            </a:extLst>
          </p:cNvPr>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7706B"/>
                </a:solidFill>
                <a:latin typeface="DM Sans" pitchFamily="34" charset="0"/>
                <a:ea typeface="DM Sans" pitchFamily="34" charset="-122"/>
                <a:cs typeface="DM Sans" pitchFamily="34" charset="-120"/>
              </a:rPr>
              <a:t>MINHA HISTÓRIA · PRIMEIRO EMPREGO, ENALTA (2006–2007)</a:t>
            </a:r>
            <a:endParaRPr lang="en-US" sz="1200" dirty="0"/>
          </a:p>
        </p:txBody>
      </p:sp>
      <p:sp>
        <p:nvSpPr>
          <p:cNvPr id="3" name="Text 1"/>
          <p:cNvSpPr>
            <a:spLocks noGrp="1"/>
          </p:cNvSpPr>
          <p:nvPr>
            <p:ph type="title"/>
          </p:nvPr>
        </p:nvSpPr>
        <p:spPr>
          <a:xfrm>
            <a:off x="812800" y="1127720"/>
            <a:ext cx="10883392" cy="1031180"/>
          </a:xfrm>
          <a:prstGeom prst="rect">
            <a:avLst/>
          </a:prstGeom>
          <a:noFill/>
          <a:ln/>
        </p:spPr>
        <p:txBody>
          <a:bodyPr wrap="square" lIns="0" tIns="0" rIns="0" bIns="0" rtlCol="0" anchor="t">
            <a:normAutofit/>
          </a:bodyPr>
          <a:lstStyle/>
          <a:p>
            <a:pPr marL="0" indent="0" algn="l">
              <a:lnSpc>
                <a:spcPts val="3960"/>
              </a:lnSpc>
              <a:buNone/>
            </a:pPr>
            <a:r>
              <a:rPr lang="pt-BR" sz="3600" b="1" i="0" noProof="0" dirty="0">
                <a:solidFill>
                  <a:srgbClr val="10242B"/>
                </a:solidFill>
                <a:latin typeface="EB Garamond" pitchFamily="18" charset="0"/>
                <a:ea typeface="EB Garamond" pitchFamily="18" charset="-122"/>
                <a:cs typeface="EB Garamond" pitchFamily="18" charset="-120"/>
              </a:rPr>
              <a:t>Meu primeiro projeto: controlar a irrigação com um microcontrolador PIC</a:t>
            </a:r>
            <a:endParaRPr lang="pt-BR" sz="3600" noProof="0" dirty="0"/>
          </a:p>
        </p:txBody>
      </p:sp>
      <p:sp>
        <p:nvSpPr>
          <p:cNvPr id="4" name="Shape 2"/>
          <p:cNvSpPr/>
          <p:nvPr/>
        </p:nvSpPr>
        <p:spPr>
          <a:xfrm>
            <a:off x="831850" y="2412901"/>
            <a:ext cx="0" cy="853380"/>
          </a:xfrm>
          <a:prstGeom prst="line">
            <a:avLst/>
          </a:prstGeom>
          <a:noFill/>
          <a:ln w="38100">
            <a:solidFill>
              <a:srgbClr val="17706B"/>
            </a:solidFill>
            <a:prstDash val="solid"/>
          </a:ln>
        </p:spPr>
        <p:txBody>
          <a:bodyPr/>
          <a:lstStyle/>
          <a:p>
            <a:endParaRPr lang="pt-BR"/>
          </a:p>
        </p:txBody>
      </p:sp>
      <p:sp>
        <p:nvSpPr>
          <p:cNvPr id="5" name="Text 3"/>
          <p:cNvSpPr/>
          <p:nvPr/>
        </p:nvSpPr>
        <p:spPr>
          <a:xfrm>
            <a:off x="1003300" y="2412901"/>
            <a:ext cx="4774565" cy="878780"/>
          </a:xfrm>
          <a:prstGeom prst="rect">
            <a:avLst/>
          </a:prstGeom>
          <a:noFill/>
          <a:ln/>
        </p:spPr>
        <p:txBody>
          <a:bodyPr wrap="square" lIns="0" tIns="0" rIns="0" bIns="0" rtlCol="0" anchor="t">
            <a:normAutofit/>
          </a:bodyPr>
          <a:lstStyle/>
          <a:p>
            <a:pPr marL="0" indent="0" algn="l">
              <a:lnSpc>
                <a:spcPts val="2240"/>
              </a:lnSpc>
              <a:buNone/>
            </a:pPr>
            <a:r>
              <a:rPr lang="pt-BR" sz="2000" b="1" noProof="0" dirty="0">
                <a:solidFill>
                  <a:srgbClr val="3B4A4F"/>
                </a:solidFill>
                <a:latin typeface="DM Sans" pitchFamily="34" charset="0"/>
                <a:ea typeface="DM Sans" pitchFamily="34" charset="-122"/>
                <a:cs typeface="DM Sans" pitchFamily="34" charset="-120"/>
              </a:rPr>
              <a:t>Problema: </a:t>
            </a:r>
            <a:r>
              <a:rPr lang="pt-BR" sz="2000" noProof="0" dirty="0">
                <a:solidFill>
                  <a:srgbClr val="3B4A4F"/>
                </a:solidFill>
                <a:latin typeface="DM Sans" pitchFamily="34" charset="0"/>
                <a:ea typeface="DM Sans" pitchFamily="34" charset="-122"/>
                <a:cs typeface="DM Sans" pitchFamily="34" charset="-120"/>
              </a:rPr>
              <a:t>controlar a lâmina de vinhaça aplicada na plantação.</a:t>
            </a:r>
            <a:endParaRPr lang="pt-BR" sz="2000" noProof="0" dirty="0"/>
          </a:p>
        </p:txBody>
      </p:sp>
      <p:sp>
        <p:nvSpPr>
          <p:cNvPr id="6" name="Shape 4"/>
          <p:cNvSpPr/>
          <p:nvPr/>
        </p:nvSpPr>
        <p:spPr>
          <a:xfrm>
            <a:off x="831850" y="3418681"/>
            <a:ext cx="0" cy="853380"/>
          </a:xfrm>
          <a:prstGeom prst="line">
            <a:avLst/>
          </a:prstGeom>
          <a:noFill/>
          <a:ln w="38100">
            <a:solidFill>
              <a:srgbClr val="17706B"/>
            </a:solidFill>
            <a:prstDash val="solid"/>
          </a:ln>
        </p:spPr>
        <p:txBody>
          <a:bodyPr/>
          <a:lstStyle/>
          <a:p>
            <a:endParaRPr lang="pt-BR"/>
          </a:p>
        </p:txBody>
      </p:sp>
      <p:sp>
        <p:nvSpPr>
          <p:cNvPr id="7" name="Text 5"/>
          <p:cNvSpPr/>
          <p:nvPr/>
        </p:nvSpPr>
        <p:spPr>
          <a:xfrm>
            <a:off x="1003300" y="3418681"/>
            <a:ext cx="4774565" cy="878780"/>
          </a:xfrm>
          <a:prstGeom prst="rect">
            <a:avLst/>
          </a:prstGeom>
          <a:noFill/>
          <a:ln/>
        </p:spPr>
        <p:txBody>
          <a:bodyPr wrap="square" lIns="0" tIns="0" rIns="0" bIns="0" rtlCol="0" anchor="t">
            <a:normAutofit/>
          </a:bodyPr>
          <a:lstStyle/>
          <a:p>
            <a:pPr marL="0" indent="0" algn="just">
              <a:lnSpc>
                <a:spcPts val="2240"/>
              </a:lnSpc>
              <a:buNone/>
            </a:pPr>
            <a:r>
              <a:rPr lang="en-US" sz="2000" b="1" dirty="0">
                <a:solidFill>
                  <a:srgbClr val="3B4A4F"/>
                </a:solidFill>
                <a:latin typeface="DM Sans" pitchFamily="34" charset="0"/>
                <a:ea typeface="DM Sans" pitchFamily="34" charset="-122"/>
                <a:cs typeface="DM Sans" pitchFamily="34" charset="-120"/>
              </a:rPr>
              <a:t>Sistema: </a:t>
            </a:r>
            <a:r>
              <a:rPr lang="en-US" sz="2000" dirty="0">
                <a:solidFill>
                  <a:srgbClr val="3B4A4F"/>
                </a:solidFill>
                <a:latin typeface="DM Sans" pitchFamily="34" charset="0"/>
                <a:ea typeface="DM Sans" pitchFamily="34" charset="-122"/>
                <a:cs typeface="DM Sans" pitchFamily="34" charset="-120"/>
              </a:rPr>
              <a:t>aspersor alimentado por uma motobomba, em um equipamento de rolo de irrigação.</a:t>
            </a:r>
            <a:endParaRPr lang="en-US" sz="2000" dirty="0"/>
          </a:p>
        </p:txBody>
      </p:sp>
      <p:sp>
        <p:nvSpPr>
          <p:cNvPr id="8" name="Shape 6"/>
          <p:cNvSpPr/>
          <p:nvPr/>
        </p:nvSpPr>
        <p:spPr>
          <a:xfrm>
            <a:off x="831850" y="4424462"/>
            <a:ext cx="0" cy="853380"/>
          </a:xfrm>
          <a:prstGeom prst="line">
            <a:avLst/>
          </a:prstGeom>
          <a:noFill/>
          <a:ln w="38100">
            <a:solidFill>
              <a:srgbClr val="17706B"/>
            </a:solidFill>
            <a:prstDash val="solid"/>
          </a:ln>
        </p:spPr>
        <p:txBody>
          <a:bodyPr/>
          <a:lstStyle/>
          <a:p>
            <a:endParaRPr lang="pt-BR"/>
          </a:p>
        </p:txBody>
      </p:sp>
      <p:sp>
        <p:nvSpPr>
          <p:cNvPr id="9" name="Text 7"/>
          <p:cNvSpPr/>
          <p:nvPr/>
        </p:nvSpPr>
        <p:spPr>
          <a:xfrm>
            <a:off x="1003300" y="4424462"/>
            <a:ext cx="4774565" cy="87878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3B4A4F"/>
                </a:solidFill>
                <a:latin typeface="DM Sans" pitchFamily="34" charset="0"/>
                <a:ea typeface="DM Sans" pitchFamily="34" charset="-122"/>
                <a:cs typeface="DM Sans" pitchFamily="34" charset="-120"/>
              </a:rPr>
              <a:t>Meu trabalho: </a:t>
            </a:r>
            <a:r>
              <a:rPr lang="en-US" sz="2000" dirty="0">
                <a:solidFill>
                  <a:srgbClr val="3B4A4F"/>
                </a:solidFill>
                <a:latin typeface="DM Sans" pitchFamily="34" charset="0"/>
                <a:ea typeface="DM Sans" pitchFamily="34" charset="-122"/>
                <a:cs typeface="DM Sans" pitchFamily="34" charset="-120"/>
              </a:rPr>
              <a:t>desenvolver o controlador com microcontrolador PIC, na Enalta, em São Carlos.</a:t>
            </a:r>
            <a:endParaRPr lang="en-US" sz="2000" dirty="0"/>
          </a:p>
        </p:txBody>
      </p:sp>
      <p:sp>
        <p:nvSpPr>
          <p:cNvPr id="12" name="Text 10"/>
          <p:cNvSpPr/>
          <p:nvPr/>
        </p:nvSpPr>
        <p:spPr>
          <a:xfrm>
            <a:off x="6248400" y="4526280"/>
            <a:ext cx="497078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3EC"/>
                </a:solidFill>
                <a:latin typeface="DM Sans" pitchFamily="34" charset="0"/>
                <a:ea typeface="DM Sans" pitchFamily="34" charset="-122"/>
                <a:cs typeface="DM Sans" pitchFamily="34" charset="-120"/>
              </a:rPr>
              <a:t>Sensor, controle e acionamento: meu primeiro sistema com realimentação.</a:t>
            </a:r>
            <a:endParaRPr lang="en-US" sz="16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A6E"/>
                </a:solidFill>
                <a:latin typeface="DM Sans" pitchFamily="34" charset="0"/>
                <a:ea typeface="DM Sans" pitchFamily="34" charset="-122"/>
                <a:cs typeface="DM Sans" pitchFamily="34" charset="-120"/>
              </a:rPr>
              <a:t>3</a:t>
            </a:r>
            <a:endParaRPr lang="en-US" sz="1200" dirty="0"/>
          </a:p>
        </p:txBody>
      </p:sp>
      <p:pic>
        <p:nvPicPr>
          <p:cNvPr id="16" name="Foto rolo de irrigação" descr="Rolo de irrigação com mangueira enrolada em campo cultivado"/>
          <p:cNvPicPr>
            <a:picLocks noChangeAspect="1"/>
          </p:cNvPicPr>
          <p:nvPr/>
        </p:nvPicPr>
        <p:blipFill>
          <a:blip r:embed="rId3"/>
          <a:stretch>
            <a:fillRect/>
          </a:stretch>
        </p:blipFill>
        <p:spPr>
          <a:xfrm>
            <a:off x="7596555" y="1915011"/>
            <a:ext cx="2685816" cy="1691640"/>
          </a:xfrm>
          <a:prstGeom prst="rect">
            <a:avLst/>
          </a:prstGeom>
        </p:spPr>
      </p:pic>
      <p:pic>
        <p:nvPicPr>
          <p:cNvPr id="17" name="Foto aspersor" descr="Aspersor sobre carrinho em campo arado"/>
          <p:cNvPicPr>
            <a:picLocks noChangeAspect="1"/>
          </p:cNvPicPr>
          <p:nvPr/>
        </p:nvPicPr>
        <p:blipFill>
          <a:blip r:embed="rId4"/>
          <a:stretch>
            <a:fillRect/>
          </a:stretch>
        </p:blipFill>
        <p:spPr>
          <a:xfrm>
            <a:off x="7606030" y="3886398"/>
            <a:ext cx="2685809" cy="2014357"/>
          </a:xfrm>
          <a:prstGeom prst="rect">
            <a:avLst/>
          </a:prstGeom>
        </p:spPr>
      </p:pic>
      <p:sp>
        <p:nvSpPr>
          <p:cNvPr id="10" name="Rectangle 1">
            <a:extLst>
              <a:ext uri="{FF2B5EF4-FFF2-40B4-BE49-F238E27FC236}">
                <a16:creationId xmlns:a16="http://schemas.microsoft.com/office/drawing/2014/main" id="{CD42054A-B619-EAE1-2512-08A1214B5D61}"/>
              </a:ext>
            </a:extLst>
          </p:cNvPr>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632938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7706B"/>
                </a:solidFill>
                <a:latin typeface="DM Sans" pitchFamily="34" charset="0"/>
                <a:ea typeface="DM Sans" pitchFamily="34" charset="-122"/>
                <a:cs typeface="DM Sans" pitchFamily="34" charset="-120"/>
              </a:rPr>
              <a:t>MINHA HISTÓRIA · MESTRADO, USP SÃO CARLOS E EMBRAPA INSTRUMENTAÇÃO</a:t>
            </a:r>
            <a:endParaRPr lang="en-US" sz="1200" dirty="0"/>
          </a:p>
        </p:txBody>
      </p:sp>
      <p:sp>
        <p:nvSpPr>
          <p:cNvPr id="3" name="Text 1"/>
          <p:cNvSpPr>
            <a:spLocks noGrp="1"/>
          </p:cNvSpPr>
          <p:nvPr>
            <p:ph type="title"/>
          </p:nvPr>
        </p:nvSpPr>
        <p:spPr>
          <a:xfrm>
            <a:off x="812800" y="11277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0242B"/>
                </a:solidFill>
                <a:latin typeface="EB Garamond" pitchFamily="18" charset="0"/>
                <a:ea typeface="EB Garamond" pitchFamily="18" charset="-122"/>
                <a:cs typeface="EB Garamond" pitchFamily="18" charset="-120"/>
              </a:rPr>
              <a:t>Visão computacional para identificar o greening nos citros</a:t>
            </a:r>
            <a:endParaRPr lang="en-US" sz="3600" dirty="0"/>
          </a:p>
        </p:txBody>
      </p:sp>
      <p:sp>
        <p:nvSpPr>
          <p:cNvPr id="4" name="Shape 2"/>
          <p:cNvSpPr/>
          <p:nvPr/>
        </p:nvSpPr>
        <p:spPr>
          <a:xfrm>
            <a:off x="831850" y="2412901"/>
            <a:ext cx="0" cy="853380"/>
          </a:xfrm>
          <a:prstGeom prst="line">
            <a:avLst/>
          </a:prstGeom>
          <a:noFill/>
          <a:ln w="38100">
            <a:solidFill>
              <a:srgbClr val="17706B"/>
            </a:solidFill>
            <a:prstDash val="solid"/>
          </a:ln>
        </p:spPr>
        <p:txBody>
          <a:bodyPr/>
          <a:lstStyle/>
          <a:p>
            <a:endParaRPr lang="pt-BR"/>
          </a:p>
        </p:txBody>
      </p:sp>
      <p:sp>
        <p:nvSpPr>
          <p:cNvPr id="5" name="Text 3"/>
          <p:cNvSpPr/>
          <p:nvPr/>
        </p:nvSpPr>
        <p:spPr>
          <a:xfrm>
            <a:off x="1003300" y="2412901"/>
            <a:ext cx="4774565" cy="87878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3B4A4F"/>
                </a:solidFill>
                <a:latin typeface="DM Sans" pitchFamily="34" charset="0"/>
                <a:ea typeface="DM Sans" pitchFamily="34" charset="-122"/>
                <a:cs typeface="DM Sans" pitchFamily="34" charset="-120"/>
              </a:rPr>
              <a:t>Problema:</a:t>
            </a:r>
            <a:r>
              <a:rPr lang="en-US" sz="2000" dirty="0">
                <a:solidFill>
                  <a:srgbClr val="3B4A4F"/>
                </a:solidFill>
                <a:latin typeface="DM Sans" pitchFamily="34" charset="0"/>
                <a:ea typeface="DM Sans" pitchFamily="34" charset="-122"/>
                <a:cs typeface="DM Sans" pitchFamily="34" charset="-120"/>
              </a:rPr>
              <a:t> a inspeção visual detecta em média 47,61% das plantas com sintomas, e o PCR é caro e lento.</a:t>
            </a:r>
            <a:endParaRPr lang="en-US" sz="2000" dirty="0"/>
          </a:p>
        </p:txBody>
      </p:sp>
      <p:sp>
        <p:nvSpPr>
          <p:cNvPr id="6" name="Shape 4"/>
          <p:cNvSpPr/>
          <p:nvPr/>
        </p:nvSpPr>
        <p:spPr>
          <a:xfrm>
            <a:off x="831850" y="3418681"/>
            <a:ext cx="0" cy="853380"/>
          </a:xfrm>
          <a:prstGeom prst="line">
            <a:avLst/>
          </a:prstGeom>
          <a:noFill/>
          <a:ln w="38100">
            <a:solidFill>
              <a:srgbClr val="17706B"/>
            </a:solidFill>
            <a:prstDash val="solid"/>
          </a:ln>
        </p:spPr>
        <p:txBody>
          <a:bodyPr/>
          <a:lstStyle/>
          <a:p>
            <a:endParaRPr lang="pt-BR"/>
          </a:p>
        </p:txBody>
      </p:sp>
      <p:sp>
        <p:nvSpPr>
          <p:cNvPr id="7" name="Text 5"/>
          <p:cNvSpPr/>
          <p:nvPr/>
        </p:nvSpPr>
        <p:spPr>
          <a:xfrm>
            <a:off x="967106" y="4560849"/>
            <a:ext cx="4774565" cy="878780"/>
          </a:xfrm>
          <a:prstGeom prst="rect">
            <a:avLst/>
          </a:prstGeom>
          <a:noFill/>
          <a:ln/>
        </p:spPr>
        <p:txBody>
          <a:bodyPr wrap="square" lIns="0" tIns="0" rIns="0" bIns="0" rtlCol="0" anchor="t">
            <a:noAutofit/>
          </a:bodyPr>
          <a:lstStyle/>
          <a:p>
            <a:pPr>
              <a:lnSpc>
                <a:spcPts val="2240"/>
              </a:lnSpc>
            </a:pPr>
            <a:r>
              <a:rPr lang="pt-BR" sz="2000" b="1" noProof="0" dirty="0">
                <a:solidFill>
                  <a:srgbClr val="3B4A4F"/>
                </a:solidFill>
                <a:latin typeface="DM Sans" pitchFamily="34" charset="0"/>
                <a:ea typeface="DM Sans" pitchFamily="34" charset="-122"/>
                <a:cs typeface="DM Sans" pitchFamily="34" charset="-120"/>
              </a:rPr>
              <a:t>Métodos de visão computacional clássica. :</a:t>
            </a:r>
            <a:r>
              <a:rPr lang="pt-BR" sz="2000" noProof="0" dirty="0">
                <a:solidFill>
                  <a:srgbClr val="3B4A4F"/>
                </a:solidFill>
                <a:latin typeface="DM Sans" pitchFamily="34" charset="0"/>
                <a:ea typeface="DM Sans" pitchFamily="34" charset="-122"/>
                <a:cs typeface="DM Sans" pitchFamily="34" charset="-120"/>
              </a:rPr>
              <a:t> análise de  de textura (LBP, LFP e </a:t>
            </a:r>
            <a:r>
              <a:rPr lang="pt-BR" sz="2000" noProof="0" dirty="0" err="1">
                <a:solidFill>
                  <a:srgbClr val="3B4A4F"/>
                </a:solidFill>
                <a:latin typeface="DM Sans" pitchFamily="34" charset="0"/>
                <a:ea typeface="DM Sans" pitchFamily="34" charset="-122"/>
                <a:cs typeface="DM Sans" pitchFamily="34" charset="-120"/>
              </a:rPr>
              <a:t>Haralick</a:t>
            </a:r>
            <a:r>
              <a:rPr lang="pt-BR" sz="2000" noProof="0" dirty="0">
                <a:solidFill>
                  <a:srgbClr val="3B4A4F"/>
                </a:solidFill>
                <a:latin typeface="DM Sans" pitchFamily="34" charset="0"/>
                <a:ea typeface="DM Sans" pitchFamily="34" charset="-122"/>
                <a:cs typeface="DM Sans" pitchFamily="34" charset="-120"/>
              </a:rPr>
              <a:t>) em imagens de folhas.</a:t>
            </a:r>
            <a:endParaRPr lang="pt-BR" sz="2000" noProof="0" dirty="0"/>
          </a:p>
        </p:txBody>
      </p:sp>
      <p:sp>
        <p:nvSpPr>
          <p:cNvPr id="8" name="Shape 6"/>
          <p:cNvSpPr/>
          <p:nvPr/>
        </p:nvSpPr>
        <p:spPr>
          <a:xfrm>
            <a:off x="831850" y="4547555"/>
            <a:ext cx="0" cy="853380"/>
          </a:xfrm>
          <a:prstGeom prst="line">
            <a:avLst/>
          </a:prstGeom>
          <a:noFill/>
          <a:ln w="38100">
            <a:solidFill>
              <a:srgbClr val="17706B"/>
            </a:solidFill>
            <a:prstDash val="solid"/>
          </a:ln>
        </p:spPr>
        <p:txBody>
          <a:bodyPr/>
          <a:lstStyle/>
          <a:p>
            <a:endParaRPr lang="pt-BR"/>
          </a:p>
        </p:txBody>
      </p:sp>
      <p:sp>
        <p:nvSpPr>
          <p:cNvPr id="9" name="Text 7"/>
          <p:cNvSpPr/>
          <p:nvPr/>
        </p:nvSpPr>
        <p:spPr>
          <a:xfrm>
            <a:off x="1003300" y="3457534"/>
            <a:ext cx="4774565" cy="87878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3B4A4F"/>
                </a:solidFill>
                <a:latin typeface="DM Sans" pitchFamily="34" charset="0"/>
                <a:ea typeface="DM Sans" pitchFamily="34" charset="-122"/>
                <a:cs typeface="DM Sans" pitchFamily="34" charset="-120"/>
              </a:rPr>
              <a:t>Dados:</a:t>
            </a:r>
            <a:r>
              <a:rPr lang="en-US" sz="2000" dirty="0">
                <a:solidFill>
                  <a:srgbClr val="3B4A4F"/>
                </a:solidFill>
                <a:latin typeface="DM Sans" pitchFamily="34" charset="0"/>
                <a:ea typeface="DM Sans" pitchFamily="34" charset="-122"/>
                <a:cs typeface="DM Sans" pitchFamily="34" charset="-120"/>
              </a:rPr>
              <a:t> 120 folhas em seis classes: greening, CVC, rubelose e deficiências de manganês, magnésio e zinco.</a:t>
            </a:r>
            <a:endParaRPr lang="en-US" sz="2000" dirty="0"/>
          </a:p>
        </p:txBody>
      </p:sp>
      <p:sp>
        <p:nvSpPr>
          <p:cNvPr id="10" name="Shape 8"/>
          <p:cNvSpPr/>
          <p:nvPr/>
        </p:nvSpPr>
        <p:spPr>
          <a:xfrm>
            <a:off x="6096000" y="3180259"/>
            <a:ext cx="5128893" cy="2550021"/>
          </a:xfrm>
          <a:prstGeom prst="roundRect">
            <a:avLst>
              <a:gd name="adj" fmla="val 3546"/>
            </a:avLst>
          </a:prstGeom>
          <a:solidFill>
            <a:srgbClr val="10242B"/>
          </a:solidFill>
          <a:ln/>
        </p:spPr>
        <p:txBody>
          <a:bodyPr/>
          <a:lstStyle/>
          <a:p>
            <a:endParaRPr lang="pt-BR"/>
          </a:p>
        </p:txBody>
      </p:sp>
      <p:sp>
        <p:nvSpPr>
          <p:cNvPr id="11" name="Text 9"/>
          <p:cNvSpPr/>
          <p:nvPr/>
        </p:nvSpPr>
        <p:spPr>
          <a:xfrm>
            <a:off x="6254114" y="3739009"/>
            <a:ext cx="497078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E3A63B"/>
                </a:solidFill>
                <a:latin typeface="EB Garamond" pitchFamily="18" charset="0"/>
                <a:ea typeface="EB Garamond" pitchFamily="18" charset="-122"/>
                <a:cs typeface="EB Garamond" pitchFamily="18" charset="-120"/>
              </a:rPr>
              <a:t>99,94%</a:t>
            </a:r>
            <a:endParaRPr lang="en-US" sz="6000" dirty="0"/>
          </a:p>
        </p:txBody>
      </p:sp>
      <p:sp>
        <p:nvSpPr>
          <p:cNvPr id="12" name="Text 10"/>
          <p:cNvSpPr/>
          <p:nvPr/>
        </p:nvSpPr>
        <p:spPr>
          <a:xfrm>
            <a:off x="6254114" y="4602609"/>
            <a:ext cx="497078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3EC"/>
                </a:solidFill>
                <a:latin typeface="DM Sans" pitchFamily="34" charset="0"/>
                <a:ea typeface="DM Sans" pitchFamily="34" charset="-122"/>
                <a:cs typeface="DM Sans" pitchFamily="34" charset="-120"/>
              </a:rPr>
              <a:t>de sensibilidade do LBP para o greening. Nas seis classes, o LBP variou de 97,02% a 99,94%.</a:t>
            </a:r>
            <a:endParaRPr lang="en-US" sz="1600" dirty="0"/>
          </a:p>
        </p:txBody>
      </p:sp>
      <p:sp>
        <p:nvSpPr>
          <p:cNvPr id="13" name="Text 11"/>
          <p:cNvSpPr/>
          <p:nvPr/>
        </p:nvSpPr>
        <p:spPr>
          <a:xfrm>
            <a:off x="6254114" y="5273129"/>
            <a:ext cx="49707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4B1"/>
                </a:solidFill>
                <a:latin typeface="DM Sans" pitchFamily="34" charset="0"/>
                <a:ea typeface="DM Sans" pitchFamily="34" charset="-122"/>
                <a:cs typeface="DM Sans" pitchFamily="34" charset="-120"/>
              </a:rPr>
              <a:t>Os descritores de Haralick ficaram bem abaixo, entre 38% e 46%.</a:t>
            </a:r>
            <a:endParaRPr lang="en-US" sz="1200" dirty="0"/>
          </a:p>
        </p:txBody>
      </p:sp>
      <p:sp>
        <p:nvSpPr>
          <p:cNvPr id="14" name="Text 12"/>
          <p:cNvSpPr/>
          <p:nvPr/>
        </p:nvSpPr>
        <p:spPr>
          <a:xfrm>
            <a:off x="112712" y="6632279"/>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A6E"/>
                </a:solidFill>
                <a:latin typeface="DM Sans" pitchFamily="34" charset="0"/>
                <a:ea typeface="DM Sans" pitchFamily="34" charset="-122"/>
                <a:cs typeface="DM Sans" pitchFamily="34" charset="-120"/>
              </a:rPr>
              <a:t>Fonte: dissertação (EESC-USP, 2014) e Ribeiro, Paiva e Jorge, X WVC (2014)</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A6E"/>
                </a:solidFill>
                <a:latin typeface="DM Sans" pitchFamily="34" charset="0"/>
                <a:ea typeface="DM Sans" pitchFamily="34" charset="-122"/>
                <a:cs typeface="DM Sans" pitchFamily="34" charset="-120"/>
              </a:rPr>
              <a:t>4</a:t>
            </a:r>
            <a:endParaRPr lang="en-US" sz="1200" dirty="0"/>
          </a:p>
        </p:txBody>
      </p:sp>
      <p:pic>
        <p:nvPicPr>
          <p:cNvPr id="1026" name="Picture 2" descr="Manejo do Greening é a chave para frear a sua disseminação">
            <a:extLst>
              <a:ext uri="{FF2B5EF4-FFF2-40B4-BE49-F238E27FC236}">
                <a16:creationId xmlns:a16="http://schemas.microsoft.com/office/drawing/2014/main" id="{1ECAFC64-B89A-1AB3-1F83-B765159F33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3585" y="1748488"/>
            <a:ext cx="2420962" cy="136179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ior praga da citricultura, greening é ameaça à produção de laranja  brasileira - Fundecitrus">
            <a:extLst>
              <a:ext uri="{FF2B5EF4-FFF2-40B4-BE49-F238E27FC236}">
                <a16:creationId xmlns:a16="http://schemas.microsoft.com/office/drawing/2014/main" id="{9EE2982B-4526-81E6-977E-9DE20FC0A8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4819" y="1754290"/>
            <a:ext cx="2545207" cy="13474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
            <a:extLst>
              <a:ext uri="{FF2B5EF4-FFF2-40B4-BE49-F238E27FC236}">
                <a16:creationId xmlns:a16="http://schemas.microsoft.com/office/drawing/2014/main" id="{E52F5CFA-9DFA-A874-F452-F18827962F64}"/>
              </a:ext>
            </a:extLst>
          </p:cNvPr>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8229600" cy="299056"/>
          </a:xfrm>
          <a:prstGeom prst="rect">
            <a:avLst/>
          </a:prstGeom>
          <a:noFill/>
        </p:spPr>
        <p:txBody>
          <a:bodyPr wrap="square">
            <a:spAutoFit/>
          </a:bodyPr>
          <a:lstStyle/>
          <a:p>
            <a:pPr>
              <a:lnSpc>
                <a:spcPts val="1680"/>
              </a:lnSpc>
            </a:pPr>
            <a:r>
              <a:rPr lang="en-US" sz="1000" b="1" kern="0" spc="200" dirty="0">
                <a:solidFill>
                  <a:srgbClr val="17706B"/>
                </a:solidFill>
                <a:latin typeface="DM Sans" pitchFamily="34" charset="0"/>
                <a:ea typeface="DM Sans" pitchFamily="34" charset="-122"/>
                <a:cs typeface="DM Sans" pitchFamily="34" charset="-120"/>
              </a:rPr>
              <a:t>MINHA HISTÓRIA · DOUTORADO, HOSPITAL DE AMOR</a:t>
            </a:r>
            <a:endParaRPr lang="en-US" sz="1000" dirty="0"/>
          </a:p>
        </p:txBody>
      </p:sp>
      <p:sp>
        <p:nvSpPr>
          <p:cNvPr id="4" name="TextBox 3"/>
          <p:cNvSpPr txBox="1"/>
          <p:nvPr/>
        </p:nvSpPr>
        <p:spPr>
          <a:xfrm>
            <a:off x="530352" y="512278"/>
            <a:ext cx="11155680" cy="923330"/>
          </a:xfrm>
          <a:prstGeom prst="rect">
            <a:avLst/>
          </a:prstGeom>
          <a:noFill/>
        </p:spPr>
        <p:txBody>
          <a:bodyPr wrap="square">
            <a:spAutoFit/>
          </a:bodyPr>
          <a:lstStyle/>
          <a:p>
            <a:pPr>
              <a:spcAft>
                <a:spcPts val="700"/>
              </a:spcAft>
            </a:pPr>
            <a:r>
              <a:rPr lang="pt-BR" sz="2700" b="1" noProof="0" dirty="0">
                <a:solidFill>
                  <a:srgbClr val="142A38"/>
                </a:solidFill>
                <a:latin typeface="Georgia"/>
              </a:rPr>
              <a:t>No doutorado: Reconhecimento de padrão de biomarcadores de instabilidade genômica em trabalhadores rurais</a:t>
            </a:r>
          </a:p>
        </p:txBody>
      </p:sp>
      <p:sp>
        <p:nvSpPr>
          <p:cNvPr id="5" name="TextBox 4"/>
          <p:cNvSpPr txBox="1"/>
          <p:nvPr/>
        </p:nvSpPr>
        <p:spPr>
          <a:xfrm>
            <a:off x="530352" y="1463040"/>
            <a:ext cx="10972800" cy="707886"/>
          </a:xfrm>
          <a:prstGeom prst="rect">
            <a:avLst/>
          </a:prstGeom>
          <a:noFill/>
        </p:spPr>
        <p:txBody>
          <a:bodyPr wrap="square">
            <a:spAutoFit/>
          </a:bodyPr>
          <a:lstStyle/>
          <a:p>
            <a:pPr algn="ctr">
              <a:spcAft>
                <a:spcPts val="700"/>
              </a:spcAft>
            </a:pPr>
            <a:r>
              <a:rPr lang="pt-BR" sz="2000" b="0" noProof="0" dirty="0">
                <a:solidFill>
                  <a:srgbClr val="637478"/>
                </a:solidFill>
                <a:latin typeface="Aptos"/>
              </a:rPr>
              <a:t>A mesma base de engenharia (dados, estatística e programação) aplicada a dados epidemiológicos e moleculares.</a:t>
            </a:r>
          </a:p>
        </p:txBody>
      </p:sp>
      <p:sp>
        <p:nvSpPr>
          <p:cNvPr id="7" name="TextBox 6"/>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5</a:t>
            </a:r>
          </a:p>
        </p:txBody>
      </p:sp>
      <p:sp>
        <p:nvSpPr>
          <p:cNvPr id="8" name="Rounded Rectangle 7"/>
          <p:cNvSpPr/>
          <p:nvPr/>
        </p:nvSpPr>
        <p:spPr>
          <a:xfrm>
            <a:off x="658213" y="2252454"/>
            <a:ext cx="3499610" cy="153504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58213" y="2335789"/>
            <a:ext cx="70700" cy="137160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08148" y="2252454"/>
            <a:ext cx="2987040" cy="353943"/>
          </a:xfrm>
          <a:prstGeom prst="rect">
            <a:avLst/>
          </a:prstGeom>
          <a:noFill/>
        </p:spPr>
        <p:txBody>
          <a:bodyPr wrap="square">
            <a:spAutoFit/>
          </a:bodyPr>
          <a:lstStyle/>
          <a:p>
            <a:pPr>
              <a:spcAft>
                <a:spcPts val="700"/>
              </a:spcAft>
            </a:pPr>
            <a:r>
              <a:rPr sz="1700" b="1">
                <a:solidFill>
                  <a:srgbClr val="142A38"/>
                </a:solidFill>
                <a:latin typeface="Georgia"/>
              </a:rPr>
              <a:t>DADOS</a:t>
            </a:r>
          </a:p>
        </p:txBody>
      </p:sp>
      <p:sp>
        <p:nvSpPr>
          <p:cNvPr id="11" name="TextBox 10"/>
          <p:cNvSpPr txBox="1"/>
          <p:nvPr/>
        </p:nvSpPr>
        <p:spPr>
          <a:xfrm>
            <a:off x="835307" y="2580464"/>
            <a:ext cx="2987040" cy="553998"/>
          </a:xfrm>
          <a:prstGeom prst="rect">
            <a:avLst/>
          </a:prstGeom>
          <a:noFill/>
        </p:spPr>
        <p:txBody>
          <a:bodyPr wrap="square">
            <a:spAutoFit/>
          </a:bodyPr>
          <a:lstStyle/>
          <a:p>
            <a:pPr algn="just">
              <a:spcAft>
                <a:spcPts val="700"/>
              </a:spcAft>
            </a:pPr>
            <a:r>
              <a:rPr lang="pt-BR" sz="1500" dirty="0">
                <a:solidFill>
                  <a:srgbClr val="303E44"/>
                </a:solidFill>
                <a:latin typeface="Aptos"/>
              </a:rPr>
              <a:t>Dados dos grupos expostos e não expostos</a:t>
            </a:r>
            <a:endParaRPr lang="pt-BR" sz="1500" b="0" noProof="0" dirty="0">
              <a:solidFill>
                <a:srgbClr val="303E44"/>
              </a:solidFill>
              <a:latin typeface="Aptos"/>
            </a:endParaRPr>
          </a:p>
        </p:txBody>
      </p:sp>
      <p:sp>
        <p:nvSpPr>
          <p:cNvPr id="12" name="Rounded Rectangle 11"/>
          <p:cNvSpPr/>
          <p:nvPr/>
        </p:nvSpPr>
        <p:spPr>
          <a:xfrm>
            <a:off x="4388965" y="2252453"/>
            <a:ext cx="3499610" cy="1535041"/>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16395" y="2335789"/>
            <a:ext cx="45719" cy="137160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38901" y="2252454"/>
            <a:ext cx="2987040" cy="353943"/>
          </a:xfrm>
          <a:prstGeom prst="rect">
            <a:avLst/>
          </a:prstGeom>
          <a:noFill/>
        </p:spPr>
        <p:txBody>
          <a:bodyPr wrap="square">
            <a:spAutoFit/>
          </a:bodyPr>
          <a:lstStyle/>
          <a:p>
            <a:pPr>
              <a:spcAft>
                <a:spcPts val="700"/>
              </a:spcAft>
            </a:pPr>
            <a:r>
              <a:rPr sz="1700" b="1">
                <a:solidFill>
                  <a:srgbClr val="142A38"/>
                </a:solidFill>
                <a:latin typeface="Georgia"/>
              </a:rPr>
              <a:t>MÉTODOS</a:t>
            </a:r>
          </a:p>
        </p:txBody>
      </p:sp>
      <p:sp>
        <p:nvSpPr>
          <p:cNvPr id="15" name="TextBox 14"/>
          <p:cNvSpPr txBox="1"/>
          <p:nvPr/>
        </p:nvSpPr>
        <p:spPr>
          <a:xfrm>
            <a:off x="4614672" y="2542089"/>
            <a:ext cx="2987040" cy="1246495"/>
          </a:xfrm>
          <a:prstGeom prst="rect">
            <a:avLst/>
          </a:prstGeom>
          <a:noFill/>
        </p:spPr>
        <p:txBody>
          <a:bodyPr wrap="square">
            <a:spAutoFit/>
          </a:bodyPr>
          <a:lstStyle/>
          <a:p>
            <a:pPr algn="just">
              <a:spcAft>
                <a:spcPts val="700"/>
              </a:spcAft>
            </a:pPr>
            <a:r>
              <a:rPr lang="pt-BR" sz="1500" b="0" noProof="0" dirty="0">
                <a:solidFill>
                  <a:srgbClr val="303E44"/>
                </a:solidFill>
                <a:latin typeface="Aptos"/>
              </a:rPr>
              <a:t>Estatística, técnica de visualização e projeção de dados seleção de variáveis,  aprendizado supervisionado, aprendizado não supervisionado.</a:t>
            </a:r>
          </a:p>
        </p:txBody>
      </p:sp>
      <p:sp>
        <p:nvSpPr>
          <p:cNvPr id="16" name="Rounded Rectangle 15"/>
          <p:cNvSpPr/>
          <p:nvPr/>
        </p:nvSpPr>
        <p:spPr>
          <a:xfrm>
            <a:off x="8119716" y="2252454"/>
            <a:ext cx="3499610" cy="153504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47148" y="2335789"/>
            <a:ext cx="45719" cy="137160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69653" y="2252454"/>
            <a:ext cx="2987040" cy="353943"/>
          </a:xfrm>
          <a:prstGeom prst="rect">
            <a:avLst/>
          </a:prstGeom>
          <a:noFill/>
        </p:spPr>
        <p:txBody>
          <a:bodyPr wrap="square">
            <a:spAutoFit/>
          </a:bodyPr>
          <a:lstStyle/>
          <a:p>
            <a:pPr>
              <a:spcAft>
                <a:spcPts val="700"/>
              </a:spcAft>
            </a:pPr>
            <a:r>
              <a:rPr sz="1700" b="1">
                <a:solidFill>
                  <a:srgbClr val="142A38"/>
                </a:solidFill>
                <a:latin typeface="Georgia"/>
              </a:rPr>
              <a:t>USO POTENCIAL</a:t>
            </a:r>
          </a:p>
        </p:txBody>
      </p:sp>
      <p:sp>
        <p:nvSpPr>
          <p:cNvPr id="19" name="TextBox 18"/>
          <p:cNvSpPr txBox="1"/>
          <p:nvPr/>
        </p:nvSpPr>
        <p:spPr>
          <a:xfrm>
            <a:off x="8369653" y="2709654"/>
            <a:ext cx="2987040" cy="954107"/>
          </a:xfrm>
          <a:prstGeom prst="rect">
            <a:avLst/>
          </a:prstGeom>
          <a:noFill/>
        </p:spPr>
        <p:txBody>
          <a:bodyPr wrap="square">
            <a:spAutoFit/>
          </a:bodyPr>
          <a:lstStyle/>
          <a:p>
            <a:pPr algn="just">
              <a:spcAft>
                <a:spcPts val="700"/>
              </a:spcAft>
            </a:pPr>
            <a:r>
              <a:rPr lang="pt-BR" sz="1400" dirty="0">
                <a:solidFill>
                  <a:srgbClr val="303E44"/>
                </a:solidFill>
                <a:latin typeface="Aptos"/>
              </a:rPr>
              <a:t>Identificar perfis de risco e apoiar a vigilância em saúde de trabalhadores expostos a agrotóxicos.</a:t>
            </a:r>
            <a:endParaRPr lang="pt-BR" sz="1400" b="0" noProof="0" dirty="0">
              <a:solidFill>
                <a:srgbClr val="303E44"/>
              </a:solidFill>
              <a:latin typeface="Aptos"/>
            </a:endParaRPr>
          </a:p>
        </p:txBody>
      </p:sp>
      <p:pic>
        <p:nvPicPr>
          <p:cNvPr id="21" name="Imagem 20">
            <a:extLst>
              <a:ext uri="{FF2B5EF4-FFF2-40B4-BE49-F238E27FC236}">
                <a16:creationId xmlns:a16="http://schemas.microsoft.com/office/drawing/2014/main" id="{53A599D2-41B2-AAB2-969E-0A6616284A8B}"/>
              </a:ext>
            </a:extLst>
          </p:cNvPr>
          <p:cNvPicPr>
            <a:picLocks noChangeAspect="1"/>
          </p:cNvPicPr>
          <p:nvPr/>
        </p:nvPicPr>
        <p:blipFill>
          <a:blip r:embed="rId2"/>
          <a:stretch>
            <a:fillRect/>
          </a:stretch>
        </p:blipFill>
        <p:spPr>
          <a:xfrm>
            <a:off x="1345003" y="3895603"/>
            <a:ext cx="5857347" cy="2706365"/>
          </a:xfrm>
          <a:prstGeom prst="rect">
            <a:avLst/>
          </a:prstGeom>
        </p:spPr>
      </p:pic>
      <p:sp>
        <p:nvSpPr>
          <p:cNvPr id="22" name="Shape 8">
            <a:extLst>
              <a:ext uri="{FF2B5EF4-FFF2-40B4-BE49-F238E27FC236}">
                <a16:creationId xmlns:a16="http://schemas.microsoft.com/office/drawing/2014/main" id="{7B038498-ACC8-EF1B-7FFB-04DC20359F66}"/>
              </a:ext>
            </a:extLst>
          </p:cNvPr>
          <p:cNvSpPr/>
          <p:nvPr/>
        </p:nvSpPr>
        <p:spPr>
          <a:xfrm>
            <a:off x="7677565" y="4059677"/>
            <a:ext cx="3523835" cy="1094162"/>
          </a:xfrm>
          <a:prstGeom prst="roundRect">
            <a:avLst>
              <a:gd name="adj" fmla="val 4978"/>
            </a:avLst>
          </a:prstGeom>
          <a:solidFill>
            <a:srgbClr val="FBF9F4"/>
          </a:solidFill>
          <a:ln w="6350">
            <a:solidFill>
              <a:srgbClr val="DDD6C5"/>
            </a:solidFill>
            <a:prstDash val="solid"/>
          </a:ln>
        </p:spPr>
        <p:txBody>
          <a:bodyPr/>
          <a:lstStyle/>
          <a:p>
            <a:endParaRPr lang="pt-BR"/>
          </a:p>
        </p:txBody>
      </p:sp>
      <p:sp>
        <p:nvSpPr>
          <p:cNvPr id="23" name="Text 9">
            <a:extLst>
              <a:ext uri="{FF2B5EF4-FFF2-40B4-BE49-F238E27FC236}">
                <a16:creationId xmlns:a16="http://schemas.microsoft.com/office/drawing/2014/main" id="{213D930D-C239-787E-0BE9-6F5F8C2CAD87}"/>
              </a:ext>
            </a:extLst>
          </p:cNvPr>
          <p:cNvSpPr/>
          <p:nvPr/>
        </p:nvSpPr>
        <p:spPr>
          <a:xfrm>
            <a:off x="7863762" y="3930721"/>
            <a:ext cx="2247900" cy="685800"/>
          </a:xfrm>
          <a:prstGeom prst="rect">
            <a:avLst/>
          </a:prstGeom>
          <a:noFill/>
          <a:ln/>
        </p:spPr>
        <p:txBody>
          <a:bodyPr wrap="square" lIns="0" tIns="0" rIns="0" bIns="0" rtlCol="0" anchor="t">
            <a:normAutofit/>
          </a:bodyPr>
          <a:lstStyle/>
          <a:p>
            <a:pPr marL="0" indent="0" algn="l">
              <a:lnSpc>
                <a:spcPts val="5200"/>
              </a:lnSpc>
              <a:buNone/>
            </a:pPr>
            <a:r>
              <a:rPr lang="en-US" sz="3000" b="1" dirty="0">
                <a:solidFill>
                  <a:srgbClr val="17706B"/>
                </a:solidFill>
                <a:latin typeface="EB Garamond" pitchFamily="18" charset="0"/>
                <a:ea typeface="EB Garamond" pitchFamily="18" charset="-122"/>
                <a:cs typeface="EB Garamond" pitchFamily="18" charset="-120"/>
              </a:rPr>
              <a:t>77,78%</a:t>
            </a:r>
            <a:endParaRPr lang="en-US" sz="3000" dirty="0"/>
          </a:p>
        </p:txBody>
      </p:sp>
      <p:sp>
        <p:nvSpPr>
          <p:cNvPr id="24" name="Text 10">
            <a:extLst>
              <a:ext uri="{FF2B5EF4-FFF2-40B4-BE49-F238E27FC236}">
                <a16:creationId xmlns:a16="http://schemas.microsoft.com/office/drawing/2014/main" id="{00C7C57E-2C5C-A0F7-9CEC-A76A7E96E91C}"/>
              </a:ext>
            </a:extLst>
          </p:cNvPr>
          <p:cNvSpPr/>
          <p:nvPr/>
        </p:nvSpPr>
        <p:spPr>
          <a:xfrm>
            <a:off x="7846124" y="4468039"/>
            <a:ext cx="3392047" cy="878780"/>
          </a:xfrm>
          <a:prstGeom prst="rect">
            <a:avLst/>
          </a:prstGeom>
          <a:noFill/>
          <a:ln/>
        </p:spPr>
        <p:txBody>
          <a:bodyPr wrap="square" lIns="0" tIns="0" rIns="0" bIns="0" rtlCol="0" anchor="t">
            <a:normAutofit/>
          </a:bodyPr>
          <a:lstStyle/>
          <a:p>
            <a:pPr marL="0" indent="0" algn="l">
              <a:lnSpc>
                <a:spcPts val="2240"/>
              </a:lnSpc>
              <a:buNone/>
            </a:pPr>
            <a:r>
              <a:rPr lang="pt-BR" sz="1600" noProof="0" dirty="0">
                <a:solidFill>
                  <a:srgbClr val="3B4A4F"/>
                </a:solidFill>
                <a:latin typeface="DM Sans" pitchFamily="34" charset="0"/>
                <a:ea typeface="DM Sans" pitchFamily="34" charset="-122"/>
                <a:cs typeface="DM Sans" pitchFamily="34" charset="-120"/>
              </a:rPr>
              <a:t>Acurácia média com </a:t>
            </a:r>
            <a:r>
              <a:rPr lang="pt-BR" sz="1600" noProof="0" dirty="0" err="1">
                <a:solidFill>
                  <a:srgbClr val="3B4A4F"/>
                </a:solidFill>
                <a:latin typeface="DM Sans" pitchFamily="34" charset="0"/>
                <a:ea typeface="DM Sans" pitchFamily="34" charset="-122"/>
                <a:cs typeface="DM Sans" pitchFamily="34" charset="-120"/>
              </a:rPr>
              <a:t>Support</a:t>
            </a:r>
            <a:r>
              <a:rPr lang="pt-BR" sz="1600" noProof="0" dirty="0">
                <a:solidFill>
                  <a:srgbClr val="3B4A4F"/>
                </a:solidFill>
                <a:latin typeface="DM Sans" pitchFamily="34" charset="0"/>
                <a:ea typeface="DM Sans" pitchFamily="34" charset="-122"/>
                <a:cs typeface="DM Sans" pitchFamily="34" charset="-120"/>
              </a:rPr>
              <a:t> Vector Machine (SVM)</a:t>
            </a:r>
            <a:endParaRPr lang="pt-BR" sz="1600" noProof="0" dirty="0"/>
          </a:p>
        </p:txBody>
      </p:sp>
      <p:sp>
        <p:nvSpPr>
          <p:cNvPr id="28" name="Shape 8">
            <a:extLst>
              <a:ext uri="{FF2B5EF4-FFF2-40B4-BE49-F238E27FC236}">
                <a16:creationId xmlns:a16="http://schemas.microsoft.com/office/drawing/2014/main" id="{EE91BE4F-F720-5410-4786-C41886FCFE5F}"/>
              </a:ext>
            </a:extLst>
          </p:cNvPr>
          <p:cNvSpPr/>
          <p:nvPr/>
        </p:nvSpPr>
        <p:spPr>
          <a:xfrm>
            <a:off x="7701375" y="5269361"/>
            <a:ext cx="3523835" cy="1094162"/>
          </a:xfrm>
          <a:prstGeom prst="roundRect">
            <a:avLst>
              <a:gd name="adj" fmla="val 4978"/>
            </a:avLst>
          </a:prstGeom>
          <a:solidFill>
            <a:srgbClr val="FBF9F4"/>
          </a:solidFill>
          <a:ln w="6350">
            <a:solidFill>
              <a:srgbClr val="DDD6C5"/>
            </a:solidFill>
            <a:prstDash val="solid"/>
          </a:ln>
        </p:spPr>
        <p:txBody>
          <a:bodyPr/>
          <a:lstStyle/>
          <a:p>
            <a:endParaRPr lang="pt-BR"/>
          </a:p>
        </p:txBody>
      </p:sp>
      <p:sp>
        <p:nvSpPr>
          <p:cNvPr id="29" name="Text 9">
            <a:extLst>
              <a:ext uri="{FF2B5EF4-FFF2-40B4-BE49-F238E27FC236}">
                <a16:creationId xmlns:a16="http://schemas.microsoft.com/office/drawing/2014/main" id="{478A2161-9B96-E8F4-850E-1CE68E380570}"/>
              </a:ext>
            </a:extLst>
          </p:cNvPr>
          <p:cNvSpPr/>
          <p:nvPr/>
        </p:nvSpPr>
        <p:spPr>
          <a:xfrm>
            <a:off x="7887572" y="5140405"/>
            <a:ext cx="2247900" cy="685800"/>
          </a:xfrm>
          <a:prstGeom prst="rect">
            <a:avLst/>
          </a:prstGeom>
          <a:noFill/>
          <a:ln/>
        </p:spPr>
        <p:txBody>
          <a:bodyPr wrap="square" lIns="0" tIns="0" rIns="0" bIns="0" rtlCol="0" anchor="t">
            <a:normAutofit/>
          </a:bodyPr>
          <a:lstStyle/>
          <a:p>
            <a:pPr marL="0" indent="0" algn="l">
              <a:lnSpc>
                <a:spcPts val="5200"/>
              </a:lnSpc>
              <a:buNone/>
            </a:pPr>
            <a:r>
              <a:rPr lang="en-US" sz="3000" b="1" dirty="0">
                <a:solidFill>
                  <a:srgbClr val="17706B"/>
                </a:solidFill>
                <a:latin typeface="EB Garamond" pitchFamily="18" charset="0"/>
                <a:ea typeface="EB Garamond" pitchFamily="18" charset="-122"/>
                <a:cs typeface="EB Garamond" pitchFamily="18" charset="-120"/>
              </a:rPr>
              <a:t>0,80</a:t>
            </a:r>
            <a:endParaRPr lang="en-US" sz="3000" dirty="0"/>
          </a:p>
        </p:txBody>
      </p:sp>
      <p:sp>
        <p:nvSpPr>
          <p:cNvPr id="30" name="Text 10">
            <a:extLst>
              <a:ext uri="{FF2B5EF4-FFF2-40B4-BE49-F238E27FC236}">
                <a16:creationId xmlns:a16="http://schemas.microsoft.com/office/drawing/2014/main" id="{6F446676-808D-1CBA-69A0-F75EB2476098}"/>
              </a:ext>
            </a:extLst>
          </p:cNvPr>
          <p:cNvSpPr/>
          <p:nvPr/>
        </p:nvSpPr>
        <p:spPr>
          <a:xfrm>
            <a:off x="7863762" y="5784354"/>
            <a:ext cx="3392047" cy="878780"/>
          </a:xfrm>
          <a:prstGeom prst="rect">
            <a:avLst/>
          </a:prstGeom>
          <a:noFill/>
          <a:ln/>
        </p:spPr>
        <p:txBody>
          <a:bodyPr wrap="square" lIns="0" tIns="0" rIns="0" bIns="0" rtlCol="0" anchor="t">
            <a:normAutofit/>
          </a:bodyPr>
          <a:lstStyle/>
          <a:p>
            <a:pPr marL="0" indent="0" algn="l">
              <a:lnSpc>
                <a:spcPts val="2240"/>
              </a:lnSpc>
              <a:buNone/>
            </a:pPr>
            <a:r>
              <a:rPr lang="pt-BR" sz="1600" dirty="0">
                <a:solidFill>
                  <a:srgbClr val="3B4A4F"/>
                </a:solidFill>
                <a:latin typeface="DM Sans" pitchFamily="34" charset="0"/>
              </a:rPr>
              <a:t>AUC SVM </a:t>
            </a:r>
            <a:endParaRPr lang="pt-BR" sz="1600" noProof="0" dirty="0"/>
          </a:p>
        </p:txBody>
      </p:sp>
      <p:sp>
        <p:nvSpPr>
          <p:cNvPr id="31" name="Text 9">
            <a:extLst>
              <a:ext uri="{FF2B5EF4-FFF2-40B4-BE49-F238E27FC236}">
                <a16:creationId xmlns:a16="http://schemas.microsoft.com/office/drawing/2014/main" id="{8E9D86E3-7084-959B-F0A9-908F6857CD3E}"/>
              </a:ext>
            </a:extLst>
          </p:cNvPr>
          <p:cNvSpPr/>
          <p:nvPr/>
        </p:nvSpPr>
        <p:spPr>
          <a:xfrm>
            <a:off x="9544486" y="5141418"/>
            <a:ext cx="2247900" cy="685800"/>
          </a:xfrm>
          <a:prstGeom prst="rect">
            <a:avLst/>
          </a:prstGeom>
          <a:noFill/>
          <a:ln/>
        </p:spPr>
        <p:txBody>
          <a:bodyPr wrap="square" lIns="0" tIns="0" rIns="0" bIns="0" rtlCol="0" anchor="t">
            <a:normAutofit/>
          </a:bodyPr>
          <a:lstStyle/>
          <a:p>
            <a:pPr marL="0" indent="0" algn="l">
              <a:lnSpc>
                <a:spcPts val="5200"/>
              </a:lnSpc>
              <a:buNone/>
            </a:pPr>
            <a:r>
              <a:rPr lang="en-US" sz="3000" b="1" dirty="0">
                <a:solidFill>
                  <a:srgbClr val="17706B"/>
                </a:solidFill>
                <a:latin typeface="EB Garamond" pitchFamily="18" charset="0"/>
                <a:ea typeface="EB Garamond" pitchFamily="18" charset="-122"/>
                <a:cs typeface="EB Garamond" pitchFamily="18" charset="-120"/>
              </a:rPr>
              <a:t>0,85</a:t>
            </a:r>
            <a:endParaRPr lang="en-US" sz="3000" dirty="0"/>
          </a:p>
        </p:txBody>
      </p:sp>
      <p:sp>
        <p:nvSpPr>
          <p:cNvPr id="32" name="Text 10">
            <a:extLst>
              <a:ext uri="{FF2B5EF4-FFF2-40B4-BE49-F238E27FC236}">
                <a16:creationId xmlns:a16="http://schemas.microsoft.com/office/drawing/2014/main" id="{FEA930C7-0D7D-D360-20AD-8704F5E8D716}"/>
              </a:ext>
            </a:extLst>
          </p:cNvPr>
          <p:cNvSpPr/>
          <p:nvPr/>
        </p:nvSpPr>
        <p:spPr>
          <a:xfrm>
            <a:off x="9520677" y="5742503"/>
            <a:ext cx="1745982" cy="569704"/>
          </a:xfrm>
          <a:prstGeom prst="rect">
            <a:avLst/>
          </a:prstGeom>
          <a:noFill/>
          <a:ln/>
        </p:spPr>
        <p:txBody>
          <a:bodyPr wrap="square" lIns="0" tIns="0" rIns="0" bIns="0" rtlCol="0" anchor="t">
            <a:normAutofit/>
          </a:bodyPr>
          <a:lstStyle/>
          <a:p>
            <a:pPr marL="0" indent="0" algn="l">
              <a:lnSpc>
                <a:spcPts val="2240"/>
              </a:lnSpc>
              <a:buNone/>
            </a:pPr>
            <a:r>
              <a:rPr lang="pt-BR" sz="1600" dirty="0">
                <a:solidFill>
                  <a:srgbClr val="3B4A4F"/>
                </a:solidFill>
                <a:latin typeface="DM Sans" pitchFamily="34" charset="0"/>
              </a:rPr>
              <a:t>Sensibilidade</a:t>
            </a:r>
          </a:p>
          <a:p>
            <a:pPr marL="0" indent="0" algn="l">
              <a:lnSpc>
                <a:spcPts val="2240"/>
              </a:lnSpc>
              <a:buNone/>
            </a:pPr>
            <a:r>
              <a:rPr lang="pt-BR" sz="1600" dirty="0">
                <a:solidFill>
                  <a:srgbClr val="3B4A4F"/>
                </a:solidFill>
                <a:latin typeface="DM Sans" pitchFamily="34" charset="0"/>
              </a:rPr>
              <a:t>média </a:t>
            </a:r>
            <a:endParaRPr lang="pt-BR" sz="16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nSpc>
                <a:spcPts val="1680"/>
              </a:lnSpc>
            </a:pPr>
            <a:r>
              <a:rPr lang="en-US" sz="1200" b="1" kern="0" spc="200" dirty="0">
                <a:solidFill>
                  <a:srgbClr val="17706B"/>
                </a:solidFill>
                <a:latin typeface="DM Sans" pitchFamily="34" charset="0"/>
                <a:ea typeface="DM Sans" pitchFamily="34" charset="-122"/>
                <a:cs typeface="DM Sans" pitchFamily="34" charset="-120"/>
              </a:rPr>
              <a:t>MBA EM DATA SCIENCE E ANALYTICS</a:t>
            </a:r>
            <a:endParaRPr lang="en-US" sz="1200" dirty="0"/>
          </a:p>
        </p:txBody>
      </p:sp>
      <p:sp>
        <p:nvSpPr>
          <p:cNvPr id="3" name="Text 1"/>
          <p:cNvSpPr>
            <a:spLocks noGrp="1"/>
          </p:cNvSpPr>
          <p:nvPr>
            <p:ph type="title"/>
          </p:nvPr>
        </p:nvSpPr>
        <p:spPr>
          <a:xfrm>
            <a:off x="812800" y="11277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0242B"/>
                </a:solidFill>
                <a:latin typeface="EB Garamond" pitchFamily="18" charset="0"/>
                <a:ea typeface="EB Garamond" pitchFamily="18" charset="-122"/>
                <a:cs typeface="EB Garamond" pitchFamily="18" charset="-120"/>
              </a:rPr>
              <a:t>Metilação do DNA e aprendizado de máquina no câncer cervical</a:t>
            </a:r>
            <a:endParaRPr lang="en-US" sz="3600" dirty="0"/>
          </a:p>
        </p:txBody>
      </p:sp>
      <p:sp>
        <p:nvSpPr>
          <p:cNvPr id="7" name="Shape 5"/>
          <p:cNvSpPr/>
          <p:nvPr/>
        </p:nvSpPr>
        <p:spPr>
          <a:xfrm>
            <a:off x="812800" y="2235100"/>
            <a:ext cx="2163370" cy="1320099"/>
          </a:xfrm>
          <a:prstGeom prst="roundRect">
            <a:avLst>
              <a:gd name="adj" fmla="val 4978"/>
            </a:avLst>
          </a:prstGeom>
          <a:solidFill>
            <a:srgbClr val="FBF9F4"/>
          </a:solidFill>
          <a:ln w="6350">
            <a:solidFill>
              <a:srgbClr val="DDD6C5"/>
            </a:solidFill>
            <a:prstDash val="solid"/>
          </a:ln>
        </p:spPr>
        <p:txBody>
          <a:bodyPr/>
          <a:lstStyle/>
          <a:p>
            <a:endParaRPr lang="pt-BR"/>
          </a:p>
        </p:txBody>
      </p:sp>
      <p:sp>
        <p:nvSpPr>
          <p:cNvPr id="8" name="Text 6"/>
          <p:cNvSpPr/>
          <p:nvPr/>
        </p:nvSpPr>
        <p:spPr>
          <a:xfrm>
            <a:off x="978697" y="2319090"/>
            <a:ext cx="2079879" cy="685800"/>
          </a:xfrm>
          <a:prstGeom prst="rect">
            <a:avLst/>
          </a:prstGeom>
          <a:noFill/>
          <a:ln/>
        </p:spPr>
        <p:txBody>
          <a:bodyPr wrap="square" lIns="0" tIns="0" rIns="0" bIns="0" rtlCol="0" anchor="t">
            <a:normAutofit/>
          </a:bodyPr>
          <a:lstStyle/>
          <a:p>
            <a:pPr marL="0" indent="0" algn="l">
              <a:lnSpc>
                <a:spcPts val="5200"/>
              </a:lnSpc>
              <a:buNone/>
            </a:pPr>
            <a:r>
              <a:rPr lang="en-US" sz="3500" b="1" dirty="0">
                <a:solidFill>
                  <a:srgbClr val="17706B"/>
                </a:solidFill>
                <a:latin typeface="EB Garamond" pitchFamily="18" charset="0"/>
                <a:ea typeface="EB Garamond" pitchFamily="18" charset="-122"/>
                <a:cs typeface="EB Garamond" pitchFamily="18" charset="-120"/>
              </a:rPr>
              <a:t>12</a:t>
            </a:r>
            <a:endParaRPr lang="en-US" sz="3500" dirty="0"/>
          </a:p>
        </p:txBody>
      </p:sp>
      <p:sp>
        <p:nvSpPr>
          <p:cNvPr id="9" name="Text 7"/>
          <p:cNvSpPr/>
          <p:nvPr/>
        </p:nvSpPr>
        <p:spPr>
          <a:xfrm>
            <a:off x="928687" y="2882100"/>
            <a:ext cx="2079879"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A4F"/>
                </a:solidFill>
                <a:latin typeface="DM Sans" pitchFamily="34" charset="0"/>
                <a:ea typeface="DM Sans" pitchFamily="34" charset="-122"/>
                <a:cs typeface="DM Sans" pitchFamily="34" charset="-120"/>
              </a:rPr>
              <a:t>genes metilados analisados por PCR</a:t>
            </a:r>
            <a:endParaRPr lang="en-US" sz="1600" dirty="0"/>
          </a:p>
        </p:txBody>
      </p:sp>
      <p:sp>
        <p:nvSpPr>
          <p:cNvPr id="10" name="Shape 8"/>
          <p:cNvSpPr/>
          <p:nvPr/>
        </p:nvSpPr>
        <p:spPr>
          <a:xfrm>
            <a:off x="8685363" y="1908137"/>
            <a:ext cx="2693837" cy="1286868"/>
          </a:xfrm>
          <a:prstGeom prst="roundRect">
            <a:avLst>
              <a:gd name="adj" fmla="val 4978"/>
            </a:avLst>
          </a:prstGeom>
          <a:solidFill>
            <a:srgbClr val="FBF9F4"/>
          </a:solidFill>
          <a:ln w="6350">
            <a:solidFill>
              <a:srgbClr val="DDD6C5"/>
            </a:solidFill>
            <a:prstDash val="solid"/>
          </a:ln>
        </p:spPr>
        <p:txBody>
          <a:bodyPr/>
          <a:lstStyle/>
          <a:p>
            <a:endParaRPr lang="pt-BR"/>
          </a:p>
        </p:txBody>
      </p:sp>
      <p:sp>
        <p:nvSpPr>
          <p:cNvPr id="11" name="Text 9"/>
          <p:cNvSpPr/>
          <p:nvPr/>
        </p:nvSpPr>
        <p:spPr>
          <a:xfrm>
            <a:off x="8899525" y="1970197"/>
            <a:ext cx="2247900" cy="685800"/>
          </a:xfrm>
          <a:prstGeom prst="rect">
            <a:avLst/>
          </a:prstGeom>
          <a:noFill/>
          <a:ln/>
        </p:spPr>
        <p:txBody>
          <a:bodyPr wrap="square" lIns="0" tIns="0" rIns="0" bIns="0" rtlCol="0" anchor="t">
            <a:normAutofit/>
          </a:bodyPr>
          <a:lstStyle/>
          <a:p>
            <a:pPr marL="0" indent="0" algn="l">
              <a:lnSpc>
                <a:spcPts val="5200"/>
              </a:lnSpc>
              <a:buNone/>
            </a:pPr>
            <a:r>
              <a:rPr lang="en-US" sz="3500" b="1" dirty="0">
                <a:solidFill>
                  <a:srgbClr val="17706B"/>
                </a:solidFill>
                <a:latin typeface="EB Garamond" pitchFamily="18" charset="0"/>
                <a:ea typeface="EB Garamond" pitchFamily="18" charset="-122"/>
                <a:cs typeface="EB Garamond" pitchFamily="18" charset="-120"/>
              </a:rPr>
              <a:t>84,15%</a:t>
            </a:r>
            <a:endParaRPr lang="en-US" sz="3500" dirty="0"/>
          </a:p>
        </p:txBody>
      </p:sp>
      <p:sp>
        <p:nvSpPr>
          <p:cNvPr id="12" name="Text 10"/>
          <p:cNvSpPr/>
          <p:nvPr/>
        </p:nvSpPr>
        <p:spPr>
          <a:xfrm>
            <a:off x="8853922" y="2588408"/>
            <a:ext cx="2479675"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A4F"/>
                </a:solidFill>
                <a:latin typeface="DM Sans" pitchFamily="34" charset="0"/>
                <a:ea typeface="DM Sans" pitchFamily="34" charset="-122"/>
                <a:cs typeface="DM Sans" pitchFamily="34" charset="-120"/>
              </a:rPr>
              <a:t>acurácia média do Random Forest no teste</a:t>
            </a:r>
            <a:endParaRPr lang="en-US" sz="1600" dirty="0"/>
          </a:p>
        </p:txBody>
      </p:sp>
      <p:sp>
        <p:nvSpPr>
          <p:cNvPr id="13" name="Shape 11"/>
          <p:cNvSpPr/>
          <p:nvPr/>
        </p:nvSpPr>
        <p:spPr>
          <a:xfrm>
            <a:off x="8730952" y="3578799"/>
            <a:ext cx="2648248" cy="1286868"/>
          </a:xfrm>
          <a:prstGeom prst="roundRect">
            <a:avLst>
              <a:gd name="adj" fmla="val 4978"/>
            </a:avLst>
          </a:prstGeom>
          <a:solidFill>
            <a:srgbClr val="FBF9F4"/>
          </a:solidFill>
          <a:ln w="6350">
            <a:solidFill>
              <a:srgbClr val="DDD6C5"/>
            </a:solidFill>
            <a:prstDash val="solid"/>
          </a:ln>
        </p:spPr>
        <p:txBody>
          <a:bodyPr/>
          <a:lstStyle/>
          <a:p>
            <a:endParaRPr lang="pt-BR"/>
          </a:p>
        </p:txBody>
      </p:sp>
      <p:sp>
        <p:nvSpPr>
          <p:cNvPr id="14" name="Text 12"/>
          <p:cNvSpPr/>
          <p:nvPr/>
        </p:nvSpPr>
        <p:spPr>
          <a:xfrm>
            <a:off x="8910043" y="3559125"/>
            <a:ext cx="2079879" cy="685800"/>
          </a:xfrm>
          <a:prstGeom prst="rect">
            <a:avLst/>
          </a:prstGeom>
          <a:noFill/>
          <a:ln/>
        </p:spPr>
        <p:txBody>
          <a:bodyPr wrap="square" lIns="0" tIns="0" rIns="0" bIns="0" rtlCol="0" anchor="t">
            <a:normAutofit/>
          </a:bodyPr>
          <a:lstStyle/>
          <a:p>
            <a:pPr marL="0" indent="0" algn="l">
              <a:lnSpc>
                <a:spcPts val="5200"/>
              </a:lnSpc>
              <a:buNone/>
            </a:pPr>
            <a:r>
              <a:rPr lang="en-US" sz="3500" b="1" dirty="0">
                <a:solidFill>
                  <a:srgbClr val="17706B"/>
                </a:solidFill>
                <a:latin typeface="EB Garamond" pitchFamily="18" charset="0"/>
                <a:ea typeface="EB Garamond" pitchFamily="18" charset="-122"/>
                <a:cs typeface="EB Garamond" pitchFamily="18" charset="-120"/>
              </a:rPr>
              <a:t>0,91</a:t>
            </a:r>
            <a:endParaRPr lang="en-US" sz="3500" dirty="0"/>
          </a:p>
        </p:txBody>
      </p:sp>
      <p:sp>
        <p:nvSpPr>
          <p:cNvPr id="15" name="Text 13"/>
          <p:cNvSpPr/>
          <p:nvPr/>
        </p:nvSpPr>
        <p:spPr>
          <a:xfrm>
            <a:off x="8910043" y="4270325"/>
            <a:ext cx="2079879"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A4F"/>
                </a:solidFill>
                <a:latin typeface="DM Sans" pitchFamily="34" charset="0"/>
                <a:ea typeface="DM Sans" pitchFamily="34" charset="-122"/>
                <a:cs typeface="DM Sans" pitchFamily="34" charset="-120"/>
              </a:rPr>
              <a:t>AUC no conjunto de teste</a:t>
            </a:r>
            <a:endParaRPr lang="en-US" sz="1600" dirty="0"/>
          </a:p>
        </p:txBody>
      </p:sp>
      <p:sp>
        <p:nvSpPr>
          <p:cNvPr id="16" name="Shape 14"/>
          <p:cNvSpPr/>
          <p:nvPr/>
        </p:nvSpPr>
        <p:spPr>
          <a:xfrm>
            <a:off x="6319244" y="5249461"/>
            <a:ext cx="5181600" cy="883841"/>
          </a:xfrm>
          <a:prstGeom prst="roundRect">
            <a:avLst>
              <a:gd name="adj" fmla="val 11495"/>
            </a:avLst>
          </a:prstGeom>
          <a:solidFill>
            <a:srgbClr val="10242B"/>
          </a:solidFill>
          <a:ln/>
        </p:spPr>
        <p:txBody>
          <a:bodyPr/>
          <a:lstStyle/>
          <a:p>
            <a:endParaRPr lang="pt-BR"/>
          </a:p>
        </p:txBody>
      </p:sp>
      <p:pic>
        <p:nvPicPr>
          <p:cNvPr id="17" name="Image 0" descr="Search"/>
          <p:cNvPicPr>
            <a:picLocks noChangeAspect="1"/>
          </p:cNvPicPr>
          <p:nvPr/>
        </p:nvPicPr>
        <p:blipFill>
          <a:blip r:embed="rId3"/>
          <a:srcRect t="-312" b="-312"/>
          <a:stretch/>
        </p:blipFill>
        <p:spPr>
          <a:xfrm>
            <a:off x="6547844" y="5513582"/>
            <a:ext cx="214561" cy="355600"/>
          </a:xfrm>
          <a:prstGeom prst="rect">
            <a:avLst/>
          </a:prstGeom>
        </p:spPr>
      </p:pic>
      <p:sp>
        <p:nvSpPr>
          <p:cNvPr id="18" name="Text 15"/>
          <p:cNvSpPr/>
          <p:nvPr/>
        </p:nvSpPr>
        <p:spPr>
          <a:xfrm>
            <a:off x="6914805" y="5427261"/>
            <a:ext cx="4488163" cy="553641"/>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6F3EC"/>
                </a:solidFill>
                <a:latin typeface="DM Sans" pitchFamily="34" charset="0"/>
                <a:ea typeface="DM Sans" pitchFamily="34" charset="-122"/>
                <a:cs typeface="DM Sans" pitchFamily="34" charset="-120"/>
              </a:rPr>
              <a:t>A PCA destacou </a:t>
            </a:r>
            <a:r>
              <a:rPr lang="en-US" sz="1600" b="1" dirty="0">
                <a:solidFill>
                  <a:srgbClr val="E3A63B"/>
                </a:solidFill>
                <a:latin typeface="DM Sans" pitchFamily="34" charset="0"/>
                <a:ea typeface="DM Sans" pitchFamily="34" charset="-122"/>
                <a:cs typeface="DM Sans" pitchFamily="34" charset="-120"/>
              </a:rPr>
              <a:t>EPB41L3, JAM3 e hsa-miR-124</a:t>
            </a:r>
            <a:r>
              <a:rPr lang="en-US" sz="1600" dirty="0">
                <a:solidFill>
                  <a:srgbClr val="F6F3EC"/>
                </a:solidFill>
                <a:latin typeface="DM Sans" pitchFamily="34" charset="0"/>
                <a:ea typeface="DM Sans" pitchFamily="34" charset="-122"/>
                <a:cs typeface="DM Sans" pitchFamily="34" charset="-120"/>
              </a:rPr>
              <a:t> como marcadores de NIC2+</a:t>
            </a:r>
            <a:endParaRPr lang="en-US" sz="1600" dirty="0"/>
          </a:p>
        </p:txBody>
      </p:sp>
      <p:sp>
        <p:nvSpPr>
          <p:cNvPr id="19" name="Shape 16"/>
          <p:cNvSpPr/>
          <p:nvPr/>
        </p:nvSpPr>
        <p:spPr>
          <a:xfrm>
            <a:off x="992984" y="5249461"/>
            <a:ext cx="5181600" cy="883841"/>
          </a:xfrm>
          <a:prstGeom prst="roundRect">
            <a:avLst>
              <a:gd name="adj" fmla="val 11495"/>
            </a:avLst>
          </a:prstGeom>
          <a:solidFill>
            <a:srgbClr val="10242B"/>
          </a:solidFill>
          <a:ln/>
        </p:spPr>
        <p:txBody>
          <a:bodyPr/>
          <a:lstStyle/>
          <a:p>
            <a:endParaRPr lang="pt-BR"/>
          </a:p>
        </p:txBody>
      </p:sp>
      <p:pic>
        <p:nvPicPr>
          <p:cNvPr id="20" name="Image 1" descr="Database"/>
          <p:cNvPicPr>
            <a:picLocks noChangeAspect="1"/>
          </p:cNvPicPr>
          <p:nvPr/>
        </p:nvPicPr>
        <p:blipFill>
          <a:blip r:embed="rId4"/>
          <a:srcRect t="-73" b="-73"/>
          <a:stretch/>
        </p:blipFill>
        <p:spPr>
          <a:xfrm>
            <a:off x="1221584" y="5513582"/>
            <a:ext cx="202902" cy="355600"/>
          </a:xfrm>
          <a:prstGeom prst="rect">
            <a:avLst/>
          </a:prstGeom>
        </p:spPr>
      </p:pic>
      <p:sp>
        <p:nvSpPr>
          <p:cNvPr id="21" name="Text 17"/>
          <p:cNvSpPr/>
          <p:nvPr/>
        </p:nvSpPr>
        <p:spPr>
          <a:xfrm>
            <a:off x="1576886" y="5427261"/>
            <a:ext cx="4500171" cy="553641"/>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6F3EC"/>
                </a:solidFill>
                <a:latin typeface="DM Sans" pitchFamily="34" charset="0"/>
                <a:ea typeface="DM Sans" pitchFamily="34" charset="-122"/>
                <a:cs typeface="DM Sans" pitchFamily="34" charset="-120"/>
              </a:rPr>
              <a:t>RF, SVM e LDA comparados: lesão de baixo risco (&lt;NIC2) contra alto risco (NIC2+)</a:t>
            </a:r>
            <a:endParaRPr lang="en-US" sz="1600" dirty="0"/>
          </a:p>
        </p:txBody>
      </p:sp>
      <p:sp>
        <p:nvSpPr>
          <p:cNvPr id="22" name="Text 18"/>
          <p:cNvSpPr/>
          <p:nvPr/>
        </p:nvSpPr>
        <p:spPr>
          <a:xfrm>
            <a:off x="815975" y="6357039"/>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E"/>
                </a:solidFill>
                <a:latin typeface="DM Sans" pitchFamily="34" charset="0"/>
                <a:ea typeface="DM Sans" pitchFamily="34" charset="-122"/>
                <a:cs typeface="DM Sans" pitchFamily="34" charset="-120"/>
              </a:rPr>
              <a:t>Ribeiro P. P. E.; Righetto A. J. TCC, MBA USP/ESALQ (2024)</a:t>
            </a:r>
            <a:endParaRPr lang="en-US" sz="1200" dirty="0"/>
          </a:p>
        </p:txBody>
      </p:sp>
      <p:sp>
        <p:nvSpPr>
          <p:cNvPr id="23" name="Text 19"/>
          <p:cNvSpPr/>
          <p:nvPr/>
        </p:nvSpPr>
        <p:spPr>
          <a:xfrm>
            <a:off x="10061575" y="6357039"/>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5E"/>
                </a:solidFill>
                <a:latin typeface="DM Sans" pitchFamily="34" charset="0"/>
                <a:ea typeface="DM Sans" pitchFamily="34" charset="-122"/>
                <a:cs typeface="DM Sans" pitchFamily="34" charset="-120"/>
              </a:rPr>
              <a:t>6</a:t>
            </a:r>
            <a:endParaRPr lang="en-US" sz="1200" dirty="0"/>
          </a:p>
        </p:txBody>
      </p:sp>
      <p:pic>
        <p:nvPicPr>
          <p:cNvPr id="27" name="Imagem 26">
            <a:extLst>
              <a:ext uri="{FF2B5EF4-FFF2-40B4-BE49-F238E27FC236}">
                <a16:creationId xmlns:a16="http://schemas.microsoft.com/office/drawing/2014/main" id="{CBE8319D-BFC9-AD1A-B87E-760536B935E3}"/>
              </a:ext>
            </a:extLst>
          </p:cNvPr>
          <p:cNvPicPr>
            <a:picLocks noChangeAspect="1"/>
          </p:cNvPicPr>
          <p:nvPr/>
        </p:nvPicPr>
        <p:blipFill>
          <a:blip r:embed="rId5"/>
          <a:stretch>
            <a:fillRect/>
          </a:stretch>
        </p:blipFill>
        <p:spPr>
          <a:xfrm>
            <a:off x="3085300" y="2241417"/>
            <a:ext cx="5527863" cy="20035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7706B"/>
                </a:solidFill>
                <a:latin typeface="DM Sans" pitchFamily="34" charset="0"/>
                <a:ea typeface="DM Sans" pitchFamily="34" charset="-122"/>
                <a:cs typeface="DM Sans" pitchFamily="34" charset="-120"/>
              </a:rPr>
              <a:t>PROJETO 1 · LAMINAS DE H&amp;E DE MELANOMA</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0242B"/>
                </a:solidFill>
                <a:latin typeface="EB Garamond" pitchFamily="18" charset="0"/>
                <a:ea typeface="EB Garamond" pitchFamily="18" charset="-122"/>
                <a:cs typeface="EB Garamond" pitchFamily="18" charset="-120"/>
              </a:rPr>
              <a:t>TILs e resposta à imunoterapia anti-PD-1</a:t>
            </a:r>
            <a:endParaRPr lang="en-US" sz="3600" dirty="0"/>
          </a:p>
        </p:txBody>
      </p:sp>
      <p:sp>
        <p:nvSpPr>
          <p:cNvPr id="4" name="Text 2"/>
          <p:cNvSpPr/>
          <p:nvPr/>
        </p:nvSpPr>
        <p:spPr>
          <a:xfrm>
            <a:off x="812800" y="1732211"/>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A4F"/>
                </a:solidFill>
                <a:latin typeface="DM Sans" pitchFamily="34" charset="0"/>
                <a:ea typeface="DM Sans" pitchFamily="34" charset="-122"/>
                <a:cs typeface="DM Sans" pitchFamily="34" charset="-120"/>
              </a:rPr>
              <a:t>TILs são os linfócitos infiltrantes de tumor, observados nas lâminas de histopatologia.</a:t>
            </a:r>
            <a:endParaRPr lang="en-US" sz="1600" dirty="0"/>
          </a:p>
        </p:txBody>
      </p:sp>
      <p:sp>
        <p:nvSpPr>
          <p:cNvPr id="5" name="Text 3"/>
          <p:cNvSpPr/>
          <p:nvPr/>
        </p:nvSpPr>
        <p:spPr>
          <a:xfrm>
            <a:off x="812800" y="2296071"/>
            <a:ext cx="2980234" cy="640060"/>
          </a:xfrm>
          <a:prstGeom prst="roundRect">
            <a:avLst>
              <a:gd name="adj" fmla="val 15874"/>
            </a:avLst>
          </a:prstGeom>
          <a:solidFill>
            <a:srgbClr val="10242B"/>
          </a:solidFill>
          <a:ln/>
        </p:spPr>
        <p:txBody>
          <a:bodyPr wrap="square" lIns="134835" tIns="148042" rIns="134835" bIns="122642" rtlCol="0" anchor="t">
            <a:normAutofit/>
          </a:bodyPr>
          <a:lstStyle/>
          <a:p>
            <a:pPr marL="0" indent="0" algn="ctr">
              <a:lnSpc>
                <a:spcPts val="2240"/>
              </a:lnSpc>
              <a:buNone/>
            </a:pPr>
            <a:r>
              <a:rPr lang="en-US" sz="1600" b="1" dirty="0">
                <a:solidFill>
                  <a:srgbClr val="F6F3EC"/>
                </a:solidFill>
                <a:latin typeface="DM Sans" pitchFamily="34" charset="0"/>
                <a:ea typeface="DM Sans" pitchFamily="34" charset="-122"/>
                <a:cs typeface="DM Sans" pitchFamily="34" charset="-120"/>
              </a:rPr>
              <a:t>Lâmina histopatológica</a:t>
            </a:r>
            <a:endParaRPr lang="en-US" sz="1600" dirty="0"/>
          </a:p>
        </p:txBody>
      </p:sp>
      <p:pic>
        <p:nvPicPr>
          <p:cNvPr id="6" name="Image 0" descr="arrow-right"/>
          <p:cNvPicPr>
            <a:picLocks noChangeAspect="1"/>
          </p:cNvPicPr>
          <p:nvPr/>
        </p:nvPicPr>
        <p:blipFill>
          <a:blip r:embed="rId3"/>
          <a:srcRect/>
          <a:stretch/>
        </p:blipFill>
        <p:spPr>
          <a:xfrm>
            <a:off x="3945434" y="2489101"/>
            <a:ext cx="508000" cy="254000"/>
          </a:xfrm>
          <a:prstGeom prst="rect">
            <a:avLst/>
          </a:prstGeom>
        </p:spPr>
      </p:pic>
      <p:sp>
        <p:nvSpPr>
          <p:cNvPr id="7" name="Text 4"/>
          <p:cNvSpPr/>
          <p:nvPr/>
        </p:nvSpPr>
        <p:spPr>
          <a:xfrm>
            <a:off x="4605834" y="2296071"/>
            <a:ext cx="2980283" cy="640060"/>
          </a:xfrm>
          <a:prstGeom prst="roundRect">
            <a:avLst>
              <a:gd name="adj" fmla="val 15874"/>
            </a:avLst>
          </a:prstGeom>
          <a:solidFill>
            <a:srgbClr val="10242B"/>
          </a:solidFill>
          <a:ln/>
        </p:spPr>
        <p:txBody>
          <a:bodyPr wrap="square" lIns="134834" tIns="148042" rIns="134834" bIns="122642" rtlCol="0" anchor="t">
            <a:normAutofit/>
          </a:bodyPr>
          <a:lstStyle/>
          <a:p>
            <a:pPr marL="0" indent="0" algn="ctr">
              <a:lnSpc>
                <a:spcPts val="2240"/>
              </a:lnSpc>
              <a:buNone/>
            </a:pPr>
            <a:r>
              <a:rPr lang="en-US" sz="1600" b="1" dirty="0">
                <a:solidFill>
                  <a:srgbClr val="F6F3EC"/>
                </a:solidFill>
                <a:latin typeface="DM Sans" pitchFamily="34" charset="0"/>
                <a:ea typeface="DM Sans" pitchFamily="34" charset="-122"/>
                <a:cs typeface="DM Sans" pitchFamily="34" charset="-120"/>
              </a:rPr>
              <a:t>Classificação dos TILs</a:t>
            </a:r>
            <a:endParaRPr lang="en-US" sz="1600" dirty="0"/>
          </a:p>
        </p:txBody>
      </p:sp>
      <p:pic>
        <p:nvPicPr>
          <p:cNvPr id="8" name="Image 1" descr="arrow-right"/>
          <p:cNvPicPr>
            <a:picLocks noChangeAspect="1"/>
          </p:cNvPicPr>
          <p:nvPr/>
        </p:nvPicPr>
        <p:blipFill>
          <a:blip r:embed="rId3"/>
          <a:srcRect/>
          <a:stretch/>
        </p:blipFill>
        <p:spPr>
          <a:xfrm>
            <a:off x="7738517" y="2489101"/>
            <a:ext cx="508000" cy="254000"/>
          </a:xfrm>
          <a:prstGeom prst="rect">
            <a:avLst/>
          </a:prstGeom>
        </p:spPr>
      </p:pic>
      <p:sp>
        <p:nvSpPr>
          <p:cNvPr id="9" name="Text 5"/>
          <p:cNvSpPr/>
          <p:nvPr/>
        </p:nvSpPr>
        <p:spPr>
          <a:xfrm>
            <a:off x="8398917" y="2296071"/>
            <a:ext cx="2980283" cy="640060"/>
          </a:xfrm>
          <a:prstGeom prst="roundRect">
            <a:avLst>
              <a:gd name="adj" fmla="val 15874"/>
            </a:avLst>
          </a:prstGeom>
          <a:solidFill>
            <a:srgbClr val="10242B"/>
          </a:solidFill>
          <a:ln/>
        </p:spPr>
        <p:txBody>
          <a:bodyPr wrap="square" lIns="134834" tIns="148042" rIns="134834" bIns="122642" rtlCol="0" anchor="t">
            <a:normAutofit/>
          </a:bodyPr>
          <a:lstStyle/>
          <a:p>
            <a:pPr marL="0" indent="0" algn="ctr">
              <a:lnSpc>
                <a:spcPts val="2240"/>
              </a:lnSpc>
              <a:buNone/>
            </a:pPr>
            <a:r>
              <a:rPr lang="en-US" sz="1600" b="1" dirty="0">
                <a:solidFill>
                  <a:srgbClr val="F6F3EC"/>
                </a:solidFill>
                <a:latin typeface="DM Sans" pitchFamily="34" charset="0"/>
                <a:ea typeface="DM Sans" pitchFamily="34" charset="-122"/>
                <a:cs typeface="DM Sans" pitchFamily="34" charset="-120"/>
              </a:rPr>
              <a:t>Resposta ao anti-PD-1</a:t>
            </a:r>
            <a:endParaRPr lang="en-US" sz="1600" dirty="0"/>
          </a:p>
        </p:txBody>
      </p:sp>
      <p:sp>
        <p:nvSpPr>
          <p:cNvPr id="10" name="Shape 6"/>
          <p:cNvSpPr/>
          <p:nvPr/>
        </p:nvSpPr>
        <p:spPr>
          <a:xfrm>
            <a:off x="3409435" y="3168987"/>
            <a:ext cx="2901603" cy="1134963"/>
          </a:xfrm>
          <a:prstGeom prst="roundRect">
            <a:avLst>
              <a:gd name="adj" fmla="val 7065"/>
            </a:avLst>
          </a:prstGeom>
          <a:solidFill>
            <a:srgbClr val="FBF9F4"/>
          </a:solidFill>
          <a:ln w="6350">
            <a:solidFill>
              <a:srgbClr val="DDD6C5"/>
            </a:solidFill>
            <a:prstDash val="solid"/>
          </a:ln>
        </p:spPr>
        <p:txBody>
          <a:bodyPr/>
          <a:lstStyle/>
          <a:p>
            <a:endParaRPr lang="pt-BR"/>
          </a:p>
        </p:txBody>
      </p:sp>
      <p:sp>
        <p:nvSpPr>
          <p:cNvPr id="11" name="Text 7"/>
          <p:cNvSpPr/>
          <p:nvPr/>
        </p:nvSpPr>
        <p:spPr>
          <a:xfrm>
            <a:off x="3666610" y="3227079"/>
            <a:ext cx="2458870"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0242B"/>
                </a:solidFill>
                <a:latin typeface="EB Garamond" pitchFamily="18" charset="0"/>
                <a:ea typeface="EB Garamond" pitchFamily="18" charset="-122"/>
                <a:cs typeface="EB Garamond" pitchFamily="18" charset="-120"/>
              </a:rPr>
              <a:t>Brisk</a:t>
            </a:r>
            <a:endParaRPr lang="en-US" sz="2200" dirty="0"/>
          </a:p>
        </p:txBody>
      </p:sp>
      <p:sp>
        <p:nvSpPr>
          <p:cNvPr id="12" name="Text 8"/>
          <p:cNvSpPr/>
          <p:nvPr/>
        </p:nvSpPr>
        <p:spPr>
          <a:xfrm>
            <a:off x="3666610" y="3638539"/>
            <a:ext cx="245887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A4F"/>
                </a:solidFill>
                <a:latin typeface="DM Sans" pitchFamily="34" charset="0"/>
                <a:ea typeface="DM Sans" pitchFamily="34" charset="-122"/>
                <a:cs typeface="DM Sans" pitchFamily="34" charset="-120"/>
              </a:rPr>
              <a:t>Linfócitos infiltram o tumor de forma difusa.</a:t>
            </a:r>
            <a:endParaRPr lang="en-US" sz="1600" dirty="0"/>
          </a:p>
        </p:txBody>
      </p:sp>
      <p:sp>
        <p:nvSpPr>
          <p:cNvPr id="13" name="Shape 9"/>
          <p:cNvSpPr/>
          <p:nvPr/>
        </p:nvSpPr>
        <p:spPr>
          <a:xfrm>
            <a:off x="6520588" y="3168987"/>
            <a:ext cx="2901652" cy="1134963"/>
          </a:xfrm>
          <a:prstGeom prst="roundRect">
            <a:avLst>
              <a:gd name="adj" fmla="val 7065"/>
            </a:avLst>
          </a:prstGeom>
          <a:solidFill>
            <a:srgbClr val="FBF9F4"/>
          </a:solidFill>
          <a:ln w="6350">
            <a:solidFill>
              <a:srgbClr val="DDD6C5"/>
            </a:solidFill>
            <a:prstDash val="solid"/>
          </a:ln>
        </p:spPr>
        <p:txBody>
          <a:bodyPr/>
          <a:lstStyle/>
          <a:p>
            <a:endParaRPr lang="pt-BR"/>
          </a:p>
        </p:txBody>
      </p:sp>
      <p:sp>
        <p:nvSpPr>
          <p:cNvPr id="14" name="Text 10"/>
          <p:cNvSpPr/>
          <p:nvPr/>
        </p:nvSpPr>
        <p:spPr>
          <a:xfrm>
            <a:off x="6777763" y="3276506"/>
            <a:ext cx="2458921"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0242B"/>
                </a:solidFill>
                <a:latin typeface="EB Garamond" pitchFamily="18" charset="0"/>
                <a:ea typeface="EB Garamond" pitchFamily="18" charset="-122"/>
                <a:cs typeface="EB Garamond" pitchFamily="18" charset="-120"/>
              </a:rPr>
              <a:t>Non-brisk</a:t>
            </a:r>
            <a:endParaRPr lang="en-US" sz="2200" dirty="0"/>
          </a:p>
        </p:txBody>
      </p:sp>
      <p:sp>
        <p:nvSpPr>
          <p:cNvPr id="15" name="Text 11"/>
          <p:cNvSpPr/>
          <p:nvPr/>
        </p:nvSpPr>
        <p:spPr>
          <a:xfrm>
            <a:off x="6777763" y="3687966"/>
            <a:ext cx="2458921"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A4F"/>
                </a:solidFill>
                <a:latin typeface="DM Sans" pitchFamily="34" charset="0"/>
                <a:ea typeface="DM Sans" pitchFamily="34" charset="-122"/>
                <a:cs typeface="DM Sans" pitchFamily="34" charset="-120"/>
              </a:rPr>
              <a:t>Infiltração focal ou esparsa.</a:t>
            </a:r>
            <a:endParaRPr lang="en-US" sz="1600" dirty="0"/>
          </a:p>
        </p:txBody>
      </p:sp>
      <p:sp>
        <p:nvSpPr>
          <p:cNvPr id="18"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A6E"/>
                </a:solidFill>
                <a:latin typeface="DM Sans" pitchFamily="34" charset="0"/>
                <a:ea typeface="DM Sans" pitchFamily="34" charset="-122"/>
                <a:cs typeface="DM Sans" pitchFamily="34" charset="-120"/>
              </a:rPr>
              <a:t>7</a:t>
            </a:r>
            <a:endParaRPr lang="en-US" sz="1200" dirty="0"/>
          </a:p>
        </p:txBody>
      </p:sp>
      <p:pic>
        <p:nvPicPr>
          <p:cNvPr id="20" name="Imagem 19" descr="Uma imagem contendo Padrão do plano de fundo&#10;&#10;O conteúdo gerado por IA pode estar incorreto.">
            <a:extLst>
              <a:ext uri="{FF2B5EF4-FFF2-40B4-BE49-F238E27FC236}">
                <a16:creationId xmlns:a16="http://schemas.microsoft.com/office/drawing/2014/main" id="{302693E0-E3C9-F528-FFFB-10B832CDA6ED}"/>
              </a:ext>
            </a:extLst>
          </p:cNvPr>
          <p:cNvPicPr>
            <a:picLocks noChangeAspect="1"/>
          </p:cNvPicPr>
          <p:nvPr/>
        </p:nvPicPr>
        <p:blipFill>
          <a:blip r:embed="rId4"/>
          <a:srcRect b="66305"/>
          <a:stretch>
            <a:fillRect/>
          </a:stretch>
        </p:blipFill>
        <p:spPr>
          <a:xfrm>
            <a:off x="3421093" y="4350896"/>
            <a:ext cx="6028629" cy="2034778"/>
          </a:xfrm>
          <a:prstGeom prst="rect">
            <a:avLst/>
          </a:prstGeom>
        </p:spPr>
      </p:pic>
      <p:sp>
        <p:nvSpPr>
          <p:cNvPr id="21" name="Shape 16">
            <a:extLst>
              <a:ext uri="{FF2B5EF4-FFF2-40B4-BE49-F238E27FC236}">
                <a16:creationId xmlns:a16="http://schemas.microsoft.com/office/drawing/2014/main" id="{D69AED35-07DA-60C8-53C3-54040E374E25}"/>
              </a:ext>
            </a:extLst>
          </p:cNvPr>
          <p:cNvSpPr/>
          <p:nvPr/>
        </p:nvSpPr>
        <p:spPr>
          <a:xfrm>
            <a:off x="288458" y="5255126"/>
            <a:ext cx="2980234" cy="883841"/>
          </a:xfrm>
          <a:prstGeom prst="roundRect">
            <a:avLst>
              <a:gd name="adj" fmla="val 11495"/>
            </a:avLst>
          </a:prstGeom>
          <a:solidFill>
            <a:srgbClr val="10242B"/>
          </a:solidFill>
          <a:ln/>
        </p:spPr>
        <p:txBody>
          <a:bodyPr/>
          <a:lstStyle/>
          <a:p>
            <a:endParaRPr lang="pt-BR"/>
          </a:p>
        </p:txBody>
      </p:sp>
      <p:pic>
        <p:nvPicPr>
          <p:cNvPr id="22" name="Image 1" descr="Database">
            <a:extLst>
              <a:ext uri="{FF2B5EF4-FFF2-40B4-BE49-F238E27FC236}">
                <a16:creationId xmlns:a16="http://schemas.microsoft.com/office/drawing/2014/main" id="{662A01A9-E9AB-B024-5669-0CCAECA723EB}"/>
              </a:ext>
            </a:extLst>
          </p:cNvPr>
          <p:cNvPicPr>
            <a:picLocks noChangeAspect="1"/>
          </p:cNvPicPr>
          <p:nvPr/>
        </p:nvPicPr>
        <p:blipFill>
          <a:blip r:embed="rId5"/>
          <a:srcRect t="-73" b="-73"/>
          <a:stretch/>
        </p:blipFill>
        <p:spPr>
          <a:xfrm>
            <a:off x="517058" y="5519247"/>
            <a:ext cx="202902" cy="355600"/>
          </a:xfrm>
          <a:prstGeom prst="rect">
            <a:avLst/>
          </a:prstGeom>
        </p:spPr>
      </p:pic>
      <p:sp>
        <p:nvSpPr>
          <p:cNvPr id="23" name="Text 17">
            <a:extLst>
              <a:ext uri="{FF2B5EF4-FFF2-40B4-BE49-F238E27FC236}">
                <a16:creationId xmlns:a16="http://schemas.microsoft.com/office/drawing/2014/main" id="{225AE38F-C31A-6E90-B80B-FA2EF32D02BA}"/>
              </a:ext>
            </a:extLst>
          </p:cNvPr>
          <p:cNvSpPr/>
          <p:nvPr/>
        </p:nvSpPr>
        <p:spPr>
          <a:xfrm>
            <a:off x="872361" y="5432926"/>
            <a:ext cx="2368548" cy="553641"/>
          </a:xfrm>
          <a:prstGeom prst="rect">
            <a:avLst/>
          </a:prstGeom>
          <a:noFill/>
          <a:ln/>
        </p:spPr>
        <p:txBody>
          <a:bodyPr wrap="square" lIns="0" tIns="0" rIns="0" bIns="0" rtlCol="0" anchor="t">
            <a:normAutofit fontScale="92500"/>
          </a:bodyPr>
          <a:lstStyle/>
          <a:p>
            <a:pPr marL="0" indent="0" algn="l">
              <a:lnSpc>
                <a:spcPts val="2080"/>
              </a:lnSpc>
              <a:buNone/>
            </a:pPr>
            <a:r>
              <a:rPr lang="en-US" sz="1600" dirty="0">
                <a:solidFill>
                  <a:srgbClr val="F6F3EC"/>
                </a:solidFill>
                <a:latin typeface="DM Sans" pitchFamily="34" charset="0"/>
              </a:rPr>
              <a:t>Deep Learning  (CNN)</a:t>
            </a:r>
          </a:p>
          <a:p>
            <a:pPr marL="0" indent="0" algn="l">
              <a:lnSpc>
                <a:spcPts val="2080"/>
              </a:lnSpc>
              <a:buNone/>
            </a:pPr>
            <a:r>
              <a:rPr lang="en-US" sz="1600" dirty="0">
                <a:solidFill>
                  <a:srgbClr val="F6F3EC"/>
                </a:solidFill>
                <a:latin typeface="DM Sans" pitchFamily="34" charset="0"/>
              </a:rPr>
              <a:t>Vision Transformers (</a:t>
            </a:r>
            <a:r>
              <a:rPr lang="en-US" sz="1600" dirty="0" err="1">
                <a:solidFill>
                  <a:srgbClr val="F6F3EC"/>
                </a:solidFill>
                <a:latin typeface="DM Sans" pitchFamily="34" charset="0"/>
              </a:rPr>
              <a:t>ViT</a:t>
            </a:r>
            <a:r>
              <a:rPr lang="en-US" sz="1600" dirty="0">
                <a:solidFill>
                  <a:srgbClr val="F6F3EC"/>
                </a:solidFill>
                <a:latin typeface="DM Sans" pitchFamily="34" charset="0"/>
              </a:rPr>
              <a: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7706B"/>
                </a:solidFill>
                <a:latin typeface="DM Sans" pitchFamily="34" charset="0"/>
                <a:ea typeface="DM Sans" pitchFamily="34" charset="-122"/>
                <a:cs typeface="DM Sans" pitchFamily="34" charset="-120"/>
              </a:rPr>
              <a:t>PROJETO BOLSA DTI - A · CÂNCER DE PULMÃO (NSCLC)</a:t>
            </a:r>
            <a:endParaRPr lang="en-US" sz="1200" dirty="0"/>
          </a:p>
        </p:txBody>
      </p:sp>
      <p:sp>
        <p:nvSpPr>
          <p:cNvPr id="3" name="Text 1"/>
          <p:cNvSpPr>
            <a:spLocks noGrp="1"/>
          </p:cNvSpPr>
          <p:nvPr>
            <p:ph type="title"/>
          </p:nvPr>
        </p:nvSpPr>
        <p:spPr>
          <a:xfrm>
            <a:off x="812800" y="1127720"/>
            <a:ext cx="10883392" cy="1031180"/>
          </a:xfrm>
          <a:prstGeom prst="rect">
            <a:avLst/>
          </a:prstGeom>
          <a:noFill/>
          <a:ln/>
        </p:spPr>
        <p:txBody>
          <a:bodyPr wrap="square" lIns="0" tIns="0" rIns="0" bIns="0" rtlCol="0" anchor="t">
            <a:normAutofit/>
          </a:bodyPr>
          <a:lstStyle/>
          <a:p>
            <a:pPr marL="0" indent="0" algn="just">
              <a:lnSpc>
                <a:spcPts val="3960"/>
              </a:lnSpc>
              <a:buNone/>
            </a:pPr>
            <a:r>
              <a:rPr lang="pt-BR" sz="3600" b="1" i="0" noProof="0" dirty="0">
                <a:solidFill>
                  <a:srgbClr val="10242B"/>
                </a:solidFill>
                <a:latin typeface="EB Garamond" pitchFamily="18" charset="0"/>
                <a:ea typeface="EB Garamond" pitchFamily="18" charset="-122"/>
                <a:cs typeface="EB Garamond" pitchFamily="18" charset="-120"/>
              </a:rPr>
              <a:t>Validação externa de uma assinatura gênica para imunoterapia (Anti-PDL1) para câncer</a:t>
            </a:r>
            <a:r>
              <a:rPr lang="pt-BR" b="1" noProof="0" dirty="0">
                <a:latin typeface="EB Garamond" pitchFamily="18" charset="0"/>
                <a:ea typeface="EB Garamond" pitchFamily="18" charset="-122"/>
                <a:cs typeface="EB Garamond" pitchFamily="18" charset="-120"/>
              </a:rPr>
              <a:t> de pulmão</a:t>
            </a:r>
            <a:endParaRPr lang="pt-BR" sz="3600" noProof="0" dirty="0"/>
          </a:p>
        </p:txBody>
      </p:sp>
      <p:sp>
        <p:nvSpPr>
          <p:cNvPr id="4" name="Text 2"/>
          <p:cNvSpPr/>
          <p:nvPr/>
        </p:nvSpPr>
        <p:spPr>
          <a:xfrm>
            <a:off x="812800" y="2438301"/>
            <a:ext cx="528472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6B"/>
                </a:solidFill>
                <a:latin typeface="DM Sans" pitchFamily="34" charset="0"/>
                <a:ea typeface="DM Sans" pitchFamily="34" charset="-122"/>
                <a:cs typeface="DM Sans" pitchFamily="34" charset="-120"/>
              </a:rPr>
              <a:t>ASSINATURA NANOSTRING FIXA</a:t>
            </a:r>
            <a:endParaRPr lang="en-US" sz="1200" dirty="0"/>
          </a:p>
        </p:txBody>
      </p:sp>
      <p:sp>
        <p:nvSpPr>
          <p:cNvPr id="5" name="Text 3"/>
          <p:cNvSpPr/>
          <p:nvPr/>
        </p:nvSpPr>
        <p:spPr>
          <a:xfrm>
            <a:off x="812800" y="2804021"/>
            <a:ext cx="2489200" cy="797520"/>
          </a:xfrm>
          <a:prstGeom prst="roundRect">
            <a:avLst>
              <a:gd name="adj" fmla="val 12739"/>
            </a:avLst>
          </a:prstGeom>
          <a:solidFill>
            <a:srgbClr val="10242B"/>
          </a:solidFill>
          <a:ln/>
        </p:spPr>
        <p:txBody>
          <a:bodyPr wrap="square" lIns="142200" tIns="173442" rIns="142200" bIns="148042" rtlCol="0" anchor="t">
            <a:normAutofit/>
          </a:bodyPr>
          <a:lstStyle/>
          <a:p>
            <a:pPr marL="0" indent="0" algn="ctr">
              <a:lnSpc>
                <a:spcPts val="3080"/>
              </a:lnSpc>
              <a:buNone/>
            </a:pPr>
            <a:r>
              <a:rPr lang="en-US" sz="2200" b="1" dirty="0">
                <a:solidFill>
                  <a:srgbClr val="7FD6CB"/>
                </a:solidFill>
                <a:latin typeface="DM Sans" pitchFamily="34" charset="0"/>
                <a:ea typeface="DM Sans" pitchFamily="34" charset="-122"/>
                <a:cs typeface="DM Sans" pitchFamily="34" charset="-120"/>
              </a:rPr>
              <a:t>ZNF100</a:t>
            </a:r>
            <a:endParaRPr lang="en-US" sz="2200" dirty="0"/>
          </a:p>
        </p:txBody>
      </p:sp>
      <p:sp>
        <p:nvSpPr>
          <p:cNvPr id="6" name="Text 4"/>
          <p:cNvSpPr/>
          <p:nvPr/>
        </p:nvSpPr>
        <p:spPr>
          <a:xfrm>
            <a:off x="3454400" y="2804021"/>
            <a:ext cx="2489200" cy="797520"/>
          </a:xfrm>
          <a:prstGeom prst="roundRect">
            <a:avLst>
              <a:gd name="adj" fmla="val 12739"/>
            </a:avLst>
          </a:prstGeom>
          <a:solidFill>
            <a:srgbClr val="10242B"/>
          </a:solidFill>
          <a:ln/>
        </p:spPr>
        <p:txBody>
          <a:bodyPr wrap="square" lIns="142200" tIns="173442" rIns="142200" bIns="148042" rtlCol="0" anchor="t">
            <a:normAutofit/>
          </a:bodyPr>
          <a:lstStyle/>
          <a:p>
            <a:pPr marL="0" indent="0" algn="ctr">
              <a:lnSpc>
                <a:spcPts val="3080"/>
              </a:lnSpc>
              <a:buNone/>
            </a:pPr>
            <a:r>
              <a:rPr lang="en-US" sz="2200" b="1" dirty="0">
                <a:solidFill>
                  <a:srgbClr val="7FD6CB"/>
                </a:solidFill>
                <a:latin typeface="DM Sans" pitchFamily="34" charset="0"/>
                <a:ea typeface="DM Sans" pitchFamily="34" charset="-122"/>
                <a:cs typeface="DM Sans" pitchFamily="34" charset="-120"/>
              </a:rPr>
              <a:t>PRR5</a:t>
            </a:r>
            <a:endParaRPr lang="en-US" sz="2200" dirty="0"/>
          </a:p>
        </p:txBody>
      </p:sp>
      <p:sp>
        <p:nvSpPr>
          <p:cNvPr id="7" name="Text 5"/>
          <p:cNvSpPr/>
          <p:nvPr/>
        </p:nvSpPr>
        <p:spPr>
          <a:xfrm>
            <a:off x="812800" y="3753941"/>
            <a:ext cx="2489200" cy="797520"/>
          </a:xfrm>
          <a:prstGeom prst="roundRect">
            <a:avLst>
              <a:gd name="adj" fmla="val 12739"/>
            </a:avLst>
          </a:prstGeom>
          <a:solidFill>
            <a:srgbClr val="10242B"/>
          </a:solidFill>
          <a:ln/>
        </p:spPr>
        <p:txBody>
          <a:bodyPr wrap="square" lIns="142200" tIns="173442" rIns="142200" bIns="148042" rtlCol="0" anchor="t">
            <a:normAutofit/>
          </a:bodyPr>
          <a:lstStyle/>
          <a:p>
            <a:pPr marL="0" indent="0" algn="ctr">
              <a:lnSpc>
                <a:spcPts val="3080"/>
              </a:lnSpc>
              <a:buNone/>
            </a:pPr>
            <a:r>
              <a:rPr lang="en-US" sz="2200" b="1" dirty="0">
                <a:solidFill>
                  <a:srgbClr val="7FD6CB"/>
                </a:solidFill>
                <a:latin typeface="DM Sans" pitchFamily="34" charset="0"/>
                <a:ea typeface="DM Sans" pitchFamily="34" charset="-122"/>
                <a:cs typeface="DM Sans" pitchFamily="34" charset="-120"/>
              </a:rPr>
              <a:t>GLS2</a:t>
            </a:r>
            <a:endParaRPr lang="en-US" sz="2200" dirty="0"/>
          </a:p>
        </p:txBody>
      </p:sp>
      <p:sp>
        <p:nvSpPr>
          <p:cNvPr id="8" name="Text 6"/>
          <p:cNvSpPr/>
          <p:nvPr/>
        </p:nvSpPr>
        <p:spPr>
          <a:xfrm>
            <a:off x="3454400" y="3753941"/>
            <a:ext cx="2489200" cy="797520"/>
          </a:xfrm>
          <a:prstGeom prst="roundRect">
            <a:avLst>
              <a:gd name="adj" fmla="val 12739"/>
            </a:avLst>
          </a:prstGeom>
          <a:solidFill>
            <a:srgbClr val="10242B"/>
          </a:solidFill>
          <a:ln/>
        </p:spPr>
        <p:txBody>
          <a:bodyPr wrap="square" lIns="142200" tIns="173442" rIns="142200" bIns="148042" rtlCol="0" anchor="t">
            <a:normAutofit/>
          </a:bodyPr>
          <a:lstStyle/>
          <a:p>
            <a:pPr marL="0" indent="0" algn="ctr">
              <a:lnSpc>
                <a:spcPts val="3080"/>
              </a:lnSpc>
              <a:buNone/>
            </a:pPr>
            <a:r>
              <a:rPr lang="en-US" sz="2200" b="1" dirty="0">
                <a:solidFill>
                  <a:srgbClr val="7FD6CB"/>
                </a:solidFill>
                <a:latin typeface="DM Sans" pitchFamily="34" charset="0"/>
                <a:ea typeface="DM Sans" pitchFamily="34" charset="-122"/>
                <a:cs typeface="DM Sans" pitchFamily="34" charset="-120"/>
              </a:rPr>
              <a:t>MAPT</a:t>
            </a:r>
            <a:endParaRPr lang="en-US" sz="2200" dirty="0"/>
          </a:p>
        </p:txBody>
      </p:sp>
      <p:sp>
        <p:nvSpPr>
          <p:cNvPr id="9" name="Text 7"/>
          <p:cNvSpPr/>
          <p:nvPr/>
        </p:nvSpPr>
        <p:spPr>
          <a:xfrm>
            <a:off x="982726" y="4873187"/>
            <a:ext cx="528472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6B"/>
                </a:solidFill>
                <a:latin typeface="DM Sans" pitchFamily="34" charset="0"/>
                <a:ea typeface="DM Sans" pitchFamily="34" charset="-122"/>
                <a:cs typeface="DM Sans" pitchFamily="34" charset="-120"/>
              </a:rPr>
              <a:t>COMO VALIDAMOS</a:t>
            </a:r>
            <a:endParaRPr lang="en-US" sz="1200" dirty="0"/>
          </a:p>
        </p:txBody>
      </p:sp>
      <p:sp>
        <p:nvSpPr>
          <p:cNvPr id="11" name="Text 9"/>
          <p:cNvSpPr/>
          <p:nvPr/>
        </p:nvSpPr>
        <p:spPr>
          <a:xfrm>
            <a:off x="1007491" y="5288360"/>
            <a:ext cx="5088509"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A4F"/>
                </a:solidFill>
                <a:latin typeface="DM Sans" pitchFamily="34" charset="0"/>
                <a:ea typeface="DM Sans" pitchFamily="34" charset="-122"/>
                <a:cs typeface="DM Sans" pitchFamily="34" charset="-120"/>
              </a:rPr>
              <a:t>Dois conjuntos públicos do GEO: GSE166449 e GSE207422.</a:t>
            </a:r>
            <a:endParaRPr lang="en-US" sz="16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A6E"/>
                </a:solidFill>
                <a:latin typeface="DM Sans" pitchFamily="34" charset="0"/>
                <a:ea typeface="DM Sans" pitchFamily="34" charset="-122"/>
                <a:cs typeface="DM Sans" pitchFamily="34" charset="-120"/>
              </a:rPr>
              <a:t>8</a:t>
            </a:r>
            <a:endParaRPr lang="en-US" sz="1200" dirty="0"/>
          </a:p>
        </p:txBody>
      </p:sp>
      <p:pic>
        <p:nvPicPr>
          <p:cNvPr id="5122" name="Picture 2" descr="Câncer de Pulmão | IOSR">
            <a:extLst>
              <a:ext uri="{FF2B5EF4-FFF2-40B4-BE49-F238E27FC236}">
                <a16:creationId xmlns:a16="http://schemas.microsoft.com/office/drawing/2014/main" id="{1A8FA3EE-E0A5-F670-8FF1-3BBC1D566A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8401" y="2804021"/>
            <a:ext cx="3490473" cy="31467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nSpc>
                <a:spcPts val="1680"/>
              </a:lnSpc>
            </a:pPr>
            <a:r>
              <a:rPr lang="en-US" sz="1200" b="1" kern="0" spc="200" dirty="0">
                <a:solidFill>
                  <a:srgbClr val="17706B"/>
                </a:solidFill>
                <a:latin typeface="DM Sans" pitchFamily="34" charset="0"/>
                <a:ea typeface="DM Sans" pitchFamily="34" charset="-122"/>
                <a:cs typeface="DM Sans" pitchFamily="34" charset="-120"/>
              </a:rPr>
              <a:t>PROJETO BOLSA DTI - A · CÂNCER DO COLO DO ÚTERO</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fontScale="90000"/>
          </a:bodyPr>
          <a:lstStyle/>
          <a:p>
            <a:pPr marL="0" indent="0" algn="l">
              <a:lnSpc>
                <a:spcPts val="3960"/>
              </a:lnSpc>
              <a:buNone/>
            </a:pPr>
            <a:r>
              <a:rPr lang="pt-BR" sz="3600" b="1" i="0" noProof="0" dirty="0">
                <a:solidFill>
                  <a:srgbClr val="10242B"/>
                </a:solidFill>
                <a:latin typeface="EB Garamond" pitchFamily="18" charset="0"/>
                <a:ea typeface="EB Garamond" pitchFamily="18" charset="-122"/>
                <a:cs typeface="EB Garamond" pitchFamily="18" charset="-120"/>
              </a:rPr>
              <a:t>Calculadora de risco de neoplasia intraepitelial cervical (NIC)</a:t>
            </a:r>
            <a:endParaRPr lang="pt-BR" sz="3600" noProof="0" dirty="0"/>
          </a:p>
        </p:txBody>
      </p:sp>
      <p:sp>
        <p:nvSpPr>
          <p:cNvPr id="4" name="Shape 2"/>
          <p:cNvSpPr/>
          <p:nvPr/>
        </p:nvSpPr>
        <p:spPr>
          <a:xfrm>
            <a:off x="815975" y="1938586"/>
            <a:ext cx="2482850" cy="2503388"/>
          </a:xfrm>
          <a:prstGeom prst="roundRect">
            <a:avLst>
              <a:gd name="adj" fmla="val 4978"/>
            </a:avLst>
          </a:prstGeom>
          <a:solidFill>
            <a:srgbClr val="FBF9F4"/>
          </a:solidFill>
          <a:ln w="6350">
            <a:solidFill>
              <a:srgbClr val="DDD6C5"/>
            </a:solidFill>
            <a:prstDash val="solid"/>
          </a:ln>
        </p:spPr>
        <p:txBody>
          <a:bodyPr/>
          <a:lstStyle/>
          <a:p>
            <a:endParaRPr lang="pt-BR"/>
          </a:p>
        </p:txBody>
      </p:sp>
      <p:sp>
        <p:nvSpPr>
          <p:cNvPr id="5" name="Text 3"/>
          <p:cNvSpPr/>
          <p:nvPr/>
        </p:nvSpPr>
        <p:spPr>
          <a:xfrm>
            <a:off x="1047750" y="2144961"/>
            <a:ext cx="2079879" cy="685800"/>
          </a:xfrm>
          <a:prstGeom prst="rect">
            <a:avLst/>
          </a:prstGeom>
          <a:noFill/>
          <a:ln/>
        </p:spPr>
        <p:txBody>
          <a:bodyPr wrap="square" lIns="0" tIns="0" rIns="0" bIns="0" rtlCol="0" anchor="t">
            <a:normAutofit/>
          </a:bodyPr>
          <a:lstStyle/>
          <a:p>
            <a:pPr marL="0" indent="0" algn="l">
              <a:lnSpc>
                <a:spcPts val="5200"/>
              </a:lnSpc>
              <a:buNone/>
            </a:pPr>
            <a:r>
              <a:rPr lang="en-US" sz="5200" b="1" dirty="0">
                <a:solidFill>
                  <a:srgbClr val="17706B"/>
                </a:solidFill>
                <a:latin typeface="EB Garamond" pitchFamily="18" charset="0"/>
                <a:ea typeface="EB Garamond" pitchFamily="18" charset="-122"/>
                <a:cs typeface="EB Garamond" pitchFamily="18" charset="-120"/>
              </a:rPr>
              <a:t>1.689</a:t>
            </a:r>
            <a:endParaRPr lang="en-US" sz="5200" dirty="0"/>
          </a:p>
        </p:txBody>
      </p:sp>
      <p:sp>
        <p:nvSpPr>
          <p:cNvPr id="6" name="Text 4"/>
          <p:cNvSpPr/>
          <p:nvPr/>
        </p:nvSpPr>
        <p:spPr>
          <a:xfrm>
            <a:off x="1047750" y="2856161"/>
            <a:ext cx="2079879"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B4A4F"/>
                </a:solidFill>
                <a:latin typeface="DM Sans" pitchFamily="34" charset="0"/>
                <a:ea typeface="DM Sans" pitchFamily="34" charset="-122"/>
                <a:cs typeface="DM Sans" pitchFamily="34" charset="-120"/>
              </a:rPr>
              <a:t>casos na coorte</a:t>
            </a:r>
            <a:endParaRPr lang="en-US" sz="1600" dirty="0"/>
          </a:p>
        </p:txBody>
      </p:sp>
      <p:sp>
        <p:nvSpPr>
          <p:cNvPr id="9" name="Text 7"/>
          <p:cNvSpPr/>
          <p:nvPr/>
        </p:nvSpPr>
        <p:spPr>
          <a:xfrm>
            <a:off x="1047750" y="3224216"/>
            <a:ext cx="2079879" cy="594320"/>
          </a:xfrm>
          <a:prstGeom prst="rect">
            <a:avLst/>
          </a:prstGeom>
          <a:noFill/>
          <a:ln/>
        </p:spPr>
        <p:txBody>
          <a:bodyPr wrap="square" lIns="0" tIns="0" rIns="0" bIns="0" rtlCol="0" anchor="t">
            <a:normAutofit fontScale="70000" lnSpcReduction="20000"/>
          </a:bodyPr>
          <a:lstStyle/>
          <a:p>
            <a:pPr marL="0" indent="0" algn="l">
              <a:lnSpc>
                <a:spcPts val="2240"/>
              </a:lnSpc>
              <a:buNone/>
            </a:pPr>
            <a:r>
              <a:rPr lang="en-US" sz="1600" dirty="0">
                <a:solidFill>
                  <a:srgbClr val="3B4A4F"/>
                </a:solidFill>
                <a:latin typeface="DM Sans" pitchFamily="34" charset="0"/>
                <a:ea typeface="DM Sans" pitchFamily="34" charset="-122"/>
                <a:cs typeface="DM Sans" pitchFamily="34" charset="-120"/>
              </a:rPr>
              <a:t>genótipos de HPV (16, 18, 31, 45, 51, 33/58, 56/59/66,  35/39/68)</a:t>
            </a:r>
            <a:endParaRPr lang="en-US" sz="1600" dirty="0"/>
          </a:p>
        </p:txBody>
      </p:sp>
      <p:sp>
        <p:nvSpPr>
          <p:cNvPr id="14" name="Text 12"/>
          <p:cNvSpPr/>
          <p:nvPr/>
        </p:nvSpPr>
        <p:spPr>
          <a:xfrm>
            <a:off x="6429375" y="2144961"/>
            <a:ext cx="2079879" cy="685800"/>
          </a:xfrm>
          <a:prstGeom prst="rect">
            <a:avLst/>
          </a:prstGeom>
          <a:noFill/>
          <a:ln/>
        </p:spPr>
        <p:txBody>
          <a:bodyPr wrap="square" lIns="0" tIns="0" rIns="0" bIns="0" rtlCol="0" anchor="t">
            <a:normAutofit/>
          </a:bodyPr>
          <a:lstStyle/>
          <a:p>
            <a:pPr marL="0" indent="0" algn="l">
              <a:lnSpc>
                <a:spcPts val="5200"/>
              </a:lnSpc>
              <a:buNone/>
            </a:pPr>
            <a:endParaRPr lang="en-US" sz="5200" dirty="0"/>
          </a:p>
        </p:txBody>
      </p:sp>
      <p:sp>
        <p:nvSpPr>
          <p:cNvPr id="16" name="Shape 14"/>
          <p:cNvSpPr/>
          <p:nvPr/>
        </p:nvSpPr>
        <p:spPr>
          <a:xfrm>
            <a:off x="812800" y="5046464"/>
            <a:ext cx="5181600" cy="883841"/>
          </a:xfrm>
          <a:prstGeom prst="roundRect">
            <a:avLst>
              <a:gd name="adj" fmla="val 11495"/>
            </a:avLst>
          </a:prstGeom>
          <a:solidFill>
            <a:srgbClr val="10242B"/>
          </a:solidFill>
          <a:ln/>
        </p:spPr>
        <p:txBody>
          <a:bodyPr/>
          <a:lstStyle/>
          <a:p>
            <a:endParaRPr lang="pt-BR"/>
          </a:p>
        </p:txBody>
      </p:sp>
      <p:pic>
        <p:nvPicPr>
          <p:cNvPr id="17" name="Image 0" descr="Globe"/>
          <p:cNvPicPr>
            <a:picLocks noChangeAspect="1"/>
          </p:cNvPicPr>
          <p:nvPr/>
        </p:nvPicPr>
        <p:blipFill>
          <a:blip r:embed="rId3"/>
          <a:srcRect l="-155" r="-155"/>
          <a:stretch/>
        </p:blipFill>
        <p:spPr>
          <a:xfrm>
            <a:off x="1041400" y="5310584"/>
            <a:ext cx="305743" cy="355600"/>
          </a:xfrm>
          <a:prstGeom prst="rect">
            <a:avLst/>
          </a:prstGeom>
        </p:spPr>
      </p:pic>
      <p:sp>
        <p:nvSpPr>
          <p:cNvPr id="18" name="Text 15"/>
          <p:cNvSpPr/>
          <p:nvPr/>
        </p:nvSpPr>
        <p:spPr>
          <a:xfrm>
            <a:off x="1499543" y="5224264"/>
            <a:ext cx="4394245" cy="553641"/>
          </a:xfrm>
          <a:prstGeom prst="rect">
            <a:avLst/>
          </a:prstGeom>
          <a:noFill/>
          <a:ln/>
        </p:spPr>
        <p:txBody>
          <a:bodyPr wrap="square" lIns="0" tIns="0" rIns="0" bIns="0" rtlCol="0" anchor="t">
            <a:normAutofit/>
          </a:bodyPr>
          <a:lstStyle/>
          <a:p>
            <a:pPr marL="0" indent="0" algn="l">
              <a:lnSpc>
                <a:spcPts val="2080"/>
              </a:lnSpc>
              <a:buNone/>
            </a:pPr>
            <a:r>
              <a:rPr lang="pt-BR" sz="1600" noProof="0" dirty="0">
                <a:solidFill>
                  <a:srgbClr val="F6F3EC"/>
                </a:solidFill>
                <a:latin typeface="DM Sans" pitchFamily="34" charset="0"/>
                <a:ea typeface="DM Sans" pitchFamily="34" charset="-122"/>
                <a:cs typeface="DM Sans" pitchFamily="34" charset="-120"/>
              </a:rPr>
              <a:t>Aplicativo em fase de teste pelos médicos ginecológicos</a:t>
            </a:r>
            <a:endParaRPr lang="pt-BR" sz="1600" noProof="0" dirty="0"/>
          </a:p>
        </p:txBody>
      </p:sp>
      <p:sp>
        <p:nvSpPr>
          <p:cNvPr id="19" name="Shape 16"/>
          <p:cNvSpPr/>
          <p:nvPr/>
        </p:nvSpPr>
        <p:spPr>
          <a:xfrm>
            <a:off x="6197600" y="5046464"/>
            <a:ext cx="5181600" cy="883841"/>
          </a:xfrm>
          <a:prstGeom prst="roundRect">
            <a:avLst>
              <a:gd name="adj" fmla="val 11495"/>
            </a:avLst>
          </a:prstGeom>
          <a:solidFill>
            <a:srgbClr val="10242B"/>
          </a:solidFill>
          <a:ln/>
        </p:spPr>
        <p:txBody>
          <a:bodyPr/>
          <a:lstStyle/>
          <a:p>
            <a:endParaRPr lang="pt-BR"/>
          </a:p>
        </p:txBody>
      </p:sp>
      <p:pic>
        <p:nvPicPr>
          <p:cNvPr id="20" name="Image 1" descr="Book"/>
          <p:cNvPicPr>
            <a:picLocks noChangeAspect="1"/>
          </p:cNvPicPr>
          <p:nvPr/>
        </p:nvPicPr>
        <p:blipFill>
          <a:blip r:embed="rId4"/>
          <a:srcRect/>
          <a:stretch/>
        </p:blipFill>
        <p:spPr>
          <a:xfrm>
            <a:off x="6426200" y="5393713"/>
            <a:ext cx="355600" cy="355600"/>
          </a:xfrm>
          <a:prstGeom prst="rect">
            <a:avLst/>
          </a:prstGeom>
        </p:spPr>
      </p:pic>
      <p:sp>
        <p:nvSpPr>
          <p:cNvPr id="21" name="Text 17"/>
          <p:cNvSpPr/>
          <p:nvPr/>
        </p:nvSpPr>
        <p:spPr>
          <a:xfrm>
            <a:off x="6934200" y="5439452"/>
            <a:ext cx="4283095" cy="421581"/>
          </a:xfrm>
          <a:prstGeom prst="rect">
            <a:avLst/>
          </a:prstGeom>
          <a:noFill/>
          <a:ln/>
        </p:spPr>
        <p:txBody>
          <a:bodyPr wrap="square" lIns="0" tIns="0" rIns="0" bIns="0" rtlCol="0" anchor="t">
            <a:normAutofit fontScale="70000" lnSpcReduction="20000"/>
          </a:bodyPr>
          <a:lstStyle/>
          <a:p>
            <a:pPr>
              <a:lnSpc>
                <a:spcPts val="2080"/>
              </a:lnSpc>
            </a:pPr>
            <a:r>
              <a:rPr lang="pt-BR" sz="1600" noProof="0" dirty="0">
                <a:solidFill>
                  <a:srgbClr val="F6F3EC"/>
                </a:solidFill>
                <a:latin typeface="DM Sans" pitchFamily="34" charset="0"/>
                <a:ea typeface="DM Sans" pitchFamily="34" charset="-122"/>
                <a:cs typeface="DM Sans" pitchFamily="34" charset="-120"/>
              </a:rPr>
              <a:t>Viabilidade de IA no rastreamento do câncer do colo do útero</a:t>
            </a:r>
            <a:endParaRPr lang="pt-BR" sz="1600" noProof="0" dirty="0"/>
          </a:p>
        </p:txBody>
      </p:sp>
      <p:sp>
        <p:nvSpPr>
          <p:cNvPr id="22" name="Text 18"/>
          <p:cNvSpPr/>
          <p:nvPr/>
        </p:nvSpPr>
        <p:spPr>
          <a:xfrm>
            <a:off x="812800" y="6238280"/>
            <a:ext cx="9156700" cy="238720"/>
          </a:xfrm>
          <a:prstGeom prst="rect">
            <a:avLst/>
          </a:prstGeom>
          <a:noFill/>
          <a:ln/>
        </p:spPr>
        <p:txBody>
          <a:bodyPr wrap="square" lIns="0" tIns="0" rIns="0" bIns="0" rtlCol="0" anchor="t">
            <a:normAutofit/>
          </a:bodyPr>
          <a:lstStyle/>
          <a:p>
            <a:pPr>
              <a:lnSpc>
                <a:spcPts val="1680"/>
              </a:lnSpc>
            </a:pPr>
            <a:r>
              <a:rPr lang="en-US" sz="1200" dirty="0">
                <a:solidFill>
                  <a:srgbClr val="4A5A5E"/>
                </a:solidFill>
                <a:latin typeface="DM Sans" pitchFamily="34" charset="0"/>
                <a:ea typeface="DM Sans" pitchFamily="34" charset="-122"/>
                <a:cs typeface="DM Sans" pitchFamily="34" charset="-120"/>
              </a:rPr>
              <a:t>Supervisão: Dra. Lidia Rebolho · Dados clínicos: </a:t>
            </a:r>
            <a:r>
              <a:rPr lang="en-US" sz="1200" dirty="0" err="1">
                <a:solidFill>
                  <a:srgbClr val="4A5A5E"/>
                </a:solidFill>
                <a:latin typeface="DM Sans" pitchFamily="34" charset="0"/>
                <a:ea typeface="DM Sans" pitchFamily="34" charset="-122"/>
                <a:cs typeface="DM Sans" pitchFamily="34" charset="-120"/>
              </a:rPr>
              <a:t>Tauana</a:t>
            </a:r>
            <a:r>
              <a:rPr lang="en-US" sz="1200" dirty="0">
                <a:solidFill>
                  <a:srgbClr val="4A5A5E"/>
                </a:solidFill>
                <a:latin typeface="DM Sans" pitchFamily="34" charset="0"/>
                <a:ea typeface="DM Sans" pitchFamily="34" charset="-122"/>
                <a:cs typeface="DM Sans" pitchFamily="34" charset="-120"/>
              </a:rPr>
              <a:t> Dias – MBA USP ESALQ – </a:t>
            </a:r>
            <a:r>
              <a:rPr lang="en-US" sz="1200" dirty="0" err="1">
                <a:solidFill>
                  <a:srgbClr val="4A5A5E"/>
                </a:solidFill>
                <a:latin typeface="DM Sans" pitchFamily="34" charset="0"/>
                <a:ea typeface="DM Sans" pitchFamily="34" charset="-122"/>
                <a:cs typeface="DM Sans" pitchFamily="34" charset="-120"/>
              </a:rPr>
              <a:t>Orientação</a:t>
            </a:r>
            <a:r>
              <a:rPr lang="en-US" sz="1200" dirty="0">
                <a:solidFill>
                  <a:srgbClr val="4A5A5E"/>
                </a:solidFill>
                <a:latin typeface="DM Sans" pitchFamily="34" charset="0"/>
                <a:ea typeface="DM Sans" pitchFamily="34" charset="-122"/>
                <a:cs typeface="DM Sans" pitchFamily="34" charset="-120"/>
              </a:rPr>
              <a:t> Sarah De Oliveira Silva Dos Santos</a:t>
            </a:r>
            <a:endParaRPr lang="en-US" sz="1200" dirty="0"/>
          </a:p>
        </p:txBody>
      </p:sp>
      <p:sp>
        <p:nvSpPr>
          <p:cNvPr id="23"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5E"/>
                </a:solidFill>
                <a:latin typeface="DM Sans" pitchFamily="34" charset="0"/>
                <a:ea typeface="DM Sans" pitchFamily="34" charset="-122"/>
                <a:cs typeface="DM Sans" pitchFamily="34" charset="-120"/>
              </a:rPr>
              <a:t>9</a:t>
            </a:r>
            <a:endParaRPr lang="en-US" sz="1200" dirty="0"/>
          </a:p>
        </p:txBody>
      </p:sp>
      <p:pic>
        <p:nvPicPr>
          <p:cNvPr id="24" name="Imagem 23">
            <a:extLst>
              <a:ext uri="{FF2B5EF4-FFF2-40B4-BE49-F238E27FC236}">
                <a16:creationId xmlns:a16="http://schemas.microsoft.com/office/drawing/2014/main" id="{EBE6C09B-C850-0AF8-5674-4E8E0FDE2E31}"/>
              </a:ext>
            </a:extLst>
          </p:cNvPr>
          <p:cNvPicPr>
            <a:picLocks noChangeAspect="1"/>
          </p:cNvPicPr>
          <p:nvPr/>
        </p:nvPicPr>
        <p:blipFill>
          <a:blip r:embed="rId5"/>
          <a:stretch>
            <a:fillRect/>
          </a:stretch>
        </p:blipFill>
        <p:spPr>
          <a:xfrm>
            <a:off x="3518477" y="2060352"/>
            <a:ext cx="8288149" cy="1811361"/>
          </a:xfrm>
          <a:prstGeom prst="rect">
            <a:avLst/>
          </a:prstGeom>
        </p:spPr>
      </p:pic>
      <p:sp>
        <p:nvSpPr>
          <p:cNvPr id="25" name="Text 15">
            <a:extLst>
              <a:ext uri="{FF2B5EF4-FFF2-40B4-BE49-F238E27FC236}">
                <a16:creationId xmlns:a16="http://schemas.microsoft.com/office/drawing/2014/main" id="{CA17C650-022C-7892-AAD0-3E5F3DFF60D2}"/>
              </a:ext>
            </a:extLst>
          </p:cNvPr>
          <p:cNvSpPr/>
          <p:nvPr/>
        </p:nvSpPr>
        <p:spPr>
          <a:xfrm>
            <a:off x="6426200" y="5112543"/>
            <a:ext cx="4394245" cy="553641"/>
          </a:xfrm>
          <a:prstGeom prst="rect">
            <a:avLst/>
          </a:prstGeom>
          <a:noFill/>
          <a:ln/>
        </p:spPr>
        <p:txBody>
          <a:bodyPr wrap="square" lIns="0" tIns="0" rIns="0" bIns="0" rtlCol="0" anchor="t">
            <a:normAutofit/>
          </a:bodyPr>
          <a:lstStyle/>
          <a:p>
            <a:pPr marL="0" indent="0" algn="l">
              <a:lnSpc>
                <a:spcPts val="2080"/>
              </a:lnSpc>
              <a:buNone/>
            </a:pPr>
            <a:r>
              <a:rPr lang="pt-BR" sz="1600" noProof="0" dirty="0">
                <a:solidFill>
                  <a:srgbClr val="F6F3EC"/>
                </a:solidFill>
                <a:latin typeface="DM Sans" pitchFamily="34" charset="0"/>
                <a:ea typeface="DM Sans" pitchFamily="34" charset="-122"/>
                <a:cs typeface="DM Sans" pitchFamily="34" charset="-120"/>
              </a:rPr>
              <a:t>MBA USP ESALQ – Gestão de Negócios com IA</a:t>
            </a:r>
            <a:endParaRPr lang="pt-BR" sz="1600"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7706B"/>
                </a:solidFill>
                <a:latin typeface="DM Sans" pitchFamily="34" charset="0"/>
                <a:ea typeface="DM Sans" pitchFamily="34" charset="-122"/>
                <a:cs typeface="DM Sans" pitchFamily="34" charset="-120"/>
              </a:rPr>
              <a:t>MINHA HISTÓRIA</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pt-BR" sz="3600" b="1" i="0" noProof="0" dirty="0">
                <a:solidFill>
                  <a:srgbClr val="10242B"/>
                </a:solidFill>
                <a:latin typeface="EB Garamond" pitchFamily="18" charset="0"/>
                <a:ea typeface="EB Garamond" pitchFamily="18" charset="-122"/>
                <a:cs typeface="EB Garamond" pitchFamily="18" charset="-120"/>
              </a:rPr>
              <a:t>O que a engenharia elétrica me ensinou?</a:t>
            </a:r>
            <a:endParaRPr lang="pt-BR" sz="3600" noProof="0" dirty="0"/>
          </a:p>
        </p:txBody>
      </p:sp>
      <p:sp>
        <p:nvSpPr>
          <p:cNvPr id="4" name="Shape 2"/>
          <p:cNvSpPr/>
          <p:nvPr/>
        </p:nvSpPr>
        <p:spPr>
          <a:xfrm>
            <a:off x="813816" y="1993392"/>
            <a:ext cx="3383280" cy="1783080"/>
          </a:xfrm>
          <a:prstGeom prst="roundRect">
            <a:avLst>
              <a:gd name="adj" fmla="val 4103"/>
            </a:avLst>
          </a:prstGeom>
          <a:solidFill>
            <a:srgbClr val="FBF9F4"/>
          </a:solidFill>
          <a:ln w="6350">
            <a:solidFill>
              <a:srgbClr val="DDD6C5"/>
            </a:solidFill>
            <a:prstDash val="solid"/>
          </a:ln>
        </p:spPr>
        <p:txBody>
          <a:bodyPr/>
          <a:lstStyle/>
          <a:p>
            <a:endParaRPr lang="pt-BR"/>
          </a:p>
        </p:txBody>
      </p:sp>
      <p:sp>
        <p:nvSpPr>
          <p:cNvPr id="5" name="Text 3"/>
          <p:cNvSpPr/>
          <p:nvPr/>
        </p:nvSpPr>
        <p:spPr>
          <a:xfrm>
            <a:off x="1069848" y="2231136"/>
            <a:ext cx="2871216" cy="411480"/>
          </a:xfrm>
          <a:prstGeom prst="rect">
            <a:avLst/>
          </a:prstGeom>
          <a:noFill/>
          <a:ln/>
        </p:spPr>
        <p:txBody>
          <a:bodyPr wrap="square" lIns="0" tIns="0" rIns="0" bIns="0" rtlCol="0" anchor="t">
            <a:noAutofit/>
          </a:bodyPr>
          <a:lstStyle/>
          <a:p>
            <a:pPr algn="l">
              <a:lnSpc>
                <a:spcPct val="100000"/>
              </a:lnSpc>
            </a:pPr>
            <a:r>
              <a:rPr sz="2400" b="1">
                <a:solidFill>
                  <a:srgbClr val="10242B"/>
                </a:solidFill>
                <a:latin typeface="EB Garamond"/>
              </a:rPr>
              <a:t>Raciocinar</a:t>
            </a:r>
            <a:endParaRPr lang="pt-BR" sz="2000" dirty="0">
              <a:latin typeface="Arial" panose="020B0604020202020204" pitchFamily="34" charset="0"/>
              <a:cs typeface="Arial" panose="020B0604020202020204" pitchFamily="34" charset="0"/>
            </a:endParaRPr>
          </a:p>
        </p:txBody>
      </p:sp>
      <p:sp>
        <p:nvSpPr>
          <p:cNvPr id="6" name="Text 4"/>
          <p:cNvSpPr/>
          <p:nvPr/>
        </p:nvSpPr>
        <p:spPr>
          <a:xfrm>
            <a:off x="1069848" y="2779776"/>
            <a:ext cx="2871216" cy="868680"/>
          </a:xfrm>
          <a:prstGeom prst="rect">
            <a:avLst/>
          </a:prstGeom>
          <a:noFill/>
          <a:ln/>
        </p:spPr>
        <p:txBody>
          <a:bodyPr wrap="square" lIns="0" tIns="0" rIns="0" bIns="0" rtlCol="0" anchor="t">
            <a:noAutofit/>
          </a:bodyPr>
          <a:lstStyle/>
          <a:p>
            <a:pPr algn="l">
              <a:lnSpc>
                <a:spcPct val="110000"/>
              </a:lnSpc>
            </a:pPr>
            <a:r>
              <a:rPr sz="1600" b="0">
                <a:solidFill>
                  <a:srgbClr val="3B4A4F"/>
                </a:solidFill>
                <a:latin typeface="DM Sans"/>
              </a:rPr>
              <a:t>Transformar problemas complexos em soluções estruturadas.</a:t>
            </a:r>
          </a:p>
        </p:txBody>
      </p:sp>
      <p:sp>
        <p:nvSpPr>
          <p:cNvPr id="7" name="Shape 5"/>
          <p:cNvSpPr/>
          <p:nvPr/>
        </p:nvSpPr>
        <p:spPr>
          <a:xfrm>
            <a:off x="4407408" y="1993392"/>
            <a:ext cx="3383280" cy="1783080"/>
          </a:xfrm>
          <a:prstGeom prst="roundRect">
            <a:avLst>
              <a:gd name="adj" fmla="val 4103"/>
            </a:avLst>
          </a:prstGeom>
          <a:solidFill>
            <a:srgbClr val="FBF9F4"/>
          </a:solidFill>
          <a:ln w="6350">
            <a:solidFill>
              <a:srgbClr val="DDD6C5"/>
            </a:solidFill>
            <a:prstDash val="solid"/>
          </a:ln>
        </p:spPr>
        <p:txBody>
          <a:bodyPr/>
          <a:lstStyle/>
          <a:p>
            <a:endParaRPr lang="pt-BR"/>
          </a:p>
        </p:txBody>
      </p:sp>
      <p:sp>
        <p:nvSpPr>
          <p:cNvPr id="8" name="Text 6"/>
          <p:cNvSpPr/>
          <p:nvPr/>
        </p:nvSpPr>
        <p:spPr>
          <a:xfrm>
            <a:off x="4663440" y="2231136"/>
            <a:ext cx="2871216" cy="411480"/>
          </a:xfrm>
          <a:prstGeom prst="rect">
            <a:avLst/>
          </a:prstGeom>
          <a:noFill/>
          <a:ln/>
        </p:spPr>
        <p:txBody>
          <a:bodyPr wrap="square" lIns="0" tIns="0" rIns="0" bIns="0" rtlCol="0" anchor="t">
            <a:noAutofit/>
          </a:bodyPr>
          <a:lstStyle/>
          <a:p>
            <a:pPr algn="l">
              <a:lnSpc>
                <a:spcPct val="100000"/>
              </a:lnSpc>
            </a:pPr>
            <a:r>
              <a:rPr sz="2400" b="1">
                <a:solidFill>
                  <a:srgbClr val="10242B"/>
                </a:solidFill>
                <a:latin typeface="EB Garamond"/>
              </a:rPr>
              <a:t>Enxergar o todo</a:t>
            </a:r>
            <a:endParaRPr lang="pt-BR" sz="2000" dirty="0">
              <a:latin typeface="Arial" panose="020B0604020202020204" pitchFamily="34" charset="0"/>
              <a:cs typeface="Arial" panose="020B0604020202020204" pitchFamily="34" charset="0"/>
            </a:endParaRPr>
          </a:p>
        </p:txBody>
      </p:sp>
      <p:sp>
        <p:nvSpPr>
          <p:cNvPr id="9" name="Text 7"/>
          <p:cNvSpPr/>
          <p:nvPr/>
        </p:nvSpPr>
        <p:spPr>
          <a:xfrm>
            <a:off x="4663440" y="2779776"/>
            <a:ext cx="2871216" cy="868680"/>
          </a:xfrm>
          <a:prstGeom prst="rect">
            <a:avLst/>
          </a:prstGeom>
          <a:noFill/>
          <a:ln/>
        </p:spPr>
        <p:txBody>
          <a:bodyPr wrap="square" lIns="0" tIns="0" rIns="0" bIns="0" rtlCol="0" anchor="t">
            <a:noAutofit/>
          </a:bodyPr>
          <a:lstStyle/>
          <a:p>
            <a:pPr algn="l">
              <a:lnSpc>
                <a:spcPct val="110000"/>
              </a:lnSpc>
            </a:pPr>
            <a:r>
              <a:rPr sz="1600" b="0">
                <a:solidFill>
                  <a:srgbClr val="3B4A4F"/>
                </a:solidFill>
                <a:latin typeface="DM Sans"/>
              </a:rPr>
              <a:t>Compreender o sistema antes de tentar resolver suas partes.</a:t>
            </a:r>
          </a:p>
        </p:txBody>
      </p:sp>
      <p:sp>
        <p:nvSpPr>
          <p:cNvPr id="10" name="Shape 8"/>
          <p:cNvSpPr/>
          <p:nvPr/>
        </p:nvSpPr>
        <p:spPr>
          <a:xfrm>
            <a:off x="8001000" y="1993392"/>
            <a:ext cx="3383280" cy="1783080"/>
          </a:xfrm>
          <a:prstGeom prst="roundRect">
            <a:avLst>
              <a:gd name="adj" fmla="val 4103"/>
            </a:avLst>
          </a:prstGeom>
          <a:solidFill>
            <a:srgbClr val="FBF9F4"/>
          </a:solidFill>
          <a:ln w="6350">
            <a:solidFill>
              <a:srgbClr val="DDD6C5"/>
            </a:solidFill>
            <a:prstDash val="solid"/>
          </a:ln>
        </p:spPr>
        <p:txBody>
          <a:bodyPr/>
          <a:lstStyle/>
          <a:p>
            <a:endParaRPr lang="pt-BR"/>
          </a:p>
        </p:txBody>
      </p:sp>
      <p:sp>
        <p:nvSpPr>
          <p:cNvPr id="11" name="Text 9"/>
          <p:cNvSpPr/>
          <p:nvPr/>
        </p:nvSpPr>
        <p:spPr>
          <a:xfrm>
            <a:off x="8257031" y="2231136"/>
            <a:ext cx="2871216" cy="411480"/>
          </a:xfrm>
          <a:prstGeom prst="rect">
            <a:avLst/>
          </a:prstGeom>
          <a:noFill/>
          <a:ln/>
        </p:spPr>
        <p:txBody>
          <a:bodyPr wrap="square" lIns="0" tIns="0" rIns="0" bIns="0" rtlCol="0" anchor="t">
            <a:noAutofit/>
          </a:bodyPr>
          <a:lstStyle/>
          <a:p>
            <a:pPr algn="l">
              <a:lnSpc>
                <a:spcPct val="100000"/>
              </a:lnSpc>
            </a:pPr>
            <a:r>
              <a:rPr sz="2400" b="1">
                <a:solidFill>
                  <a:srgbClr val="10242B"/>
                </a:solidFill>
                <a:latin typeface="EB Garamond"/>
              </a:rPr>
              <a:t>Investigar</a:t>
            </a:r>
            <a:endParaRPr lang="pt-BR" sz="2000" dirty="0">
              <a:latin typeface="Arial" panose="020B0604020202020204" pitchFamily="34" charset="0"/>
              <a:cs typeface="Arial" panose="020B0604020202020204" pitchFamily="34" charset="0"/>
            </a:endParaRPr>
          </a:p>
        </p:txBody>
      </p:sp>
      <p:sp>
        <p:nvSpPr>
          <p:cNvPr id="12" name="Text 10"/>
          <p:cNvSpPr/>
          <p:nvPr/>
        </p:nvSpPr>
        <p:spPr>
          <a:xfrm>
            <a:off x="8257031" y="2779776"/>
            <a:ext cx="2871216" cy="868680"/>
          </a:xfrm>
          <a:prstGeom prst="rect">
            <a:avLst/>
          </a:prstGeom>
          <a:noFill/>
          <a:ln/>
        </p:spPr>
        <p:txBody>
          <a:bodyPr wrap="square" lIns="0" tIns="0" rIns="0" bIns="0" rtlCol="0" anchor="t">
            <a:noAutofit/>
          </a:bodyPr>
          <a:lstStyle/>
          <a:p>
            <a:pPr algn="l">
              <a:lnSpc>
                <a:spcPct val="110000"/>
              </a:lnSpc>
            </a:pPr>
            <a:r>
              <a:rPr sz="1600" b="0">
                <a:solidFill>
                  <a:srgbClr val="3B4A4F"/>
                </a:solidFill>
                <a:latin typeface="DM Sans"/>
              </a:rPr>
              <a:t>Questionar, formular hipóteses e buscar respostas baseadas em evidências.</a:t>
            </a:r>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5E"/>
                </a:solidFill>
                <a:latin typeface="DM Sans" pitchFamily="34" charset="0"/>
                <a:ea typeface="DM Sans" pitchFamily="34" charset="-122"/>
                <a:cs typeface="DM Sans" pitchFamily="34" charset="-120"/>
              </a:rPr>
              <a:t>10</a:t>
            </a:r>
            <a:endParaRPr lang="en-US" sz="1200" dirty="0"/>
          </a:p>
        </p:txBody>
      </p:sp>
      <p:sp>
        <p:nvSpPr>
          <p:cNvPr id="15" name="Shape 2">
            <a:extLst>
              <a:ext uri="{FF2B5EF4-FFF2-40B4-BE49-F238E27FC236}">
                <a16:creationId xmlns:a16="http://schemas.microsoft.com/office/drawing/2014/main" id="{B7D6B2D9-11C4-02CB-018A-709477455250}"/>
              </a:ext>
            </a:extLst>
          </p:cNvPr>
          <p:cNvSpPr/>
          <p:nvPr/>
        </p:nvSpPr>
        <p:spPr>
          <a:xfrm>
            <a:off x="813816" y="4005072"/>
            <a:ext cx="3383280" cy="1783080"/>
          </a:xfrm>
          <a:prstGeom prst="roundRect">
            <a:avLst>
              <a:gd name="adj" fmla="val 4103"/>
            </a:avLst>
          </a:prstGeom>
          <a:solidFill>
            <a:srgbClr val="FBF9F4"/>
          </a:solidFill>
          <a:ln w="6350">
            <a:solidFill>
              <a:srgbClr val="DDD6C5"/>
            </a:solidFill>
            <a:prstDash val="solid"/>
          </a:ln>
        </p:spPr>
        <p:txBody>
          <a:bodyPr/>
          <a:lstStyle/>
          <a:p>
            <a:endParaRPr lang="pt-BR"/>
          </a:p>
        </p:txBody>
      </p:sp>
      <p:sp>
        <p:nvSpPr>
          <p:cNvPr id="16" name="Text 3">
            <a:extLst>
              <a:ext uri="{FF2B5EF4-FFF2-40B4-BE49-F238E27FC236}">
                <a16:creationId xmlns:a16="http://schemas.microsoft.com/office/drawing/2014/main" id="{A8D8D3B6-1492-E8A9-76B1-FEC4098A6CAE}"/>
              </a:ext>
            </a:extLst>
          </p:cNvPr>
          <p:cNvSpPr/>
          <p:nvPr/>
        </p:nvSpPr>
        <p:spPr>
          <a:xfrm>
            <a:off x="1069848" y="4242816"/>
            <a:ext cx="2871216" cy="411480"/>
          </a:xfrm>
          <a:prstGeom prst="rect">
            <a:avLst/>
          </a:prstGeom>
          <a:noFill/>
          <a:ln/>
        </p:spPr>
        <p:txBody>
          <a:bodyPr wrap="square" lIns="0" tIns="0" rIns="0" bIns="0" rtlCol="0" anchor="t">
            <a:noAutofit/>
          </a:bodyPr>
          <a:lstStyle/>
          <a:p>
            <a:pPr algn="l">
              <a:lnSpc>
                <a:spcPct val="100000"/>
              </a:lnSpc>
            </a:pPr>
            <a:r>
              <a:rPr sz="2400" b="1">
                <a:solidFill>
                  <a:srgbClr val="10242B"/>
                </a:solidFill>
                <a:latin typeface="EB Garamond"/>
              </a:rPr>
              <a:t>Conectar saberes</a:t>
            </a:r>
          </a:p>
        </p:txBody>
      </p:sp>
      <p:sp>
        <p:nvSpPr>
          <p:cNvPr id="17" name="Text 4">
            <a:extLst>
              <a:ext uri="{FF2B5EF4-FFF2-40B4-BE49-F238E27FC236}">
                <a16:creationId xmlns:a16="http://schemas.microsoft.com/office/drawing/2014/main" id="{7538787B-7942-AB50-FBE1-3863A81704B8}"/>
              </a:ext>
            </a:extLst>
          </p:cNvPr>
          <p:cNvSpPr/>
          <p:nvPr/>
        </p:nvSpPr>
        <p:spPr>
          <a:xfrm>
            <a:off x="1069848" y="4791456"/>
            <a:ext cx="2871216" cy="868680"/>
          </a:xfrm>
          <a:prstGeom prst="rect">
            <a:avLst/>
          </a:prstGeom>
          <a:noFill/>
          <a:ln/>
        </p:spPr>
        <p:txBody>
          <a:bodyPr wrap="square" lIns="0" tIns="0" rIns="0" bIns="0" rtlCol="0" anchor="t">
            <a:noAutofit/>
          </a:bodyPr>
          <a:lstStyle/>
          <a:p>
            <a:pPr algn="l">
              <a:lnSpc>
                <a:spcPct val="110000"/>
              </a:lnSpc>
            </a:pPr>
            <a:r>
              <a:rPr sz="1600" b="0">
                <a:solidFill>
                  <a:srgbClr val="3B4A4F"/>
                </a:solidFill>
                <a:latin typeface="DM Sans"/>
              </a:rPr>
              <a:t>Unir matemática, programação e ciência para resolver novos desafios.</a:t>
            </a:r>
          </a:p>
        </p:txBody>
      </p:sp>
      <p:sp>
        <p:nvSpPr>
          <p:cNvPr id="18" name="Shape 5">
            <a:extLst>
              <a:ext uri="{FF2B5EF4-FFF2-40B4-BE49-F238E27FC236}">
                <a16:creationId xmlns:a16="http://schemas.microsoft.com/office/drawing/2014/main" id="{BC7974C2-03C8-BF57-2F8C-4DE763781305}"/>
              </a:ext>
            </a:extLst>
          </p:cNvPr>
          <p:cNvSpPr/>
          <p:nvPr/>
        </p:nvSpPr>
        <p:spPr>
          <a:xfrm>
            <a:off x="4407408" y="4005072"/>
            <a:ext cx="3383280" cy="1783080"/>
          </a:xfrm>
          <a:prstGeom prst="roundRect">
            <a:avLst>
              <a:gd name="adj" fmla="val 4103"/>
            </a:avLst>
          </a:prstGeom>
          <a:solidFill>
            <a:srgbClr val="FBF9F4"/>
          </a:solidFill>
          <a:ln w="6350">
            <a:solidFill>
              <a:srgbClr val="DDD6C5"/>
            </a:solidFill>
            <a:prstDash val="solid"/>
          </a:ln>
        </p:spPr>
        <p:txBody>
          <a:bodyPr/>
          <a:lstStyle/>
          <a:p>
            <a:endParaRPr lang="pt-BR"/>
          </a:p>
        </p:txBody>
      </p:sp>
      <p:sp>
        <p:nvSpPr>
          <p:cNvPr id="19" name="Text 6">
            <a:extLst>
              <a:ext uri="{FF2B5EF4-FFF2-40B4-BE49-F238E27FC236}">
                <a16:creationId xmlns:a16="http://schemas.microsoft.com/office/drawing/2014/main" id="{84FCBEC5-151B-12BA-6AE8-67FDB030EB88}"/>
              </a:ext>
            </a:extLst>
          </p:cNvPr>
          <p:cNvSpPr/>
          <p:nvPr/>
        </p:nvSpPr>
        <p:spPr>
          <a:xfrm>
            <a:off x="4663440" y="4242816"/>
            <a:ext cx="2871216" cy="411480"/>
          </a:xfrm>
          <a:prstGeom prst="rect">
            <a:avLst/>
          </a:prstGeom>
          <a:noFill/>
          <a:ln/>
        </p:spPr>
        <p:txBody>
          <a:bodyPr wrap="square" lIns="0" tIns="0" rIns="0" bIns="0" rtlCol="0" anchor="t">
            <a:noAutofit/>
          </a:bodyPr>
          <a:lstStyle/>
          <a:p>
            <a:pPr algn="l">
              <a:lnSpc>
                <a:spcPct val="100000"/>
              </a:lnSpc>
            </a:pPr>
            <a:r>
              <a:rPr sz="2400" b="1">
                <a:solidFill>
                  <a:srgbClr val="10242B"/>
                </a:solidFill>
                <a:latin typeface="EB Garamond"/>
              </a:rPr>
              <a:t>Automatizar</a:t>
            </a:r>
            <a:endParaRPr lang="pt-BR" sz="2000" dirty="0">
              <a:latin typeface="Arial" panose="020B0604020202020204" pitchFamily="34" charset="0"/>
              <a:cs typeface="Arial" panose="020B0604020202020204" pitchFamily="34" charset="0"/>
            </a:endParaRPr>
          </a:p>
        </p:txBody>
      </p:sp>
      <p:sp>
        <p:nvSpPr>
          <p:cNvPr id="20" name="Text 7">
            <a:extLst>
              <a:ext uri="{FF2B5EF4-FFF2-40B4-BE49-F238E27FC236}">
                <a16:creationId xmlns:a16="http://schemas.microsoft.com/office/drawing/2014/main" id="{291945A0-AB3C-AE4D-831B-A92897E38CE1}"/>
              </a:ext>
            </a:extLst>
          </p:cNvPr>
          <p:cNvSpPr/>
          <p:nvPr/>
        </p:nvSpPr>
        <p:spPr>
          <a:xfrm>
            <a:off x="4663440" y="4791456"/>
            <a:ext cx="2871216" cy="868680"/>
          </a:xfrm>
          <a:prstGeom prst="rect">
            <a:avLst/>
          </a:prstGeom>
          <a:noFill/>
          <a:ln/>
        </p:spPr>
        <p:txBody>
          <a:bodyPr wrap="square" lIns="0" tIns="0" rIns="0" bIns="0" rtlCol="0" anchor="t">
            <a:noAutofit/>
          </a:bodyPr>
          <a:lstStyle/>
          <a:p>
            <a:pPr algn="l">
              <a:lnSpc>
                <a:spcPct val="110000"/>
              </a:lnSpc>
            </a:pPr>
            <a:r>
              <a:rPr sz="1600" b="0">
                <a:solidFill>
                  <a:srgbClr val="3B4A4F"/>
                </a:solidFill>
                <a:latin typeface="DM Sans"/>
              </a:rPr>
              <a:t>Transformar processos manuais em soluções eficientes e reproduzíveis.</a:t>
            </a:r>
          </a:p>
        </p:txBody>
      </p:sp>
      <p:sp>
        <p:nvSpPr>
          <p:cNvPr id="21" name="Shape 8">
            <a:extLst>
              <a:ext uri="{FF2B5EF4-FFF2-40B4-BE49-F238E27FC236}">
                <a16:creationId xmlns:a16="http://schemas.microsoft.com/office/drawing/2014/main" id="{42B668EB-377C-0DB6-89C3-2055A5BCA2DE}"/>
              </a:ext>
            </a:extLst>
          </p:cNvPr>
          <p:cNvSpPr/>
          <p:nvPr/>
        </p:nvSpPr>
        <p:spPr>
          <a:xfrm>
            <a:off x="8001000" y="4005072"/>
            <a:ext cx="3383280" cy="1783080"/>
          </a:xfrm>
          <a:prstGeom prst="roundRect">
            <a:avLst>
              <a:gd name="adj" fmla="val 4103"/>
            </a:avLst>
          </a:prstGeom>
          <a:solidFill>
            <a:srgbClr val="FBF9F4"/>
          </a:solidFill>
          <a:ln w="6350">
            <a:solidFill>
              <a:srgbClr val="DDD6C5"/>
            </a:solidFill>
            <a:prstDash val="solid"/>
          </a:ln>
        </p:spPr>
        <p:txBody>
          <a:bodyPr/>
          <a:lstStyle/>
          <a:p>
            <a:endParaRPr lang="pt-BR" dirty="0"/>
          </a:p>
        </p:txBody>
      </p:sp>
      <p:sp>
        <p:nvSpPr>
          <p:cNvPr id="22" name="Text 9">
            <a:extLst>
              <a:ext uri="{FF2B5EF4-FFF2-40B4-BE49-F238E27FC236}">
                <a16:creationId xmlns:a16="http://schemas.microsoft.com/office/drawing/2014/main" id="{52BE78D2-E85C-2D11-319C-6DF4FED79DD1}"/>
              </a:ext>
            </a:extLst>
          </p:cNvPr>
          <p:cNvSpPr/>
          <p:nvPr/>
        </p:nvSpPr>
        <p:spPr>
          <a:xfrm>
            <a:off x="8257031" y="4242816"/>
            <a:ext cx="2871216" cy="411480"/>
          </a:xfrm>
          <a:prstGeom prst="rect">
            <a:avLst/>
          </a:prstGeom>
          <a:noFill/>
          <a:ln/>
        </p:spPr>
        <p:txBody>
          <a:bodyPr wrap="square" lIns="0" tIns="0" rIns="0" bIns="0" rtlCol="0" anchor="t">
            <a:noAutofit/>
          </a:bodyPr>
          <a:lstStyle/>
          <a:p>
            <a:pPr algn="l">
              <a:lnSpc>
                <a:spcPct val="100000"/>
              </a:lnSpc>
            </a:pPr>
            <a:r>
              <a:rPr sz="2400" b="1">
                <a:solidFill>
                  <a:srgbClr val="10242B"/>
                </a:solidFill>
                <a:latin typeface="EB Garamond"/>
              </a:rPr>
              <a:t>Inovar</a:t>
            </a:r>
            <a:endParaRPr lang="pt-BR" sz="2000" dirty="0">
              <a:latin typeface="Arial" panose="020B0604020202020204" pitchFamily="34" charset="0"/>
              <a:cs typeface="Arial" panose="020B0604020202020204" pitchFamily="34" charset="0"/>
            </a:endParaRPr>
          </a:p>
        </p:txBody>
      </p:sp>
      <p:sp>
        <p:nvSpPr>
          <p:cNvPr id="23" name="Text 10">
            <a:extLst>
              <a:ext uri="{FF2B5EF4-FFF2-40B4-BE49-F238E27FC236}">
                <a16:creationId xmlns:a16="http://schemas.microsoft.com/office/drawing/2014/main" id="{BF27D9F4-2816-FEDE-C2AE-13EA54F2897D}"/>
              </a:ext>
            </a:extLst>
          </p:cNvPr>
          <p:cNvSpPr/>
          <p:nvPr/>
        </p:nvSpPr>
        <p:spPr>
          <a:xfrm>
            <a:off x="8257031" y="4791456"/>
            <a:ext cx="2871216" cy="868680"/>
          </a:xfrm>
          <a:prstGeom prst="rect">
            <a:avLst/>
          </a:prstGeom>
          <a:noFill/>
          <a:ln/>
        </p:spPr>
        <p:txBody>
          <a:bodyPr wrap="square" lIns="0" tIns="0" rIns="0" bIns="0" rtlCol="0" anchor="t">
            <a:noAutofit/>
          </a:bodyPr>
          <a:lstStyle/>
          <a:p>
            <a:pPr algn="l">
              <a:lnSpc>
                <a:spcPct val="110000"/>
              </a:lnSpc>
            </a:pPr>
            <a:r>
              <a:rPr sz="1600" b="0">
                <a:solidFill>
                  <a:srgbClr val="3B4A4F"/>
                </a:solidFill>
                <a:latin typeface="DM Sans"/>
              </a:rPr>
              <a:t>Usar a base da engenharia para responder perguntas novas na saúde.</a:t>
            </a:r>
          </a:p>
        </p:txBody>
      </p:sp>
      <p:sp>
        <p:nvSpPr>
          <p:cNvPr id="24" name="Rectangle 1">
            <a:extLst>
              <a:ext uri="{FF2B5EF4-FFF2-40B4-BE49-F238E27FC236}">
                <a16:creationId xmlns:a16="http://schemas.microsoft.com/office/drawing/2014/main" id="{0BBB8CE1-3854-F46D-080F-4AFF49F088FC}"/>
              </a:ext>
            </a:extLst>
          </p:cNvPr>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92608"/>
            <a:ext cx="10972800" cy="256032"/>
          </a:xfrm>
          <a:prstGeom prst="rect">
            <a:avLst/>
          </a:prstGeom>
          <a:noFill/>
        </p:spPr>
        <p:txBody>
          <a:bodyPr wrap="square" lIns="45720" rIns="45720" anchor="t">
            <a:spAutoFit/>
          </a:bodyPr>
          <a:lstStyle/>
          <a:p>
            <a:pPr algn="l">
              <a:spcAft>
                <a:spcPts val="0"/>
              </a:spcAft>
            </a:pPr>
            <a:r>
              <a:rPr sz="1100" b="1">
                <a:solidFill>
                  <a:srgbClr val="177770"/>
                </a:solidFill>
                <a:latin typeface="Aptos"/>
              </a:rPr>
              <a:t>MERCADO HOJE</a:t>
            </a:r>
          </a:p>
        </p:txBody>
      </p:sp>
      <p:sp>
        <p:nvSpPr>
          <p:cNvPr id="3" name="TextBox 2"/>
          <p:cNvSpPr txBox="1"/>
          <p:nvPr/>
        </p:nvSpPr>
        <p:spPr>
          <a:xfrm>
            <a:off x="594360" y="566928"/>
            <a:ext cx="11064240" cy="923330"/>
          </a:xfrm>
          <a:prstGeom prst="rect">
            <a:avLst/>
          </a:prstGeom>
          <a:noFill/>
        </p:spPr>
        <p:txBody>
          <a:bodyPr wrap="square" lIns="45720" rIns="45720" anchor="t">
            <a:spAutoFit/>
          </a:bodyPr>
          <a:lstStyle/>
          <a:p>
            <a:pPr algn="just">
              <a:spcAft>
                <a:spcPts val="0"/>
              </a:spcAft>
            </a:pPr>
            <a:r>
              <a:rPr lang="pt-BR" sz="2700" b="1" noProof="0" dirty="0">
                <a:solidFill>
                  <a:srgbClr val="10272D"/>
                </a:solidFill>
                <a:latin typeface="Georgia"/>
              </a:rPr>
              <a:t>O mercado está mudando. E nós também precisamos aprender</a:t>
            </a:r>
            <a:r>
              <a:rPr sz="2700" b="1" dirty="0">
                <a:solidFill>
                  <a:srgbClr val="10272D"/>
                </a:solidFill>
                <a:latin typeface="Georgia"/>
              </a:rPr>
              <a:t>.</a:t>
            </a:r>
          </a:p>
        </p:txBody>
      </p:sp>
      <p:sp>
        <p:nvSpPr>
          <p:cNvPr id="4" name="TextBox 3"/>
          <p:cNvSpPr txBox="1"/>
          <p:nvPr/>
        </p:nvSpPr>
        <p:spPr>
          <a:xfrm>
            <a:off x="621792" y="1645920"/>
            <a:ext cx="10972800" cy="400110"/>
          </a:xfrm>
          <a:prstGeom prst="rect">
            <a:avLst/>
          </a:prstGeom>
          <a:noFill/>
        </p:spPr>
        <p:txBody>
          <a:bodyPr wrap="square" lIns="45720" rIns="45720" anchor="t">
            <a:spAutoFit/>
          </a:bodyPr>
          <a:lstStyle/>
          <a:p>
            <a:pPr algn="ctr">
              <a:spcAft>
                <a:spcPts val="0"/>
              </a:spcAft>
            </a:pPr>
            <a:r>
              <a:rPr lang="pt-BR" sz="2000" b="1" noProof="0" dirty="0">
                <a:solidFill>
                  <a:srgbClr val="FF0000"/>
                </a:solidFill>
                <a:latin typeface="Aptos"/>
              </a:rPr>
              <a:t>Não é preciso saber tudo: é preciso aprender, experimentar e avaliar.</a:t>
            </a:r>
          </a:p>
        </p:txBody>
      </p:sp>
      <p:sp>
        <p:nvSpPr>
          <p:cNvPr id="5" name="Rounded Rectangle 4"/>
          <p:cNvSpPr/>
          <p:nvPr/>
        </p:nvSpPr>
        <p:spPr>
          <a:xfrm>
            <a:off x="658368" y="2212848"/>
            <a:ext cx="2880360" cy="1828800"/>
          </a:xfrm>
          <a:prstGeom prst="roundRect">
            <a:avLst/>
          </a:prstGeom>
          <a:solidFill>
            <a:srgbClr val="FCFAF5"/>
          </a:solidFill>
          <a:ln w="13970">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237466"/>
            <a:ext cx="2468880" cy="713232"/>
          </a:xfrm>
          <a:prstGeom prst="rect">
            <a:avLst/>
          </a:prstGeom>
          <a:noFill/>
        </p:spPr>
        <p:txBody>
          <a:bodyPr wrap="square" lIns="45720" rIns="45720" anchor="t">
            <a:spAutoFit/>
          </a:bodyPr>
          <a:lstStyle/>
          <a:p>
            <a:pPr algn="ctr">
              <a:spcAft>
                <a:spcPts val="0"/>
              </a:spcAft>
            </a:pPr>
            <a:r>
              <a:rPr sz="4200" b="1" dirty="0">
                <a:solidFill>
                  <a:srgbClr val="177770"/>
                </a:solidFill>
                <a:latin typeface="Georgia"/>
              </a:rPr>
              <a:t>39%</a:t>
            </a:r>
          </a:p>
        </p:txBody>
      </p:sp>
      <p:sp>
        <p:nvSpPr>
          <p:cNvPr id="7" name="TextBox 6"/>
          <p:cNvSpPr txBox="1"/>
          <p:nvPr/>
        </p:nvSpPr>
        <p:spPr>
          <a:xfrm>
            <a:off x="914400" y="3031587"/>
            <a:ext cx="2377440" cy="603504"/>
          </a:xfrm>
          <a:prstGeom prst="rect">
            <a:avLst/>
          </a:prstGeom>
          <a:noFill/>
        </p:spPr>
        <p:txBody>
          <a:bodyPr wrap="square" lIns="45720" rIns="45720" anchor="t">
            <a:spAutoFit/>
          </a:bodyPr>
          <a:lstStyle/>
          <a:p>
            <a:pPr algn="ctr">
              <a:spcAft>
                <a:spcPts val="0"/>
              </a:spcAft>
            </a:pPr>
            <a:r>
              <a:rPr lang="pt-BR" sz="1600" b="0" noProof="0" dirty="0">
                <a:solidFill>
                  <a:srgbClr val="3A4B51"/>
                </a:solidFill>
                <a:latin typeface="Aptos"/>
              </a:rPr>
              <a:t>das habilidades profissionais devem mudar até 2030</a:t>
            </a:r>
          </a:p>
        </p:txBody>
      </p:sp>
      <p:sp>
        <p:nvSpPr>
          <p:cNvPr id="8" name="Rounded Rectangle 7"/>
          <p:cNvSpPr/>
          <p:nvPr/>
        </p:nvSpPr>
        <p:spPr>
          <a:xfrm>
            <a:off x="3794760" y="2212848"/>
            <a:ext cx="2331720" cy="1828800"/>
          </a:xfrm>
          <a:prstGeom prst="roundRect">
            <a:avLst/>
          </a:prstGeom>
          <a:solidFill>
            <a:srgbClr val="FCFAF5"/>
          </a:solidFill>
          <a:ln w="13970">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959352" y="2395728"/>
            <a:ext cx="411480" cy="411480"/>
          </a:xfrm>
          <a:prstGeom prst="ellipse">
            <a:avLst/>
          </a:prstGeom>
          <a:solidFill>
            <a:srgbClr val="177770"/>
          </a:solidFill>
          <a:ln>
            <a:solidFill>
              <a:srgbClr val="177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59352" y="2432304"/>
            <a:ext cx="411480" cy="274320"/>
          </a:xfrm>
          <a:prstGeom prst="rect">
            <a:avLst/>
          </a:prstGeom>
          <a:noFill/>
        </p:spPr>
        <p:txBody>
          <a:bodyPr wrap="square" lIns="45720" rIns="45720" anchor="t">
            <a:spAutoFit/>
          </a:bodyPr>
          <a:lstStyle/>
          <a:p>
            <a:pPr algn="ctr">
              <a:spcAft>
                <a:spcPts val="0"/>
              </a:spcAft>
            </a:pPr>
            <a:r>
              <a:rPr sz="1600" b="1">
                <a:solidFill>
                  <a:srgbClr val="FFFFFF"/>
                </a:solidFill>
                <a:latin typeface="Aptos"/>
              </a:rPr>
              <a:t>1</a:t>
            </a:r>
          </a:p>
        </p:txBody>
      </p:sp>
      <p:sp>
        <p:nvSpPr>
          <p:cNvPr id="11" name="TextBox 10"/>
          <p:cNvSpPr txBox="1"/>
          <p:nvPr/>
        </p:nvSpPr>
        <p:spPr>
          <a:xfrm>
            <a:off x="4453128" y="2404872"/>
            <a:ext cx="1508760" cy="310896"/>
          </a:xfrm>
          <a:prstGeom prst="rect">
            <a:avLst/>
          </a:prstGeom>
          <a:noFill/>
        </p:spPr>
        <p:txBody>
          <a:bodyPr wrap="square" lIns="45720" rIns="45720" anchor="t">
            <a:spAutoFit/>
          </a:bodyPr>
          <a:lstStyle/>
          <a:p>
            <a:pPr algn="l">
              <a:spcAft>
                <a:spcPts val="0"/>
              </a:spcAft>
            </a:pPr>
            <a:r>
              <a:rPr sz="1500" b="1">
                <a:solidFill>
                  <a:srgbClr val="10272D"/>
                </a:solidFill>
                <a:latin typeface="Aptos"/>
              </a:rPr>
              <a:t>APRENDER</a:t>
            </a:r>
          </a:p>
        </p:txBody>
      </p:sp>
      <p:sp>
        <p:nvSpPr>
          <p:cNvPr id="12" name="TextBox 11"/>
          <p:cNvSpPr txBox="1"/>
          <p:nvPr/>
        </p:nvSpPr>
        <p:spPr>
          <a:xfrm>
            <a:off x="3995928" y="2971800"/>
            <a:ext cx="1938528" cy="777240"/>
          </a:xfrm>
          <a:prstGeom prst="rect">
            <a:avLst/>
          </a:prstGeom>
          <a:noFill/>
        </p:spPr>
        <p:txBody>
          <a:bodyPr wrap="square" lIns="45720" rIns="45720" anchor="t">
            <a:spAutoFit/>
          </a:bodyPr>
          <a:lstStyle/>
          <a:p>
            <a:pPr algn="l">
              <a:spcAft>
                <a:spcPts val="0"/>
              </a:spcAft>
            </a:pPr>
            <a:r>
              <a:rPr sz="1400" b="0">
                <a:solidFill>
                  <a:srgbClr val="3A4B51"/>
                </a:solidFill>
                <a:latin typeface="Aptos"/>
              </a:rPr>
              <a:t>Atualizar conhecimentos ao longo da carreira.</a:t>
            </a:r>
          </a:p>
        </p:txBody>
      </p:sp>
      <p:sp>
        <p:nvSpPr>
          <p:cNvPr id="13" name="Rounded Rectangle 12"/>
          <p:cNvSpPr/>
          <p:nvPr/>
        </p:nvSpPr>
        <p:spPr>
          <a:xfrm>
            <a:off x="6400800" y="2212848"/>
            <a:ext cx="2331720" cy="1828800"/>
          </a:xfrm>
          <a:prstGeom prst="roundRect">
            <a:avLst/>
          </a:prstGeom>
          <a:solidFill>
            <a:srgbClr val="FCFAF5"/>
          </a:solidFill>
          <a:ln w="13970">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565392" y="2395728"/>
            <a:ext cx="411480" cy="411480"/>
          </a:xfrm>
          <a:prstGeom prst="ellipse">
            <a:avLst/>
          </a:prstGeom>
          <a:solidFill>
            <a:srgbClr val="177770"/>
          </a:solidFill>
          <a:ln>
            <a:solidFill>
              <a:srgbClr val="177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65392" y="2432304"/>
            <a:ext cx="411480" cy="274320"/>
          </a:xfrm>
          <a:prstGeom prst="rect">
            <a:avLst/>
          </a:prstGeom>
          <a:noFill/>
        </p:spPr>
        <p:txBody>
          <a:bodyPr wrap="square" lIns="45720" rIns="45720" anchor="t">
            <a:spAutoFit/>
          </a:bodyPr>
          <a:lstStyle/>
          <a:p>
            <a:pPr algn="ctr">
              <a:spcAft>
                <a:spcPts val="0"/>
              </a:spcAft>
            </a:pPr>
            <a:r>
              <a:rPr sz="1600" b="1">
                <a:solidFill>
                  <a:srgbClr val="FFFFFF"/>
                </a:solidFill>
                <a:latin typeface="Aptos"/>
              </a:rPr>
              <a:t>2</a:t>
            </a:r>
          </a:p>
        </p:txBody>
      </p:sp>
      <p:sp>
        <p:nvSpPr>
          <p:cNvPr id="16" name="TextBox 15"/>
          <p:cNvSpPr txBox="1"/>
          <p:nvPr/>
        </p:nvSpPr>
        <p:spPr>
          <a:xfrm>
            <a:off x="7059168" y="2404872"/>
            <a:ext cx="1508760" cy="310896"/>
          </a:xfrm>
          <a:prstGeom prst="rect">
            <a:avLst/>
          </a:prstGeom>
          <a:noFill/>
        </p:spPr>
        <p:txBody>
          <a:bodyPr wrap="square" lIns="45720" rIns="45720" anchor="t">
            <a:spAutoFit/>
          </a:bodyPr>
          <a:lstStyle/>
          <a:p>
            <a:pPr algn="l">
              <a:spcAft>
                <a:spcPts val="0"/>
              </a:spcAft>
            </a:pPr>
            <a:r>
              <a:rPr sz="1500" b="1">
                <a:solidFill>
                  <a:srgbClr val="10272D"/>
                </a:solidFill>
                <a:latin typeface="Aptos"/>
              </a:rPr>
              <a:t>USAR IA</a:t>
            </a:r>
          </a:p>
        </p:txBody>
      </p:sp>
      <p:sp>
        <p:nvSpPr>
          <p:cNvPr id="17" name="TextBox 16"/>
          <p:cNvSpPr txBox="1"/>
          <p:nvPr/>
        </p:nvSpPr>
        <p:spPr>
          <a:xfrm>
            <a:off x="6601968" y="2971800"/>
            <a:ext cx="1938528" cy="777240"/>
          </a:xfrm>
          <a:prstGeom prst="rect">
            <a:avLst/>
          </a:prstGeom>
          <a:noFill/>
        </p:spPr>
        <p:txBody>
          <a:bodyPr wrap="square" lIns="45720" rIns="45720" anchor="t">
            <a:spAutoFit/>
          </a:bodyPr>
          <a:lstStyle/>
          <a:p>
            <a:pPr algn="l">
              <a:spcAft>
                <a:spcPts val="0"/>
              </a:spcAft>
            </a:pPr>
            <a:r>
              <a:rPr sz="1400" b="0">
                <a:solidFill>
                  <a:srgbClr val="3A4B51"/>
                </a:solidFill>
                <a:latin typeface="Aptos"/>
              </a:rPr>
              <a:t>Aplicar ferramentas para explorar dados e automatizar tarefas.</a:t>
            </a:r>
          </a:p>
        </p:txBody>
      </p:sp>
      <p:sp>
        <p:nvSpPr>
          <p:cNvPr id="18" name="Rounded Rectangle 17"/>
          <p:cNvSpPr/>
          <p:nvPr/>
        </p:nvSpPr>
        <p:spPr>
          <a:xfrm>
            <a:off x="9006840" y="2212848"/>
            <a:ext cx="2331720" cy="1828800"/>
          </a:xfrm>
          <a:prstGeom prst="roundRect">
            <a:avLst/>
          </a:prstGeom>
          <a:solidFill>
            <a:srgbClr val="FCFAF5"/>
          </a:solidFill>
          <a:ln w="13970">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171432" y="2395728"/>
            <a:ext cx="411480" cy="411480"/>
          </a:xfrm>
          <a:prstGeom prst="ellipse">
            <a:avLst/>
          </a:prstGeom>
          <a:solidFill>
            <a:srgbClr val="177770"/>
          </a:solidFill>
          <a:ln>
            <a:solidFill>
              <a:srgbClr val="177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71432" y="2432304"/>
            <a:ext cx="411480" cy="274320"/>
          </a:xfrm>
          <a:prstGeom prst="rect">
            <a:avLst/>
          </a:prstGeom>
          <a:noFill/>
        </p:spPr>
        <p:txBody>
          <a:bodyPr wrap="square" lIns="45720" rIns="45720" anchor="t">
            <a:spAutoFit/>
          </a:bodyPr>
          <a:lstStyle/>
          <a:p>
            <a:pPr algn="ctr">
              <a:spcAft>
                <a:spcPts val="0"/>
              </a:spcAft>
            </a:pPr>
            <a:r>
              <a:rPr sz="1600" b="1">
                <a:solidFill>
                  <a:srgbClr val="FFFFFF"/>
                </a:solidFill>
                <a:latin typeface="Aptos"/>
              </a:rPr>
              <a:t>3</a:t>
            </a:r>
          </a:p>
        </p:txBody>
      </p:sp>
      <p:sp>
        <p:nvSpPr>
          <p:cNvPr id="21" name="TextBox 20"/>
          <p:cNvSpPr txBox="1"/>
          <p:nvPr/>
        </p:nvSpPr>
        <p:spPr>
          <a:xfrm>
            <a:off x="9665208" y="2404872"/>
            <a:ext cx="1508760" cy="310896"/>
          </a:xfrm>
          <a:prstGeom prst="rect">
            <a:avLst/>
          </a:prstGeom>
          <a:noFill/>
        </p:spPr>
        <p:txBody>
          <a:bodyPr wrap="square" lIns="45720" rIns="45720" anchor="t">
            <a:spAutoFit/>
          </a:bodyPr>
          <a:lstStyle/>
          <a:p>
            <a:pPr algn="l">
              <a:spcAft>
                <a:spcPts val="0"/>
              </a:spcAft>
            </a:pPr>
            <a:r>
              <a:rPr sz="1500" b="1">
                <a:solidFill>
                  <a:srgbClr val="10272D"/>
                </a:solidFill>
                <a:latin typeface="Aptos"/>
              </a:rPr>
              <a:t>AVALIAR</a:t>
            </a:r>
          </a:p>
        </p:txBody>
      </p:sp>
      <p:sp>
        <p:nvSpPr>
          <p:cNvPr id="22" name="TextBox 21"/>
          <p:cNvSpPr txBox="1"/>
          <p:nvPr/>
        </p:nvSpPr>
        <p:spPr>
          <a:xfrm>
            <a:off x="9208008" y="2971800"/>
            <a:ext cx="1938528" cy="777240"/>
          </a:xfrm>
          <a:prstGeom prst="rect">
            <a:avLst/>
          </a:prstGeom>
          <a:noFill/>
        </p:spPr>
        <p:txBody>
          <a:bodyPr wrap="square" lIns="45720" rIns="45720" anchor="t">
            <a:spAutoFit/>
          </a:bodyPr>
          <a:lstStyle/>
          <a:p>
            <a:pPr algn="l">
              <a:spcAft>
                <a:spcPts val="0"/>
              </a:spcAft>
            </a:pPr>
            <a:r>
              <a:rPr sz="1400" b="0">
                <a:solidFill>
                  <a:srgbClr val="3A4B51"/>
                </a:solidFill>
                <a:latin typeface="Aptos"/>
              </a:rPr>
              <a:t>Conferir resultados e assumir a decisão com responsabilidade.</a:t>
            </a:r>
          </a:p>
        </p:txBody>
      </p:sp>
      <p:sp>
        <p:nvSpPr>
          <p:cNvPr id="23" name="Rounded Rectangle 22"/>
          <p:cNvSpPr/>
          <p:nvPr/>
        </p:nvSpPr>
        <p:spPr>
          <a:xfrm>
            <a:off x="658368" y="4434839"/>
            <a:ext cx="10680192" cy="960120"/>
          </a:xfrm>
          <a:prstGeom prst="roundRect">
            <a:avLst/>
          </a:prstGeom>
          <a:solidFill>
            <a:srgbClr val="10272D"/>
          </a:solidFill>
          <a:ln w="13970">
            <a:solidFill>
              <a:srgbClr val="102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4708823"/>
            <a:ext cx="10149840" cy="384721"/>
          </a:xfrm>
          <a:prstGeom prst="rect">
            <a:avLst/>
          </a:prstGeom>
          <a:noFill/>
        </p:spPr>
        <p:txBody>
          <a:bodyPr wrap="square" lIns="45720" rIns="45720" anchor="ctr">
            <a:spAutoFit/>
          </a:bodyPr>
          <a:lstStyle/>
          <a:p>
            <a:pPr algn="ctr">
              <a:spcAft>
                <a:spcPts val="0"/>
              </a:spcAft>
            </a:pPr>
            <a:r>
              <a:rPr lang="pt-BR" sz="1900" noProof="0" dirty="0">
                <a:solidFill>
                  <a:srgbClr val="FFFFFF"/>
                </a:solidFill>
                <a:latin typeface="Aptos"/>
              </a:rPr>
              <a:t>O diferencial não é só conhecer a tecnologia: é saber </a:t>
            </a:r>
            <a:r>
              <a:rPr lang="pt-BR" sz="1900" b="1" noProof="0" dirty="0">
                <a:solidFill>
                  <a:schemeClr val="accent3">
                    <a:lumMod val="60000"/>
                    <a:lumOff val="40000"/>
                  </a:schemeClr>
                </a:solidFill>
                <a:latin typeface="Aptos"/>
              </a:rPr>
              <a:t>quando, como </a:t>
            </a:r>
            <a:r>
              <a:rPr lang="pt-BR" sz="1900" b="1" noProof="0" dirty="0">
                <a:solidFill>
                  <a:srgbClr val="FFFFFF"/>
                </a:solidFill>
                <a:latin typeface="Aptos"/>
              </a:rPr>
              <a:t>e </a:t>
            </a:r>
            <a:r>
              <a:rPr lang="pt-BR" sz="1900" b="1" noProof="0" dirty="0">
                <a:solidFill>
                  <a:schemeClr val="accent3">
                    <a:lumMod val="60000"/>
                    <a:lumOff val="40000"/>
                  </a:schemeClr>
                </a:solidFill>
                <a:latin typeface="Aptos"/>
              </a:rPr>
              <a:t>por que </a:t>
            </a:r>
            <a:r>
              <a:rPr lang="pt-BR" sz="1900" b="1" noProof="0" dirty="0">
                <a:solidFill>
                  <a:srgbClr val="FFFFFF"/>
                </a:solidFill>
                <a:latin typeface="Aptos"/>
              </a:rPr>
              <a:t>usá-la.</a:t>
            </a:r>
          </a:p>
        </p:txBody>
      </p:sp>
      <p:sp>
        <p:nvSpPr>
          <p:cNvPr id="25" name="TextBox 24"/>
          <p:cNvSpPr txBox="1"/>
          <p:nvPr/>
        </p:nvSpPr>
        <p:spPr>
          <a:xfrm>
            <a:off x="685800" y="5532120"/>
            <a:ext cx="10698480" cy="320040"/>
          </a:xfrm>
          <a:prstGeom prst="rect">
            <a:avLst/>
          </a:prstGeom>
          <a:noFill/>
        </p:spPr>
        <p:txBody>
          <a:bodyPr wrap="square" lIns="45720" rIns="45720" anchor="t">
            <a:spAutoFit/>
          </a:bodyPr>
          <a:lstStyle/>
          <a:p>
            <a:pPr algn="l">
              <a:spcAft>
                <a:spcPts val="0"/>
              </a:spcAft>
            </a:pPr>
            <a:r>
              <a:rPr sz="1000" b="0">
                <a:solidFill>
                  <a:srgbClr val="3A4B51"/>
                </a:solidFill>
                <a:latin typeface="Aptos"/>
              </a:rPr>
              <a:t>Fonte: World Economic Forum, Future of Jobs Report 2025 (projeção global).</a:t>
            </a:r>
          </a:p>
        </p:txBody>
      </p:sp>
      <p:sp>
        <p:nvSpPr>
          <p:cNvPr id="27" name="TextBox 26"/>
          <p:cNvSpPr txBox="1"/>
          <p:nvPr/>
        </p:nvSpPr>
        <p:spPr>
          <a:xfrm>
            <a:off x="11155680" y="6519672"/>
            <a:ext cx="320040" cy="201168"/>
          </a:xfrm>
          <a:prstGeom prst="rect">
            <a:avLst/>
          </a:prstGeom>
          <a:noFill/>
        </p:spPr>
        <p:txBody>
          <a:bodyPr wrap="square" lIns="45720" rIns="45720" anchor="t">
            <a:spAutoFit/>
          </a:bodyPr>
          <a:lstStyle/>
          <a:p>
            <a:pPr algn="r">
              <a:spcAft>
                <a:spcPts val="0"/>
              </a:spcAft>
            </a:pPr>
            <a:r>
              <a:rPr sz="900" b="0">
                <a:solidFill>
                  <a:srgbClr val="3A4B51"/>
                </a:solidFill>
                <a:latin typeface="Aptos"/>
              </a:rPr>
              <a:t>11</a:t>
            </a:r>
          </a:p>
        </p:txBody>
      </p:sp>
      <p:sp>
        <p:nvSpPr>
          <p:cNvPr id="28" name="Rectangle 1">
            <a:extLst>
              <a:ext uri="{FF2B5EF4-FFF2-40B4-BE49-F238E27FC236}">
                <a16:creationId xmlns:a16="http://schemas.microsoft.com/office/drawing/2014/main" id="{5D81A796-A0F4-8C14-F2F7-8022910F741C}"/>
              </a:ext>
            </a:extLst>
          </p:cNvPr>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A IDEIA CENTRAL · O QUE VAMOS VER HOJE</a:t>
            </a:r>
          </a:p>
        </p:txBody>
      </p:sp>
      <p:sp>
        <p:nvSpPr>
          <p:cNvPr id="4" name="TextBox 3"/>
          <p:cNvSpPr txBox="1"/>
          <p:nvPr/>
        </p:nvSpPr>
        <p:spPr>
          <a:xfrm>
            <a:off x="530352" y="566928"/>
            <a:ext cx="11155680" cy="566928"/>
          </a:xfrm>
          <a:prstGeom prst="rect">
            <a:avLst/>
          </a:prstGeom>
          <a:noFill/>
        </p:spPr>
        <p:txBody>
          <a:bodyPr wrap="square">
            <a:spAutoFit/>
          </a:bodyPr>
          <a:lstStyle/>
          <a:p>
            <a:pPr>
              <a:spcAft>
                <a:spcPts val="700"/>
              </a:spcAft>
            </a:pPr>
            <a:r>
              <a:rPr lang="pt-BR" sz="2700" b="1" noProof="0" dirty="0">
                <a:solidFill>
                  <a:srgbClr val="142A38"/>
                </a:solidFill>
                <a:latin typeface="Georgia"/>
              </a:rPr>
              <a:t>Toda engenharia gera dados; a IA ajuda a decidir</a:t>
            </a:r>
          </a:p>
        </p:txBody>
      </p:sp>
      <p:sp>
        <p:nvSpPr>
          <p:cNvPr id="5" name="TextBox 4"/>
          <p:cNvSpPr txBox="1"/>
          <p:nvPr/>
        </p:nvSpPr>
        <p:spPr>
          <a:xfrm>
            <a:off x="0" y="1242245"/>
            <a:ext cx="11896344" cy="400110"/>
          </a:xfrm>
          <a:prstGeom prst="rect">
            <a:avLst/>
          </a:prstGeom>
          <a:noFill/>
        </p:spPr>
        <p:txBody>
          <a:bodyPr wrap="square">
            <a:spAutoFit/>
          </a:bodyPr>
          <a:lstStyle/>
          <a:p>
            <a:pPr lvl="1" algn="ctr">
              <a:spcAft>
                <a:spcPts val="700"/>
              </a:spcAft>
            </a:pPr>
            <a:r>
              <a:rPr lang="pt-BR" sz="2000" dirty="0">
                <a:solidFill>
                  <a:srgbClr val="637478"/>
                </a:solidFill>
                <a:latin typeface="Aptos"/>
              </a:rPr>
              <a:t>O dado muda, o método é o mesmo.</a:t>
            </a:r>
            <a:endParaRPr lang="pt-BR" sz="2000" b="0" noProof="0" dirty="0">
              <a:solidFill>
                <a:srgbClr val="637478"/>
              </a:solidFill>
              <a:latin typeface="Aptos"/>
            </a:endParaRPr>
          </a:p>
        </p:txBody>
      </p:sp>
      <p:sp>
        <p:nvSpPr>
          <p:cNvPr id="7" name="TextBox 6"/>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12</a:t>
            </a:r>
          </a:p>
        </p:txBody>
      </p:sp>
      <p:sp>
        <p:nvSpPr>
          <p:cNvPr id="8" name="Rounded Rectangle 7"/>
          <p:cNvSpPr/>
          <p:nvPr/>
        </p:nvSpPr>
        <p:spPr>
          <a:xfrm>
            <a:off x="594360" y="2141343"/>
            <a:ext cx="3584448" cy="169164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2141343"/>
            <a:ext cx="73152" cy="169164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8" y="2305935"/>
            <a:ext cx="3200400" cy="384048"/>
          </a:xfrm>
          <a:prstGeom prst="rect">
            <a:avLst/>
          </a:prstGeom>
          <a:noFill/>
        </p:spPr>
        <p:txBody>
          <a:bodyPr wrap="square">
            <a:spAutoFit/>
          </a:bodyPr>
          <a:lstStyle/>
          <a:p>
            <a:pPr>
              <a:spcAft>
                <a:spcPts val="700"/>
              </a:spcAft>
            </a:pPr>
            <a:r>
              <a:rPr lang="pt-BR" sz="1700" b="1" noProof="0" dirty="0">
                <a:solidFill>
                  <a:srgbClr val="142A38"/>
                </a:solidFill>
                <a:latin typeface="Georgia"/>
              </a:rPr>
              <a:t>Engenharia Civil</a:t>
            </a:r>
          </a:p>
        </p:txBody>
      </p:sp>
      <p:sp>
        <p:nvSpPr>
          <p:cNvPr id="11" name="TextBox 10"/>
          <p:cNvSpPr txBox="1"/>
          <p:nvPr/>
        </p:nvSpPr>
        <p:spPr>
          <a:xfrm>
            <a:off x="690598" y="2718165"/>
            <a:ext cx="3488210" cy="828432"/>
          </a:xfrm>
          <a:prstGeom prst="rect">
            <a:avLst/>
          </a:prstGeom>
          <a:noFill/>
        </p:spPr>
        <p:txBody>
          <a:bodyPr wrap="square">
            <a:spAutoFit/>
          </a:bodyPr>
          <a:lstStyle/>
          <a:p>
            <a:pPr>
              <a:spcAft>
                <a:spcPts val="700"/>
              </a:spcAft>
            </a:pPr>
            <a:r>
              <a:rPr lang="pt-BR" sz="1400" b="1" dirty="0"/>
              <a:t>Exemplo: prever a resistência do concreto</a:t>
            </a:r>
          </a:p>
          <a:p>
            <a:pPr>
              <a:spcAft>
                <a:spcPts val="700"/>
              </a:spcAft>
            </a:pPr>
            <a:r>
              <a:rPr lang="pt-BR" sz="1400" dirty="0">
                <a:solidFill>
                  <a:srgbClr val="303E44"/>
                </a:solidFill>
                <a:latin typeface="Aptos"/>
              </a:rPr>
              <a:t>Traço e idade do concreto viram uma previsão de resistência (regressão).</a:t>
            </a:r>
            <a:endParaRPr lang="pt-BR" sz="1400" b="0" noProof="0" dirty="0">
              <a:solidFill>
                <a:srgbClr val="303E44"/>
              </a:solidFill>
              <a:latin typeface="Aptos"/>
            </a:endParaRPr>
          </a:p>
        </p:txBody>
      </p:sp>
      <p:sp>
        <p:nvSpPr>
          <p:cNvPr id="12" name="Rounded Rectangle 11"/>
          <p:cNvSpPr/>
          <p:nvPr/>
        </p:nvSpPr>
        <p:spPr>
          <a:xfrm>
            <a:off x="4453128" y="2141343"/>
            <a:ext cx="3584448" cy="169164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53128" y="2141343"/>
            <a:ext cx="73152" cy="169164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54296" y="2305935"/>
            <a:ext cx="3200400" cy="384048"/>
          </a:xfrm>
          <a:prstGeom prst="rect">
            <a:avLst/>
          </a:prstGeom>
          <a:noFill/>
        </p:spPr>
        <p:txBody>
          <a:bodyPr wrap="square">
            <a:spAutoFit/>
          </a:bodyPr>
          <a:lstStyle/>
          <a:p>
            <a:pPr>
              <a:spcAft>
                <a:spcPts val="700"/>
              </a:spcAft>
            </a:pPr>
            <a:r>
              <a:rPr lang="pt-BR" sz="1700" b="1" noProof="0" dirty="0">
                <a:solidFill>
                  <a:srgbClr val="142A38"/>
                </a:solidFill>
                <a:latin typeface="Georgia"/>
              </a:rPr>
              <a:t>Engenharia de Produção</a:t>
            </a:r>
          </a:p>
        </p:txBody>
      </p:sp>
      <p:sp>
        <p:nvSpPr>
          <p:cNvPr id="15" name="TextBox 14"/>
          <p:cNvSpPr txBox="1"/>
          <p:nvPr/>
        </p:nvSpPr>
        <p:spPr>
          <a:xfrm>
            <a:off x="4654296" y="2763135"/>
            <a:ext cx="3383280" cy="1043876"/>
          </a:xfrm>
          <a:prstGeom prst="rect">
            <a:avLst/>
          </a:prstGeom>
          <a:noFill/>
        </p:spPr>
        <p:txBody>
          <a:bodyPr wrap="square">
            <a:spAutoFit/>
          </a:bodyPr>
          <a:lstStyle/>
          <a:p>
            <a:pPr>
              <a:spcAft>
                <a:spcPts val="700"/>
              </a:spcAft>
            </a:pPr>
            <a:r>
              <a:rPr lang="pt-BR" sz="1400" b="1" dirty="0">
                <a:solidFill>
                  <a:srgbClr val="303E44"/>
                </a:solidFill>
                <a:latin typeface="Aptos"/>
              </a:rPr>
              <a:t>Exemplo: achar defeitos na linha</a:t>
            </a:r>
          </a:p>
          <a:p>
            <a:pPr>
              <a:spcAft>
                <a:spcPts val="700"/>
              </a:spcAft>
            </a:pPr>
            <a:r>
              <a:rPr lang="pt-BR" sz="1400" dirty="0">
                <a:solidFill>
                  <a:srgbClr val="303E44"/>
                </a:solidFill>
                <a:latin typeface="Aptos"/>
              </a:rPr>
              <a:t>Parâmetros do processo viram um alerta de peça com risco de defeito (classificação).</a:t>
            </a:r>
            <a:endParaRPr lang="pt-BR" sz="1400" b="0" noProof="0" dirty="0">
              <a:solidFill>
                <a:srgbClr val="303E44"/>
              </a:solidFill>
              <a:latin typeface="Aptos"/>
            </a:endParaRPr>
          </a:p>
        </p:txBody>
      </p:sp>
      <p:sp>
        <p:nvSpPr>
          <p:cNvPr id="16" name="Rounded Rectangle 15"/>
          <p:cNvSpPr/>
          <p:nvPr/>
        </p:nvSpPr>
        <p:spPr>
          <a:xfrm>
            <a:off x="8311896" y="2141343"/>
            <a:ext cx="3584448" cy="169164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311896" y="2141343"/>
            <a:ext cx="73152" cy="169164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13064" y="2305935"/>
            <a:ext cx="3200400" cy="384048"/>
          </a:xfrm>
          <a:prstGeom prst="rect">
            <a:avLst/>
          </a:prstGeom>
          <a:noFill/>
        </p:spPr>
        <p:txBody>
          <a:bodyPr wrap="square">
            <a:spAutoFit/>
          </a:bodyPr>
          <a:lstStyle/>
          <a:p>
            <a:pPr>
              <a:spcAft>
                <a:spcPts val="700"/>
              </a:spcAft>
            </a:pPr>
            <a:r>
              <a:rPr sz="1700" b="1">
                <a:solidFill>
                  <a:srgbClr val="142A38"/>
                </a:solidFill>
                <a:latin typeface="Georgia"/>
              </a:rPr>
              <a:t>Engenharia Elétrica</a:t>
            </a:r>
          </a:p>
        </p:txBody>
      </p:sp>
      <p:sp>
        <p:nvSpPr>
          <p:cNvPr id="19" name="TextBox 18"/>
          <p:cNvSpPr txBox="1"/>
          <p:nvPr/>
        </p:nvSpPr>
        <p:spPr>
          <a:xfrm>
            <a:off x="8513064" y="2673195"/>
            <a:ext cx="3200400" cy="1043876"/>
          </a:xfrm>
          <a:prstGeom prst="rect">
            <a:avLst/>
          </a:prstGeom>
          <a:noFill/>
        </p:spPr>
        <p:txBody>
          <a:bodyPr wrap="square">
            <a:spAutoFit/>
          </a:bodyPr>
          <a:lstStyle/>
          <a:p>
            <a:pPr>
              <a:spcAft>
                <a:spcPts val="700"/>
              </a:spcAft>
            </a:pPr>
            <a:r>
              <a:rPr lang="pt-BR" sz="1400" b="1" dirty="0">
                <a:solidFill>
                  <a:srgbClr val="303E44"/>
                </a:solidFill>
                <a:latin typeface="Aptos"/>
              </a:rPr>
              <a:t>Exemplo: anomalias em motores</a:t>
            </a:r>
          </a:p>
          <a:p>
            <a:pPr>
              <a:spcAft>
                <a:spcPts val="700"/>
              </a:spcAft>
            </a:pPr>
            <a:r>
              <a:rPr lang="pt-BR" sz="1400" dirty="0">
                <a:solidFill>
                  <a:srgbClr val="303E44"/>
                </a:solidFill>
                <a:latin typeface="Aptos"/>
              </a:rPr>
              <a:t>Corrente e vibração revelam regimes de operação e falhas (agrupamento e detecção de anomalias).</a:t>
            </a:r>
            <a:endParaRPr lang="pt-BR" sz="1400" b="0" noProof="0" dirty="0">
              <a:solidFill>
                <a:srgbClr val="303E44"/>
              </a:solidFill>
              <a:latin typeface="Aptos"/>
            </a:endParaRPr>
          </a:p>
        </p:txBody>
      </p:sp>
      <p:sp>
        <p:nvSpPr>
          <p:cNvPr id="20" name="Rounded Rectangle 19"/>
          <p:cNvSpPr/>
          <p:nvPr/>
        </p:nvSpPr>
        <p:spPr>
          <a:xfrm>
            <a:off x="594360" y="4107303"/>
            <a:ext cx="3584448" cy="1960488"/>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94360" y="4272193"/>
            <a:ext cx="73152" cy="169164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7512" y="4268470"/>
            <a:ext cx="3200400" cy="353943"/>
          </a:xfrm>
          <a:prstGeom prst="rect">
            <a:avLst/>
          </a:prstGeom>
          <a:noFill/>
        </p:spPr>
        <p:txBody>
          <a:bodyPr wrap="square">
            <a:spAutoFit/>
          </a:bodyPr>
          <a:lstStyle/>
          <a:p>
            <a:pPr>
              <a:spcAft>
                <a:spcPts val="700"/>
              </a:spcAft>
            </a:pPr>
            <a:r>
              <a:rPr lang="pt-BR" sz="1700" b="1" dirty="0">
                <a:solidFill>
                  <a:srgbClr val="142A38"/>
                </a:solidFill>
                <a:latin typeface="Georgia"/>
              </a:rPr>
              <a:t>Engenharia Mecânica</a:t>
            </a:r>
            <a:endParaRPr sz="1700" b="1" dirty="0">
              <a:solidFill>
                <a:srgbClr val="142A38"/>
              </a:solidFill>
              <a:latin typeface="Georgia"/>
            </a:endParaRPr>
          </a:p>
        </p:txBody>
      </p:sp>
      <p:sp>
        <p:nvSpPr>
          <p:cNvPr id="23" name="TextBox 22"/>
          <p:cNvSpPr txBox="1"/>
          <p:nvPr/>
        </p:nvSpPr>
        <p:spPr>
          <a:xfrm>
            <a:off x="704088" y="4783580"/>
            <a:ext cx="3383280" cy="828432"/>
          </a:xfrm>
          <a:prstGeom prst="rect">
            <a:avLst/>
          </a:prstGeom>
          <a:noFill/>
        </p:spPr>
        <p:txBody>
          <a:bodyPr wrap="square">
            <a:spAutoFit/>
          </a:bodyPr>
          <a:lstStyle/>
          <a:p>
            <a:pPr algn="just">
              <a:spcAft>
                <a:spcPts val="700"/>
              </a:spcAft>
            </a:pPr>
            <a:r>
              <a:rPr lang="pt-BR" sz="1400" b="1" dirty="0">
                <a:solidFill>
                  <a:srgbClr val="303E44"/>
                </a:solidFill>
                <a:latin typeface="Aptos"/>
              </a:rPr>
              <a:t>Exemplo: diagnosticar rolamentos</a:t>
            </a:r>
          </a:p>
          <a:p>
            <a:pPr algn="just">
              <a:spcAft>
                <a:spcPts val="700"/>
              </a:spcAft>
            </a:pPr>
            <a:r>
              <a:rPr lang="pt-BR" sz="1400" dirty="0">
                <a:solidFill>
                  <a:srgbClr val="303E44"/>
                </a:solidFill>
                <a:latin typeface="Aptos"/>
              </a:rPr>
              <a:t>A vibração vira diagnóstico da falha (PCA e SVM).</a:t>
            </a:r>
            <a:endParaRPr lang="pt-BR" sz="1400" b="0" noProof="0" dirty="0">
              <a:solidFill>
                <a:srgbClr val="303E44"/>
              </a:solidFill>
              <a:latin typeface="Aptos"/>
            </a:endParaRPr>
          </a:p>
        </p:txBody>
      </p:sp>
      <p:sp>
        <p:nvSpPr>
          <p:cNvPr id="24" name="Rounded Rectangle 23"/>
          <p:cNvSpPr/>
          <p:nvPr/>
        </p:nvSpPr>
        <p:spPr>
          <a:xfrm>
            <a:off x="4453128" y="4107302"/>
            <a:ext cx="3584448" cy="1960488"/>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453128" y="4272193"/>
            <a:ext cx="73152" cy="169164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54296" y="4271894"/>
            <a:ext cx="3200400" cy="384048"/>
          </a:xfrm>
          <a:prstGeom prst="rect">
            <a:avLst/>
          </a:prstGeom>
          <a:noFill/>
        </p:spPr>
        <p:txBody>
          <a:bodyPr wrap="square">
            <a:spAutoFit/>
          </a:bodyPr>
          <a:lstStyle/>
          <a:p>
            <a:pPr>
              <a:spcAft>
                <a:spcPts val="700"/>
              </a:spcAft>
            </a:pPr>
            <a:r>
              <a:rPr lang="pt-BR" sz="1700" b="1" noProof="0" dirty="0">
                <a:solidFill>
                  <a:srgbClr val="142A38"/>
                </a:solidFill>
                <a:latin typeface="Georgia"/>
              </a:rPr>
              <a:t>Engenharia Química</a:t>
            </a:r>
          </a:p>
        </p:txBody>
      </p:sp>
      <p:sp>
        <p:nvSpPr>
          <p:cNvPr id="27" name="TextBox 26"/>
          <p:cNvSpPr txBox="1"/>
          <p:nvPr/>
        </p:nvSpPr>
        <p:spPr>
          <a:xfrm>
            <a:off x="4654295" y="4729095"/>
            <a:ext cx="3292275" cy="1259319"/>
          </a:xfrm>
          <a:prstGeom prst="rect">
            <a:avLst/>
          </a:prstGeom>
          <a:noFill/>
        </p:spPr>
        <p:txBody>
          <a:bodyPr wrap="square">
            <a:spAutoFit/>
          </a:bodyPr>
          <a:lstStyle/>
          <a:p>
            <a:pPr>
              <a:spcAft>
                <a:spcPts val="700"/>
              </a:spcAft>
            </a:pPr>
            <a:r>
              <a:rPr lang="pt-BR" sz="1400" b="1" dirty="0">
                <a:solidFill>
                  <a:srgbClr val="303E44"/>
                </a:solidFill>
                <a:latin typeface="Aptos"/>
              </a:rPr>
              <a:t>Exemplo: sensor virtual de espectros de infravermelho (NIR)</a:t>
            </a:r>
          </a:p>
          <a:p>
            <a:pPr>
              <a:spcAft>
                <a:spcPts val="700"/>
              </a:spcAft>
            </a:pPr>
            <a:r>
              <a:rPr lang="pt-BR" sz="1400" dirty="0">
                <a:solidFill>
                  <a:srgbClr val="303E44"/>
                </a:solidFill>
                <a:latin typeface="Aptos"/>
              </a:rPr>
              <a:t>A luz absorvida pela amostra vira concentração em segundos (PCA e regressão).</a:t>
            </a:r>
            <a:endParaRPr lang="pt-BR" sz="1400" b="0" noProof="0" dirty="0">
              <a:solidFill>
                <a:srgbClr val="303E44"/>
              </a:solidFill>
              <a:latin typeface="Aptos"/>
            </a:endParaRPr>
          </a:p>
        </p:txBody>
      </p:sp>
      <p:sp>
        <p:nvSpPr>
          <p:cNvPr id="32" name="Retângulo 31">
            <a:extLst>
              <a:ext uri="{FF2B5EF4-FFF2-40B4-BE49-F238E27FC236}">
                <a16:creationId xmlns:a16="http://schemas.microsoft.com/office/drawing/2014/main" id="{AF3DB94C-A83D-9969-6D1D-7D3799B445DF}"/>
              </a:ext>
            </a:extLst>
          </p:cNvPr>
          <p:cNvSpPr/>
          <p:nvPr/>
        </p:nvSpPr>
        <p:spPr>
          <a:xfrm>
            <a:off x="478536" y="2094236"/>
            <a:ext cx="3807714" cy="1782928"/>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pt-B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292608"/>
            <a:ext cx="8229600" cy="274320"/>
          </a:xfrm>
          <a:prstGeom prst="rect">
            <a:avLst/>
          </a:prstGeom>
          <a:noFill/>
        </p:spPr>
        <p:txBody>
          <a:bodyPr wrap="square" lIns="45720" tIns="18288" rIns="45720" bIns="18288" anchor="t">
            <a:spAutoFit/>
          </a:bodyPr>
          <a:lstStyle/>
          <a:p>
            <a:pPr algn="l"/>
            <a:r>
              <a:rPr sz="1100" b="1">
                <a:solidFill>
                  <a:srgbClr val="007A78"/>
                </a:solidFill>
                <a:latin typeface="Arial"/>
              </a:rPr>
              <a:t>IA NAS ENGENHARIAS · BLOCO 1 · CIVIL</a:t>
            </a:r>
          </a:p>
        </p:txBody>
      </p:sp>
      <p:sp>
        <p:nvSpPr>
          <p:cNvPr id="4" name="TextBox 3"/>
          <p:cNvSpPr txBox="1"/>
          <p:nvPr/>
        </p:nvSpPr>
        <p:spPr>
          <a:xfrm>
            <a:off x="621792" y="603504"/>
            <a:ext cx="11155680" cy="640080"/>
          </a:xfrm>
          <a:prstGeom prst="rect">
            <a:avLst/>
          </a:prstGeom>
          <a:noFill/>
        </p:spPr>
        <p:txBody>
          <a:bodyPr wrap="square" lIns="45720" tIns="18288" rIns="45720" bIns="18288" anchor="t">
            <a:spAutoFit/>
          </a:bodyPr>
          <a:lstStyle/>
          <a:p>
            <a:pPr algn="l"/>
            <a:r>
              <a:rPr sz="2800" b="1">
                <a:solidFill>
                  <a:srgbClr val="14283A"/>
                </a:solidFill>
                <a:latin typeface="Georgia"/>
              </a:rPr>
              <a:t>Engenharia Civil: prever a resistência do concreto</a:t>
            </a:r>
          </a:p>
        </p:txBody>
      </p:sp>
      <p:sp>
        <p:nvSpPr>
          <p:cNvPr id="5" name="TextBox 4"/>
          <p:cNvSpPr txBox="1"/>
          <p:nvPr/>
        </p:nvSpPr>
        <p:spPr>
          <a:xfrm>
            <a:off x="621792" y="1280160"/>
            <a:ext cx="10972800" cy="365760"/>
          </a:xfrm>
          <a:prstGeom prst="rect">
            <a:avLst/>
          </a:prstGeom>
          <a:noFill/>
        </p:spPr>
        <p:txBody>
          <a:bodyPr wrap="square" lIns="45720" tIns="18288" rIns="45720" bIns="18288" anchor="t">
            <a:spAutoFit/>
          </a:bodyPr>
          <a:lstStyle/>
          <a:p>
            <a:pPr algn="l"/>
            <a:r>
              <a:rPr sz="1600" b="0">
                <a:solidFill>
                  <a:srgbClr val="5F6F78"/>
                </a:solidFill>
                <a:latin typeface="Arial"/>
              </a:rPr>
              <a:t>O ensaio aos 28 dias demora; o modelo antecipa a resposta.</a:t>
            </a:r>
          </a:p>
        </p:txBody>
      </p:sp>
      <p:sp>
        <p:nvSpPr>
          <p:cNvPr id="6" name="Rectangle 5"/>
          <p:cNvSpPr/>
          <p:nvPr/>
        </p:nvSpPr>
        <p:spPr>
          <a:xfrm>
            <a:off x="640080" y="1783080"/>
            <a:ext cx="6675120"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_civil.png"/>
          <p:cNvPicPr>
            <a:picLocks noChangeAspect="1"/>
          </p:cNvPicPr>
          <p:nvPr/>
        </p:nvPicPr>
        <p:blipFill>
          <a:blip r:embed="rId2"/>
          <a:stretch>
            <a:fillRect/>
          </a:stretch>
        </p:blipFill>
        <p:spPr>
          <a:xfrm>
            <a:off x="640080" y="1783080"/>
            <a:ext cx="6675120" cy="3520440"/>
          </a:xfrm>
          <a:prstGeom prst="rect">
            <a:avLst/>
          </a:prstGeom>
        </p:spPr>
      </p:pic>
      <p:sp>
        <p:nvSpPr>
          <p:cNvPr id="8" name="TextBox 7"/>
          <p:cNvSpPr txBox="1"/>
          <p:nvPr/>
        </p:nvSpPr>
        <p:spPr>
          <a:xfrm>
            <a:off x="640080" y="5321808"/>
            <a:ext cx="6675120" cy="228600"/>
          </a:xfrm>
          <a:prstGeom prst="rect">
            <a:avLst/>
          </a:prstGeom>
          <a:noFill/>
        </p:spPr>
        <p:txBody>
          <a:bodyPr wrap="square" lIns="45720" tIns="18288" rIns="45720" bIns="18288" anchor="t">
            <a:spAutoFit/>
          </a:bodyPr>
          <a:lstStyle/>
          <a:p>
            <a:pPr algn="l"/>
            <a:r>
              <a:rPr sz="900" b="0">
                <a:solidFill>
                  <a:srgbClr val="5F6F78"/>
                </a:solidFill>
                <a:latin typeface="Arial"/>
              </a:rPr>
              <a:t>Dados simulados, para fins didáticos.</a:t>
            </a:r>
          </a:p>
        </p:txBody>
      </p:sp>
      <p:sp>
        <p:nvSpPr>
          <p:cNvPr id="9" name="Rounded Rectangle 8"/>
          <p:cNvSpPr/>
          <p:nvPr/>
        </p:nvSpPr>
        <p:spPr>
          <a:xfrm>
            <a:off x="7589520" y="178308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589520" y="178308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18120" y="183794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DADOS</a:t>
            </a:r>
          </a:p>
        </p:txBody>
      </p:sp>
      <p:sp>
        <p:nvSpPr>
          <p:cNvPr id="12" name="TextBox 11"/>
          <p:cNvSpPr txBox="1"/>
          <p:nvPr/>
        </p:nvSpPr>
        <p:spPr>
          <a:xfrm>
            <a:off x="7818120" y="2203704"/>
            <a:ext cx="3611880" cy="640080"/>
          </a:xfrm>
          <a:prstGeom prst="rect">
            <a:avLst/>
          </a:prstGeom>
          <a:noFill/>
        </p:spPr>
        <p:txBody>
          <a:bodyPr wrap="square" lIns="45720" tIns="18288" rIns="45720" bIns="18288" anchor="t">
            <a:spAutoFit/>
          </a:bodyPr>
          <a:lstStyle/>
          <a:p>
            <a:pPr algn="l"/>
            <a:r>
              <a:rPr sz="1250" b="0">
                <a:solidFill>
                  <a:srgbClr val="14283A"/>
                </a:solidFill>
                <a:latin typeface="Arial"/>
              </a:rPr>
              <a:t>Cimento, água, aditivo e idade do concreto.</a:t>
            </a:r>
          </a:p>
        </p:txBody>
      </p:sp>
      <p:sp>
        <p:nvSpPr>
          <p:cNvPr id="13" name="Rounded Rectangle 12"/>
          <p:cNvSpPr/>
          <p:nvPr/>
        </p:nvSpPr>
        <p:spPr>
          <a:xfrm>
            <a:off x="7589520" y="297180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589520" y="2971800"/>
            <a:ext cx="82296" cy="1097280"/>
          </a:xfrm>
          <a:prstGeom prst="rect">
            <a:avLst/>
          </a:prstGeom>
          <a:solidFill>
            <a:srgbClr val="E09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18120" y="3026664"/>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IA</a:t>
            </a:r>
          </a:p>
        </p:txBody>
      </p:sp>
      <p:sp>
        <p:nvSpPr>
          <p:cNvPr id="16" name="TextBox 15"/>
          <p:cNvSpPr txBox="1"/>
          <p:nvPr/>
        </p:nvSpPr>
        <p:spPr>
          <a:xfrm>
            <a:off x="7818120" y="3392424"/>
            <a:ext cx="3611880" cy="640080"/>
          </a:xfrm>
          <a:prstGeom prst="rect">
            <a:avLst/>
          </a:prstGeom>
          <a:noFill/>
        </p:spPr>
        <p:txBody>
          <a:bodyPr wrap="square" lIns="45720" tIns="18288" rIns="45720" bIns="18288" anchor="t">
            <a:spAutoFit/>
          </a:bodyPr>
          <a:lstStyle/>
          <a:p>
            <a:pPr algn="l"/>
            <a:r>
              <a:rPr sz="1250" b="0">
                <a:solidFill>
                  <a:srgbClr val="14283A"/>
                </a:solidFill>
                <a:latin typeface="Arial"/>
              </a:rPr>
              <a:t>Regressão (linear e Random Forest).</a:t>
            </a:r>
          </a:p>
        </p:txBody>
      </p:sp>
      <p:sp>
        <p:nvSpPr>
          <p:cNvPr id="17" name="Rounded Rectangle 16"/>
          <p:cNvSpPr/>
          <p:nvPr/>
        </p:nvSpPr>
        <p:spPr>
          <a:xfrm>
            <a:off x="7589520" y="416052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89520" y="416052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421538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DECISÃO</a:t>
            </a:r>
          </a:p>
        </p:txBody>
      </p:sp>
      <p:sp>
        <p:nvSpPr>
          <p:cNvPr id="20" name="TextBox 19"/>
          <p:cNvSpPr txBox="1"/>
          <p:nvPr/>
        </p:nvSpPr>
        <p:spPr>
          <a:xfrm>
            <a:off x="7818120" y="4581144"/>
            <a:ext cx="3611880" cy="640080"/>
          </a:xfrm>
          <a:prstGeom prst="rect">
            <a:avLst/>
          </a:prstGeom>
          <a:noFill/>
        </p:spPr>
        <p:txBody>
          <a:bodyPr wrap="square" lIns="45720" tIns="18288" rIns="45720" bIns="18288" anchor="t">
            <a:spAutoFit/>
          </a:bodyPr>
          <a:lstStyle/>
          <a:p>
            <a:pPr algn="l"/>
            <a:r>
              <a:rPr sz="1250" b="0">
                <a:solidFill>
                  <a:srgbClr val="14283A"/>
                </a:solidFill>
                <a:latin typeface="Arial"/>
              </a:rPr>
              <a:t>Ajustar o traço e decidir a desforma mais cedo, com menos ensaios.</a:t>
            </a:r>
          </a:p>
        </p:txBody>
      </p:sp>
      <p:sp>
        <p:nvSpPr>
          <p:cNvPr id="21" name="TextBox 20"/>
          <p:cNvSpPr txBox="1"/>
          <p:nvPr/>
        </p:nvSpPr>
        <p:spPr>
          <a:xfrm>
            <a:off x="621792" y="5760720"/>
            <a:ext cx="10972800" cy="365760"/>
          </a:xfrm>
          <a:prstGeom prst="rect">
            <a:avLst/>
          </a:prstGeom>
          <a:noFill/>
        </p:spPr>
        <p:txBody>
          <a:bodyPr wrap="square" lIns="45720" tIns="18288" rIns="45720" bIns="18288" anchor="t">
            <a:spAutoFit/>
          </a:bodyPr>
          <a:lstStyle/>
          <a:p>
            <a:pPr algn="l"/>
            <a:r>
              <a:rPr sz="1400" b="1">
                <a:solidFill>
                  <a:srgbClr val="14283A"/>
                </a:solidFill>
                <a:latin typeface="Arial"/>
              </a:rPr>
              <a:t>Bloco 1 do curso · Regressão e visualização</a:t>
            </a:r>
          </a:p>
        </p:txBody>
      </p:sp>
      <p:sp>
        <p:nvSpPr>
          <p:cNvPr id="23" name="TextBox 22"/>
          <p:cNvSpPr txBox="1"/>
          <p:nvPr/>
        </p:nvSpPr>
        <p:spPr>
          <a:xfrm>
            <a:off x="10972800" y="6355080"/>
            <a:ext cx="594360" cy="274320"/>
          </a:xfrm>
          <a:prstGeom prst="rect">
            <a:avLst/>
          </a:prstGeom>
          <a:noFill/>
        </p:spPr>
        <p:txBody>
          <a:bodyPr wrap="square" lIns="45720" tIns="18288" rIns="45720" bIns="18288" anchor="t">
            <a:spAutoFit/>
          </a:bodyPr>
          <a:lstStyle/>
          <a:p>
            <a:pPr algn="r"/>
            <a:r>
              <a:rPr sz="1000" b="1">
                <a:solidFill>
                  <a:srgbClr val="5F6F78"/>
                </a:solidFill>
                <a:latin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a:extLst>
            <a:ext uri="{FF2B5EF4-FFF2-40B4-BE49-F238E27FC236}">
              <a16:creationId xmlns:a16="http://schemas.microsoft.com/office/drawing/2014/main" id="{9C776A88-DE33-23DC-F7A3-6ADBE6D518B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3C7D50A-A0DB-8856-E904-E48C40311D9B}"/>
              </a:ext>
            </a:extLst>
          </p:cNvPr>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56842BE-AF98-1484-5093-87FC0B5F1D37}"/>
              </a:ext>
            </a:extLst>
          </p:cNvPr>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A IDEIA CENTRAL · O QUE VAMOS VER HOJE</a:t>
            </a:r>
          </a:p>
        </p:txBody>
      </p:sp>
      <p:sp>
        <p:nvSpPr>
          <p:cNvPr id="4" name="TextBox 3">
            <a:extLst>
              <a:ext uri="{FF2B5EF4-FFF2-40B4-BE49-F238E27FC236}">
                <a16:creationId xmlns:a16="http://schemas.microsoft.com/office/drawing/2014/main" id="{83B04E29-3A40-6C1F-44AE-95990FBDE970}"/>
              </a:ext>
            </a:extLst>
          </p:cNvPr>
          <p:cNvSpPr txBox="1"/>
          <p:nvPr/>
        </p:nvSpPr>
        <p:spPr>
          <a:xfrm>
            <a:off x="530352" y="566928"/>
            <a:ext cx="11155680" cy="566928"/>
          </a:xfrm>
          <a:prstGeom prst="rect">
            <a:avLst/>
          </a:prstGeom>
          <a:noFill/>
        </p:spPr>
        <p:txBody>
          <a:bodyPr wrap="square">
            <a:spAutoFit/>
          </a:bodyPr>
          <a:lstStyle/>
          <a:p>
            <a:pPr>
              <a:spcAft>
                <a:spcPts val="700"/>
              </a:spcAft>
            </a:pPr>
            <a:r>
              <a:rPr lang="pt-BR" sz="2700" b="1" noProof="0" dirty="0">
                <a:solidFill>
                  <a:srgbClr val="142A38"/>
                </a:solidFill>
                <a:latin typeface="Georgia"/>
              </a:rPr>
              <a:t>Toda engenharia gera dados; a IA ajuda a decidir</a:t>
            </a:r>
          </a:p>
        </p:txBody>
      </p:sp>
      <p:sp>
        <p:nvSpPr>
          <p:cNvPr id="5" name="TextBox 4">
            <a:extLst>
              <a:ext uri="{FF2B5EF4-FFF2-40B4-BE49-F238E27FC236}">
                <a16:creationId xmlns:a16="http://schemas.microsoft.com/office/drawing/2014/main" id="{0A0DF9C4-EDC1-84B1-EAA1-073A4A081C87}"/>
              </a:ext>
            </a:extLst>
          </p:cNvPr>
          <p:cNvSpPr txBox="1"/>
          <p:nvPr/>
        </p:nvSpPr>
        <p:spPr>
          <a:xfrm>
            <a:off x="0" y="1242245"/>
            <a:ext cx="11896344" cy="400110"/>
          </a:xfrm>
          <a:prstGeom prst="rect">
            <a:avLst/>
          </a:prstGeom>
          <a:noFill/>
        </p:spPr>
        <p:txBody>
          <a:bodyPr wrap="square">
            <a:spAutoFit/>
          </a:bodyPr>
          <a:lstStyle/>
          <a:p>
            <a:pPr lvl="1" algn="ctr">
              <a:spcAft>
                <a:spcPts val="700"/>
              </a:spcAft>
            </a:pPr>
            <a:r>
              <a:rPr lang="pt-BR" sz="2000" dirty="0">
                <a:solidFill>
                  <a:srgbClr val="637478"/>
                </a:solidFill>
                <a:latin typeface="Aptos"/>
              </a:rPr>
              <a:t>O dado muda, o método é o mesmo.</a:t>
            </a:r>
            <a:endParaRPr lang="pt-BR" sz="2000" b="0" noProof="0" dirty="0">
              <a:solidFill>
                <a:srgbClr val="637478"/>
              </a:solidFill>
              <a:latin typeface="Aptos"/>
            </a:endParaRPr>
          </a:p>
        </p:txBody>
      </p:sp>
      <p:sp>
        <p:nvSpPr>
          <p:cNvPr id="7" name="TextBox 6">
            <a:extLst>
              <a:ext uri="{FF2B5EF4-FFF2-40B4-BE49-F238E27FC236}">
                <a16:creationId xmlns:a16="http://schemas.microsoft.com/office/drawing/2014/main" id="{870915C1-4A08-02CE-01CD-B9A1630B541C}"/>
              </a:ext>
            </a:extLst>
          </p:cNvPr>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14</a:t>
            </a:r>
          </a:p>
        </p:txBody>
      </p:sp>
      <p:sp>
        <p:nvSpPr>
          <p:cNvPr id="8" name="Rounded Rectangle 7">
            <a:extLst>
              <a:ext uri="{FF2B5EF4-FFF2-40B4-BE49-F238E27FC236}">
                <a16:creationId xmlns:a16="http://schemas.microsoft.com/office/drawing/2014/main" id="{37E9C96F-4F6C-8B26-73F0-FA58380555AA}"/>
              </a:ext>
            </a:extLst>
          </p:cNvPr>
          <p:cNvSpPr/>
          <p:nvPr/>
        </p:nvSpPr>
        <p:spPr>
          <a:xfrm>
            <a:off x="594360" y="2141343"/>
            <a:ext cx="3584448" cy="169164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506E6561-A89E-66FA-5FA7-32F03ADC7DE9}"/>
              </a:ext>
            </a:extLst>
          </p:cNvPr>
          <p:cNvSpPr/>
          <p:nvPr/>
        </p:nvSpPr>
        <p:spPr>
          <a:xfrm>
            <a:off x="594360" y="2141343"/>
            <a:ext cx="73152" cy="169164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B878A76E-3BE5-3436-829B-D3CE9A9D3F94}"/>
              </a:ext>
            </a:extLst>
          </p:cNvPr>
          <p:cNvSpPr txBox="1"/>
          <p:nvPr/>
        </p:nvSpPr>
        <p:spPr>
          <a:xfrm>
            <a:off x="795528" y="2305935"/>
            <a:ext cx="3200400" cy="384048"/>
          </a:xfrm>
          <a:prstGeom prst="rect">
            <a:avLst/>
          </a:prstGeom>
          <a:noFill/>
        </p:spPr>
        <p:txBody>
          <a:bodyPr wrap="square">
            <a:spAutoFit/>
          </a:bodyPr>
          <a:lstStyle/>
          <a:p>
            <a:pPr>
              <a:spcAft>
                <a:spcPts val="700"/>
              </a:spcAft>
            </a:pPr>
            <a:r>
              <a:rPr lang="pt-BR" sz="1700" b="1" noProof="0" dirty="0">
                <a:solidFill>
                  <a:srgbClr val="142A38"/>
                </a:solidFill>
                <a:latin typeface="Georgia"/>
              </a:rPr>
              <a:t>Engenharia Civil</a:t>
            </a:r>
          </a:p>
        </p:txBody>
      </p:sp>
      <p:sp>
        <p:nvSpPr>
          <p:cNvPr id="11" name="TextBox 10">
            <a:extLst>
              <a:ext uri="{FF2B5EF4-FFF2-40B4-BE49-F238E27FC236}">
                <a16:creationId xmlns:a16="http://schemas.microsoft.com/office/drawing/2014/main" id="{CBC20943-94AA-1EF2-2DD0-0F7D1C6D4368}"/>
              </a:ext>
            </a:extLst>
          </p:cNvPr>
          <p:cNvSpPr txBox="1"/>
          <p:nvPr/>
        </p:nvSpPr>
        <p:spPr>
          <a:xfrm>
            <a:off x="690598" y="2718165"/>
            <a:ext cx="3488210" cy="828432"/>
          </a:xfrm>
          <a:prstGeom prst="rect">
            <a:avLst/>
          </a:prstGeom>
          <a:noFill/>
        </p:spPr>
        <p:txBody>
          <a:bodyPr wrap="square">
            <a:spAutoFit/>
          </a:bodyPr>
          <a:lstStyle/>
          <a:p>
            <a:pPr>
              <a:spcAft>
                <a:spcPts val="700"/>
              </a:spcAft>
            </a:pPr>
            <a:r>
              <a:rPr lang="pt-BR" sz="1400" b="1" dirty="0"/>
              <a:t>Exemplo: prever a resistência do concreto</a:t>
            </a:r>
          </a:p>
          <a:p>
            <a:pPr>
              <a:spcAft>
                <a:spcPts val="700"/>
              </a:spcAft>
            </a:pPr>
            <a:r>
              <a:rPr lang="pt-BR" sz="1400" dirty="0">
                <a:solidFill>
                  <a:srgbClr val="303E44"/>
                </a:solidFill>
                <a:latin typeface="Aptos"/>
              </a:rPr>
              <a:t>Traço e idade do concreto viram uma previsão de resistência (regressão).</a:t>
            </a:r>
            <a:endParaRPr lang="pt-BR" sz="1400" b="0" noProof="0" dirty="0">
              <a:solidFill>
                <a:srgbClr val="303E44"/>
              </a:solidFill>
              <a:latin typeface="Aptos"/>
            </a:endParaRPr>
          </a:p>
        </p:txBody>
      </p:sp>
      <p:sp>
        <p:nvSpPr>
          <p:cNvPr id="12" name="Rounded Rectangle 11">
            <a:extLst>
              <a:ext uri="{FF2B5EF4-FFF2-40B4-BE49-F238E27FC236}">
                <a16:creationId xmlns:a16="http://schemas.microsoft.com/office/drawing/2014/main" id="{14227C6B-1E5A-14FA-854E-7ED51D6EA556}"/>
              </a:ext>
            </a:extLst>
          </p:cNvPr>
          <p:cNvSpPr/>
          <p:nvPr/>
        </p:nvSpPr>
        <p:spPr>
          <a:xfrm>
            <a:off x="4453128" y="2141343"/>
            <a:ext cx="3584448" cy="169164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9E40F225-7261-C201-31DE-1D9E59CAF714}"/>
              </a:ext>
            </a:extLst>
          </p:cNvPr>
          <p:cNvSpPr/>
          <p:nvPr/>
        </p:nvSpPr>
        <p:spPr>
          <a:xfrm>
            <a:off x="4453128" y="2141343"/>
            <a:ext cx="73152" cy="169164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6A6C36A0-2725-F542-88F7-EB1961205D5B}"/>
              </a:ext>
            </a:extLst>
          </p:cNvPr>
          <p:cNvSpPr txBox="1"/>
          <p:nvPr/>
        </p:nvSpPr>
        <p:spPr>
          <a:xfrm>
            <a:off x="4654296" y="2305935"/>
            <a:ext cx="3200400" cy="384048"/>
          </a:xfrm>
          <a:prstGeom prst="rect">
            <a:avLst/>
          </a:prstGeom>
          <a:noFill/>
        </p:spPr>
        <p:txBody>
          <a:bodyPr wrap="square">
            <a:spAutoFit/>
          </a:bodyPr>
          <a:lstStyle/>
          <a:p>
            <a:pPr>
              <a:spcAft>
                <a:spcPts val="700"/>
              </a:spcAft>
            </a:pPr>
            <a:r>
              <a:rPr lang="pt-BR" sz="1700" b="1" noProof="0" dirty="0">
                <a:solidFill>
                  <a:srgbClr val="142A38"/>
                </a:solidFill>
                <a:latin typeface="Georgia"/>
              </a:rPr>
              <a:t>Engenharia de Produção</a:t>
            </a:r>
          </a:p>
        </p:txBody>
      </p:sp>
      <p:sp>
        <p:nvSpPr>
          <p:cNvPr id="15" name="TextBox 14">
            <a:extLst>
              <a:ext uri="{FF2B5EF4-FFF2-40B4-BE49-F238E27FC236}">
                <a16:creationId xmlns:a16="http://schemas.microsoft.com/office/drawing/2014/main" id="{61FF03C6-4782-5D39-836D-BACA2C642A69}"/>
              </a:ext>
            </a:extLst>
          </p:cNvPr>
          <p:cNvSpPr txBox="1"/>
          <p:nvPr/>
        </p:nvSpPr>
        <p:spPr>
          <a:xfrm>
            <a:off x="4654296" y="2763135"/>
            <a:ext cx="3383280" cy="1043876"/>
          </a:xfrm>
          <a:prstGeom prst="rect">
            <a:avLst/>
          </a:prstGeom>
          <a:noFill/>
        </p:spPr>
        <p:txBody>
          <a:bodyPr wrap="square">
            <a:spAutoFit/>
          </a:bodyPr>
          <a:lstStyle/>
          <a:p>
            <a:pPr>
              <a:spcAft>
                <a:spcPts val="700"/>
              </a:spcAft>
            </a:pPr>
            <a:r>
              <a:rPr lang="pt-BR" sz="1400" b="1" dirty="0">
                <a:solidFill>
                  <a:srgbClr val="303E44"/>
                </a:solidFill>
                <a:latin typeface="Aptos"/>
              </a:rPr>
              <a:t>Exemplo: achar defeitos na linha</a:t>
            </a:r>
          </a:p>
          <a:p>
            <a:pPr>
              <a:spcAft>
                <a:spcPts val="700"/>
              </a:spcAft>
            </a:pPr>
            <a:r>
              <a:rPr lang="pt-BR" sz="1400" dirty="0">
                <a:solidFill>
                  <a:srgbClr val="303E44"/>
                </a:solidFill>
                <a:latin typeface="Aptos"/>
              </a:rPr>
              <a:t>Parâmetros do processo viram um alerta de peça com risco de defeito (classificação).</a:t>
            </a:r>
            <a:endParaRPr lang="pt-BR" sz="1400" b="0" noProof="0" dirty="0">
              <a:solidFill>
                <a:srgbClr val="303E44"/>
              </a:solidFill>
              <a:latin typeface="Aptos"/>
            </a:endParaRPr>
          </a:p>
        </p:txBody>
      </p:sp>
      <p:sp>
        <p:nvSpPr>
          <p:cNvPr id="16" name="Rounded Rectangle 15">
            <a:extLst>
              <a:ext uri="{FF2B5EF4-FFF2-40B4-BE49-F238E27FC236}">
                <a16:creationId xmlns:a16="http://schemas.microsoft.com/office/drawing/2014/main" id="{A93679A2-C50E-2C97-FFC4-A4D957E81B11}"/>
              </a:ext>
            </a:extLst>
          </p:cNvPr>
          <p:cNvSpPr/>
          <p:nvPr/>
        </p:nvSpPr>
        <p:spPr>
          <a:xfrm>
            <a:off x="8311896" y="2141343"/>
            <a:ext cx="3584448" cy="169164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5978BCC3-E483-6FED-581D-32B35A29FEF9}"/>
              </a:ext>
            </a:extLst>
          </p:cNvPr>
          <p:cNvSpPr/>
          <p:nvPr/>
        </p:nvSpPr>
        <p:spPr>
          <a:xfrm>
            <a:off x="8311896" y="2141343"/>
            <a:ext cx="73152" cy="169164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BAA55EDA-1258-CC1B-B1DD-13AD0C13ADBE}"/>
              </a:ext>
            </a:extLst>
          </p:cNvPr>
          <p:cNvSpPr txBox="1"/>
          <p:nvPr/>
        </p:nvSpPr>
        <p:spPr>
          <a:xfrm>
            <a:off x="8513064" y="2305935"/>
            <a:ext cx="3200400" cy="384048"/>
          </a:xfrm>
          <a:prstGeom prst="rect">
            <a:avLst/>
          </a:prstGeom>
          <a:noFill/>
        </p:spPr>
        <p:txBody>
          <a:bodyPr wrap="square">
            <a:spAutoFit/>
          </a:bodyPr>
          <a:lstStyle/>
          <a:p>
            <a:pPr>
              <a:spcAft>
                <a:spcPts val="700"/>
              </a:spcAft>
            </a:pPr>
            <a:r>
              <a:rPr sz="1700" b="1">
                <a:solidFill>
                  <a:srgbClr val="142A38"/>
                </a:solidFill>
                <a:latin typeface="Georgia"/>
              </a:rPr>
              <a:t>Engenharia Elétrica</a:t>
            </a:r>
          </a:p>
        </p:txBody>
      </p:sp>
      <p:sp>
        <p:nvSpPr>
          <p:cNvPr id="19" name="TextBox 18">
            <a:extLst>
              <a:ext uri="{FF2B5EF4-FFF2-40B4-BE49-F238E27FC236}">
                <a16:creationId xmlns:a16="http://schemas.microsoft.com/office/drawing/2014/main" id="{7856CB76-82B9-9F22-EEF4-B6D23E8659C1}"/>
              </a:ext>
            </a:extLst>
          </p:cNvPr>
          <p:cNvSpPr txBox="1"/>
          <p:nvPr/>
        </p:nvSpPr>
        <p:spPr>
          <a:xfrm>
            <a:off x="8513064" y="2673195"/>
            <a:ext cx="3200400" cy="1043876"/>
          </a:xfrm>
          <a:prstGeom prst="rect">
            <a:avLst/>
          </a:prstGeom>
          <a:noFill/>
        </p:spPr>
        <p:txBody>
          <a:bodyPr wrap="square">
            <a:spAutoFit/>
          </a:bodyPr>
          <a:lstStyle/>
          <a:p>
            <a:pPr>
              <a:spcAft>
                <a:spcPts val="700"/>
              </a:spcAft>
            </a:pPr>
            <a:r>
              <a:rPr lang="pt-BR" sz="1400" b="1" dirty="0">
                <a:solidFill>
                  <a:srgbClr val="303E44"/>
                </a:solidFill>
                <a:latin typeface="Aptos"/>
              </a:rPr>
              <a:t>Exemplo: anomalias em motores</a:t>
            </a:r>
          </a:p>
          <a:p>
            <a:pPr>
              <a:spcAft>
                <a:spcPts val="700"/>
              </a:spcAft>
            </a:pPr>
            <a:r>
              <a:rPr lang="pt-BR" sz="1400" dirty="0">
                <a:solidFill>
                  <a:srgbClr val="303E44"/>
                </a:solidFill>
                <a:latin typeface="Aptos"/>
              </a:rPr>
              <a:t>Corrente e vibração revelam regimes de operação e falhas (agrupamento e detecção de anomalias).</a:t>
            </a:r>
            <a:endParaRPr lang="pt-BR" sz="1400" b="0" noProof="0" dirty="0">
              <a:solidFill>
                <a:srgbClr val="303E44"/>
              </a:solidFill>
              <a:latin typeface="Aptos"/>
            </a:endParaRPr>
          </a:p>
        </p:txBody>
      </p:sp>
      <p:sp>
        <p:nvSpPr>
          <p:cNvPr id="20" name="Rounded Rectangle 19">
            <a:extLst>
              <a:ext uri="{FF2B5EF4-FFF2-40B4-BE49-F238E27FC236}">
                <a16:creationId xmlns:a16="http://schemas.microsoft.com/office/drawing/2014/main" id="{53F8CAB6-2DB0-CC5B-35E1-BE7B7BB34B76}"/>
              </a:ext>
            </a:extLst>
          </p:cNvPr>
          <p:cNvSpPr/>
          <p:nvPr/>
        </p:nvSpPr>
        <p:spPr>
          <a:xfrm>
            <a:off x="594360" y="4107303"/>
            <a:ext cx="3584448" cy="1960488"/>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2F3115DE-1644-6C35-EA65-BC88D1E02008}"/>
              </a:ext>
            </a:extLst>
          </p:cNvPr>
          <p:cNvSpPr/>
          <p:nvPr/>
        </p:nvSpPr>
        <p:spPr>
          <a:xfrm>
            <a:off x="594360" y="4272193"/>
            <a:ext cx="73152" cy="169164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2FF35F65-5EA6-959A-F8D4-4F389D82FF57}"/>
              </a:ext>
            </a:extLst>
          </p:cNvPr>
          <p:cNvSpPr txBox="1"/>
          <p:nvPr/>
        </p:nvSpPr>
        <p:spPr>
          <a:xfrm>
            <a:off x="667512" y="4268470"/>
            <a:ext cx="3200400" cy="353943"/>
          </a:xfrm>
          <a:prstGeom prst="rect">
            <a:avLst/>
          </a:prstGeom>
          <a:noFill/>
        </p:spPr>
        <p:txBody>
          <a:bodyPr wrap="square">
            <a:spAutoFit/>
          </a:bodyPr>
          <a:lstStyle/>
          <a:p>
            <a:pPr>
              <a:spcAft>
                <a:spcPts val="700"/>
              </a:spcAft>
            </a:pPr>
            <a:r>
              <a:rPr lang="pt-BR" sz="1700" b="1" dirty="0">
                <a:solidFill>
                  <a:srgbClr val="142A38"/>
                </a:solidFill>
                <a:latin typeface="Georgia"/>
              </a:rPr>
              <a:t>Engenharia Mecânica</a:t>
            </a:r>
            <a:endParaRPr sz="1700" b="1" dirty="0">
              <a:solidFill>
                <a:srgbClr val="142A38"/>
              </a:solidFill>
              <a:latin typeface="Georgia"/>
            </a:endParaRPr>
          </a:p>
        </p:txBody>
      </p:sp>
      <p:sp>
        <p:nvSpPr>
          <p:cNvPr id="23" name="TextBox 22">
            <a:extLst>
              <a:ext uri="{FF2B5EF4-FFF2-40B4-BE49-F238E27FC236}">
                <a16:creationId xmlns:a16="http://schemas.microsoft.com/office/drawing/2014/main" id="{D66255E6-CC25-59B1-B74A-B7DD84BD3DB4}"/>
              </a:ext>
            </a:extLst>
          </p:cNvPr>
          <p:cNvSpPr txBox="1"/>
          <p:nvPr/>
        </p:nvSpPr>
        <p:spPr>
          <a:xfrm>
            <a:off x="704088" y="4783580"/>
            <a:ext cx="3383280" cy="828432"/>
          </a:xfrm>
          <a:prstGeom prst="rect">
            <a:avLst/>
          </a:prstGeom>
          <a:noFill/>
        </p:spPr>
        <p:txBody>
          <a:bodyPr wrap="square">
            <a:spAutoFit/>
          </a:bodyPr>
          <a:lstStyle/>
          <a:p>
            <a:pPr algn="just">
              <a:spcAft>
                <a:spcPts val="700"/>
              </a:spcAft>
            </a:pPr>
            <a:r>
              <a:rPr lang="pt-BR" sz="1400" b="1" dirty="0">
                <a:solidFill>
                  <a:srgbClr val="303E44"/>
                </a:solidFill>
                <a:latin typeface="Aptos"/>
              </a:rPr>
              <a:t>Exemplo: diagnosticar rolamentos</a:t>
            </a:r>
          </a:p>
          <a:p>
            <a:pPr algn="just">
              <a:spcAft>
                <a:spcPts val="700"/>
              </a:spcAft>
            </a:pPr>
            <a:r>
              <a:rPr lang="pt-BR" sz="1400" dirty="0">
                <a:solidFill>
                  <a:srgbClr val="303E44"/>
                </a:solidFill>
                <a:latin typeface="Aptos"/>
              </a:rPr>
              <a:t>A vibração vira diagnóstico da falha (PCA e SVM).</a:t>
            </a:r>
            <a:endParaRPr lang="pt-BR" sz="1400" b="0" noProof="0" dirty="0">
              <a:solidFill>
                <a:srgbClr val="303E44"/>
              </a:solidFill>
              <a:latin typeface="Aptos"/>
            </a:endParaRPr>
          </a:p>
        </p:txBody>
      </p:sp>
      <p:sp>
        <p:nvSpPr>
          <p:cNvPr id="24" name="Rounded Rectangle 23">
            <a:extLst>
              <a:ext uri="{FF2B5EF4-FFF2-40B4-BE49-F238E27FC236}">
                <a16:creationId xmlns:a16="http://schemas.microsoft.com/office/drawing/2014/main" id="{E79A572D-318B-0A9E-2F25-1BAE441EDA9C}"/>
              </a:ext>
            </a:extLst>
          </p:cNvPr>
          <p:cNvSpPr/>
          <p:nvPr/>
        </p:nvSpPr>
        <p:spPr>
          <a:xfrm>
            <a:off x="4453128" y="4107302"/>
            <a:ext cx="3584448" cy="1960488"/>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a:extLst>
              <a:ext uri="{FF2B5EF4-FFF2-40B4-BE49-F238E27FC236}">
                <a16:creationId xmlns:a16="http://schemas.microsoft.com/office/drawing/2014/main" id="{8D245A6D-AD60-3A40-E8CB-FD9876331101}"/>
              </a:ext>
            </a:extLst>
          </p:cNvPr>
          <p:cNvSpPr/>
          <p:nvPr/>
        </p:nvSpPr>
        <p:spPr>
          <a:xfrm>
            <a:off x="4453128" y="4272193"/>
            <a:ext cx="73152" cy="169164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2F2895CF-B70A-C660-ACBC-BCE376B454FD}"/>
              </a:ext>
            </a:extLst>
          </p:cNvPr>
          <p:cNvSpPr txBox="1"/>
          <p:nvPr/>
        </p:nvSpPr>
        <p:spPr>
          <a:xfrm>
            <a:off x="4654296" y="4271894"/>
            <a:ext cx="3200400" cy="384048"/>
          </a:xfrm>
          <a:prstGeom prst="rect">
            <a:avLst/>
          </a:prstGeom>
          <a:noFill/>
        </p:spPr>
        <p:txBody>
          <a:bodyPr wrap="square">
            <a:spAutoFit/>
          </a:bodyPr>
          <a:lstStyle/>
          <a:p>
            <a:pPr>
              <a:spcAft>
                <a:spcPts val="700"/>
              </a:spcAft>
            </a:pPr>
            <a:r>
              <a:rPr lang="pt-BR" sz="1700" b="1" noProof="0" dirty="0">
                <a:solidFill>
                  <a:srgbClr val="142A38"/>
                </a:solidFill>
                <a:latin typeface="Georgia"/>
              </a:rPr>
              <a:t>Engenharia Química</a:t>
            </a:r>
          </a:p>
        </p:txBody>
      </p:sp>
      <p:sp>
        <p:nvSpPr>
          <p:cNvPr id="27" name="TextBox 26">
            <a:extLst>
              <a:ext uri="{FF2B5EF4-FFF2-40B4-BE49-F238E27FC236}">
                <a16:creationId xmlns:a16="http://schemas.microsoft.com/office/drawing/2014/main" id="{40CF00D0-B064-2F19-976F-AE1D314B4E18}"/>
              </a:ext>
            </a:extLst>
          </p:cNvPr>
          <p:cNvSpPr txBox="1"/>
          <p:nvPr/>
        </p:nvSpPr>
        <p:spPr>
          <a:xfrm>
            <a:off x="4654295" y="4729095"/>
            <a:ext cx="3292275" cy="1259319"/>
          </a:xfrm>
          <a:prstGeom prst="rect">
            <a:avLst/>
          </a:prstGeom>
          <a:noFill/>
        </p:spPr>
        <p:txBody>
          <a:bodyPr wrap="square">
            <a:spAutoFit/>
          </a:bodyPr>
          <a:lstStyle/>
          <a:p>
            <a:pPr>
              <a:spcAft>
                <a:spcPts val="700"/>
              </a:spcAft>
            </a:pPr>
            <a:r>
              <a:rPr lang="pt-BR" sz="1400" b="1" dirty="0">
                <a:solidFill>
                  <a:srgbClr val="303E44"/>
                </a:solidFill>
                <a:latin typeface="Aptos"/>
              </a:rPr>
              <a:t>Exemplo: sensor virtual de espectros de infravermelho (NIR)</a:t>
            </a:r>
          </a:p>
          <a:p>
            <a:pPr>
              <a:spcAft>
                <a:spcPts val="700"/>
              </a:spcAft>
            </a:pPr>
            <a:r>
              <a:rPr lang="pt-BR" sz="1400" dirty="0">
                <a:solidFill>
                  <a:srgbClr val="303E44"/>
                </a:solidFill>
                <a:latin typeface="Aptos"/>
              </a:rPr>
              <a:t>A luz absorvida pela amostra vira concentração em segundos (PCA e regressão).</a:t>
            </a:r>
            <a:endParaRPr lang="pt-BR" sz="1400" b="0" noProof="0" dirty="0">
              <a:solidFill>
                <a:srgbClr val="303E44"/>
              </a:solidFill>
              <a:latin typeface="Aptos"/>
            </a:endParaRPr>
          </a:p>
        </p:txBody>
      </p:sp>
      <p:sp>
        <p:nvSpPr>
          <p:cNvPr id="32" name="Retângulo 31">
            <a:extLst>
              <a:ext uri="{FF2B5EF4-FFF2-40B4-BE49-F238E27FC236}">
                <a16:creationId xmlns:a16="http://schemas.microsoft.com/office/drawing/2014/main" id="{35650F07-56DD-0835-63D9-71CD4651BB2F}"/>
              </a:ext>
            </a:extLst>
          </p:cNvPr>
          <p:cNvSpPr/>
          <p:nvPr/>
        </p:nvSpPr>
        <p:spPr>
          <a:xfrm>
            <a:off x="4350454" y="2094236"/>
            <a:ext cx="3807714" cy="1782928"/>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pt-BR"/>
          </a:p>
        </p:txBody>
      </p:sp>
    </p:spTree>
    <p:extLst>
      <p:ext uri="{BB962C8B-B14F-4D97-AF65-F5344CB8AC3E}">
        <p14:creationId xmlns:p14="http://schemas.microsoft.com/office/powerpoint/2010/main" val="257107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292608"/>
            <a:ext cx="8229600" cy="274320"/>
          </a:xfrm>
          <a:prstGeom prst="rect">
            <a:avLst/>
          </a:prstGeom>
          <a:noFill/>
        </p:spPr>
        <p:txBody>
          <a:bodyPr wrap="square" lIns="45720" tIns="18288" rIns="45720" bIns="18288" anchor="t">
            <a:spAutoFit/>
          </a:bodyPr>
          <a:lstStyle/>
          <a:p>
            <a:pPr algn="l"/>
            <a:r>
              <a:rPr sz="1100" b="1">
                <a:solidFill>
                  <a:srgbClr val="007A78"/>
                </a:solidFill>
                <a:latin typeface="Arial"/>
              </a:rPr>
              <a:t>IA NAS ENGENHARIAS · BLOCO 2 · PRODUÇÃO</a:t>
            </a:r>
          </a:p>
        </p:txBody>
      </p:sp>
      <p:sp>
        <p:nvSpPr>
          <p:cNvPr id="4" name="TextBox 3"/>
          <p:cNvSpPr txBox="1"/>
          <p:nvPr/>
        </p:nvSpPr>
        <p:spPr>
          <a:xfrm>
            <a:off x="621792" y="603504"/>
            <a:ext cx="11155680" cy="640080"/>
          </a:xfrm>
          <a:prstGeom prst="rect">
            <a:avLst/>
          </a:prstGeom>
          <a:noFill/>
        </p:spPr>
        <p:txBody>
          <a:bodyPr wrap="square" lIns="45720" tIns="18288" rIns="45720" bIns="18288" anchor="t">
            <a:spAutoFit/>
          </a:bodyPr>
          <a:lstStyle/>
          <a:p>
            <a:pPr algn="l"/>
            <a:r>
              <a:rPr sz="2800" b="1">
                <a:solidFill>
                  <a:srgbClr val="14283A"/>
                </a:solidFill>
                <a:latin typeface="Georgia"/>
              </a:rPr>
              <a:t>Engenharia de Produção: achar defeitos na linha</a:t>
            </a:r>
          </a:p>
        </p:txBody>
      </p:sp>
      <p:sp>
        <p:nvSpPr>
          <p:cNvPr id="5" name="TextBox 4"/>
          <p:cNvSpPr txBox="1"/>
          <p:nvPr/>
        </p:nvSpPr>
        <p:spPr>
          <a:xfrm>
            <a:off x="621792" y="1280160"/>
            <a:ext cx="10972800" cy="365760"/>
          </a:xfrm>
          <a:prstGeom prst="rect">
            <a:avLst/>
          </a:prstGeom>
          <a:noFill/>
        </p:spPr>
        <p:txBody>
          <a:bodyPr wrap="square" lIns="45720" tIns="18288" rIns="45720" bIns="18288" anchor="t">
            <a:spAutoFit/>
          </a:bodyPr>
          <a:lstStyle/>
          <a:p>
            <a:pPr algn="l"/>
            <a:r>
              <a:rPr sz="1600" b="0">
                <a:solidFill>
                  <a:srgbClr val="5F6F78"/>
                </a:solidFill>
                <a:latin typeface="Arial"/>
              </a:rPr>
              <a:t>Os parâmetros do processo avisam quais peças têm risco de defeito.</a:t>
            </a:r>
          </a:p>
        </p:txBody>
      </p:sp>
      <p:sp>
        <p:nvSpPr>
          <p:cNvPr id="6" name="Rectangle 5"/>
          <p:cNvSpPr/>
          <p:nvPr/>
        </p:nvSpPr>
        <p:spPr>
          <a:xfrm>
            <a:off x="640080" y="1783080"/>
            <a:ext cx="6675120"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_producao.png"/>
          <p:cNvPicPr>
            <a:picLocks noChangeAspect="1"/>
          </p:cNvPicPr>
          <p:nvPr/>
        </p:nvPicPr>
        <p:blipFill>
          <a:blip r:embed="rId2"/>
          <a:stretch>
            <a:fillRect/>
          </a:stretch>
        </p:blipFill>
        <p:spPr>
          <a:xfrm>
            <a:off x="640080" y="1783080"/>
            <a:ext cx="6675120" cy="3520440"/>
          </a:xfrm>
          <a:prstGeom prst="rect">
            <a:avLst/>
          </a:prstGeom>
        </p:spPr>
      </p:pic>
      <p:sp>
        <p:nvSpPr>
          <p:cNvPr id="8" name="TextBox 7"/>
          <p:cNvSpPr txBox="1"/>
          <p:nvPr/>
        </p:nvSpPr>
        <p:spPr>
          <a:xfrm>
            <a:off x="640080" y="5321808"/>
            <a:ext cx="6675120" cy="228600"/>
          </a:xfrm>
          <a:prstGeom prst="rect">
            <a:avLst/>
          </a:prstGeom>
          <a:noFill/>
        </p:spPr>
        <p:txBody>
          <a:bodyPr wrap="square" lIns="45720" tIns="18288" rIns="45720" bIns="18288" anchor="t">
            <a:spAutoFit/>
          </a:bodyPr>
          <a:lstStyle/>
          <a:p>
            <a:pPr algn="l"/>
            <a:r>
              <a:rPr sz="900" b="0">
                <a:solidFill>
                  <a:srgbClr val="5F6F78"/>
                </a:solidFill>
                <a:latin typeface="Arial"/>
              </a:rPr>
              <a:t>Dados simulados, para fins didáticos.</a:t>
            </a:r>
          </a:p>
        </p:txBody>
      </p:sp>
      <p:sp>
        <p:nvSpPr>
          <p:cNvPr id="9" name="Rounded Rectangle 8"/>
          <p:cNvSpPr/>
          <p:nvPr/>
        </p:nvSpPr>
        <p:spPr>
          <a:xfrm>
            <a:off x="7589520" y="178308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589520" y="178308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18120" y="183794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DADOS</a:t>
            </a:r>
          </a:p>
        </p:txBody>
      </p:sp>
      <p:sp>
        <p:nvSpPr>
          <p:cNvPr id="12" name="TextBox 11"/>
          <p:cNvSpPr txBox="1"/>
          <p:nvPr/>
        </p:nvSpPr>
        <p:spPr>
          <a:xfrm>
            <a:off x="7818120" y="2203704"/>
            <a:ext cx="3611880" cy="640080"/>
          </a:xfrm>
          <a:prstGeom prst="rect">
            <a:avLst/>
          </a:prstGeom>
          <a:noFill/>
        </p:spPr>
        <p:txBody>
          <a:bodyPr wrap="square" lIns="45720" tIns="18288" rIns="45720" bIns="18288" anchor="t">
            <a:spAutoFit/>
          </a:bodyPr>
          <a:lstStyle/>
          <a:p>
            <a:pPr algn="l"/>
            <a:r>
              <a:rPr sz="1250" b="0">
                <a:solidFill>
                  <a:srgbClr val="14283A"/>
                </a:solidFill>
                <a:latin typeface="Arial"/>
              </a:rPr>
              <a:t>Temperatura, pressão, velocidade, umidade e desgaste da ferramenta.</a:t>
            </a:r>
          </a:p>
        </p:txBody>
      </p:sp>
      <p:sp>
        <p:nvSpPr>
          <p:cNvPr id="13" name="Rounded Rectangle 12"/>
          <p:cNvSpPr/>
          <p:nvPr/>
        </p:nvSpPr>
        <p:spPr>
          <a:xfrm>
            <a:off x="7589520" y="297180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589520" y="2971800"/>
            <a:ext cx="82296" cy="1097280"/>
          </a:xfrm>
          <a:prstGeom prst="rect">
            <a:avLst/>
          </a:prstGeom>
          <a:solidFill>
            <a:srgbClr val="E09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18120" y="3026664"/>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IA</a:t>
            </a:r>
          </a:p>
        </p:txBody>
      </p:sp>
      <p:sp>
        <p:nvSpPr>
          <p:cNvPr id="16" name="TextBox 15"/>
          <p:cNvSpPr txBox="1"/>
          <p:nvPr/>
        </p:nvSpPr>
        <p:spPr>
          <a:xfrm>
            <a:off x="7818120" y="3392424"/>
            <a:ext cx="3611880" cy="640080"/>
          </a:xfrm>
          <a:prstGeom prst="rect">
            <a:avLst/>
          </a:prstGeom>
          <a:noFill/>
        </p:spPr>
        <p:txBody>
          <a:bodyPr wrap="square" lIns="45720" tIns="18288" rIns="45720" bIns="18288" anchor="t">
            <a:spAutoFit/>
          </a:bodyPr>
          <a:lstStyle/>
          <a:p>
            <a:pPr algn="l"/>
            <a:r>
              <a:rPr sz="1250" b="0">
                <a:solidFill>
                  <a:srgbClr val="14283A"/>
                </a:solidFill>
                <a:latin typeface="Arial"/>
              </a:rPr>
              <a:t>Classificação com classes raras (árvore e Random Forest).</a:t>
            </a:r>
          </a:p>
        </p:txBody>
      </p:sp>
      <p:sp>
        <p:nvSpPr>
          <p:cNvPr id="17" name="Rounded Rectangle 16"/>
          <p:cNvSpPr/>
          <p:nvPr/>
        </p:nvSpPr>
        <p:spPr>
          <a:xfrm>
            <a:off x="7589520" y="416052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89520" y="416052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421538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DECISÃO</a:t>
            </a:r>
          </a:p>
        </p:txBody>
      </p:sp>
      <p:sp>
        <p:nvSpPr>
          <p:cNvPr id="20" name="TextBox 19"/>
          <p:cNvSpPr txBox="1"/>
          <p:nvPr/>
        </p:nvSpPr>
        <p:spPr>
          <a:xfrm>
            <a:off x="7818120" y="4581144"/>
            <a:ext cx="3611880" cy="640080"/>
          </a:xfrm>
          <a:prstGeom prst="rect">
            <a:avLst/>
          </a:prstGeom>
          <a:noFill/>
        </p:spPr>
        <p:txBody>
          <a:bodyPr wrap="square" lIns="45720" tIns="18288" rIns="45720" bIns="18288" anchor="t">
            <a:spAutoFit/>
          </a:bodyPr>
          <a:lstStyle/>
          <a:p>
            <a:pPr algn="l"/>
            <a:r>
              <a:rPr sz="1250" b="0">
                <a:solidFill>
                  <a:srgbClr val="14283A"/>
                </a:solidFill>
                <a:latin typeface="Arial"/>
              </a:rPr>
              <a:t>Menos refugo e retrabalho; inspeção focada nas peças de risco.</a:t>
            </a:r>
          </a:p>
        </p:txBody>
      </p:sp>
      <p:sp>
        <p:nvSpPr>
          <p:cNvPr id="21" name="TextBox 20"/>
          <p:cNvSpPr txBox="1"/>
          <p:nvPr/>
        </p:nvSpPr>
        <p:spPr>
          <a:xfrm>
            <a:off x="621792" y="5760720"/>
            <a:ext cx="10972800" cy="365760"/>
          </a:xfrm>
          <a:prstGeom prst="rect">
            <a:avLst/>
          </a:prstGeom>
          <a:noFill/>
        </p:spPr>
        <p:txBody>
          <a:bodyPr wrap="square" lIns="45720" tIns="18288" rIns="45720" bIns="18288" anchor="t">
            <a:spAutoFit/>
          </a:bodyPr>
          <a:lstStyle/>
          <a:p>
            <a:pPr algn="l"/>
            <a:r>
              <a:rPr sz="1400" b="1">
                <a:solidFill>
                  <a:srgbClr val="14283A"/>
                </a:solidFill>
                <a:latin typeface="Arial"/>
              </a:rPr>
              <a:t>Bloco 2 do curso · Classificação e métricas</a:t>
            </a:r>
          </a:p>
        </p:txBody>
      </p:sp>
      <p:sp>
        <p:nvSpPr>
          <p:cNvPr id="23" name="TextBox 22"/>
          <p:cNvSpPr txBox="1"/>
          <p:nvPr/>
        </p:nvSpPr>
        <p:spPr>
          <a:xfrm>
            <a:off x="10972800" y="6355080"/>
            <a:ext cx="594360" cy="274320"/>
          </a:xfrm>
          <a:prstGeom prst="rect">
            <a:avLst/>
          </a:prstGeom>
          <a:noFill/>
        </p:spPr>
        <p:txBody>
          <a:bodyPr wrap="square" lIns="45720" tIns="18288" rIns="45720" bIns="18288" anchor="t">
            <a:spAutoFit/>
          </a:bodyPr>
          <a:lstStyle/>
          <a:p>
            <a:pPr algn="r"/>
            <a:r>
              <a:rPr sz="1000" b="1">
                <a:solidFill>
                  <a:srgbClr val="5F6F78"/>
                </a:solidFill>
                <a:latin typeface="Arial"/>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a:extLst>
            <a:ext uri="{FF2B5EF4-FFF2-40B4-BE49-F238E27FC236}">
              <a16:creationId xmlns:a16="http://schemas.microsoft.com/office/drawing/2014/main" id="{9EF44C9D-16CF-0DDC-1C35-3D7BF5CCABC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A880DAD-5985-E59A-7768-F0DD5B7D8C11}"/>
              </a:ext>
            </a:extLst>
          </p:cNvPr>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1114595-E309-F9DB-CE02-32306C267BDD}"/>
              </a:ext>
            </a:extLst>
          </p:cNvPr>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A IDEIA CENTRAL · O QUE VAMOS VER HOJE</a:t>
            </a:r>
          </a:p>
        </p:txBody>
      </p:sp>
      <p:sp>
        <p:nvSpPr>
          <p:cNvPr id="4" name="TextBox 3">
            <a:extLst>
              <a:ext uri="{FF2B5EF4-FFF2-40B4-BE49-F238E27FC236}">
                <a16:creationId xmlns:a16="http://schemas.microsoft.com/office/drawing/2014/main" id="{5225323C-31DB-5DA8-EBE8-FA580920897E}"/>
              </a:ext>
            </a:extLst>
          </p:cNvPr>
          <p:cNvSpPr txBox="1"/>
          <p:nvPr/>
        </p:nvSpPr>
        <p:spPr>
          <a:xfrm>
            <a:off x="530352" y="566928"/>
            <a:ext cx="11155680" cy="566928"/>
          </a:xfrm>
          <a:prstGeom prst="rect">
            <a:avLst/>
          </a:prstGeom>
          <a:noFill/>
        </p:spPr>
        <p:txBody>
          <a:bodyPr wrap="square">
            <a:spAutoFit/>
          </a:bodyPr>
          <a:lstStyle/>
          <a:p>
            <a:pPr>
              <a:spcAft>
                <a:spcPts val="700"/>
              </a:spcAft>
            </a:pPr>
            <a:r>
              <a:rPr lang="pt-BR" sz="2700" b="1" noProof="0" dirty="0">
                <a:solidFill>
                  <a:srgbClr val="142A38"/>
                </a:solidFill>
                <a:latin typeface="Georgia"/>
              </a:rPr>
              <a:t>Toda engenharia gera dados; a IA ajuda a decidir</a:t>
            </a:r>
          </a:p>
        </p:txBody>
      </p:sp>
      <p:sp>
        <p:nvSpPr>
          <p:cNvPr id="5" name="TextBox 4">
            <a:extLst>
              <a:ext uri="{FF2B5EF4-FFF2-40B4-BE49-F238E27FC236}">
                <a16:creationId xmlns:a16="http://schemas.microsoft.com/office/drawing/2014/main" id="{65484B6D-DCD6-C372-0396-8B8CC9D1FB6C}"/>
              </a:ext>
            </a:extLst>
          </p:cNvPr>
          <p:cNvSpPr txBox="1"/>
          <p:nvPr/>
        </p:nvSpPr>
        <p:spPr>
          <a:xfrm>
            <a:off x="0" y="1242245"/>
            <a:ext cx="11896344" cy="400110"/>
          </a:xfrm>
          <a:prstGeom prst="rect">
            <a:avLst/>
          </a:prstGeom>
          <a:noFill/>
        </p:spPr>
        <p:txBody>
          <a:bodyPr wrap="square">
            <a:spAutoFit/>
          </a:bodyPr>
          <a:lstStyle/>
          <a:p>
            <a:pPr lvl="1" algn="ctr">
              <a:spcAft>
                <a:spcPts val="700"/>
              </a:spcAft>
            </a:pPr>
            <a:r>
              <a:rPr lang="pt-BR" sz="2000" dirty="0">
                <a:solidFill>
                  <a:srgbClr val="637478"/>
                </a:solidFill>
                <a:latin typeface="Aptos"/>
              </a:rPr>
              <a:t>O dado muda, o método é o mesmo.</a:t>
            </a:r>
            <a:endParaRPr lang="pt-BR" sz="2000" b="0" noProof="0" dirty="0">
              <a:solidFill>
                <a:srgbClr val="637478"/>
              </a:solidFill>
              <a:latin typeface="Aptos"/>
            </a:endParaRPr>
          </a:p>
        </p:txBody>
      </p:sp>
      <p:sp>
        <p:nvSpPr>
          <p:cNvPr id="7" name="TextBox 6">
            <a:extLst>
              <a:ext uri="{FF2B5EF4-FFF2-40B4-BE49-F238E27FC236}">
                <a16:creationId xmlns:a16="http://schemas.microsoft.com/office/drawing/2014/main" id="{ADA840E9-BBDD-BFF1-846C-D4296AAA21C8}"/>
              </a:ext>
            </a:extLst>
          </p:cNvPr>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16</a:t>
            </a:r>
          </a:p>
        </p:txBody>
      </p:sp>
      <p:sp>
        <p:nvSpPr>
          <p:cNvPr id="8" name="Rounded Rectangle 7">
            <a:extLst>
              <a:ext uri="{FF2B5EF4-FFF2-40B4-BE49-F238E27FC236}">
                <a16:creationId xmlns:a16="http://schemas.microsoft.com/office/drawing/2014/main" id="{E3CD12CE-6B0E-AE60-B89C-A632C6FCA6A3}"/>
              </a:ext>
            </a:extLst>
          </p:cNvPr>
          <p:cNvSpPr/>
          <p:nvPr/>
        </p:nvSpPr>
        <p:spPr>
          <a:xfrm>
            <a:off x="594360" y="2141343"/>
            <a:ext cx="3584448" cy="169164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211A1B99-4D60-3CD7-3C22-F33B7F2DA007}"/>
              </a:ext>
            </a:extLst>
          </p:cNvPr>
          <p:cNvSpPr/>
          <p:nvPr/>
        </p:nvSpPr>
        <p:spPr>
          <a:xfrm>
            <a:off x="594360" y="2141343"/>
            <a:ext cx="73152" cy="169164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D4F58211-1B16-E4EA-2C2D-4146AFB96557}"/>
              </a:ext>
            </a:extLst>
          </p:cNvPr>
          <p:cNvSpPr txBox="1"/>
          <p:nvPr/>
        </p:nvSpPr>
        <p:spPr>
          <a:xfrm>
            <a:off x="795528" y="2305935"/>
            <a:ext cx="3200400" cy="384048"/>
          </a:xfrm>
          <a:prstGeom prst="rect">
            <a:avLst/>
          </a:prstGeom>
          <a:noFill/>
        </p:spPr>
        <p:txBody>
          <a:bodyPr wrap="square">
            <a:spAutoFit/>
          </a:bodyPr>
          <a:lstStyle/>
          <a:p>
            <a:pPr>
              <a:spcAft>
                <a:spcPts val="700"/>
              </a:spcAft>
            </a:pPr>
            <a:r>
              <a:rPr lang="pt-BR" sz="1700" b="1" noProof="0" dirty="0">
                <a:solidFill>
                  <a:srgbClr val="142A38"/>
                </a:solidFill>
                <a:latin typeface="Georgia"/>
              </a:rPr>
              <a:t>Engenharia Civil</a:t>
            </a:r>
          </a:p>
        </p:txBody>
      </p:sp>
      <p:sp>
        <p:nvSpPr>
          <p:cNvPr id="11" name="TextBox 10">
            <a:extLst>
              <a:ext uri="{FF2B5EF4-FFF2-40B4-BE49-F238E27FC236}">
                <a16:creationId xmlns:a16="http://schemas.microsoft.com/office/drawing/2014/main" id="{245BC39F-776E-BFBF-FC3F-A8D081E5DF0E}"/>
              </a:ext>
            </a:extLst>
          </p:cNvPr>
          <p:cNvSpPr txBox="1"/>
          <p:nvPr/>
        </p:nvSpPr>
        <p:spPr>
          <a:xfrm>
            <a:off x="690598" y="2718165"/>
            <a:ext cx="3488210" cy="828432"/>
          </a:xfrm>
          <a:prstGeom prst="rect">
            <a:avLst/>
          </a:prstGeom>
          <a:noFill/>
        </p:spPr>
        <p:txBody>
          <a:bodyPr wrap="square">
            <a:spAutoFit/>
          </a:bodyPr>
          <a:lstStyle/>
          <a:p>
            <a:pPr>
              <a:spcAft>
                <a:spcPts val="700"/>
              </a:spcAft>
            </a:pPr>
            <a:r>
              <a:rPr lang="pt-BR" sz="1400" b="1" dirty="0"/>
              <a:t>Exemplo: prever a resistência do concreto</a:t>
            </a:r>
          </a:p>
          <a:p>
            <a:pPr>
              <a:spcAft>
                <a:spcPts val="700"/>
              </a:spcAft>
            </a:pPr>
            <a:r>
              <a:rPr lang="pt-BR" sz="1400" dirty="0">
                <a:solidFill>
                  <a:srgbClr val="303E44"/>
                </a:solidFill>
                <a:latin typeface="Aptos"/>
              </a:rPr>
              <a:t>Traço e idade do concreto viram uma previsão de resistência (regressão).</a:t>
            </a:r>
            <a:endParaRPr lang="pt-BR" sz="1400" b="0" noProof="0" dirty="0">
              <a:solidFill>
                <a:srgbClr val="303E44"/>
              </a:solidFill>
              <a:latin typeface="Aptos"/>
            </a:endParaRPr>
          </a:p>
        </p:txBody>
      </p:sp>
      <p:sp>
        <p:nvSpPr>
          <p:cNvPr id="12" name="Rounded Rectangle 11">
            <a:extLst>
              <a:ext uri="{FF2B5EF4-FFF2-40B4-BE49-F238E27FC236}">
                <a16:creationId xmlns:a16="http://schemas.microsoft.com/office/drawing/2014/main" id="{9E28E759-B215-39FD-4440-3C7FC366F7FF}"/>
              </a:ext>
            </a:extLst>
          </p:cNvPr>
          <p:cNvSpPr/>
          <p:nvPr/>
        </p:nvSpPr>
        <p:spPr>
          <a:xfrm>
            <a:off x="4453128" y="2141343"/>
            <a:ext cx="3584448" cy="169164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22CC279C-0FDA-3E65-B08B-BBFBC56E2E63}"/>
              </a:ext>
            </a:extLst>
          </p:cNvPr>
          <p:cNvSpPr/>
          <p:nvPr/>
        </p:nvSpPr>
        <p:spPr>
          <a:xfrm>
            <a:off x="4453128" y="2141343"/>
            <a:ext cx="73152" cy="169164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BAC9CB12-887E-69AA-3A49-AB9675FFC330}"/>
              </a:ext>
            </a:extLst>
          </p:cNvPr>
          <p:cNvSpPr txBox="1"/>
          <p:nvPr/>
        </p:nvSpPr>
        <p:spPr>
          <a:xfrm>
            <a:off x="4654296" y="2305935"/>
            <a:ext cx="3200400" cy="384048"/>
          </a:xfrm>
          <a:prstGeom prst="rect">
            <a:avLst/>
          </a:prstGeom>
          <a:noFill/>
        </p:spPr>
        <p:txBody>
          <a:bodyPr wrap="square">
            <a:spAutoFit/>
          </a:bodyPr>
          <a:lstStyle/>
          <a:p>
            <a:pPr>
              <a:spcAft>
                <a:spcPts val="700"/>
              </a:spcAft>
            </a:pPr>
            <a:r>
              <a:rPr lang="pt-BR" sz="1700" b="1" noProof="0" dirty="0">
                <a:solidFill>
                  <a:srgbClr val="142A38"/>
                </a:solidFill>
                <a:latin typeface="Georgia"/>
              </a:rPr>
              <a:t>Engenharia de Produção</a:t>
            </a:r>
          </a:p>
        </p:txBody>
      </p:sp>
      <p:sp>
        <p:nvSpPr>
          <p:cNvPr id="15" name="TextBox 14">
            <a:extLst>
              <a:ext uri="{FF2B5EF4-FFF2-40B4-BE49-F238E27FC236}">
                <a16:creationId xmlns:a16="http://schemas.microsoft.com/office/drawing/2014/main" id="{84AF4E35-58FC-0544-B7AE-B4CB6552F885}"/>
              </a:ext>
            </a:extLst>
          </p:cNvPr>
          <p:cNvSpPr txBox="1"/>
          <p:nvPr/>
        </p:nvSpPr>
        <p:spPr>
          <a:xfrm>
            <a:off x="4654296" y="2763135"/>
            <a:ext cx="3383280" cy="1043876"/>
          </a:xfrm>
          <a:prstGeom prst="rect">
            <a:avLst/>
          </a:prstGeom>
          <a:noFill/>
        </p:spPr>
        <p:txBody>
          <a:bodyPr wrap="square">
            <a:spAutoFit/>
          </a:bodyPr>
          <a:lstStyle/>
          <a:p>
            <a:pPr>
              <a:spcAft>
                <a:spcPts val="700"/>
              </a:spcAft>
            </a:pPr>
            <a:r>
              <a:rPr lang="pt-BR" sz="1400" b="1" dirty="0">
                <a:solidFill>
                  <a:srgbClr val="303E44"/>
                </a:solidFill>
                <a:latin typeface="Aptos"/>
              </a:rPr>
              <a:t>Exemplo: achar defeitos na linha</a:t>
            </a:r>
          </a:p>
          <a:p>
            <a:pPr>
              <a:spcAft>
                <a:spcPts val="700"/>
              </a:spcAft>
            </a:pPr>
            <a:r>
              <a:rPr lang="pt-BR" sz="1400" dirty="0">
                <a:solidFill>
                  <a:srgbClr val="303E44"/>
                </a:solidFill>
                <a:latin typeface="Aptos"/>
              </a:rPr>
              <a:t>Parâmetros do processo viram um alerta de peça com risco de defeito (classificação).</a:t>
            </a:r>
            <a:endParaRPr lang="pt-BR" sz="1400" b="0" noProof="0" dirty="0">
              <a:solidFill>
                <a:srgbClr val="303E44"/>
              </a:solidFill>
              <a:latin typeface="Aptos"/>
            </a:endParaRPr>
          </a:p>
        </p:txBody>
      </p:sp>
      <p:sp>
        <p:nvSpPr>
          <p:cNvPr id="16" name="Rounded Rectangle 15">
            <a:extLst>
              <a:ext uri="{FF2B5EF4-FFF2-40B4-BE49-F238E27FC236}">
                <a16:creationId xmlns:a16="http://schemas.microsoft.com/office/drawing/2014/main" id="{23B1F261-1605-5766-1D79-8780B399367C}"/>
              </a:ext>
            </a:extLst>
          </p:cNvPr>
          <p:cNvSpPr/>
          <p:nvPr/>
        </p:nvSpPr>
        <p:spPr>
          <a:xfrm>
            <a:off x="8311896" y="2141343"/>
            <a:ext cx="3584448" cy="169164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F7B417E4-61CD-BD2B-ACEA-AC455FBD6BBA}"/>
              </a:ext>
            </a:extLst>
          </p:cNvPr>
          <p:cNvSpPr/>
          <p:nvPr/>
        </p:nvSpPr>
        <p:spPr>
          <a:xfrm>
            <a:off x="8311896" y="2141343"/>
            <a:ext cx="73152" cy="169164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468F5EA1-BF72-82EC-CA8F-5F22B1C7A460}"/>
              </a:ext>
            </a:extLst>
          </p:cNvPr>
          <p:cNvSpPr txBox="1"/>
          <p:nvPr/>
        </p:nvSpPr>
        <p:spPr>
          <a:xfrm>
            <a:off x="8513064" y="2305935"/>
            <a:ext cx="3200400" cy="384048"/>
          </a:xfrm>
          <a:prstGeom prst="rect">
            <a:avLst/>
          </a:prstGeom>
          <a:noFill/>
        </p:spPr>
        <p:txBody>
          <a:bodyPr wrap="square">
            <a:spAutoFit/>
          </a:bodyPr>
          <a:lstStyle/>
          <a:p>
            <a:pPr>
              <a:spcAft>
                <a:spcPts val="700"/>
              </a:spcAft>
            </a:pPr>
            <a:r>
              <a:rPr sz="1700" b="1">
                <a:solidFill>
                  <a:srgbClr val="142A38"/>
                </a:solidFill>
                <a:latin typeface="Georgia"/>
              </a:rPr>
              <a:t>Engenharia Elétrica</a:t>
            </a:r>
          </a:p>
        </p:txBody>
      </p:sp>
      <p:sp>
        <p:nvSpPr>
          <p:cNvPr id="19" name="TextBox 18">
            <a:extLst>
              <a:ext uri="{FF2B5EF4-FFF2-40B4-BE49-F238E27FC236}">
                <a16:creationId xmlns:a16="http://schemas.microsoft.com/office/drawing/2014/main" id="{8780E05C-334E-2002-22D3-D872AF001AD2}"/>
              </a:ext>
            </a:extLst>
          </p:cNvPr>
          <p:cNvSpPr txBox="1"/>
          <p:nvPr/>
        </p:nvSpPr>
        <p:spPr>
          <a:xfrm>
            <a:off x="8513064" y="2673195"/>
            <a:ext cx="3200400" cy="1043876"/>
          </a:xfrm>
          <a:prstGeom prst="rect">
            <a:avLst/>
          </a:prstGeom>
          <a:noFill/>
        </p:spPr>
        <p:txBody>
          <a:bodyPr wrap="square">
            <a:spAutoFit/>
          </a:bodyPr>
          <a:lstStyle/>
          <a:p>
            <a:pPr>
              <a:spcAft>
                <a:spcPts val="700"/>
              </a:spcAft>
            </a:pPr>
            <a:r>
              <a:rPr lang="pt-BR" sz="1400" b="1" dirty="0">
                <a:solidFill>
                  <a:srgbClr val="303E44"/>
                </a:solidFill>
                <a:latin typeface="Aptos"/>
              </a:rPr>
              <a:t>Exemplo: anomalias em motores</a:t>
            </a:r>
          </a:p>
          <a:p>
            <a:pPr>
              <a:spcAft>
                <a:spcPts val="700"/>
              </a:spcAft>
            </a:pPr>
            <a:r>
              <a:rPr lang="pt-BR" sz="1400" dirty="0">
                <a:solidFill>
                  <a:srgbClr val="303E44"/>
                </a:solidFill>
                <a:latin typeface="Aptos"/>
              </a:rPr>
              <a:t>Corrente e vibração revelam regimes de operação e falhas (agrupamento e detecção de anomalias).</a:t>
            </a:r>
            <a:endParaRPr lang="pt-BR" sz="1400" b="0" noProof="0" dirty="0">
              <a:solidFill>
                <a:srgbClr val="303E44"/>
              </a:solidFill>
              <a:latin typeface="Aptos"/>
            </a:endParaRPr>
          </a:p>
        </p:txBody>
      </p:sp>
      <p:sp>
        <p:nvSpPr>
          <p:cNvPr id="20" name="Rounded Rectangle 19">
            <a:extLst>
              <a:ext uri="{FF2B5EF4-FFF2-40B4-BE49-F238E27FC236}">
                <a16:creationId xmlns:a16="http://schemas.microsoft.com/office/drawing/2014/main" id="{08B6BDC1-34E8-DA38-0437-04BC46D215EA}"/>
              </a:ext>
            </a:extLst>
          </p:cNvPr>
          <p:cNvSpPr/>
          <p:nvPr/>
        </p:nvSpPr>
        <p:spPr>
          <a:xfrm>
            <a:off x="594360" y="4107303"/>
            <a:ext cx="3584448" cy="1960488"/>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53EA83E8-0600-92E4-1230-83F4CD98C9EF}"/>
              </a:ext>
            </a:extLst>
          </p:cNvPr>
          <p:cNvSpPr/>
          <p:nvPr/>
        </p:nvSpPr>
        <p:spPr>
          <a:xfrm>
            <a:off x="594360" y="4272193"/>
            <a:ext cx="73152" cy="169164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1591CD9B-F267-0468-8AB4-86A4C0491974}"/>
              </a:ext>
            </a:extLst>
          </p:cNvPr>
          <p:cNvSpPr txBox="1"/>
          <p:nvPr/>
        </p:nvSpPr>
        <p:spPr>
          <a:xfrm>
            <a:off x="667512" y="4268470"/>
            <a:ext cx="3200400" cy="353943"/>
          </a:xfrm>
          <a:prstGeom prst="rect">
            <a:avLst/>
          </a:prstGeom>
          <a:noFill/>
        </p:spPr>
        <p:txBody>
          <a:bodyPr wrap="square">
            <a:spAutoFit/>
          </a:bodyPr>
          <a:lstStyle/>
          <a:p>
            <a:pPr>
              <a:spcAft>
                <a:spcPts val="700"/>
              </a:spcAft>
            </a:pPr>
            <a:r>
              <a:rPr lang="pt-BR" sz="1700" b="1" dirty="0">
                <a:solidFill>
                  <a:srgbClr val="142A38"/>
                </a:solidFill>
                <a:latin typeface="Georgia"/>
              </a:rPr>
              <a:t>Engenharia Mecânica</a:t>
            </a:r>
            <a:endParaRPr sz="1700" b="1" dirty="0">
              <a:solidFill>
                <a:srgbClr val="142A38"/>
              </a:solidFill>
              <a:latin typeface="Georgia"/>
            </a:endParaRPr>
          </a:p>
        </p:txBody>
      </p:sp>
      <p:sp>
        <p:nvSpPr>
          <p:cNvPr id="23" name="TextBox 22">
            <a:extLst>
              <a:ext uri="{FF2B5EF4-FFF2-40B4-BE49-F238E27FC236}">
                <a16:creationId xmlns:a16="http://schemas.microsoft.com/office/drawing/2014/main" id="{5B9CECD8-D121-5093-4498-905C7D959813}"/>
              </a:ext>
            </a:extLst>
          </p:cNvPr>
          <p:cNvSpPr txBox="1"/>
          <p:nvPr/>
        </p:nvSpPr>
        <p:spPr>
          <a:xfrm>
            <a:off x="704088" y="4783580"/>
            <a:ext cx="3383280" cy="828432"/>
          </a:xfrm>
          <a:prstGeom prst="rect">
            <a:avLst/>
          </a:prstGeom>
          <a:noFill/>
        </p:spPr>
        <p:txBody>
          <a:bodyPr wrap="square">
            <a:spAutoFit/>
          </a:bodyPr>
          <a:lstStyle/>
          <a:p>
            <a:pPr algn="just">
              <a:spcAft>
                <a:spcPts val="700"/>
              </a:spcAft>
            </a:pPr>
            <a:r>
              <a:rPr lang="pt-BR" sz="1400" b="1" dirty="0">
                <a:solidFill>
                  <a:srgbClr val="303E44"/>
                </a:solidFill>
                <a:latin typeface="Aptos"/>
              </a:rPr>
              <a:t>Exemplo: diagnosticar rolamentos</a:t>
            </a:r>
          </a:p>
          <a:p>
            <a:pPr algn="just">
              <a:spcAft>
                <a:spcPts val="700"/>
              </a:spcAft>
            </a:pPr>
            <a:r>
              <a:rPr lang="pt-BR" sz="1400" dirty="0">
                <a:solidFill>
                  <a:srgbClr val="303E44"/>
                </a:solidFill>
                <a:latin typeface="Aptos"/>
              </a:rPr>
              <a:t>A vibração vira diagnóstico da falha (PCA e SVM).</a:t>
            </a:r>
            <a:endParaRPr lang="pt-BR" sz="1400" b="0" noProof="0" dirty="0">
              <a:solidFill>
                <a:srgbClr val="303E44"/>
              </a:solidFill>
              <a:latin typeface="Aptos"/>
            </a:endParaRPr>
          </a:p>
        </p:txBody>
      </p:sp>
      <p:sp>
        <p:nvSpPr>
          <p:cNvPr id="24" name="Rounded Rectangle 23">
            <a:extLst>
              <a:ext uri="{FF2B5EF4-FFF2-40B4-BE49-F238E27FC236}">
                <a16:creationId xmlns:a16="http://schemas.microsoft.com/office/drawing/2014/main" id="{7CE8BA40-6961-EE21-57E5-5B0A4D197FD7}"/>
              </a:ext>
            </a:extLst>
          </p:cNvPr>
          <p:cNvSpPr/>
          <p:nvPr/>
        </p:nvSpPr>
        <p:spPr>
          <a:xfrm>
            <a:off x="4453128" y="4107302"/>
            <a:ext cx="3584448" cy="1960488"/>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a:extLst>
              <a:ext uri="{FF2B5EF4-FFF2-40B4-BE49-F238E27FC236}">
                <a16:creationId xmlns:a16="http://schemas.microsoft.com/office/drawing/2014/main" id="{C5B3DB8A-C94E-A2E4-9A3C-7EA31C44EF97}"/>
              </a:ext>
            </a:extLst>
          </p:cNvPr>
          <p:cNvSpPr/>
          <p:nvPr/>
        </p:nvSpPr>
        <p:spPr>
          <a:xfrm>
            <a:off x="4453128" y="4272193"/>
            <a:ext cx="73152" cy="169164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ADB78E63-B383-8C56-8657-83589ADCC123}"/>
              </a:ext>
            </a:extLst>
          </p:cNvPr>
          <p:cNvSpPr txBox="1"/>
          <p:nvPr/>
        </p:nvSpPr>
        <p:spPr>
          <a:xfrm>
            <a:off x="4654296" y="4271894"/>
            <a:ext cx="3200400" cy="384048"/>
          </a:xfrm>
          <a:prstGeom prst="rect">
            <a:avLst/>
          </a:prstGeom>
          <a:noFill/>
        </p:spPr>
        <p:txBody>
          <a:bodyPr wrap="square">
            <a:spAutoFit/>
          </a:bodyPr>
          <a:lstStyle/>
          <a:p>
            <a:pPr>
              <a:spcAft>
                <a:spcPts val="700"/>
              </a:spcAft>
            </a:pPr>
            <a:r>
              <a:rPr lang="pt-BR" sz="1700" b="1" noProof="0" dirty="0">
                <a:solidFill>
                  <a:srgbClr val="142A38"/>
                </a:solidFill>
                <a:latin typeface="Georgia"/>
              </a:rPr>
              <a:t>Engenharia Química</a:t>
            </a:r>
          </a:p>
        </p:txBody>
      </p:sp>
      <p:sp>
        <p:nvSpPr>
          <p:cNvPr id="27" name="TextBox 26">
            <a:extLst>
              <a:ext uri="{FF2B5EF4-FFF2-40B4-BE49-F238E27FC236}">
                <a16:creationId xmlns:a16="http://schemas.microsoft.com/office/drawing/2014/main" id="{F65B8E6E-EE91-B3F6-45C9-D4C3946D9550}"/>
              </a:ext>
            </a:extLst>
          </p:cNvPr>
          <p:cNvSpPr txBox="1"/>
          <p:nvPr/>
        </p:nvSpPr>
        <p:spPr>
          <a:xfrm>
            <a:off x="4654295" y="4729095"/>
            <a:ext cx="3292275" cy="1259319"/>
          </a:xfrm>
          <a:prstGeom prst="rect">
            <a:avLst/>
          </a:prstGeom>
          <a:noFill/>
        </p:spPr>
        <p:txBody>
          <a:bodyPr wrap="square">
            <a:spAutoFit/>
          </a:bodyPr>
          <a:lstStyle/>
          <a:p>
            <a:pPr>
              <a:spcAft>
                <a:spcPts val="700"/>
              </a:spcAft>
            </a:pPr>
            <a:r>
              <a:rPr lang="pt-BR" sz="1400" b="1" dirty="0">
                <a:solidFill>
                  <a:srgbClr val="303E44"/>
                </a:solidFill>
                <a:latin typeface="Aptos"/>
              </a:rPr>
              <a:t>Exemplo: sensor virtual de espectros de infravermelho (NIR)</a:t>
            </a:r>
          </a:p>
          <a:p>
            <a:pPr>
              <a:spcAft>
                <a:spcPts val="700"/>
              </a:spcAft>
            </a:pPr>
            <a:r>
              <a:rPr lang="pt-BR" sz="1400" dirty="0">
                <a:solidFill>
                  <a:srgbClr val="303E44"/>
                </a:solidFill>
                <a:latin typeface="Aptos"/>
              </a:rPr>
              <a:t>A luz absorvida pela amostra vira concentração em segundos (PCA e regressão).</a:t>
            </a:r>
            <a:endParaRPr lang="pt-BR" sz="1400" b="0" noProof="0" dirty="0">
              <a:solidFill>
                <a:srgbClr val="303E44"/>
              </a:solidFill>
              <a:latin typeface="Aptos"/>
            </a:endParaRPr>
          </a:p>
        </p:txBody>
      </p:sp>
      <p:sp>
        <p:nvSpPr>
          <p:cNvPr id="32" name="Retângulo 31">
            <a:extLst>
              <a:ext uri="{FF2B5EF4-FFF2-40B4-BE49-F238E27FC236}">
                <a16:creationId xmlns:a16="http://schemas.microsoft.com/office/drawing/2014/main" id="{F256634E-9EE7-3620-30AA-F8CC01BF9CF4}"/>
              </a:ext>
            </a:extLst>
          </p:cNvPr>
          <p:cNvSpPr/>
          <p:nvPr/>
        </p:nvSpPr>
        <p:spPr>
          <a:xfrm>
            <a:off x="8250948" y="2094236"/>
            <a:ext cx="3807714" cy="1782928"/>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pt-BR"/>
          </a:p>
        </p:txBody>
      </p:sp>
    </p:spTree>
    <p:extLst>
      <p:ext uri="{BB962C8B-B14F-4D97-AF65-F5344CB8AC3E}">
        <p14:creationId xmlns:p14="http://schemas.microsoft.com/office/powerpoint/2010/main" val="915331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292608"/>
            <a:ext cx="8229600" cy="274320"/>
          </a:xfrm>
          <a:prstGeom prst="rect">
            <a:avLst/>
          </a:prstGeom>
          <a:noFill/>
        </p:spPr>
        <p:txBody>
          <a:bodyPr wrap="square" lIns="45720" tIns="18288" rIns="45720" bIns="18288" anchor="t">
            <a:spAutoFit/>
          </a:bodyPr>
          <a:lstStyle/>
          <a:p>
            <a:pPr algn="l"/>
            <a:r>
              <a:rPr sz="1100" b="1">
                <a:solidFill>
                  <a:srgbClr val="007A78"/>
                </a:solidFill>
                <a:latin typeface="Arial"/>
              </a:rPr>
              <a:t>IA NAS ENGENHARIAS · BLOCO 3 · ELÉTRICA</a:t>
            </a:r>
          </a:p>
        </p:txBody>
      </p:sp>
      <p:sp>
        <p:nvSpPr>
          <p:cNvPr id="4" name="TextBox 3"/>
          <p:cNvSpPr txBox="1"/>
          <p:nvPr/>
        </p:nvSpPr>
        <p:spPr>
          <a:xfrm>
            <a:off x="621792" y="603504"/>
            <a:ext cx="11155680" cy="640080"/>
          </a:xfrm>
          <a:prstGeom prst="rect">
            <a:avLst/>
          </a:prstGeom>
          <a:noFill/>
        </p:spPr>
        <p:txBody>
          <a:bodyPr wrap="square" lIns="45720" tIns="18288" rIns="45720" bIns="18288" anchor="t">
            <a:spAutoFit/>
          </a:bodyPr>
          <a:lstStyle/>
          <a:p>
            <a:pPr algn="l"/>
            <a:r>
              <a:rPr sz="2800" b="1">
                <a:solidFill>
                  <a:srgbClr val="14283A"/>
                </a:solidFill>
                <a:latin typeface="Georgia"/>
              </a:rPr>
              <a:t>Engenharia Elétrica: detectar anomalias em motores</a:t>
            </a:r>
          </a:p>
        </p:txBody>
      </p:sp>
      <p:sp>
        <p:nvSpPr>
          <p:cNvPr id="5" name="TextBox 4"/>
          <p:cNvSpPr txBox="1"/>
          <p:nvPr/>
        </p:nvSpPr>
        <p:spPr>
          <a:xfrm>
            <a:off x="621792" y="1280160"/>
            <a:ext cx="10972800" cy="365760"/>
          </a:xfrm>
          <a:prstGeom prst="rect">
            <a:avLst/>
          </a:prstGeom>
          <a:noFill/>
        </p:spPr>
        <p:txBody>
          <a:bodyPr wrap="square" lIns="45720" tIns="18288" rIns="45720" bIns="18288" anchor="t">
            <a:spAutoFit/>
          </a:bodyPr>
          <a:lstStyle/>
          <a:p>
            <a:pPr algn="l"/>
            <a:r>
              <a:rPr sz="1600" b="0">
                <a:solidFill>
                  <a:srgbClr val="5F6F78"/>
                </a:solidFill>
                <a:latin typeface="Arial"/>
              </a:rPr>
              <a:t>Sem rótulos, o modelo descobre regimes e sinaliza o que foge do padrão.</a:t>
            </a:r>
          </a:p>
        </p:txBody>
      </p:sp>
      <p:sp>
        <p:nvSpPr>
          <p:cNvPr id="6" name="Rectangle 5"/>
          <p:cNvSpPr/>
          <p:nvPr/>
        </p:nvSpPr>
        <p:spPr>
          <a:xfrm>
            <a:off x="640080" y="1783080"/>
            <a:ext cx="6675120"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_eletrica.png"/>
          <p:cNvPicPr>
            <a:picLocks noChangeAspect="1"/>
          </p:cNvPicPr>
          <p:nvPr/>
        </p:nvPicPr>
        <p:blipFill>
          <a:blip r:embed="rId2"/>
          <a:stretch>
            <a:fillRect/>
          </a:stretch>
        </p:blipFill>
        <p:spPr>
          <a:xfrm>
            <a:off x="640080" y="1783080"/>
            <a:ext cx="6675120" cy="3520440"/>
          </a:xfrm>
          <a:prstGeom prst="rect">
            <a:avLst/>
          </a:prstGeom>
        </p:spPr>
      </p:pic>
      <p:sp>
        <p:nvSpPr>
          <p:cNvPr id="8" name="TextBox 7"/>
          <p:cNvSpPr txBox="1"/>
          <p:nvPr/>
        </p:nvSpPr>
        <p:spPr>
          <a:xfrm>
            <a:off x="640080" y="5321808"/>
            <a:ext cx="6675120" cy="228600"/>
          </a:xfrm>
          <a:prstGeom prst="rect">
            <a:avLst/>
          </a:prstGeom>
          <a:noFill/>
        </p:spPr>
        <p:txBody>
          <a:bodyPr wrap="square" lIns="45720" tIns="18288" rIns="45720" bIns="18288" anchor="t">
            <a:spAutoFit/>
          </a:bodyPr>
          <a:lstStyle/>
          <a:p>
            <a:pPr algn="l"/>
            <a:r>
              <a:rPr sz="900" b="0">
                <a:solidFill>
                  <a:srgbClr val="5F6F78"/>
                </a:solidFill>
                <a:latin typeface="Arial"/>
              </a:rPr>
              <a:t>Dados simulados, para fins didáticos.</a:t>
            </a:r>
          </a:p>
        </p:txBody>
      </p:sp>
      <p:sp>
        <p:nvSpPr>
          <p:cNvPr id="9" name="Rounded Rectangle 8"/>
          <p:cNvSpPr/>
          <p:nvPr/>
        </p:nvSpPr>
        <p:spPr>
          <a:xfrm>
            <a:off x="7589520" y="178308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589520" y="178308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18120" y="183794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DADOS</a:t>
            </a:r>
          </a:p>
        </p:txBody>
      </p:sp>
      <p:sp>
        <p:nvSpPr>
          <p:cNvPr id="12" name="TextBox 11"/>
          <p:cNvSpPr txBox="1"/>
          <p:nvPr/>
        </p:nvSpPr>
        <p:spPr>
          <a:xfrm>
            <a:off x="7818120" y="2203704"/>
            <a:ext cx="3611880" cy="640080"/>
          </a:xfrm>
          <a:prstGeom prst="rect">
            <a:avLst/>
          </a:prstGeom>
          <a:noFill/>
        </p:spPr>
        <p:txBody>
          <a:bodyPr wrap="square" lIns="45720" tIns="18288" rIns="45720" bIns="18288" anchor="t">
            <a:spAutoFit/>
          </a:bodyPr>
          <a:lstStyle/>
          <a:p>
            <a:pPr algn="l"/>
            <a:r>
              <a:rPr sz="1250" b="0">
                <a:solidFill>
                  <a:srgbClr val="14283A"/>
                </a:solidFill>
                <a:latin typeface="Arial"/>
              </a:rPr>
              <a:t>Corrente, rotação, vibração e temperatura.</a:t>
            </a:r>
          </a:p>
        </p:txBody>
      </p:sp>
      <p:sp>
        <p:nvSpPr>
          <p:cNvPr id="13" name="Rounded Rectangle 12"/>
          <p:cNvSpPr/>
          <p:nvPr/>
        </p:nvSpPr>
        <p:spPr>
          <a:xfrm>
            <a:off x="7589520" y="297180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589520" y="2971800"/>
            <a:ext cx="82296" cy="1097280"/>
          </a:xfrm>
          <a:prstGeom prst="rect">
            <a:avLst/>
          </a:prstGeom>
          <a:solidFill>
            <a:srgbClr val="E09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18120" y="3026664"/>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IA</a:t>
            </a:r>
          </a:p>
        </p:txBody>
      </p:sp>
      <p:sp>
        <p:nvSpPr>
          <p:cNvPr id="16" name="TextBox 15"/>
          <p:cNvSpPr txBox="1"/>
          <p:nvPr/>
        </p:nvSpPr>
        <p:spPr>
          <a:xfrm>
            <a:off x="7818120" y="3392424"/>
            <a:ext cx="3611880" cy="640080"/>
          </a:xfrm>
          <a:prstGeom prst="rect">
            <a:avLst/>
          </a:prstGeom>
          <a:noFill/>
        </p:spPr>
        <p:txBody>
          <a:bodyPr wrap="square" lIns="45720" tIns="18288" rIns="45720" bIns="18288" anchor="t">
            <a:spAutoFit/>
          </a:bodyPr>
          <a:lstStyle/>
          <a:p>
            <a:pPr algn="l"/>
            <a:r>
              <a:rPr sz="1250" b="0">
                <a:solidFill>
                  <a:srgbClr val="14283A"/>
                </a:solidFill>
                <a:latin typeface="Arial"/>
              </a:rPr>
              <a:t>Agrupamento (k-means) e Isolation Forest.</a:t>
            </a:r>
          </a:p>
        </p:txBody>
      </p:sp>
      <p:sp>
        <p:nvSpPr>
          <p:cNvPr id="17" name="Rounded Rectangle 16"/>
          <p:cNvSpPr/>
          <p:nvPr/>
        </p:nvSpPr>
        <p:spPr>
          <a:xfrm>
            <a:off x="7589520" y="416052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89520" y="416052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421538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DECISÃO</a:t>
            </a:r>
          </a:p>
        </p:txBody>
      </p:sp>
      <p:sp>
        <p:nvSpPr>
          <p:cNvPr id="20" name="TextBox 19"/>
          <p:cNvSpPr txBox="1"/>
          <p:nvPr/>
        </p:nvSpPr>
        <p:spPr>
          <a:xfrm>
            <a:off x="7818120" y="4581144"/>
            <a:ext cx="3611880" cy="640080"/>
          </a:xfrm>
          <a:prstGeom prst="rect">
            <a:avLst/>
          </a:prstGeom>
          <a:noFill/>
        </p:spPr>
        <p:txBody>
          <a:bodyPr wrap="square" lIns="45720" tIns="18288" rIns="45720" bIns="18288" anchor="t">
            <a:spAutoFit/>
          </a:bodyPr>
          <a:lstStyle/>
          <a:p>
            <a:pPr algn="l"/>
            <a:r>
              <a:rPr sz="1250" b="0">
                <a:solidFill>
                  <a:srgbClr val="14283A"/>
                </a:solidFill>
                <a:latin typeface="Arial"/>
              </a:rPr>
              <a:t>Alerta antes da falha e menos paradas não planejadas.</a:t>
            </a:r>
          </a:p>
        </p:txBody>
      </p:sp>
      <p:sp>
        <p:nvSpPr>
          <p:cNvPr id="21" name="TextBox 20"/>
          <p:cNvSpPr txBox="1"/>
          <p:nvPr/>
        </p:nvSpPr>
        <p:spPr>
          <a:xfrm>
            <a:off x="621792" y="5760720"/>
            <a:ext cx="10972800" cy="365760"/>
          </a:xfrm>
          <a:prstGeom prst="rect">
            <a:avLst/>
          </a:prstGeom>
          <a:noFill/>
        </p:spPr>
        <p:txBody>
          <a:bodyPr wrap="square" lIns="45720" tIns="18288" rIns="45720" bIns="18288" anchor="t">
            <a:spAutoFit/>
          </a:bodyPr>
          <a:lstStyle/>
          <a:p>
            <a:pPr algn="l"/>
            <a:r>
              <a:rPr sz="1400" b="1">
                <a:solidFill>
                  <a:srgbClr val="14283A"/>
                </a:solidFill>
                <a:latin typeface="Arial"/>
              </a:rPr>
              <a:t>Bloco 3 do curso · Aprendizado não supervisionado</a:t>
            </a:r>
          </a:p>
        </p:txBody>
      </p:sp>
      <p:sp>
        <p:nvSpPr>
          <p:cNvPr id="23" name="TextBox 22"/>
          <p:cNvSpPr txBox="1"/>
          <p:nvPr/>
        </p:nvSpPr>
        <p:spPr>
          <a:xfrm>
            <a:off x="10972800" y="6355080"/>
            <a:ext cx="594360" cy="274320"/>
          </a:xfrm>
          <a:prstGeom prst="rect">
            <a:avLst/>
          </a:prstGeom>
          <a:noFill/>
        </p:spPr>
        <p:txBody>
          <a:bodyPr wrap="square" lIns="45720" tIns="18288" rIns="45720" bIns="18288" anchor="t">
            <a:spAutoFit/>
          </a:bodyPr>
          <a:lstStyle/>
          <a:p>
            <a:pPr algn="r"/>
            <a:r>
              <a:rPr sz="1000" b="1">
                <a:solidFill>
                  <a:srgbClr val="5F6F78"/>
                </a:solidFill>
                <a:latin typeface="Arial"/>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a:extLst>
            <a:ext uri="{FF2B5EF4-FFF2-40B4-BE49-F238E27FC236}">
              <a16:creationId xmlns:a16="http://schemas.microsoft.com/office/drawing/2014/main" id="{D25D7FB0-CC28-64F8-4F11-5D9A46C066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43C3664-2E4E-7F61-00BC-1BB550DA8AD4}"/>
              </a:ext>
            </a:extLst>
          </p:cNvPr>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651E62F7-B779-B667-82C1-C962682473BA}"/>
              </a:ext>
            </a:extLst>
          </p:cNvPr>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A IDEIA CENTRAL · O QUE VAMOS VER HOJE</a:t>
            </a:r>
          </a:p>
        </p:txBody>
      </p:sp>
      <p:sp>
        <p:nvSpPr>
          <p:cNvPr id="4" name="TextBox 3">
            <a:extLst>
              <a:ext uri="{FF2B5EF4-FFF2-40B4-BE49-F238E27FC236}">
                <a16:creationId xmlns:a16="http://schemas.microsoft.com/office/drawing/2014/main" id="{72C37E69-ABCA-AEC1-867A-3CA0AE2EF442}"/>
              </a:ext>
            </a:extLst>
          </p:cNvPr>
          <p:cNvSpPr txBox="1"/>
          <p:nvPr/>
        </p:nvSpPr>
        <p:spPr>
          <a:xfrm>
            <a:off x="530352" y="566928"/>
            <a:ext cx="11155680" cy="566928"/>
          </a:xfrm>
          <a:prstGeom prst="rect">
            <a:avLst/>
          </a:prstGeom>
          <a:noFill/>
        </p:spPr>
        <p:txBody>
          <a:bodyPr wrap="square">
            <a:spAutoFit/>
          </a:bodyPr>
          <a:lstStyle/>
          <a:p>
            <a:pPr>
              <a:spcAft>
                <a:spcPts val="700"/>
              </a:spcAft>
            </a:pPr>
            <a:r>
              <a:rPr lang="pt-BR" sz="2700" b="1" noProof="0" dirty="0">
                <a:solidFill>
                  <a:srgbClr val="142A38"/>
                </a:solidFill>
                <a:latin typeface="Georgia"/>
              </a:rPr>
              <a:t>Toda engenharia gera dados; a IA ajuda a decidir</a:t>
            </a:r>
          </a:p>
        </p:txBody>
      </p:sp>
      <p:sp>
        <p:nvSpPr>
          <p:cNvPr id="5" name="TextBox 4">
            <a:extLst>
              <a:ext uri="{FF2B5EF4-FFF2-40B4-BE49-F238E27FC236}">
                <a16:creationId xmlns:a16="http://schemas.microsoft.com/office/drawing/2014/main" id="{64BD93BC-4E3C-AA14-E89E-5543F798D4CA}"/>
              </a:ext>
            </a:extLst>
          </p:cNvPr>
          <p:cNvSpPr txBox="1"/>
          <p:nvPr/>
        </p:nvSpPr>
        <p:spPr>
          <a:xfrm>
            <a:off x="0" y="1242245"/>
            <a:ext cx="11896344" cy="400110"/>
          </a:xfrm>
          <a:prstGeom prst="rect">
            <a:avLst/>
          </a:prstGeom>
          <a:noFill/>
        </p:spPr>
        <p:txBody>
          <a:bodyPr wrap="square">
            <a:spAutoFit/>
          </a:bodyPr>
          <a:lstStyle/>
          <a:p>
            <a:pPr lvl="1" algn="ctr">
              <a:spcAft>
                <a:spcPts val="700"/>
              </a:spcAft>
            </a:pPr>
            <a:r>
              <a:rPr lang="pt-BR" sz="2000" dirty="0">
                <a:solidFill>
                  <a:srgbClr val="637478"/>
                </a:solidFill>
                <a:latin typeface="Aptos"/>
              </a:rPr>
              <a:t>O dado muda, o método é o mesmo.</a:t>
            </a:r>
            <a:endParaRPr lang="pt-BR" sz="2000" b="0" noProof="0" dirty="0">
              <a:solidFill>
                <a:srgbClr val="637478"/>
              </a:solidFill>
              <a:latin typeface="Aptos"/>
            </a:endParaRPr>
          </a:p>
        </p:txBody>
      </p:sp>
      <p:sp>
        <p:nvSpPr>
          <p:cNvPr id="7" name="TextBox 6">
            <a:extLst>
              <a:ext uri="{FF2B5EF4-FFF2-40B4-BE49-F238E27FC236}">
                <a16:creationId xmlns:a16="http://schemas.microsoft.com/office/drawing/2014/main" id="{419716E2-8FC2-799A-8BB9-88C17D56D930}"/>
              </a:ext>
            </a:extLst>
          </p:cNvPr>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18</a:t>
            </a:r>
          </a:p>
        </p:txBody>
      </p:sp>
      <p:sp>
        <p:nvSpPr>
          <p:cNvPr id="8" name="Rounded Rectangle 7">
            <a:extLst>
              <a:ext uri="{FF2B5EF4-FFF2-40B4-BE49-F238E27FC236}">
                <a16:creationId xmlns:a16="http://schemas.microsoft.com/office/drawing/2014/main" id="{74EB2292-F3D8-4B85-4404-DA04CEA2003B}"/>
              </a:ext>
            </a:extLst>
          </p:cNvPr>
          <p:cNvSpPr/>
          <p:nvPr/>
        </p:nvSpPr>
        <p:spPr>
          <a:xfrm>
            <a:off x="594360" y="2141343"/>
            <a:ext cx="3584448" cy="169164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B0EF80DA-6A16-593D-A3CC-CE2BB35FC69D}"/>
              </a:ext>
            </a:extLst>
          </p:cNvPr>
          <p:cNvSpPr/>
          <p:nvPr/>
        </p:nvSpPr>
        <p:spPr>
          <a:xfrm>
            <a:off x="594360" y="2141343"/>
            <a:ext cx="73152" cy="169164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90D04D05-0F67-D551-FEF5-2EBFAD0FEE6C}"/>
              </a:ext>
            </a:extLst>
          </p:cNvPr>
          <p:cNvSpPr txBox="1"/>
          <p:nvPr/>
        </p:nvSpPr>
        <p:spPr>
          <a:xfrm>
            <a:off x="795528" y="2305935"/>
            <a:ext cx="3200400" cy="384048"/>
          </a:xfrm>
          <a:prstGeom prst="rect">
            <a:avLst/>
          </a:prstGeom>
          <a:noFill/>
        </p:spPr>
        <p:txBody>
          <a:bodyPr wrap="square">
            <a:spAutoFit/>
          </a:bodyPr>
          <a:lstStyle/>
          <a:p>
            <a:pPr>
              <a:spcAft>
                <a:spcPts val="700"/>
              </a:spcAft>
            </a:pPr>
            <a:r>
              <a:rPr lang="pt-BR" sz="1700" b="1" noProof="0" dirty="0">
                <a:solidFill>
                  <a:srgbClr val="142A38"/>
                </a:solidFill>
                <a:latin typeface="Georgia"/>
              </a:rPr>
              <a:t>Engenharia Civil</a:t>
            </a:r>
          </a:p>
        </p:txBody>
      </p:sp>
      <p:sp>
        <p:nvSpPr>
          <p:cNvPr id="11" name="TextBox 10">
            <a:extLst>
              <a:ext uri="{FF2B5EF4-FFF2-40B4-BE49-F238E27FC236}">
                <a16:creationId xmlns:a16="http://schemas.microsoft.com/office/drawing/2014/main" id="{2B07C29B-E9EA-19A7-562C-9515F886D232}"/>
              </a:ext>
            </a:extLst>
          </p:cNvPr>
          <p:cNvSpPr txBox="1"/>
          <p:nvPr/>
        </p:nvSpPr>
        <p:spPr>
          <a:xfrm>
            <a:off x="690598" y="2718165"/>
            <a:ext cx="3488210" cy="828432"/>
          </a:xfrm>
          <a:prstGeom prst="rect">
            <a:avLst/>
          </a:prstGeom>
          <a:noFill/>
        </p:spPr>
        <p:txBody>
          <a:bodyPr wrap="square">
            <a:spAutoFit/>
          </a:bodyPr>
          <a:lstStyle/>
          <a:p>
            <a:pPr>
              <a:spcAft>
                <a:spcPts val="700"/>
              </a:spcAft>
            </a:pPr>
            <a:r>
              <a:rPr lang="pt-BR" sz="1400" b="1" dirty="0"/>
              <a:t>Exemplo: prever a resistência do concreto</a:t>
            </a:r>
          </a:p>
          <a:p>
            <a:pPr>
              <a:spcAft>
                <a:spcPts val="700"/>
              </a:spcAft>
            </a:pPr>
            <a:r>
              <a:rPr lang="pt-BR" sz="1400" dirty="0">
                <a:solidFill>
                  <a:srgbClr val="303E44"/>
                </a:solidFill>
                <a:latin typeface="Aptos"/>
              </a:rPr>
              <a:t>Traço e idade do concreto viram uma previsão de resistência (regressão).</a:t>
            </a:r>
            <a:endParaRPr lang="pt-BR" sz="1400" b="0" noProof="0" dirty="0">
              <a:solidFill>
                <a:srgbClr val="303E44"/>
              </a:solidFill>
              <a:latin typeface="Aptos"/>
            </a:endParaRPr>
          </a:p>
        </p:txBody>
      </p:sp>
      <p:sp>
        <p:nvSpPr>
          <p:cNvPr id="12" name="Rounded Rectangle 11">
            <a:extLst>
              <a:ext uri="{FF2B5EF4-FFF2-40B4-BE49-F238E27FC236}">
                <a16:creationId xmlns:a16="http://schemas.microsoft.com/office/drawing/2014/main" id="{212872B4-D069-D68A-C7E9-D2910A763490}"/>
              </a:ext>
            </a:extLst>
          </p:cNvPr>
          <p:cNvSpPr/>
          <p:nvPr/>
        </p:nvSpPr>
        <p:spPr>
          <a:xfrm>
            <a:off x="4453128" y="2141343"/>
            <a:ext cx="3584448" cy="169164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18FE88FA-CA15-5DA2-6FBB-1DEEDFBA0F17}"/>
              </a:ext>
            </a:extLst>
          </p:cNvPr>
          <p:cNvSpPr/>
          <p:nvPr/>
        </p:nvSpPr>
        <p:spPr>
          <a:xfrm>
            <a:off x="4453128" y="2141343"/>
            <a:ext cx="73152" cy="169164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935366B7-F05B-0C50-11EE-B6C643D3E842}"/>
              </a:ext>
            </a:extLst>
          </p:cNvPr>
          <p:cNvSpPr txBox="1"/>
          <p:nvPr/>
        </p:nvSpPr>
        <p:spPr>
          <a:xfrm>
            <a:off x="4654296" y="2305935"/>
            <a:ext cx="3200400" cy="384048"/>
          </a:xfrm>
          <a:prstGeom prst="rect">
            <a:avLst/>
          </a:prstGeom>
          <a:noFill/>
        </p:spPr>
        <p:txBody>
          <a:bodyPr wrap="square">
            <a:spAutoFit/>
          </a:bodyPr>
          <a:lstStyle/>
          <a:p>
            <a:pPr>
              <a:spcAft>
                <a:spcPts val="700"/>
              </a:spcAft>
            </a:pPr>
            <a:r>
              <a:rPr lang="pt-BR" sz="1700" b="1" noProof="0" dirty="0">
                <a:solidFill>
                  <a:srgbClr val="142A38"/>
                </a:solidFill>
                <a:latin typeface="Georgia"/>
              </a:rPr>
              <a:t>Engenharia de Produção</a:t>
            </a:r>
          </a:p>
        </p:txBody>
      </p:sp>
      <p:sp>
        <p:nvSpPr>
          <p:cNvPr id="15" name="TextBox 14">
            <a:extLst>
              <a:ext uri="{FF2B5EF4-FFF2-40B4-BE49-F238E27FC236}">
                <a16:creationId xmlns:a16="http://schemas.microsoft.com/office/drawing/2014/main" id="{061BA365-F7E1-C821-5D5E-2D8C34166A63}"/>
              </a:ext>
            </a:extLst>
          </p:cNvPr>
          <p:cNvSpPr txBox="1"/>
          <p:nvPr/>
        </p:nvSpPr>
        <p:spPr>
          <a:xfrm>
            <a:off x="4654296" y="2763135"/>
            <a:ext cx="3383280" cy="1043876"/>
          </a:xfrm>
          <a:prstGeom prst="rect">
            <a:avLst/>
          </a:prstGeom>
          <a:noFill/>
        </p:spPr>
        <p:txBody>
          <a:bodyPr wrap="square">
            <a:spAutoFit/>
          </a:bodyPr>
          <a:lstStyle/>
          <a:p>
            <a:pPr>
              <a:spcAft>
                <a:spcPts val="700"/>
              </a:spcAft>
            </a:pPr>
            <a:r>
              <a:rPr lang="pt-BR" sz="1400" b="1" dirty="0">
                <a:solidFill>
                  <a:srgbClr val="303E44"/>
                </a:solidFill>
                <a:latin typeface="Aptos"/>
              </a:rPr>
              <a:t>Exemplo: achar defeitos na linha</a:t>
            </a:r>
          </a:p>
          <a:p>
            <a:pPr>
              <a:spcAft>
                <a:spcPts val="700"/>
              </a:spcAft>
            </a:pPr>
            <a:r>
              <a:rPr lang="pt-BR" sz="1400" dirty="0">
                <a:solidFill>
                  <a:srgbClr val="303E44"/>
                </a:solidFill>
                <a:latin typeface="Aptos"/>
              </a:rPr>
              <a:t>Parâmetros do processo viram um alerta de peça com risco de defeito (classificação).</a:t>
            </a:r>
            <a:endParaRPr lang="pt-BR" sz="1400" b="0" noProof="0" dirty="0">
              <a:solidFill>
                <a:srgbClr val="303E44"/>
              </a:solidFill>
              <a:latin typeface="Aptos"/>
            </a:endParaRPr>
          </a:p>
        </p:txBody>
      </p:sp>
      <p:sp>
        <p:nvSpPr>
          <p:cNvPr id="16" name="Rounded Rectangle 15">
            <a:extLst>
              <a:ext uri="{FF2B5EF4-FFF2-40B4-BE49-F238E27FC236}">
                <a16:creationId xmlns:a16="http://schemas.microsoft.com/office/drawing/2014/main" id="{94DD6B40-5C3F-F668-0B05-C246EEA9EC2B}"/>
              </a:ext>
            </a:extLst>
          </p:cNvPr>
          <p:cNvSpPr/>
          <p:nvPr/>
        </p:nvSpPr>
        <p:spPr>
          <a:xfrm>
            <a:off x="8311896" y="2141343"/>
            <a:ext cx="3584448" cy="169164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EB9D26EF-5E6E-98FE-46A8-E37532DC5CA4}"/>
              </a:ext>
            </a:extLst>
          </p:cNvPr>
          <p:cNvSpPr/>
          <p:nvPr/>
        </p:nvSpPr>
        <p:spPr>
          <a:xfrm>
            <a:off x="8311896" y="2141343"/>
            <a:ext cx="73152" cy="169164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12FF8F14-AD2A-8127-85FC-F9F0542E5E52}"/>
              </a:ext>
            </a:extLst>
          </p:cNvPr>
          <p:cNvSpPr txBox="1"/>
          <p:nvPr/>
        </p:nvSpPr>
        <p:spPr>
          <a:xfrm>
            <a:off x="8513064" y="2305935"/>
            <a:ext cx="3200400" cy="384048"/>
          </a:xfrm>
          <a:prstGeom prst="rect">
            <a:avLst/>
          </a:prstGeom>
          <a:noFill/>
        </p:spPr>
        <p:txBody>
          <a:bodyPr wrap="square">
            <a:spAutoFit/>
          </a:bodyPr>
          <a:lstStyle/>
          <a:p>
            <a:pPr>
              <a:spcAft>
                <a:spcPts val="700"/>
              </a:spcAft>
            </a:pPr>
            <a:r>
              <a:rPr sz="1700" b="1">
                <a:solidFill>
                  <a:srgbClr val="142A38"/>
                </a:solidFill>
                <a:latin typeface="Georgia"/>
              </a:rPr>
              <a:t>Engenharia Elétrica</a:t>
            </a:r>
          </a:p>
        </p:txBody>
      </p:sp>
      <p:sp>
        <p:nvSpPr>
          <p:cNvPr id="19" name="TextBox 18">
            <a:extLst>
              <a:ext uri="{FF2B5EF4-FFF2-40B4-BE49-F238E27FC236}">
                <a16:creationId xmlns:a16="http://schemas.microsoft.com/office/drawing/2014/main" id="{01B657C4-1390-7213-2B08-DD8973779CE9}"/>
              </a:ext>
            </a:extLst>
          </p:cNvPr>
          <p:cNvSpPr txBox="1"/>
          <p:nvPr/>
        </p:nvSpPr>
        <p:spPr>
          <a:xfrm>
            <a:off x="8513064" y="2673195"/>
            <a:ext cx="3200400" cy="1043876"/>
          </a:xfrm>
          <a:prstGeom prst="rect">
            <a:avLst/>
          </a:prstGeom>
          <a:noFill/>
        </p:spPr>
        <p:txBody>
          <a:bodyPr wrap="square">
            <a:spAutoFit/>
          </a:bodyPr>
          <a:lstStyle/>
          <a:p>
            <a:pPr>
              <a:spcAft>
                <a:spcPts val="700"/>
              </a:spcAft>
            </a:pPr>
            <a:r>
              <a:rPr lang="pt-BR" sz="1400" b="1" dirty="0">
                <a:solidFill>
                  <a:srgbClr val="303E44"/>
                </a:solidFill>
                <a:latin typeface="Aptos"/>
              </a:rPr>
              <a:t>Exemplo: anomalias em motores</a:t>
            </a:r>
          </a:p>
          <a:p>
            <a:pPr>
              <a:spcAft>
                <a:spcPts val="700"/>
              </a:spcAft>
            </a:pPr>
            <a:r>
              <a:rPr lang="pt-BR" sz="1400" dirty="0">
                <a:solidFill>
                  <a:srgbClr val="303E44"/>
                </a:solidFill>
                <a:latin typeface="Aptos"/>
              </a:rPr>
              <a:t>Corrente e vibração revelam regimes de operação e falhas (agrupamento e detecção de anomalias).</a:t>
            </a:r>
            <a:endParaRPr lang="pt-BR" sz="1400" b="0" noProof="0" dirty="0">
              <a:solidFill>
                <a:srgbClr val="303E44"/>
              </a:solidFill>
              <a:latin typeface="Aptos"/>
            </a:endParaRPr>
          </a:p>
        </p:txBody>
      </p:sp>
      <p:sp>
        <p:nvSpPr>
          <p:cNvPr id="20" name="Rounded Rectangle 19">
            <a:extLst>
              <a:ext uri="{FF2B5EF4-FFF2-40B4-BE49-F238E27FC236}">
                <a16:creationId xmlns:a16="http://schemas.microsoft.com/office/drawing/2014/main" id="{71F0F255-3E15-BC80-02B4-602E9987AC49}"/>
              </a:ext>
            </a:extLst>
          </p:cNvPr>
          <p:cNvSpPr/>
          <p:nvPr/>
        </p:nvSpPr>
        <p:spPr>
          <a:xfrm>
            <a:off x="594360" y="4107303"/>
            <a:ext cx="3584448" cy="1960488"/>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718F2D66-7CEC-001F-2EFF-2E01F75246FD}"/>
              </a:ext>
            </a:extLst>
          </p:cNvPr>
          <p:cNvSpPr/>
          <p:nvPr/>
        </p:nvSpPr>
        <p:spPr>
          <a:xfrm>
            <a:off x="594360" y="4272193"/>
            <a:ext cx="73152" cy="169164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401995F7-EB3D-B229-CCC7-9D9AA1A606E9}"/>
              </a:ext>
            </a:extLst>
          </p:cNvPr>
          <p:cNvSpPr txBox="1"/>
          <p:nvPr/>
        </p:nvSpPr>
        <p:spPr>
          <a:xfrm>
            <a:off x="667512" y="4268470"/>
            <a:ext cx="3200400" cy="353943"/>
          </a:xfrm>
          <a:prstGeom prst="rect">
            <a:avLst/>
          </a:prstGeom>
          <a:noFill/>
        </p:spPr>
        <p:txBody>
          <a:bodyPr wrap="square">
            <a:spAutoFit/>
          </a:bodyPr>
          <a:lstStyle/>
          <a:p>
            <a:pPr>
              <a:spcAft>
                <a:spcPts val="700"/>
              </a:spcAft>
            </a:pPr>
            <a:r>
              <a:rPr lang="pt-BR" sz="1700" b="1" dirty="0">
                <a:solidFill>
                  <a:srgbClr val="142A38"/>
                </a:solidFill>
                <a:latin typeface="Georgia"/>
              </a:rPr>
              <a:t>Engenharia Mecânica</a:t>
            </a:r>
            <a:endParaRPr sz="1700" b="1" dirty="0">
              <a:solidFill>
                <a:srgbClr val="142A38"/>
              </a:solidFill>
              <a:latin typeface="Georgia"/>
            </a:endParaRPr>
          </a:p>
        </p:txBody>
      </p:sp>
      <p:sp>
        <p:nvSpPr>
          <p:cNvPr id="23" name="TextBox 22">
            <a:extLst>
              <a:ext uri="{FF2B5EF4-FFF2-40B4-BE49-F238E27FC236}">
                <a16:creationId xmlns:a16="http://schemas.microsoft.com/office/drawing/2014/main" id="{8BBFE256-9602-FF8F-A708-51895E0215EB}"/>
              </a:ext>
            </a:extLst>
          </p:cNvPr>
          <p:cNvSpPr txBox="1"/>
          <p:nvPr/>
        </p:nvSpPr>
        <p:spPr>
          <a:xfrm>
            <a:off x="704088" y="4783580"/>
            <a:ext cx="3383280" cy="828432"/>
          </a:xfrm>
          <a:prstGeom prst="rect">
            <a:avLst/>
          </a:prstGeom>
          <a:noFill/>
        </p:spPr>
        <p:txBody>
          <a:bodyPr wrap="square">
            <a:spAutoFit/>
          </a:bodyPr>
          <a:lstStyle/>
          <a:p>
            <a:pPr algn="just">
              <a:spcAft>
                <a:spcPts val="700"/>
              </a:spcAft>
            </a:pPr>
            <a:r>
              <a:rPr lang="pt-BR" sz="1400" b="1" dirty="0">
                <a:solidFill>
                  <a:srgbClr val="303E44"/>
                </a:solidFill>
                <a:latin typeface="Aptos"/>
              </a:rPr>
              <a:t>Exemplo: diagnosticar rolamentos</a:t>
            </a:r>
          </a:p>
          <a:p>
            <a:pPr algn="just">
              <a:spcAft>
                <a:spcPts val="700"/>
              </a:spcAft>
            </a:pPr>
            <a:r>
              <a:rPr lang="pt-BR" sz="1400" dirty="0">
                <a:solidFill>
                  <a:srgbClr val="303E44"/>
                </a:solidFill>
                <a:latin typeface="Aptos"/>
              </a:rPr>
              <a:t>A vibração vira diagnóstico da falha (PCA e SVM).</a:t>
            </a:r>
            <a:endParaRPr lang="pt-BR" sz="1400" b="0" noProof="0" dirty="0">
              <a:solidFill>
                <a:srgbClr val="303E44"/>
              </a:solidFill>
              <a:latin typeface="Aptos"/>
            </a:endParaRPr>
          </a:p>
        </p:txBody>
      </p:sp>
      <p:sp>
        <p:nvSpPr>
          <p:cNvPr id="24" name="Rounded Rectangle 23">
            <a:extLst>
              <a:ext uri="{FF2B5EF4-FFF2-40B4-BE49-F238E27FC236}">
                <a16:creationId xmlns:a16="http://schemas.microsoft.com/office/drawing/2014/main" id="{B35FFFAB-E563-2A1A-0BCF-B97EA1B9ACAA}"/>
              </a:ext>
            </a:extLst>
          </p:cNvPr>
          <p:cNvSpPr/>
          <p:nvPr/>
        </p:nvSpPr>
        <p:spPr>
          <a:xfrm>
            <a:off x="4453128" y="4107302"/>
            <a:ext cx="3584448" cy="1960488"/>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a:extLst>
              <a:ext uri="{FF2B5EF4-FFF2-40B4-BE49-F238E27FC236}">
                <a16:creationId xmlns:a16="http://schemas.microsoft.com/office/drawing/2014/main" id="{7C2C607C-4299-5CC8-11D5-632877A920EB}"/>
              </a:ext>
            </a:extLst>
          </p:cNvPr>
          <p:cNvSpPr/>
          <p:nvPr/>
        </p:nvSpPr>
        <p:spPr>
          <a:xfrm>
            <a:off x="4453128" y="4272193"/>
            <a:ext cx="73152" cy="169164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CF403F50-AFB7-E270-4008-AB3EFBD5E7DA}"/>
              </a:ext>
            </a:extLst>
          </p:cNvPr>
          <p:cNvSpPr txBox="1"/>
          <p:nvPr/>
        </p:nvSpPr>
        <p:spPr>
          <a:xfrm>
            <a:off x="4654296" y="4271894"/>
            <a:ext cx="3200400" cy="384048"/>
          </a:xfrm>
          <a:prstGeom prst="rect">
            <a:avLst/>
          </a:prstGeom>
          <a:noFill/>
        </p:spPr>
        <p:txBody>
          <a:bodyPr wrap="square">
            <a:spAutoFit/>
          </a:bodyPr>
          <a:lstStyle/>
          <a:p>
            <a:pPr>
              <a:spcAft>
                <a:spcPts val="700"/>
              </a:spcAft>
            </a:pPr>
            <a:r>
              <a:rPr lang="pt-BR" sz="1700" b="1" noProof="0" dirty="0">
                <a:solidFill>
                  <a:srgbClr val="142A38"/>
                </a:solidFill>
                <a:latin typeface="Georgia"/>
              </a:rPr>
              <a:t>Engenharia Química</a:t>
            </a:r>
          </a:p>
        </p:txBody>
      </p:sp>
      <p:sp>
        <p:nvSpPr>
          <p:cNvPr id="27" name="TextBox 26">
            <a:extLst>
              <a:ext uri="{FF2B5EF4-FFF2-40B4-BE49-F238E27FC236}">
                <a16:creationId xmlns:a16="http://schemas.microsoft.com/office/drawing/2014/main" id="{72E39558-3FDB-7C85-F759-65A6F16AA6FE}"/>
              </a:ext>
            </a:extLst>
          </p:cNvPr>
          <p:cNvSpPr txBox="1"/>
          <p:nvPr/>
        </p:nvSpPr>
        <p:spPr>
          <a:xfrm>
            <a:off x="4654295" y="4729095"/>
            <a:ext cx="3292275" cy="1259319"/>
          </a:xfrm>
          <a:prstGeom prst="rect">
            <a:avLst/>
          </a:prstGeom>
          <a:noFill/>
        </p:spPr>
        <p:txBody>
          <a:bodyPr wrap="square">
            <a:spAutoFit/>
          </a:bodyPr>
          <a:lstStyle/>
          <a:p>
            <a:pPr>
              <a:spcAft>
                <a:spcPts val="700"/>
              </a:spcAft>
            </a:pPr>
            <a:r>
              <a:rPr lang="pt-BR" sz="1400" b="1" dirty="0">
                <a:solidFill>
                  <a:srgbClr val="303E44"/>
                </a:solidFill>
                <a:latin typeface="Aptos"/>
              </a:rPr>
              <a:t>Exemplo: sensor virtual de espectros de infravermelho (NIR)</a:t>
            </a:r>
          </a:p>
          <a:p>
            <a:pPr>
              <a:spcAft>
                <a:spcPts val="700"/>
              </a:spcAft>
            </a:pPr>
            <a:r>
              <a:rPr lang="pt-BR" sz="1400" dirty="0">
                <a:solidFill>
                  <a:srgbClr val="303E44"/>
                </a:solidFill>
                <a:latin typeface="Aptos"/>
              </a:rPr>
              <a:t>A luz absorvida pela amostra vira concentração em segundos (PCA e regressão).</a:t>
            </a:r>
            <a:endParaRPr lang="pt-BR" sz="1400" b="0" noProof="0" dirty="0">
              <a:solidFill>
                <a:srgbClr val="303E44"/>
              </a:solidFill>
              <a:latin typeface="Aptos"/>
            </a:endParaRPr>
          </a:p>
        </p:txBody>
      </p:sp>
      <p:sp>
        <p:nvSpPr>
          <p:cNvPr id="32" name="Retângulo 31">
            <a:extLst>
              <a:ext uri="{FF2B5EF4-FFF2-40B4-BE49-F238E27FC236}">
                <a16:creationId xmlns:a16="http://schemas.microsoft.com/office/drawing/2014/main" id="{068175A0-5157-54EF-2DED-8B5D0479E89B}"/>
              </a:ext>
            </a:extLst>
          </p:cNvPr>
          <p:cNvSpPr/>
          <p:nvPr/>
        </p:nvSpPr>
        <p:spPr>
          <a:xfrm>
            <a:off x="507119" y="4051636"/>
            <a:ext cx="3807714" cy="218165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pt-BR"/>
          </a:p>
        </p:txBody>
      </p:sp>
    </p:spTree>
    <p:extLst>
      <p:ext uri="{BB962C8B-B14F-4D97-AF65-F5344CB8AC3E}">
        <p14:creationId xmlns:p14="http://schemas.microsoft.com/office/powerpoint/2010/main" val="3069199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292608"/>
            <a:ext cx="8229600" cy="274320"/>
          </a:xfrm>
          <a:prstGeom prst="rect">
            <a:avLst/>
          </a:prstGeom>
          <a:noFill/>
        </p:spPr>
        <p:txBody>
          <a:bodyPr wrap="square" lIns="45720" tIns="18288" rIns="45720" bIns="18288" anchor="t">
            <a:spAutoFit/>
          </a:bodyPr>
          <a:lstStyle/>
          <a:p>
            <a:pPr algn="l"/>
            <a:r>
              <a:rPr sz="1100" b="1">
                <a:solidFill>
                  <a:srgbClr val="007A78"/>
                </a:solidFill>
                <a:latin typeface="Arial"/>
              </a:rPr>
              <a:t>IA NAS ENGENHARIAS · BLOCO 4 · MECÂNICA</a:t>
            </a:r>
          </a:p>
        </p:txBody>
      </p:sp>
      <p:sp>
        <p:nvSpPr>
          <p:cNvPr id="4" name="TextBox 3"/>
          <p:cNvSpPr txBox="1"/>
          <p:nvPr/>
        </p:nvSpPr>
        <p:spPr>
          <a:xfrm>
            <a:off x="621792" y="603504"/>
            <a:ext cx="11155680" cy="640080"/>
          </a:xfrm>
          <a:prstGeom prst="rect">
            <a:avLst/>
          </a:prstGeom>
          <a:noFill/>
        </p:spPr>
        <p:txBody>
          <a:bodyPr wrap="square" lIns="45720" tIns="18288" rIns="45720" bIns="18288" anchor="t">
            <a:spAutoFit/>
          </a:bodyPr>
          <a:lstStyle/>
          <a:p>
            <a:pPr algn="l"/>
            <a:r>
              <a:rPr sz="2800" b="1">
                <a:solidFill>
                  <a:srgbClr val="14283A"/>
                </a:solidFill>
                <a:latin typeface="Georgia"/>
              </a:rPr>
              <a:t>Engenharia Mecânica: diagnosticar rolamentos</a:t>
            </a:r>
          </a:p>
        </p:txBody>
      </p:sp>
      <p:sp>
        <p:nvSpPr>
          <p:cNvPr id="5" name="TextBox 4"/>
          <p:cNvSpPr txBox="1"/>
          <p:nvPr/>
        </p:nvSpPr>
        <p:spPr>
          <a:xfrm>
            <a:off x="621792" y="1280160"/>
            <a:ext cx="10972800" cy="365760"/>
          </a:xfrm>
          <a:prstGeom prst="rect">
            <a:avLst/>
          </a:prstGeom>
          <a:noFill/>
        </p:spPr>
        <p:txBody>
          <a:bodyPr wrap="square" lIns="45720" tIns="18288" rIns="45720" bIns="18288" anchor="t">
            <a:spAutoFit/>
          </a:bodyPr>
          <a:lstStyle/>
          <a:p>
            <a:pPr algn="l"/>
            <a:r>
              <a:rPr sz="1600" b="0">
                <a:solidFill>
                  <a:srgbClr val="5F6F78"/>
                </a:solidFill>
                <a:latin typeface="Arial"/>
              </a:rPr>
              <a:t>A vibração revela se o rolamento está saudável ou com falha, e onde.</a:t>
            </a:r>
          </a:p>
        </p:txBody>
      </p:sp>
      <p:sp>
        <p:nvSpPr>
          <p:cNvPr id="6" name="Rectangle 5"/>
          <p:cNvSpPr/>
          <p:nvPr/>
        </p:nvSpPr>
        <p:spPr>
          <a:xfrm>
            <a:off x="640080" y="1783080"/>
            <a:ext cx="6675120"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_mecanica.png"/>
          <p:cNvPicPr>
            <a:picLocks noChangeAspect="1"/>
          </p:cNvPicPr>
          <p:nvPr/>
        </p:nvPicPr>
        <p:blipFill>
          <a:blip r:embed="rId2"/>
          <a:stretch>
            <a:fillRect/>
          </a:stretch>
        </p:blipFill>
        <p:spPr>
          <a:xfrm>
            <a:off x="640080" y="1783080"/>
            <a:ext cx="6675120" cy="3520440"/>
          </a:xfrm>
          <a:prstGeom prst="rect">
            <a:avLst/>
          </a:prstGeom>
        </p:spPr>
      </p:pic>
      <p:sp>
        <p:nvSpPr>
          <p:cNvPr id="8" name="TextBox 7"/>
          <p:cNvSpPr txBox="1"/>
          <p:nvPr/>
        </p:nvSpPr>
        <p:spPr>
          <a:xfrm>
            <a:off x="640080" y="5321808"/>
            <a:ext cx="6675120" cy="228600"/>
          </a:xfrm>
          <a:prstGeom prst="rect">
            <a:avLst/>
          </a:prstGeom>
          <a:noFill/>
        </p:spPr>
        <p:txBody>
          <a:bodyPr wrap="square" lIns="45720" tIns="18288" rIns="45720" bIns="18288" anchor="t">
            <a:spAutoFit/>
          </a:bodyPr>
          <a:lstStyle/>
          <a:p>
            <a:pPr algn="l"/>
            <a:r>
              <a:rPr sz="900" b="0">
                <a:solidFill>
                  <a:srgbClr val="5F6F78"/>
                </a:solidFill>
                <a:latin typeface="Arial"/>
              </a:rPr>
              <a:t>Dados simulados, para fins didáticos.</a:t>
            </a:r>
          </a:p>
        </p:txBody>
      </p:sp>
      <p:sp>
        <p:nvSpPr>
          <p:cNvPr id="9" name="Rounded Rectangle 8"/>
          <p:cNvSpPr/>
          <p:nvPr/>
        </p:nvSpPr>
        <p:spPr>
          <a:xfrm>
            <a:off x="7589520" y="178308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589520" y="178308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18120" y="183794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DADOS</a:t>
            </a:r>
          </a:p>
        </p:txBody>
      </p:sp>
      <p:sp>
        <p:nvSpPr>
          <p:cNvPr id="12" name="TextBox 11"/>
          <p:cNvSpPr txBox="1"/>
          <p:nvPr/>
        </p:nvSpPr>
        <p:spPr>
          <a:xfrm>
            <a:off x="7818120" y="2203704"/>
            <a:ext cx="3611880" cy="640080"/>
          </a:xfrm>
          <a:prstGeom prst="rect">
            <a:avLst/>
          </a:prstGeom>
          <a:noFill/>
        </p:spPr>
        <p:txBody>
          <a:bodyPr wrap="square" lIns="45720" tIns="18288" rIns="45720" bIns="18288" anchor="t">
            <a:spAutoFit/>
          </a:bodyPr>
          <a:lstStyle/>
          <a:p>
            <a:pPr algn="l"/>
            <a:r>
              <a:rPr sz="1250" b="0">
                <a:solidFill>
                  <a:srgbClr val="14283A"/>
                </a:solidFill>
                <a:latin typeface="Arial"/>
              </a:rPr>
              <a:t>RMS, curtose, fator de crista, energia em BPFO e BPFI, temperatura.</a:t>
            </a:r>
          </a:p>
        </p:txBody>
      </p:sp>
      <p:sp>
        <p:nvSpPr>
          <p:cNvPr id="13" name="Rounded Rectangle 12"/>
          <p:cNvSpPr/>
          <p:nvPr/>
        </p:nvSpPr>
        <p:spPr>
          <a:xfrm>
            <a:off x="7589520" y="297180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589520" y="2971800"/>
            <a:ext cx="82296" cy="1097280"/>
          </a:xfrm>
          <a:prstGeom prst="rect">
            <a:avLst/>
          </a:prstGeom>
          <a:solidFill>
            <a:srgbClr val="E09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18120" y="3026664"/>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IA</a:t>
            </a:r>
          </a:p>
        </p:txBody>
      </p:sp>
      <p:sp>
        <p:nvSpPr>
          <p:cNvPr id="16" name="TextBox 15"/>
          <p:cNvSpPr txBox="1"/>
          <p:nvPr/>
        </p:nvSpPr>
        <p:spPr>
          <a:xfrm>
            <a:off x="7818120" y="3392424"/>
            <a:ext cx="3611880" cy="640080"/>
          </a:xfrm>
          <a:prstGeom prst="rect">
            <a:avLst/>
          </a:prstGeom>
          <a:noFill/>
        </p:spPr>
        <p:txBody>
          <a:bodyPr wrap="square" lIns="45720" tIns="18288" rIns="45720" bIns="18288" anchor="t">
            <a:spAutoFit/>
          </a:bodyPr>
          <a:lstStyle/>
          <a:p>
            <a:pPr algn="l"/>
            <a:r>
              <a:rPr sz="1250" b="0">
                <a:solidFill>
                  <a:srgbClr val="14283A"/>
                </a:solidFill>
                <a:latin typeface="Arial"/>
              </a:rPr>
              <a:t>PCA (visualizar) e SVM (classificar).</a:t>
            </a:r>
          </a:p>
        </p:txBody>
      </p:sp>
      <p:sp>
        <p:nvSpPr>
          <p:cNvPr id="17" name="Rounded Rectangle 16"/>
          <p:cNvSpPr/>
          <p:nvPr/>
        </p:nvSpPr>
        <p:spPr>
          <a:xfrm>
            <a:off x="7589520" y="416052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89520" y="416052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421538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DECISÃO</a:t>
            </a:r>
          </a:p>
        </p:txBody>
      </p:sp>
      <p:sp>
        <p:nvSpPr>
          <p:cNvPr id="20" name="TextBox 19"/>
          <p:cNvSpPr txBox="1"/>
          <p:nvPr/>
        </p:nvSpPr>
        <p:spPr>
          <a:xfrm>
            <a:off x="7818120" y="4581144"/>
            <a:ext cx="3611880" cy="640080"/>
          </a:xfrm>
          <a:prstGeom prst="rect">
            <a:avLst/>
          </a:prstGeom>
          <a:noFill/>
        </p:spPr>
        <p:txBody>
          <a:bodyPr wrap="square" lIns="45720" tIns="18288" rIns="45720" bIns="18288" anchor="t">
            <a:spAutoFit/>
          </a:bodyPr>
          <a:lstStyle/>
          <a:p>
            <a:pPr algn="l"/>
            <a:r>
              <a:rPr sz="1250" b="0">
                <a:solidFill>
                  <a:srgbClr val="14283A"/>
                </a:solidFill>
                <a:latin typeface="Arial"/>
              </a:rPr>
              <a:t>Trocar o rolamento no momento certo, sem parada surpresa.</a:t>
            </a:r>
          </a:p>
        </p:txBody>
      </p:sp>
      <p:sp>
        <p:nvSpPr>
          <p:cNvPr id="21" name="TextBox 20"/>
          <p:cNvSpPr txBox="1"/>
          <p:nvPr/>
        </p:nvSpPr>
        <p:spPr>
          <a:xfrm>
            <a:off x="621792" y="5760720"/>
            <a:ext cx="10972800" cy="365760"/>
          </a:xfrm>
          <a:prstGeom prst="rect">
            <a:avLst/>
          </a:prstGeom>
          <a:noFill/>
        </p:spPr>
        <p:txBody>
          <a:bodyPr wrap="square" lIns="45720" tIns="18288" rIns="45720" bIns="18288" anchor="t">
            <a:spAutoFit/>
          </a:bodyPr>
          <a:lstStyle/>
          <a:p>
            <a:pPr algn="l"/>
            <a:r>
              <a:rPr sz="1400" b="1">
                <a:solidFill>
                  <a:srgbClr val="14283A"/>
                </a:solidFill>
                <a:latin typeface="Arial"/>
              </a:rPr>
              <a:t>Bloco 4 do curso · PCA e SVM</a:t>
            </a:r>
          </a:p>
        </p:txBody>
      </p:sp>
      <p:sp>
        <p:nvSpPr>
          <p:cNvPr id="23" name="TextBox 22"/>
          <p:cNvSpPr txBox="1"/>
          <p:nvPr/>
        </p:nvSpPr>
        <p:spPr>
          <a:xfrm>
            <a:off x="10972800" y="6355080"/>
            <a:ext cx="594360" cy="274320"/>
          </a:xfrm>
          <a:prstGeom prst="rect">
            <a:avLst/>
          </a:prstGeom>
          <a:noFill/>
        </p:spPr>
        <p:txBody>
          <a:bodyPr wrap="square" lIns="45720" tIns="18288" rIns="45720" bIns="18288" anchor="t">
            <a:spAutoFit/>
          </a:bodyPr>
          <a:lstStyle/>
          <a:p>
            <a:pPr algn="r"/>
            <a:r>
              <a:rPr sz="1000" b="1">
                <a:solidFill>
                  <a:srgbClr val="5F6F78"/>
                </a:solidFill>
                <a:latin typeface="Arial"/>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a:extLst>
            <a:ext uri="{FF2B5EF4-FFF2-40B4-BE49-F238E27FC236}">
              <a16:creationId xmlns:a16="http://schemas.microsoft.com/office/drawing/2014/main" id="{FBD95494-471A-F6D2-B397-1081CE4E49E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8B8D84-90CA-D581-EE0E-0377DC311BBE}"/>
              </a:ext>
            </a:extLst>
          </p:cNvPr>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3C0B9AF-34A6-90A6-790D-295B584E1EE0}"/>
              </a:ext>
            </a:extLst>
          </p:cNvPr>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A IDEIA CENTRAL · O QUE VAMOS VER HOJE</a:t>
            </a:r>
          </a:p>
        </p:txBody>
      </p:sp>
      <p:sp>
        <p:nvSpPr>
          <p:cNvPr id="4" name="TextBox 3">
            <a:extLst>
              <a:ext uri="{FF2B5EF4-FFF2-40B4-BE49-F238E27FC236}">
                <a16:creationId xmlns:a16="http://schemas.microsoft.com/office/drawing/2014/main" id="{871B3593-7126-0A81-D694-8D2E9E344013}"/>
              </a:ext>
            </a:extLst>
          </p:cNvPr>
          <p:cNvSpPr txBox="1"/>
          <p:nvPr/>
        </p:nvSpPr>
        <p:spPr>
          <a:xfrm>
            <a:off x="530352" y="566928"/>
            <a:ext cx="11155680" cy="566928"/>
          </a:xfrm>
          <a:prstGeom prst="rect">
            <a:avLst/>
          </a:prstGeom>
          <a:noFill/>
        </p:spPr>
        <p:txBody>
          <a:bodyPr wrap="square">
            <a:spAutoFit/>
          </a:bodyPr>
          <a:lstStyle/>
          <a:p>
            <a:pPr>
              <a:spcAft>
                <a:spcPts val="700"/>
              </a:spcAft>
            </a:pPr>
            <a:r>
              <a:rPr lang="pt-BR" sz="2700" b="1" noProof="0" dirty="0">
                <a:solidFill>
                  <a:srgbClr val="142A38"/>
                </a:solidFill>
                <a:latin typeface="Georgia"/>
              </a:rPr>
              <a:t>Toda engenharia gera dados; a IA ajuda a decidir</a:t>
            </a:r>
          </a:p>
        </p:txBody>
      </p:sp>
      <p:sp>
        <p:nvSpPr>
          <p:cNvPr id="5" name="TextBox 4">
            <a:extLst>
              <a:ext uri="{FF2B5EF4-FFF2-40B4-BE49-F238E27FC236}">
                <a16:creationId xmlns:a16="http://schemas.microsoft.com/office/drawing/2014/main" id="{28A42872-CD8C-92D4-E71A-C3E6DA2EF8DC}"/>
              </a:ext>
            </a:extLst>
          </p:cNvPr>
          <p:cNvSpPr txBox="1"/>
          <p:nvPr/>
        </p:nvSpPr>
        <p:spPr>
          <a:xfrm>
            <a:off x="0" y="1242245"/>
            <a:ext cx="11896344" cy="400110"/>
          </a:xfrm>
          <a:prstGeom prst="rect">
            <a:avLst/>
          </a:prstGeom>
          <a:noFill/>
        </p:spPr>
        <p:txBody>
          <a:bodyPr wrap="square">
            <a:spAutoFit/>
          </a:bodyPr>
          <a:lstStyle/>
          <a:p>
            <a:pPr lvl="1" algn="ctr">
              <a:spcAft>
                <a:spcPts val="700"/>
              </a:spcAft>
            </a:pPr>
            <a:r>
              <a:rPr lang="pt-BR" sz="2000" dirty="0">
                <a:solidFill>
                  <a:srgbClr val="637478"/>
                </a:solidFill>
                <a:latin typeface="Aptos"/>
              </a:rPr>
              <a:t>O dado muda, o método é o mesmo.</a:t>
            </a:r>
            <a:endParaRPr lang="pt-BR" sz="2000" b="0" noProof="0" dirty="0">
              <a:solidFill>
                <a:srgbClr val="637478"/>
              </a:solidFill>
              <a:latin typeface="Aptos"/>
            </a:endParaRPr>
          </a:p>
        </p:txBody>
      </p:sp>
      <p:sp>
        <p:nvSpPr>
          <p:cNvPr id="7" name="TextBox 6">
            <a:extLst>
              <a:ext uri="{FF2B5EF4-FFF2-40B4-BE49-F238E27FC236}">
                <a16:creationId xmlns:a16="http://schemas.microsoft.com/office/drawing/2014/main" id="{6A6CC258-7ED1-AA5C-0264-73CBC15A7649}"/>
              </a:ext>
            </a:extLst>
          </p:cNvPr>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20</a:t>
            </a:r>
          </a:p>
        </p:txBody>
      </p:sp>
      <p:sp>
        <p:nvSpPr>
          <p:cNvPr id="8" name="Rounded Rectangle 7">
            <a:extLst>
              <a:ext uri="{FF2B5EF4-FFF2-40B4-BE49-F238E27FC236}">
                <a16:creationId xmlns:a16="http://schemas.microsoft.com/office/drawing/2014/main" id="{317C32CF-B285-D06B-F833-098C31ED86B2}"/>
              </a:ext>
            </a:extLst>
          </p:cNvPr>
          <p:cNvSpPr/>
          <p:nvPr/>
        </p:nvSpPr>
        <p:spPr>
          <a:xfrm>
            <a:off x="594360" y="2141343"/>
            <a:ext cx="3584448" cy="169164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C404D07C-27EA-2268-A970-991853738E5D}"/>
              </a:ext>
            </a:extLst>
          </p:cNvPr>
          <p:cNvSpPr/>
          <p:nvPr/>
        </p:nvSpPr>
        <p:spPr>
          <a:xfrm>
            <a:off x="594360" y="2141343"/>
            <a:ext cx="73152" cy="169164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05BFE26C-C7B6-D299-6484-04CD4847F27D}"/>
              </a:ext>
            </a:extLst>
          </p:cNvPr>
          <p:cNvSpPr txBox="1"/>
          <p:nvPr/>
        </p:nvSpPr>
        <p:spPr>
          <a:xfrm>
            <a:off x="795528" y="2305935"/>
            <a:ext cx="3200400" cy="384048"/>
          </a:xfrm>
          <a:prstGeom prst="rect">
            <a:avLst/>
          </a:prstGeom>
          <a:noFill/>
        </p:spPr>
        <p:txBody>
          <a:bodyPr wrap="square">
            <a:spAutoFit/>
          </a:bodyPr>
          <a:lstStyle/>
          <a:p>
            <a:pPr>
              <a:spcAft>
                <a:spcPts val="700"/>
              </a:spcAft>
            </a:pPr>
            <a:r>
              <a:rPr lang="pt-BR" sz="1700" b="1" noProof="0" dirty="0">
                <a:solidFill>
                  <a:srgbClr val="142A38"/>
                </a:solidFill>
                <a:latin typeface="Georgia"/>
              </a:rPr>
              <a:t>Engenharia Civil</a:t>
            </a:r>
          </a:p>
        </p:txBody>
      </p:sp>
      <p:sp>
        <p:nvSpPr>
          <p:cNvPr id="11" name="TextBox 10">
            <a:extLst>
              <a:ext uri="{FF2B5EF4-FFF2-40B4-BE49-F238E27FC236}">
                <a16:creationId xmlns:a16="http://schemas.microsoft.com/office/drawing/2014/main" id="{ADC83E1E-9C6C-07A8-BA10-60B542360FA2}"/>
              </a:ext>
            </a:extLst>
          </p:cNvPr>
          <p:cNvSpPr txBox="1"/>
          <p:nvPr/>
        </p:nvSpPr>
        <p:spPr>
          <a:xfrm>
            <a:off x="690598" y="2718165"/>
            <a:ext cx="3488210" cy="828432"/>
          </a:xfrm>
          <a:prstGeom prst="rect">
            <a:avLst/>
          </a:prstGeom>
          <a:noFill/>
        </p:spPr>
        <p:txBody>
          <a:bodyPr wrap="square">
            <a:spAutoFit/>
          </a:bodyPr>
          <a:lstStyle/>
          <a:p>
            <a:pPr>
              <a:spcAft>
                <a:spcPts val="700"/>
              </a:spcAft>
            </a:pPr>
            <a:r>
              <a:rPr lang="pt-BR" sz="1400" b="1" dirty="0"/>
              <a:t>Exemplo: prever a resistência do concreto</a:t>
            </a:r>
          </a:p>
          <a:p>
            <a:pPr>
              <a:spcAft>
                <a:spcPts val="700"/>
              </a:spcAft>
            </a:pPr>
            <a:r>
              <a:rPr lang="pt-BR" sz="1400" dirty="0">
                <a:solidFill>
                  <a:srgbClr val="303E44"/>
                </a:solidFill>
                <a:latin typeface="Aptos"/>
              </a:rPr>
              <a:t>Traço e idade do concreto viram uma previsão de resistência (regressão).</a:t>
            </a:r>
            <a:endParaRPr lang="pt-BR" sz="1400" b="0" noProof="0" dirty="0">
              <a:solidFill>
                <a:srgbClr val="303E44"/>
              </a:solidFill>
              <a:latin typeface="Aptos"/>
            </a:endParaRPr>
          </a:p>
        </p:txBody>
      </p:sp>
      <p:sp>
        <p:nvSpPr>
          <p:cNvPr id="12" name="Rounded Rectangle 11">
            <a:extLst>
              <a:ext uri="{FF2B5EF4-FFF2-40B4-BE49-F238E27FC236}">
                <a16:creationId xmlns:a16="http://schemas.microsoft.com/office/drawing/2014/main" id="{4367813E-BFFB-143F-DB99-EF2C368E386C}"/>
              </a:ext>
            </a:extLst>
          </p:cNvPr>
          <p:cNvSpPr/>
          <p:nvPr/>
        </p:nvSpPr>
        <p:spPr>
          <a:xfrm>
            <a:off x="4453128" y="2141343"/>
            <a:ext cx="3584448" cy="169164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193A7EDE-13F9-2667-6B01-3EE2A0209D28}"/>
              </a:ext>
            </a:extLst>
          </p:cNvPr>
          <p:cNvSpPr/>
          <p:nvPr/>
        </p:nvSpPr>
        <p:spPr>
          <a:xfrm>
            <a:off x="4453128" y="2141343"/>
            <a:ext cx="73152" cy="169164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F12F4B6B-18E9-FA75-38B5-2032BABB20C8}"/>
              </a:ext>
            </a:extLst>
          </p:cNvPr>
          <p:cNvSpPr txBox="1"/>
          <p:nvPr/>
        </p:nvSpPr>
        <p:spPr>
          <a:xfrm>
            <a:off x="4654296" y="2305935"/>
            <a:ext cx="3200400" cy="384048"/>
          </a:xfrm>
          <a:prstGeom prst="rect">
            <a:avLst/>
          </a:prstGeom>
          <a:noFill/>
        </p:spPr>
        <p:txBody>
          <a:bodyPr wrap="square">
            <a:spAutoFit/>
          </a:bodyPr>
          <a:lstStyle/>
          <a:p>
            <a:pPr>
              <a:spcAft>
                <a:spcPts val="700"/>
              </a:spcAft>
            </a:pPr>
            <a:r>
              <a:rPr lang="pt-BR" sz="1700" b="1" noProof="0" dirty="0">
                <a:solidFill>
                  <a:srgbClr val="142A38"/>
                </a:solidFill>
                <a:latin typeface="Georgia"/>
              </a:rPr>
              <a:t>Engenharia de Produção</a:t>
            </a:r>
          </a:p>
        </p:txBody>
      </p:sp>
      <p:sp>
        <p:nvSpPr>
          <p:cNvPr id="15" name="TextBox 14">
            <a:extLst>
              <a:ext uri="{FF2B5EF4-FFF2-40B4-BE49-F238E27FC236}">
                <a16:creationId xmlns:a16="http://schemas.microsoft.com/office/drawing/2014/main" id="{585B3F98-9608-2D81-8F5C-89BD5AEA2158}"/>
              </a:ext>
            </a:extLst>
          </p:cNvPr>
          <p:cNvSpPr txBox="1"/>
          <p:nvPr/>
        </p:nvSpPr>
        <p:spPr>
          <a:xfrm>
            <a:off x="4654296" y="2763135"/>
            <a:ext cx="3383280" cy="1043876"/>
          </a:xfrm>
          <a:prstGeom prst="rect">
            <a:avLst/>
          </a:prstGeom>
          <a:noFill/>
        </p:spPr>
        <p:txBody>
          <a:bodyPr wrap="square">
            <a:spAutoFit/>
          </a:bodyPr>
          <a:lstStyle/>
          <a:p>
            <a:pPr>
              <a:spcAft>
                <a:spcPts val="700"/>
              </a:spcAft>
            </a:pPr>
            <a:r>
              <a:rPr lang="pt-BR" sz="1400" b="1" dirty="0">
                <a:solidFill>
                  <a:srgbClr val="303E44"/>
                </a:solidFill>
                <a:latin typeface="Aptos"/>
              </a:rPr>
              <a:t>Exemplo: achar defeitos na linha</a:t>
            </a:r>
          </a:p>
          <a:p>
            <a:pPr>
              <a:spcAft>
                <a:spcPts val="700"/>
              </a:spcAft>
            </a:pPr>
            <a:r>
              <a:rPr lang="pt-BR" sz="1400" dirty="0">
                <a:solidFill>
                  <a:srgbClr val="303E44"/>
                </a:solidFill>
                <a:latin typeface="Aptos"/>
              </a:rPr>
              <a:t>Parâmetros do processo viram um alerta de peça com risco de defeito (classificação).</a:t>
            </a:r>
            <a:endParaRPr lang="pt-BR" sz="1400" b="0" noProof="0" dirty="0">
              <a:solidFill>
                <a:srgbClr val="303E44"/>
              </a:solidFill>
              <a:latin typeface="Aptos"/>
            </a:endParaRPr>
          </a:p>
        </p:txBody>
      </p:sp>
      <p:sp>
        <p:nvSpPr>
          <p:cNvPr id="16" name="Rounded Rectangle 15">
            <a:extLst>
              <a:ext uri="{FF2B5EF4-FFF2-40B4-BE49-F238E27FC236}">
                <a16:creationId xmlns:a16="http://schemas.microsoft.com/office/drawing/2014/main" id="{E587ABAA-EC69-4E0D-3185-E0B130E177CE}"/>
              </a:ext>
            </a:extLst>
          </p:cNvPr>
          <p:cNvSpPr/>
          <p:nvPr/>
        </p:nvSpPr>
        <p:spPr>
          <a:xfrm>
            <a:off x="8311896" y="2141343"/>
            <a:ext cx="3584448" cy="169164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294F9D23-0739-9552-FF15-0EB58B2E1199}"/>
              </a:ext>
            </a:extLst>
          </p:cNvPr>
          <p:cNvSpPr/>
          <p:nvPr/>
        </p:nvSpPr>
        <p:spPr>
          <a:xfrm>
            <a:off x="8311896" y="2141343"/>
            <a:ext cx="73152" cy="169164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120AF5BA-E284-4AB4-A239-B98D5AC556DF}"/>
              </a:ext>
            </a:extLst>
          </p:cNvPr>
          <p:cNvSpPr txBox="1"/>
          <p:nvPr/>
        </p:nvSpPr>
        <p:spPr>
          <a:xfrm>
            <a:off x="8513064" y="2305935"/>
            <a:ext cx="3200400" cy="384048"/>
          </a:xfrm>
          <a:prstGeom prst="rect">
            <a:avLst/>
          </a:prstGeom>
          <a:noFill/>
        </p:spPr>
        <p:txBody>
          <a:bodyPr wrap="square">
            <a:spAutoFit/>
          </a:bodyPr>
          <a:lstStyle/>
          <a:p>
            <a:pPr>
              <a:spcAft>
                <a:spcPts val="700"/>
              </a:spcAft>
            </a:pPr>
            <a:r>
              <a:rPr sz="1700" b="1">
                <a:solidFill>
                  <a:srgbClr val="142A38"/>
                </a:solidFill>
                <a:latin typeface="Georgia"/>
              </a:rPr>
              <a:t>Engenharia Elétrica</a:t>
            </a:r>
          </a:p>
        </p:txBody>
      </p:sp>
      <p:sp>
        <p:nvSpPr>
          <p:cNvPr id="19" name="TextBox 18">
            <a:extLst>
              <a:ext uri="{FF2B5EF4-FFF2-40B4-BE49-F238E27FC236}">
                <a16:creationId xmlns:a16="http://schemas.microsoft.com/office/drawing/2014/main" id="{FC063B6C-8CB1-6657-C588-BC7474E1D111}"/>
              </a:ext>
            </a:extLst>
          </p:cNvPr>
          <p:cNvSpPr txBox="1"/>
          <p:nvPr/>
        </p:nvSpPr>
        <p:spPr>
          <a:xfrm>
            <a:off x="8513064" y="2673195"/>
            <a:ext cx="3200400" cy="1043876"/>
          </a:xfrm>
          <a:prstGeom prst="rect">
            <a:avLst/>
          </a:prstGeom>
          <a:noFill/>
        </p:spPr>
        <p:txBody>
          <a:bodyPr wrap="square">
            <a:spAutoFit/>
          </a:bodyPr>
          <a:lstStyle/>
          <a:p>
            <a:pPr>
              <a:spcAft>
                <a:spcPts val="700"/>
              </a:spcAft>
            </a:pPr>
            <a:r>
              <a:rPr lang="pt-BR" sz="1400" b="1" dirty="0">
                <a:solidFill>
                  <a:srgbClr val="303E44"/>
                </a:solidFill>
                <a:latin typeface="Aptos"/>
              </a:rPr>
              <a:t>Exemplo: anomalias em motores</a:t>
            </a:r>
          </a:p>
          <a:p>
            <a:pPr>
              <a:spcAft>
                <a:spcPts val="700"/>
              </a:spcAft>
            </a:pPr>
            <a:r>
              <a:rPr lang="pt-BR" sz="1400" dirty="0">
                <a:solidFill>
                  <a:srgbClr val="303E44"/>
                </a:solidFill>
                <a:latin typeface="Aptos"/>
              </a:rPr>
              <a:t>Corrente e vibração revelam regimes de operação e falhas (agrupamento e detecção de anomalias).</a:t>
            </a:r>
            <a:endParaRPr lang="pt-BR" sz="1400" b="0" noProof="0" dirty="0">
              <a:solidFill>
                <a:srgbClr val="303E44"/>
              </a:solidFill>
              <a:latin typeface="Aptos"/>
            </a:endParaRPr>
          </a:p>
        </p:txBody>
      </p:sp>
      <p:sp>
        <p:nvSpPr>
          <p:cNvPr id="20" name="Rounded Rectangle 19">
            <a:extLst>
              <a:ext uri="{FF2B5EF4-FFF2-40B4-BE49-F238E27FC236}">
                <a16:creationId xmlns:a16="http://schemas.microsoft.com/office/drawing/2014/main" id="{47CB0528-6915-2E91-410C-5D37FE55E2B9}"/>
              </a:ext>
            </a:extLst>
          </p:cNvPr>
          <p:cNvSpPr/>
          <p:nvPr/>
        </p:nvSpPr>
        <p:spPr>
          <a:xfrm>
            <a:off x="594360" y="4107303"/>
            <a:ext cx="3584448" cy="1960488"/>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FB19BA8C-71C8-BFB9-3DF3-8694237AC42C}"/>
              </a:ext>
            </a:extLst>
          </p:cNvPr>
          <p:cNvSpPr/>
          <p:nvPr/>
        </p:nvSpPr>
        <p:spPr>
          <a:xfrm>
            <a:off x="594360" y="4272193"/>
            <a:ext cx="73152" cy="169164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C65F6BDE-48CE-7963-0477-96061B9B3DF9}"/>
              </a:ext>
            </a:extLst>
          </p:cNvPr>
          <p:cNvSpPr txBox="1"/>
          <p:nvPr/>
        </p:nvSpPr>
        <p:spPr>
          <a:xfrm>
            <a:off x="667512" y="4268470"/>
            <a:ext cx="3200400" cy="353943"/>
          </a:xfrm>
          <a:prstGeom prst="rect">
            <a:avLst/>
          </a:prstGeom>
          <a:noFill/>
        </p:spPr>
        <p:txBody>
          <a:bodyPr wrap="square">
            <a:spAutoFit/>
          </a:bodyPr>
          <a:lstStyle/>
          <a:p>
            <a:pPr>
              <a:spcAft>
                <a:spcPts val="700"/>
              </a:spcAft>
            </a:pPr>
            <a:r>
              <a:rPr lang="pt-BR" sz="1700" b="1" dirty="0">
                <a:solidFill>
                  <a:srgbClr val="142A38"/>
                </a:solidFill>
                <a:latin typeface="Georgia"/>
              </a:rPr>
              <a:t>Engenharia Mecânica</a:t>
            </a:r>
            <a:endParaRPr sz="1700" b="1" dirty="0">
              <a:solidFill>
                <a:srgbClr val="142A38"/>
              </a:solidFill>
              <a:latin typeface="Georgia"/>
            </a:endParaRPr>
          </a:p>
        </p:txBody>
      </p:sp>
      <p:sp>
        <p:nvSpPr>
          <p:cNvPr id="23" name="TextBox 22">
            <a:extLst>
              <a:ext uri="{FF2B5EF4-FFF2-40B4-BE49-F238E27FC236}">
                <a16:creationId xmlns:a16="http://schemas.microsoft.com/office/drawing/2014/main" id="{8D525F79-0CB6-2A48-2581-C37374AA9AA9}"/>
              </a:ext>
            </a:extLst>
          </p:cNvPr>
          <p:cNvSpPr txBox="1"/>
          <p:nvPr/>
        </p:nvSpPr>
        <p:spPr>
          <a:xfrm>
            <a:off x="704088" y="4783580"/>
            <a:ext cx="3383280" cy="828432"/>
          </a:xfrm>
          <a:prstGeom prst="rect">
            <a:avLst/>
          </a:prstGeom>
          <a:noFill/>
        </p:spPr>
        <p:txBody>
          <a:bodyPr wrap="square">
            <a:spAutoFit/>
          </a:bodyPr>
          <a:lstStyle/>
          <a:p>
            <a:pPr algn="just">
              <a:spcAft>
                <a:spcPts val="700"/>
              </a:spcAft>
            </a:pPr>
            <a:r>
              <a:rPr lang="pt-BR" sz="1400" b="1" dirty="0">
                <a:solidFill>
                  <a:srgbClr val="303E44"/>
                </a:solidFill>
                <a:latin typeface="Aptos"/>
              </a:rPr>
              <a:t>Exemplo: diagnosticar rolamentos</a:t>
            </a:r>
          </a:p>
          <a:p>
            <a:pPr algn="just">
              <a:spcAft>
                <a:spcPts val="700"/>
              </a:spcAft>
            </a:pPr>
            <a:r>
              <a:rPr lang="pt-BR" sz="1400" dirty="0">
                <a:solidFill>
                  <a:srgbClr val="303E44"/>
                </a:solidFill>
                <a:latin typeface="Aptos"/>
              </a:rPr>
              <a:t>A vibração vira diagnóstico da falha (PCA e SVM).</a:t>
            </a:r>
            <a:endParaRPr lang="pt-BR" sz="1400" b="0" noProof="0" dirty="0">
              <a:solidFill>
                <a:srgbClr val="303E44"/>
              </a:solidFill>
              <a:latin typeface="Aptos"/>
            </a:endParaRPr>
          </a:p>
        </p:txBody>
      </p:sp>
      <p:sp>
        <p:nvSpPr>
          <p:cNvPr id="24" name="Rounded Rectangle 23">
            <a:extLst>
              <a:ext uri="{FF2B5EF4-FFF2-40B4-BE49-F238E27FC236}">
                <a16:creationId xmlns:a16="http://schemas.microsoft.com/office/drawing/2014/main" id="{9756D7E0-CC4A-1202-B159-EC14D5464C16}"/>
              </a:ext>
            </a:extLst>
          </p:cNvPr>
          <p:cNvSpPr/>
          <p:nvPr/>
        </p:nvSpPr>
        <p:spPr>
          <a:xfrm>
            <a:off x="4453128" y="4107302"/>
            <a:ext cx="3584448" cy="1960488"/>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a:extLst>
              <a:ext uri="{FF2B5EF4-FFF2-40B4-BE49-F238E27FC236}">
                <a16:creationId xmlns:a16="http://schemas.microsoft.com/office/drawing/2014/main" id="{9E0E6D55-F95D-C920-2D5B-96B9CCABB10E}"/>
              </a:ext>
            </a:extLst>
          </p:cNvPr>
          <p:cNvSpPr/>
          <p:nvPr/>
        </p:nvSpPr>
        <p:spPr>
          <a:xfrm>
            <a:off x="4453128" y="4272193"/>
            <a:ext cx="73152" cy="169164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C971D33B-3B3D-1D5C-1146-17A127D4E5B2}"/>
              </a:ext>
            </a:extLst>
          </p:cNvPr>
          <p:cNvSpPr txBox="1"/>
          <p:nvPr/>
        </p:nvSpPr>
        <p:spPr>
          <a:xfrm>
            <a:off x="4654296" y="4271894"/>
            <a:ext cx="3200400" cy="384048"/>
          </a:xfrm>
          <a:prstGeom prst="rect">
            <a:avLst/>
          </a:prstGeom>
          <a:noFill/>
        </p:spPr>
        <p:txBody>
          <a:bodyPr wrap="square">
            <a:spAutoFit/>
          </a:bodyPr>
          <a:lstStyle/>
          <a:p>
            <a:pPr>
              <a:spcAft>
                <a:spcPts val="700"/>
              </a:spcAft>
            </a:pPr>
            <a:r>
              <a:rPr lang="pt-BR" sz="1700" b="1" noProof="0" dirty="0">
                <a:solidFill>
                  <a:srgbClr val="142A38"/>
                </a:solidFill>
                <a:latin typeface="Georgia"/>
              </a:rPr>
              <a:t>Engenharia Química</a:t>
            </a:r>
          </a:p>
        </p:txBody>
      </p:sp>
      <p:sp>
        <p:nvSpPr>
          <p:cNvPr id="27" name="TextBox 26">
            <a:extLst>
              <a:ext uri="{FF2B5EF4-FFF2-40B4-BE49-F238E27FC236}">
                <a16:creationId xmlns:a16="http://schemas.microsoft.com/office/drawing/2014/main" id="{5BC5FE0B-EEDE-9CE0-0B57-F1D9F9CF8C35}"/>
              </a:ext>
            </a:extLst>
          </p:cNvPr>
          <p:cNvSpPr txBox="1"/>
          <p:nvPr/>
        </p:nvSpPr>
        <p:spPr>
          <a:xfrm>
            <a:off x="4654295" y="4729095"/>
            <a:ext cx="3292275" cy="1259319"/>
          </a:xfrm>
          <a:prstGeom prst="rect">
            <a:avLst/>
          </a:prstGeom>
          <a:noFill/>
        </p:spPr>
        <p:txBody>
          <a:bodyPr wrap="square">
            <a:spAutoFit/>
          </a:bodyPr>
          <a:lstStyle/>
          <a:p>
            <a:pPr>
              <a:spcAft>
                <a:spcPts val="700"/>
              </a:spcAft>
            </a:pPr>
            <a:r>
              <a:rPr lang="pt-BR" sz="1400" b="1" dirty="0">
                <a:solidFill>
                  <a:srgbClr val="303E44"/>
                </a:solidFill>
                <a:latin typeface="Aptos"/>
              </a:rPr>
              <a:t>Exemplo: sensor virtual de espectros de infravermelho (NIR)</a:t>
            </a:r>
          </a:p>
          <a:p>
            <a:pPr>
              <a:spcAft>
                <a:spcPts val="700"/>
              </a:spcAft>
            </a:pPr>
            <a:r>
              <a:rPr lang="pt-BR" sz="1400" dirty="0">
                <a:solidFill>
                  <a:srgbClr val="303E44"/>
                </a:solidFill>
                <a:latin typeface="Aptos"/>
              </a:rPr>
              <a:t>A luz absorvida pela amostra vira concentração em segundos (PCA e regressão).</a:t>
            </a:r>
            <a:endParaRPr lang="pt-BR" sz="1400" b="0" noProof="0" dirty="0">
              <a:solidFill>
                <a:srgbClr val="303E44"/>
              </a:solidFill>
              <a:latin typeface="Aptos"/>
            </a:endParaRPr>
          </a:p>
        </p:txBody>
      </p:sp>
      <p:sp>
        <p:nvSpPr>
          <p:cNvPr id="32" name="Retângulo 31">
            <a:extLst>
              <a:ext uri="{FF2B5EF4-FFF2-40B4-BE49-F238E27FC236}">
                <a16:creationId xmlns:a16="http://schemas.microsoft.com/office/drawing/2014/main" id="{474FFC4F-41F3-3FC8-1D3E-ECA6C901B10E}"/>
              </a:ext>
            </a:extLst>
          </p:cNvPr>
          <p:cNvSpPr/>
          <p:nvPr/>
        </p:nvSpPr>
        <p:spPr>
          <a:xfrm>
            <a:off x="4321888" y="4051636"/>
            <a:ext cx="3807714" cy="218165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pt-BR"/>
          </a:p>
        </p:txBody>
      </p:sp>
    </p:spTree>
    <p:extLst>
      <p:ext uri="{BB962C8B-B14F-4D97-AF65-F5344CB8AC3E}">
        <p14:creationId xmlns:p14="http://schemas.microsoft.com/office/powerpoint/2010/main" val="2781661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292608"/>
            <a:ext cx="8229600" cy="274320"/>
          </a:xfrm>
          <a:prstGeom prst="rect">
            <a:avLst/>
          </a:prstGeom>
          <a:noFill/>
        </p:spPr>
        <p:txBody>
          <a:bodyPr wrap="square" lIns="45720" tIns="18288" rIns="45720" bIns="18288" anchor="t">
            <a:spAutoFit/>
          </a:bodyPr>
          <a:lstStyle/>
          <a:p>
            <a:pPr algn="l"/>
            <a:r>
              <a:rPr sz="1100" b="1">
                <a:solidFill>
                  <a:srgbClr val="007A78"/>
                </a:solidFill>
                <a:latin typeface="Arial"/>
              </a:rPr>
              <a:t>IA NAS ENGENHARIAS · BLOCO 5 · QUÍMICA</a:t>
            </a:r>
          </a:p>
        </p:txBody>
      </p:sp>
      <p:sp>
        <p:nvSpPr>
          <p:cNvPr id="4" name="TextBox 3"/>
          <p:cNvSpPr txBox="1"/>
          <p:nvPr/>
        </p:nvSpPr>
        <p:spPr>
          <a:xfrm>
            <a:off x="621792" y="603504"/>
            <a:ext cx="11155680" cy="640080"/>
          </a:xfrm>
          <a:prstGeom prst="rect">
            <a:avLst/>
          </a:prstGeom>
          <a:noFill/>
        </p:spPr>
        <p:txBody>
          <a:bodyPr wrap="square" lIns="45720" tIns="18288" rIns="45720" bIns="18288" anchor="t">
            <a:spAutoFit/>
          </a:bodyPr>
          <a:lstStyle/>
          <a:p>
            <a:pPr algn="l"/>
            <a:r>
              <a:rPr sz="2800" b="1">
                <a:solidFill>
                  <a:srgbClr val="14283A"/>
                </a:solidFill>
                <a:latin typeface="Georgia"/>
              </a:rPr>
              <a:t>Engenharia Química: sensor virtual com espectros NIR</a:t>
            </a:r>
          </a:p>
        </p:txBody>
      </p:sp>
      <p:sp>
        <p:nvSpPr>
          <p:cNvPr id="5" name="TextBox 4"/>
          <p:cNvSpPr txBox="1"/>
          <p:nvPr/>
        </p:nvSpPr>
        <p:spPr>
          <a:xfrm>
            <a:off x="621792" y="1280160"/>
            <a:ext cx="10972800" cy="283154"/>
          </a:xfrm>
          <a:prstGeom prst="rect">
            <a:avLst/>
          </a:prstGeom>
          <a:noFill/>
        </p:spPr>
        <p:txBody>
          <a:bodyPr wrap="square" lIns="45720" tIns="18288" rIns="45720" bIns="18288" anchor="t">
            <a:spAutoFit/>
          </a:bodyPr>
          <a:lstStyle/>
          <a:p>
            <a:r>
              <a:rPr lang="pt-BR" sz="1600" noProof="0" dirty="0">
                <a:solidFill>
                  <a:srgbClr val="5F6F78"/>
                </a:solidFill>
                <a:latin typeface="Arial"/>
              </a:rPr>
              <a:t>Sensor virtual com espectros NIR: </a:t>
            </a:r>
            <a:r>
              <a:rPr lang="pt-BR" sz="1600" b="0" noProof="0" dirty="0">
                <a:solidFill>
                  <a:srgbClr val="5F6F78"/>
                </a:solidFill>
                <a:latin typeface="Arial"/>
              </a:rPr>
              <a:t>A luz absorvida pela amostra vira concentração em segundos.</a:t>
            </a:r>
          </a:p>
        </p:txBody>
      </p:sp>
      <p:sp>
        <p:nvSpPr>
          <p:cNvPr id="6" name="Rectangle 5"/>
          <p:cNvSpPr/>
          <p:nvPr/>
        </p:nvSpPr>
        <p:spPr>
          <a:xfrm>
            <a:off x="640080" y="1783080"/>
            <a:ext cx="6675120"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e_quimica.png"/>
          <p:cNvPicPr>
            <a:picLocks noChangeAspect="1"/>
          </p:cNvPicPr>
          <p:nvPr/>
        </p:nvPicPr>
        <p:blipFill>
          <a:blip r:embed="rId2"/>
          <a:stretch>
            <a:fillRect/>
          </a:stretch>
        </p:blipFill>
        <p:spPr>
          <a:xfrm>
            <a:off x="640080" y="1783080"/>
            <a:ext cx="6675120" cy="3520440"/>
          </a:xfrm>
          <a:prstGeom prst="rect">
            <a:avLst/>
          </a:prstGeom>
        </p:spPr>
      </p:pic>
      <p:sp>
        <p:nvSpPr>
          <p:cNvPr id="8" name="TextBox 7"/>
          <p:cNvSpPr txBox="1"/>
          <p:nvPr/>
        </p:nvSpPr>
        <p:spPr>
          <a:xfrm>
            <a:off x="640080" y="5321808"/>
            <a:ext cx="6675120" cy="313932"/>
          </a:xfrm>
          <a:prstGeom prst="rect">
            <a:avLst/>
          </a:prstGeom>
          <a:noFill/>
        </p:spPr>
        <p:txBody>
          <a:bodyPr wrap="square" lIns="45720" tIns="18288" rIns="45720" bIns="18288" anchor="t">
            <a:spAutoFit/>
          </a:bodyPr>
          <a:lstStyle/>
          <a:p>
            <a:r>
              <a:rPr lang="pt-BR" sz="900" b="0" dirty="0">
                <a:solidFill>
                  <a:srgbClr val="5F6F78"/>
                </a:solidFill>
                <a:latin typeface="Arial"/>
              </a:rPr>
              <a:t>NIR</a:t>
            </a:r>
            <a:r>
              <a:rPr lang="pt-BR" sz="900" dirty="0">
                <a:solidFill>
                  <a:srgbClr val="5F6F78"/>
                </a:solidFill>
                <a:latin typeface="Arial"/>
              </a:rPr>
              <a:t>: Espectroscopia de infravermelho próximo</a:t>
            </a:r>
            <a:endParaRPr lang="pt-BR" sz="900" dirty="0"/>
          </a:p>
          <a:p>
            <a:r>
              <a:rPr sz="900" b="0" dirty="0">
                <a:solidFill>
                  <a:srgbClr val="5F6F78"/>
                </a:solidFill>
                <a:latin typeface="Arial"/>
              </a:rPr>
              <a:t>Dados </a:t>
            </a:r>
            <a:r>
              <a:rPr sz="900" b="0" dirty="0" err="1">
                <a:solidFill>
                  <a:srgbClr val="5F6F78"/>
                </a:solidFill>
                <a:latin typeface="Arial"/>
              </a:rPr>
              <a:t>simulados</a:t>
            </a:r>
            <a:r>
              <a:rPr sz="900" b="0" dirty="0">
                <a:solidFill>
                  <a:srgbClr val="5F6F78"/>
                </a:solidFill>
                <a:latin typeface="Arial"/>
              </a:rPr>
              <a:t>, para fins </a:t>
            </a:r>
            <a:r>
              <a:rPr sz="900" b="0" dirty="0" err="1">
                <a:solidFill>
                  <a:srgbClr val="5F6F78"/>
                </a:solidFill>
                <a:latin typeface="Arial"/>
              </a:rPr>
              <a:t>didáticos</a:t>
            </a:r>
            <a:r>
              <a:rPr sz="900" b="0" dirty="0">
                <a:solidFill>
                  <a:srgbClr val="5F6F78"/>
                </a:solidFill>
                <a:latin typeface="Arial"/>
              </a:rPr>
              <a:t>.</a:t>
            </a:r>
          </a:p>
        </p:txBody>
      </p:sp>
      <p:sp>
        <p:nvSpPr>
          <p:cNvPr id="9" name="Rounded Rectangle 8"/>
          <p:cNvSpPr/>
          <p:nvPr/>
        </p:nvSpPr>
        <p:spPr>
          <a:xfrm>
            <a:off x="7589520" y="178308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589520" y="178308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18120" y="183794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DADOS</a:t>
            </a:r>
          </a:p>
        </p:txBody>
      </p:sp>
      <p:sp>
        <p:nvSpPr>
          <p:cNvPr id="12" name="TextBox 11"/>
          <p:cNvSpPr txBox="1"/>
          <p:nvPr/>
        </p:nvSpPr>
        <p:spPr>
          <a:xfrm>
            <a:off x="7818120" y="2203704"/>
            <a:ext cx="3611880" cy="640080"/>
          </a:xfrm>
          <a:prstGeom prst="rect">
            <a:avLst/>
          </a:prstGeom>
          <a:noFill/>
        </p:spPr>
        <p:txBody>
          <a:bodyPr wrap="square" lIns="45720" tIns="18288" rIns="45720" bIns="18288" anchor="t">
            <a:spAutoFit/>
          </a:bodyPr>
          <a:lstStyle/>
          <a:p>
            <a:pPr algn="l"/>
            <a:r>
              <a:rPr sz="1250" b="0">
                <a:solidFill>
                  <a:srgbClr val="14283A"/>
                </a:solidFill>
                <a:latin typeface="Arial"/>
              </a:rPr>
              <a:t>Absorbância em 120 comprimentos de onda (infravermelho próximo).</a:t>
            </a:r>
          </a:p>
        </p:txBody>
      </p:sp>
      <p:sp>
        <p:nvSpPr>
          <p:cNvPr id="13" name="Rounded Rectangle 12"/>
          <p:cNvSpPr/>
          <p:nvPr/>
        </p:nvSpPr>
        <p:spPr>
          <a:xfrm>
            <a:off x="7589520" y="297180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589520" y="2971800"/>
            <a:ext cx="82296" cy="1097280"/>
          </a:xfrm>
          <a:prstGeom prst="rect">
            <a:avLst/>
          </a:prstGeom>
          <a:solidFill>
            <a:srgbClr val="E09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18120" y="3026664"/>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IA</a:t>
            </a:r>
          </a:p>
        </p:txBody>
      </p:sp>
      <p:sp>
        <p:nvSpPr>
          <p:cNvPr id="16" name="TextBox 15"/>
          <p:cNvSpPr txBox="1"/>
          <p:nvPr/>
        </p:nvSpPr>
        <p:spPr>
          <a:xfrm>
            <a:off x="7818120" y="3392424"/>
            <a:ext cx="3611880" cy="640080"/>
          </a:xfrm>
          <a:prstGeom prst="rect">
            <a:avLst/>
          </a:prstGeom>
          <a:noFill/>
        </p:spPr>
        <p:txBody>
          <a:bodyPr wrap="square" lIns="45720" tIns="18288" rIns="45720" bIns="18288" anchor="t">
            <a:spAutoFit/>
          </a:bodyPr>
          <a:lstStyle/>
          <a:p>
            <a:pPr algn="l"/>
            <a:r>
              <a:rPr sz="1250" b="0">
                <a:solidFill>
                  <a:srgbClr val="14283A"/>
                </a:solidFill>
                <a:latin typeface="Arial"/>
              </a:rPr>
              <a:t>PCA e regressão.</a:t>
            </a:r>
          </a:p>
        </p:txBody>
      </p:sp>
      <p:sp>
        <p:nvSpPr>
          <p:cNvPr id="17" name="Rounded Rectangle 16"/>
          <p:cNvSpPr/>
          <p:nvPr/>
        </p:nvSpPr>
        <p:spPr>
          <a:xfrm>
            <a:off x="7589520" y="416052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89520" y="416052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421538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DECISÃO</a:t>
            </a:r>
          </a:p>
        </p:txBody>
      </p:sp>
      <p:sp>
        <p:nvSpPr>
          <p:cNvPr id="20" name="TextBox 19"/>
          <p:cNvSpPr txBox="1"/>
          <p:nvPr/>
        </p:nvSpPr>
        <p:spPr>
          <a:xfrm>
            <a:off x="7818120" y="4581144"/>
            <a:ext cx="3611880" cy="640080"/>
          </a:xfrm>
          <a:prstGeom prst="rect">
            <a:avLst/>
          </a:prstGeom>
          <a:noFill/>
        </p:spPr>
        <p:txBody>
          <a:bodyPr wrap="square" lIns="45720" tIns="18288" rIns="45720" bIns="18288" anchor="t">
            <a:spAutoFit/>
          </a:bodyPr>
          <a:lstStyle/>
          <a:p>
            <a:pPr algn="l"/>
            <a:r>
              <a:rPr sz="1250" b="0">
                <a:solidFill>
                  <a:srgbClr val="14283A"/>
                </a:solidFill>
                <a:latin typeface="Arial"/>
              </a:rPr>
              <a:t>Resposta imediata e controle do processo em tempo real.</a:t>
            </a:r>
          </a:p>
        </p:txBody>
      </p:sp>
      <p:sp>
        <p:nvSpPr>
          <p:cNvPr id="21" name="TextBox 20"/>
          <p:cNvSpPr txBox="1"/>
          <p:nvPr/>
        </p:nvSpPr>
        <p:spPr>
          <a:xfrm>
            <a:off x="621792" y="5760720"/>
            <a:ext cx="10972800" cy="365760"/>
          </a:xfrm>
          <a:prstGeom prst="rect">
            <a:avLst/>
          </a:prstGeom>
          <a:noFill/>
        </p:spPr>
        <p:txBody>
          <a:bodyPr wrap="square" lIns="45720" tIns="18288" rIns="45720" bIns="18288" anchor="t">
            <a:spAutoFit/>
          </a:bodyPr>
          <a:lstStyle/>
          <a:p>
            <a:pPr algn="l"/>
            <a:r>
              <a:rPr sz="1400" b="1">
                <a:solidFill>
                  <a:srgbClr val="14283A"/>
                </a:solidFill>
                <a:latin typeface="Arial"/>
              </a:rPr>
              <a:t>Bloco 5 do curso · PCA e regressão</a:t>
            </a:r>
          </a:p>
        </p:txBody>
      </p:sp>
      <p:sp>
        <p:nvSpPr>
          <p:cNvPr id="23" name="TextBox 22"/>
          <p:cNvSpPr txBox="1"/>
          <p:nvPr/>
        </p:nvSpPr>
        <p:spPr>
          <a:xfrm>
            <a:off x="10972800" y="6355080"/>
            <a:ext cx="594360" cy="274320"/>
          </a:xfrm>
          <a:prstGeom prst="rect">
            <a:avLst/>
          </a:prstGeom>
          <a:noFill/>
        </p:spPr>
        <p:txBody>
          <a:bodyPr wrap="square" lIns="45720" tIns="18288" rIns="45720" bIns="18288" anchor="t">
            <a:spAutoFit/>
          </a:bodyPr>
          <a:lstStyle/>
          <a:p>
            <a:pPr algn="r"/>
            <a:r>
              <a:rPr sz="1000" b="1">
                <a:solidFill>
                  <a:srgbClr val="5F6F78"/>
                </a:solidFill>
                <a:latin typeface="Arial"/>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447042"/>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7706B"/>
                </a:solidFill>
                <a:latin typeface="DM Sans" pitchFamily="34" charset="0"/>
                <a:ea typeface="DM Sans" pitchFamily="34" charset="-122"/>
                <a:cs typeface="DM Sans" pitchFamily="34" charset="-120"/>
              </a:rPr>
              <a:t>O QUE É IA</a:t>
            </a:r>
            <a:endParaRPr lang="en-US" sz="1200" dirty="0"/>
          </a:p>
        </p:txBody>
      </p:sp>
      <p:sp>
        <p:nvSpPr>
          <p:cNvPr id="3" name="Text 1"/>
          <p:cNvSpPr>
            <a:spLocks noGrp="1"/>
          </p:cNvSpPr>
          <p:nvPr>
            <p:ph type="title"/>
          </p:nvPr>
        </p:nvSpPr>
        <p:spPr>
          <a:xfrm>
            <a:off x="812800" y="761962"/>
            <a:ext cx="10883392" cy="528290"/>
          </a:xfrm>
          <a:prstGeom prst="rect">
            <a:avLst/>
          </a:prstGeom>
          <a:noFill/>
          <a:ln/>
        </p:spPr>
        <p:txBody>
          <a:bodyPr wrap="square" lIns="0" tIns="0" rIns="0" bIns="0" rtlCol="0" anchor="t">
            <a:normAutofit/>
          </a:bodyPr>
          <a:lstStyle/>
          <a:p>
            <a:pPr marL="0" indent="0" algn="l">
              <a:lnSpc>
                <a:spcPts val="3960"/>
              </a:lnSpc>
              <a:buNone/>
            </a:pPr>
            <a:r>
              <a:rPr lang="pt-BR" sz="3600" b="1" i="0" noProof="0" dirty="0">
                <a:solidFill>
                  <a:srgbClr val="10242B"/>
                </a:solidFill>
                <a:latin typeface="EB Garamond" pitchFamily="18" charset="0"/>
                <a:ea typeface="EB Garamond" pitchFamily="18" charset="-122"/>
                <a:cs typeface="EB Garamond" pitchFamily="18" charset="-120"/>
              </a:rPr>
              <a:t>Inteligência artificial</a:t>
            </a:r>
            <a:endParaRPr lang="pt-BR" sz="3600" noProof="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A6E"/>
                </a:solidFill>
                <a:latin typeface="DM Sans" pitchFamily="34" charset="0"/>
                <a:ea typeface="DM Sans" pitchFamily="34" charset="-122"/>
                <a:cs typeface="DM Sans" pitchFamily="34" charset="-120"/>
              </a:rPr>
              <a:t>22</a:t>
            </a:r>
            <a:endParaRPr lang="en-US" sz="1200" dirty="0"/>
          </a:p>
        </p:txBody>
      </p:sp>
      <p:sp>
        <p:nvSpPr>
          <p:cNvPr id="18" name="Anel IA"/>
          <p:cNvSpPr/>
          <p:nvPr/>
        </p:nvSpPr>
        <p:spPr>
          <a:xfrm>
            <a:off x="813816" y="1753986"/>
            <a:ext cx="5029200" cy="4023360"/>
          </a:xfrm>
          <a:prstGeom prst="roundRect">
            <a:avLst>
              <a:gd name="adj" fmla="val 5000"/>
            </a:avLst>
          </a:prstGeom>
          <a:solidFill>
            <a:schemeClr val="accent3">
              <a:lumMod val="20000"/>
              <a:lumOff val="80000"/>
            </a:schemeClr>
          </a:solidFill>
          <a:ln w="6350">
            <a:solidFill>
              <a:srgbClr val="DDD6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Anel Aprendizado de máquina"/>
          <p:cNvSpPr/>
          <p:nvPr/>
        </p:nvSpPr>
        <p:spPr>
          <a:xfrm>
            <a:off x="1051560" y="2485506"/>
            <a:ext cx="4572000" cy="3108960"/>
          </a:xfrm>
          <a:prstGeom prst="roundRect">
            <a:avLst>
              <a:gd name="adj" fmla="val 6000"/>
            </a:avLst>
          </a:prstGeom>
          <a:solidFill>
            <a:srgbClr val="E4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Anel Aprendizado profundo"/>
          <p:cNvSpPr/>
          <p:nvPr/>
        </p:nvSpPr>
        <p:spPr>
          <a:xfrm>
            <a:off x="1280160" y="3217026"/>
            <a:ext cx="4114800" cy="2194560"/>
          </a:xfrm>
          <a:prstGeom prst="roundRect">
            <a:avLst>
              <a:gd name="adj" fmla="val 8000"/>
            </a:avLst>
          </a:prstGeom>
          <a:solidFill>
            <a:srgbClr val="177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Anel IA generativa"/>
          <p:cNvSpPr/>
          <p:nvPr/>
        </p:nvSpPr>
        <p:spPr>
          <a:xfrm>
            <a:off x="1508760" y="3948546"/>
            <a:ext cx="3657600" cy="1280160"/>
          </a:xfrm>
          <a:prstGeom prst="roundRect">
            <a:avLst>
              <a:gd name="adj" fmla="val 11000"/>
            </a:avLst>
          </a:prstGeom>
          <a:solidFill>
            <a:srgbClr val="10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ótulo IA"/>
          <p:cNvSpPr txBox="1"/>
          <p:nvPr/>
        </p:nvSpPr>
        <p:spPr>
          <a:xfrm>
            <a:off x="1097280" y="1936866"/>
            <a:ext cx="4480560" cy="365760"/>
          </a:xfrm>
          <a:prstGeom prst="rect">
            <a:avLst/>
          </a:prstGeom>
          <a:noFill/>
        </p:spPr>
        <p:txBody>
          <a:bodyPr wrap="square" lIns="0" tIns="0" rIns="0" bIns="0" anchor="t">
            <a:noAutofit/>
          </a:bodyPr>
          <a:lstStyle/>
          <a:p>
            <a:pPr algn="l">
              <a:lnSpc>
                <a:spcPct val="100000"/>
              </a:lnSpc>
            </a:pPr>
            <a:r>
              <a:rPr sz="2200" b="1">
                <a:solidFill>
                  <a:srgbClr val="10242B"/>
                </a:solidFill>
                <a:latin typeface="EB Garamond"/>
              </a:rPr>
              <a:t>Inteligência artificial</a:t>
            </a:r>
          </a:p>
        </p:txBody>
      </p:sp>
      <p:sp>
        <p:nvSpPr>
          <p:cNvPr id="23" name="Rótulo ML"/>
          <p:cNvSpPr txBox="1"/>
          <p:nvPr/>
        </p:nvSpPr>
        <p:spPr>
          <a:xfrm>
            <a:off x="1325880" y="2668386"/>
            <a:ext cx="4114800" cy="365760"/>
          </a:xfrm>
          <a:prstGeom prst="rect">
            <a:avLst/>
          </a:prstGeom>
          <a:noFill/>
        </p:spPr>
        <p:txBody>
          <a:bodyPr wrap="square" lIns="0" tIns="0" rIns="0" bIns="0" anchor="t">
            <a:noAutofit/>
          </a:bodyPr>
          <a:lstStyle/>
          <a:p>
            <a:pPr algn="l">
              <a:lnSpc>
                <a:spcPct val="100000"/>
              </a:lnSpc>
            </a:pPr>
            <a:r>
              <a:rPr sz="2200" b="1">
                <a:solidFill>
                  <a:srgbClr val="10242B"/>
                </a:solidFill>
                <a:latin typeface="EB Garamond"/>
              </a:rPr>
              <a:t>Aprendizado de máquina</a:t>
            </a:r>
          </a:p>
        </p:txBody>
      </p:sp>
      <p:sp>
        <p:nvSpPr>
          <p:cNvPr id="24" name="Rótulo DL"/>
          <p:cNvSpPr txBox="1"/>
          <p:nvPr/>
        </p:nvSpPr>
        <p:spPr>
          <a:xfrm>
            <a:off x="1554480" y="3399906"/>
            <a:ext cx="3657600" cy="365760"/>
          </a:xfrm>
          <a:prstGeom prst="rect">
            <a:avLst/>
          </a:prstGeom>
          <a:noFill/>
        </p:spPr>
        <p:txBody>
          <a:bodyPr wrap="square" lIns="0" tIns="0" rIns="0" bIns="0" anchor="t">
            <a:noAutofit/>
          </a:bodyPr>
          <a:lstStyle/>
          <a:p>
            <a:pPr algn="l">
              <a:lnSpc>
                <a:spcPct val="100000"/>
              </a:lnSpc>
            </a:pPr>
            <a:r>
              <a:rPr sz="2200" b="1">
                <a:solidFill>
                  <a:srgbClr val="F6F3EC"/>
                </a:solidFill>
                <a:latin typeface="EB Garamond"/>
              </a:rPr>
              <a:t>Aprendizado profundo</a:t>
            </a:r>
          </a:p>
        </p:txBody>
      </p:sp>
      <p:sp>
        <p:nvSpPr>
          <p:cNvPr id="25" name="Rótulo GenIA"/>
          <p:cNvSpPr txBox="1"/>
          <p:nvPr/>
        </p:nvSpPr>
        <p:spPr>
          <a:xfrm>
            <a:off x="1783080" y="4113138"/>
            <a:ext cx="3200400" cy="365760"/>
          </a:xfrm>
          <a:prstGeom prst="rect">
            <a:avLst/>
          </a:prstGeom>
          <a:noFill/>
        </p:spPr>
        <p:txBody>
          <a:bodyPr wrap="square" lIns="0" tIns="0" rIns="0" bIns="0" anchor="t">
            <a:noAutofit/>
          </a:bodyPr>
          <a:lstStyle/>
          <a:p>
            <a:pPr algn="l">
              <a:lnSpc>
                <a:spcPct val="100000"/>
              </a:lnSpc>
            </a:pPr>
            <a:r>
              <a:rPr sz="2200" b="1">
                <a:solidFill>
                  <a:srgbClr val="E0A94A"/>
                </a:solidFill>
                <a:latin typeface="EB Garamond"/>
              </a:rPr>
              <a:t>IA generativa</a:t>
            </a:r>
          </a:p>
        </p:txBody>
      </p:sp>
      <p:sp>
        <p:nvSpPr>
          <p:cNvPr id="26" name="Detalhe GenIA"/>
          <p:cNvSpPr txBox="1"/>
          <p:nvPr/>
        </p:nvSpPr>
        <p:spPr>
          <a:xfrm>
            <a:off x="1783080" y="4561194"/>
            <a:ext cx="3200400" cy="457200"/>
          </a:xfrm>
          <a:prstGeom prst="rect">
            <a:avLst/>
          </a:prstGeom>
          <a:noFill/>
        </p:spPr>
        <p:txBody>
          <a:bodyPr wrap="square" lIns="0" tIns="0" rIns="0" bIns="0" anchor="t">
            <a:noAutofit/>
          </a:bodyPr>
          <a:lstStyle/>
          <a:p>
            <a:pPr algn="l"/>
            <a:r>
              <a:rPr sz="1400" b="0">
                <a:solidFill>
                  <a:srgbClr val="F6F3EC"/>
                </a:solidFill>
                <a:latin typeface="DM Sans"/>
              </a:rPr>
              <a:t>LLMs e modelos de fundação</a:t>
            </a:r>
          </a:p>
        </p:txBody>
      </p:sp>
      <p:sp>
        <p:nvSpPr>
          <p:cNvPr id="27" name="Marcador 1"/>
          <p:cNvSpPr/>
          <p:nvPr/>
        </p:nvSpPr>
        <p:spPr>
          <a:xfrm>
            <a:off x="6309360" y="1359697"/>
            <a:ext cx="219456" cy="219456"/>
          </a:xfrm>
          <a:prstGeom prst="ellipse">
            <a:avLst/>
          </a:prstGeom>
          <a:solidFill>
            <a:schemeClr val="accent3">
              <a:lumMod val="20000"/>
              <a:lumOff val="80000"/>
            </a:schemeClr>
          </a:solidFill>
          <a:ln w="6350">
            <a:solidFill>
              <a:srgbClr val="DDD6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ítulo 1"/>
          <p:cNvSpPr txBox="1"/>
          <p:nvPr/>
        </p:nvSpPr>
        <p:spPr>
          <a:xfrm>
            <a:off x="6720840" y="1286545"/>
            <a:ext cx="4663440" cy="365760"/>
          </a:xfrm>
          <a:prstGeom prst="rect">
            <a:avLst/>
          </a:prstGeom>
          <a:noFill/>
        </p:spPr>
        <p:txBody>
          <a:bodyPr wrap="square" lIns="0" tIns="0" rIns="0" bIns="0" anchor="t">
            <a:noAutofit/>
          </a:bodyPr>
          <a:lstStyle/>
          <a:p>
            <a:pPr algn="l">
              <a:lnSpc>
                <a:spcPct val="100000"/>
              </a:lnSpc>
            </a:pPr>
            <a:r>
              <a:rPr lang="pt-BR" sz="2200" b="1" noProof="0" dirty="0">
                <a:solidFill>
                  <a:srgbClr val="10242B"/>
                </a:solidFill>
                <a:latin typeface="EB Garamond"/>
              </a:rPr>
              <a:t>Inteligência artificial</a:t>
            </a:r>
          </a:p>
        </p:txBody>
      </p:sp>
      <p:sp>
        <p:nvSpPr>
          <p:cNvPr id="29" name="Descrição 1"/>
          <p:cNvSpPr txBox="1"/>
          <p:nvPr/>
        </p:nvSpPr>
        <p:spPr>
          <a:xfrm>
            <a:off x="6720840" y="1670593"/>
            <a:ext cx="4975352" cy="548640"/>
          </a:xfrm>
          <a:prstGeom prst="rect">
            <a:avLst/>
          </a:prstGeom>
          <a:noFill/>
        </p:spPr>
        <p:txBody>
          <a:bodyPr wrap="square" lIns="0" tIns="0" rIns="0" bIns="0" anchor="t">
            <a:noAutofit/>
          </a:bodyPr>
          <a:lstStyle/>
          <a:p>
            <a:pPr>
              <a:lnSpc>
                <a:spcPct val="110000"/>
              </a:lnSpc>
            </a:pPr>
            <a:r>
              <a:rPr lang="pt-BR" sz="1400" dirty="0">
                <a:solidFill>
                  <a:srgbClr val="3B4A4F"/>
                </a:solidFill>
              </a:rPr>
              <a:t>É um campo da ciência da computação que permite que máquinas e sistemas simulem a capacidade humana de raciocinar, aprender, tomar decisões e resolver problemas.</a:t>
            </a:r>
            <a:endParaRPr sz="1400" b="0" dirty="0">
              <a:solidFill>
                <a:srgbClr val="3B4A4F"/>
              </a:solidFill>
              <a:latin typeface="DM Sans"/>
            </a:endParaRPr>
          </a:p>
        </p:txBody>
      </p:sp>
      <p:sp>
        <p:nvSpPr>
          <p:cNvPr id="30" name="Marcador 2"/>
          <p:cNvSpPr/>
          <p:nvPr/>
        </p:nvSpPr>
        <p:spPr>
          <a:xfrm>
            <a:off x="6309360" y="2563425"/>
            <a:ext cx="219456" cy="219456"/>
          </a:xfrm>
          <a:prstGeom prst="ellipse">
            <a:avLst/>
          </a:prstGeom>
          <a:solidFill>
            <a:srgbClr val="E4EEEA"/>
          </a:solidFill>
          <a:ln w="6350">
            <a:solidFill>
              <a:srgbClr val="DDD6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ítulo 2"/>
          <p:cNvSpPr txBox="1"/>
          <p:nvPr/>
        </p:nvSpPr>
        <p:spPr>
          <a:xfrm>
            <a:off x="6720840" y="2490273"/>
            <a:ext cx="4663440" cy="365760"/>
          </a:xfrm>
          <a:prstGeom prst="rect">
            <a:avLst/>
          </a:prstGeom>
          <a:noFill/>
        </p:spPr>
        <p:txBody>
          <a:bodyPr wrap="square" lIns="0" tIns="0" rIns="0" bIns="0" anchor="t">
            <a:noAutofit/>
          </a:bodyPr>
          <a:lstStyle/>
          <a:p>
            <a:pPr algn="l">
              <a:lnSpc>
                <a:spcPct val="100000"/>
              </a:lnSpc>
            </a:pPr>
            <a:r>
              <a:rPr lang="pt-BR" sz="2200" b="1" noProof="0" dirty="0">
                <a:solidFill>
                  <a:srgbClr val="10242B"/>
                </a:solidFill>
                <a:latin typeface="EB Garamond"/>
              </a:rPr>
              <a:t>Aprendizado de máquina</a:t>
            </a:r>
          </a:p>
        </p:txBody>
      </p:sp>
      <p:sp>
        <p:nvSpPr>
          <p:cNvPr id="32" name="Descrição 2"/>
          <p:cNvSpPr txBox="1"/>
          <p:nvPr/>
        </p:nvSpPr>
        <p:spPr>
          <a:xfrm>
            <a:off x="6720839" y="2874321"/>
            <a:ext cx="4975351" cy="548640"/>
          </a:xfrm>
          <a:prstGeom prst="rect">
            <a:avLst/>
          </a:prstGeom>
          <a:noFill/>
        </p:spPr>
        <p:txBody>
          <a:bodyPr wrap="square" lIns="0" tIns="0" rIns="0" bIns="0" anchor="t">
            <a:noAutofit/>
          </a:bodyPr>
          <a:lstStyle/>
          <a:p>
            <a:pPr algn="just">
              <a:lnSpc>
                <a:spcPct val="110000"/>
              </a:lnSpc>
            </a:pPr>
            <a:r>
              <a:rPr lang="pt-BR" sz="1400" dirty="0">
                <a:solidFill>
                  <a:srgbClr val="3B4A4F"/>
                </a:solidFill>
              </a:rPr>
              <a:t>É</a:t>
            </a:r>
            <a:r>
              <a:rPr lang="pt-BR" sz="1400" noProof="0" dirty="0">
                <a:solidFill>
                  <a:srgbClr val="3B4A4F"/>
                </a:solidFill>
              </a:rPr>
              <a:t> um subcampo da Inteligência Artificial (IA) que permite aos computadores aprenderem e melhorarem a partir de dados de forma autônoma, </a:t>
            </a:r>
            <a:r>
              <a:rPr lang="pt-BR" sz="1400" b="0" noProof="0" dirty="0">
                <a:solidFill>
                  <a:srgbClr val="3B4A4F"/>
                </a:solidFill>
                <a:latin typeface="DM Sans"/>
              </a:rPr>
              <a:t>Aprende com exemplos</a:t>
            </a:r>
            <a:r>
              <a:rPr lang="pt-BR" sz="1400" b="0" dirty="0">
                <a:solidFill>
                  <a:srgbClr val="3B4A4F"/>
                </a:solidFill>
                <a:latin typeface="DM Sans"/>
              </a:rPr>
              <a:t>.</a:t>
            </a:r>
            <a:endParaRPr sz="1400" b="0" dirty="0">
              <a:solidFill>
                <a:srgbClr val="3B4A4F"/>
              </a:solidFill>
              <a:latin typeface="DM Sans"/>
            </a:endParaRPr>
          </a:p>
        </p:txBody>
      </p:sp>
      <p:sp>
        <p:nvSpPr>
          <p:cNvPr id="33" name="Marcador 3"/>
          <p:cNvSpPr/>
          <p:nvPr/>
        </p:nvSpPr>
        <p:spPr>
          <a:xfrm>
            <a:off x="6309360" y="3805662"/>
            <a:ext cx="219456" cy="219456"/>
          </a:xfrm>
          <a:prstGeom prst="ellipse">
            <a:avLst/>
          </a:prstGeom>
          <a:solidFill>
            <a:srgbClr val="177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ítulo 3"/>
          <p:cNvSpPr txBox="1"/>
          <p:nvPr/>
        </p:nvSpPr>
        <p:spPr>
          <a:xfrm>
            <a:off x="6720840" y="3732510"/>
            <a:ext cx="4663440" cy="365760"/>
          </a:xfrm>
          <a:prstGeom prst="rect">
            <a:avLst/>
          </a:prstGeom>
          <a:noFill/>
        </p:spPr>
        <p:txBody>
          <a:bodyPr wrap="square" lIns="0" tIns="0" rIns="0" bIns="0" anchor="t">
            <a:noAutofit/>
          </a:bodyPr>
          <a:lstStyle/>
          <a:p>
            <a:pPr algn="l">
              <a:lnSpc>
                <a:spcPct val="100000"/>
              </a:lnSpc>
            </a:pPr>
            <a:r>
              <a:rPr lang="pt-BR" sz="2200" b="1" noProof="0" dirty="0">
                <a:solidFill>
                  <a:srgbClr val="10242B"/>
                </a:solidFill>
                <a:latin typeface="EB Garamond"/>
              </a:rPr>
              <a:t>Aprendizado profundo</a:t>
            </a:r>
          </a:p>
        </p:txBody>
      </p:sp>
      <p:sp>
        <p:nvSpPr>
          <p:cNvPr id="35" name="Descrição 3"/>
          <p:cNvSpPr txBox="1"/>
          <p:nvPr/>
        </p:nvSpPr>
        <p:spPr>
          <a:xfrm>
            <a:off x="6720839" y="4116558"/>
            <a:ext cx="5029199" cy="548640"/>
          </a:xfrm>
          <a:prstGeom prst="rect">
            <a:avLst/>
          </a:prstGeom>
          <a:noFill/>
        </p:spPr>
        <p:txBody>
          <a:bodyPr wrap="square" lIns="0" tIns="0" rIns="0" bIns="0" anchor="t">
            <a:noAutofit/>
          </a:bodyPr>
          <a:lstStyle/>
          <a:p>
            <a:pPr algn="just">
              <a:lnSpc>
                <a:spcPct val="110000"/>
              </a:lnSpc>
            </a:pPr>
            <a:r>
              <a:rPr lang="pt-BR" sz="1400" dirty="0">
                <a:solidFill>
                  <a:srgbClr val="3B4A4F"/>
                </a:solidFill>
              </a:rPr>
              <a:t>Subárea de AM com redes neurais de muitas camadas, que aprendem direto de imagens, sinais e texto. Ex.: inspeção visual de peças (Teachable Machine).</a:t>
            </a:r>
            <a:endParaRPr lang="pt-BR" sz="1400" b="0" noProof="0" dirty="0">
              <a:solidFill>
                <a:srgbClr val="3B4A4F"/>
              </a:solidFill>
              <a:latin typeface="DM Sans"/>
            </a:endParaRPr>
          </a:p>
        </p:txBody>
      </p:sp>
      <p:sp>
        <p:nvSpPr>
          <p:cNvPr id="36" name="Marcador 4"/>
          <p:cNvSpPr/>
          <p:nvPr/>
        </p:nvSpPr>
        <p:spPr>
          <a:xfrm>
            <a:off x="6309360" y="5027501"/>
            <a:ext cx="219456" cy="219456"/>
          </a:xfrm>
          <a:prstGeom prst="ellipse">
            <a:avLst/>
          </a:prstGeom>
          <a:solidFill>
            <a:srgbClr val="10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ítulo 4"/>
          <p:cNvSpPr txBox="1"/>
          <p:nvPr/>
        </p:nvSpPr>
        <p:spPr>
          <a:xfrm>
            <a:off x="6720840" y="4954349"/>
            <a:ext cx="4663440" cy="365760"/>
          </a:xfrm>
          <a:prstGeom prst="rect">
            <a:avLst/>
          </a:prstGeom>
          <a:noFill/>
        </p:spPr>
        <p:txBody>
          <a:bodyPr wrap="square" lIns="0" tIns="0" rIns="0" bIns="0" anchor="t">
            <a:noAutofit/>
          </a:bodyPr>
          <a:lstStyle/>
          <a:p>
            <a:pPr algn="l">
              <a:lnSpc>
                <a:spcPct val="100000"/>
              </a:lnSpc>
            </a:pPr>
            <a:r>
              <a:rPr sz="2200" b="1">
                <a:solidFill>
                  <a:srgbClr val="10242B"/>
                </a:solidFill>
                <a:latin typeface="EB Garamond"/>
              </a:rPr>
              <a:t>IA generativa</a:t>
            </a:r>
          </a:p>
        </p:txBody>
      </p:sp>
      <p:sp>
        <p:nvSpPr>
          <p:cNvPr id="38" name="Descrição 4"/>
          <p:cNvSpPr txBox="1"/>
          <p:nvPr/>
        </p:nvSpPr>
        <p:spPr>
          <a:xfrm>
            <a:off x="6720840" y="5338397"/>
            <a:ext cx="5029198" cy="548640"/>
          </a:xfrm>
          <a:prstGeom prst="rect">
            <a:avLst/>
          </a:prstGeom>
          <a:noFill/>
        </p:spPr>
        <p:txBody>
          <a:bodyPr wrap="square" lIns="0" tIns="0" rIns="0" bIns="0" anchor="t">
            <a:noAutofit/>
          </a:bodyPr>
          <a:lstStyle/>
          <a:p>
            <a:pPr algn="l">
              <a:lnSpc>
                <a:spcPct val="110000"/>
              </a:lnSpc>
            </a:pPr>
            <a:r>
              <a:rPr lang="pt-BR" sz="1400" b="0" noProof="0" dirty="0">
                <a:solidFill>
                  <a:srgbClr val="3B4A4F"/>
                </a:solidFill>
                <a:latin typeface="DM Sans"/>
              </a:rPr>
              <a:t>Cria texto, imagem e código a partir do que aprendeu. </a:t>
            </a:r>
          </a:p>
        </p:txBody>
      </p:sp>
      <p:sp>
        <p:nvSpPr>
          <p:cNvPr id="4" name="Rectangle 1">
            <a:extLst>
              <a:ext uri="{FF2B5EF4-FFF2-40B4-BE49-F238E27FC236}">
                <a16:creationId xmlns:a16="http://schemas.microsoft.com/office/drawing/2014/main" id="{C75CCAD7-6DB5-D466-F8AA-D259F50BE6A5}"/>
              </a:ext>
            </a:extLst>
          </p:cNvPr>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292608"/>
            <a:ext cx="7315200" cy="274320"/>
          </a:xfrm>
          <a:prstGeom prst="rect">
            <a:avLst/>
          </a:prstGeom>
          <a:noFill/>
        </p:spPr>
        <p:txBody>
          <a:bodyPr wrap="square" lIns="45720" tIns="18288" rIns="45720" bIns="18288" anchor="t">
            <a:spAutoFit/>
          </a:bodyPr>
          <a:lstStyle/>
          <a:p>
            <a:pPr algn="l"/>
            <a:r>
              <a:rPr sz="1100" b="1">
                <a:solidFill>
                  <a:srgbClr val="007A78"/>
                </a:solidFill>
                <a:latin typeface="Arial"/>
              </a:rPr>
              <a:t>CONCEITOS</a:t>
            </a:r>
          </a:p>
        </p:txBody>
      </p:sp>
      <p:sp>
        <p:nvSpPr>
          <p:cNvPr id="4" name="TextBox 3"/>
          <p:cNvSpPr txBox="1"/>
          <p:nvPr/>
        </p:nvSpPr>
        <p:spPr>
          <a:xfrm>
            <a:off x="621792" y="603504"/>
            <a:ext cx="11155680" cy="640080"/>
          </a:xfrm>
          <a:prstGeom prst="rect">
            <a:avLst/>
          </a:prstGeom>
          <a:noFill/>
        </p:spPr>
        <p:txBody>
          <a:bodyPr wrap="square" lIns="45720" tIns="18288" rIns="45720" bIns="18288" anchor="t">
            <a:spAutoFit/>
          </a:bodyPr>
          <a:lstStyle/>
          <a:p>
            <a:pPr algn="l"/>
            <a:r>
              <a:rPr sz="2800" b="1">
                <a:solidFill>
                  <a:srgbClr val="14283A"/>
                </a:solidFill>
                <a:latin typeface="Georgia"/>
              </a:rPr>
              <a:t>Antes de escolher o algoritmo: qual é a pergunta?</a:t>
            </a:r>
          </a:p>
        </p:txBody>
      </p:sp>
      <p:sp>
        <p:nvSpPr>
          <p:cNvPr id="5" name="TextBox 4"/>
          <p:cNvSpPr txBox="1"/>
          <p:nvPr/>
        </p:nvSpPr>
        <p:spPr>
          <a:xfrm>
            <a:off x="621792" y="1160240"/>
            <a:ext cx="10972800" cy="344710"/>
          </a:xfrm>
          <a:prstGeom prst="rect">
            <a:avLst/>
          </a:prstGeom>
          <a:noFill/>
        </p:spPr>
        <p:txBody>
          <a:bodyPr wrap="square" lIns="45720" tIns="18288" rIns="45720" bIns="18288" anchor="t">
            <a:spAutoFit/>
          </a:bodyPr>
          <a:lstStyle/>
          <a:p>
            <a:pPr algn="l"/>
            <a:r>
              <a:rPr lang="pt-BR" sz="2000" b="0" noProof="0" dirty="0">
                <a:solidFill>
                  <a:srgbClr val="5F6F78"/>
                </a:solidFill>
                <a:latin typeface="Arial"/>
              </a:rPr>
              <a:t>A tarefa define o tipo de modelo e a forma de avaliar seu resultado.</a:t>
            </a:r>
          </a:p>
        </p:txBody>
      </p:sp>
      <p:sp>
        <p:nvSpPr>
          <p:cNvPr id="6" name="TextBox 5"/>
          <p:cNvSpPr txBox="1"/>
          <p:nvPr/>
        </p:nvSpPr>
        <p:spPr>
          <a:xfrm>
            <a:off x="621792" y="1810512"/>
            <a:ext cx="7040880" cy="344710"/>
          </a:xfrm>
          <a:prstGeom prst="rect">
            <a:avLst/>
          </a:prstGeom>
          <a:noFill/>
        </p:spPr>
        <p:txBody>
          <a:bodyPr wrap="square" lIns="45720" tIns="18288" rIns="45720" bIns="18288" anchor="t">
            <a:spAutoFit/>
          </a:bodyPr>
          <a:lstStyle/>
          <a:p>
            <a:pPr algn="l"/>
            <a:r>
              <a:rPr sz="2000" b="1" dirty="0">
                <a:solidFill>
                  <a:srgbClr val="14283A"/>
                </a:solidFill>
                <a:latin typeface="Georgia"/>
              </a:rPr>
              <a:t>APRENDIZADO SUPERVISIONADO</a:t>
            </a:r>
            <a:r>
              <a:rPr sz="2000" b="0" dirty="0">
                <a:solidFill>
                  <a:srgbClr val="5F6F78"/>
                </a:solidFill>
                <a:latin typeface="Arial"/>
              </a:rPr>
              <a:t> </a:t>
            </a:r>
            <a:r>
              <a:rPr lang="pt-BR" sz="2000" b="0" dirty="0">
                <a:solidFill>
                  <a:srgbClr val="5F6F78"/>
                </a:solidFill>
                <a:latin typeface="Arial"/>
              </a:rPr>
              <a:t> (</a:t>
            </a:r>
            <a:r>
              <a:rPr sz="2000" b="0" dirty="0" err="1">
                <a:solidFill>
                  <a:srgbClr val="5F6F78"/>
                </a:solidFill>
                <a:latin typeface="Arial"/>
              </a:rPr>
              <a:t>rótulo</a:t>
            </a:r>
            <a:r>
              <a:rPr lang="pt-BR" sz="2000" b="0" dirty="0">
                <a:solidFill>
                  <a:srgbClr val="5F6F78"/>
                </a:solidFill>
                <a:latin typeface="Arial"/>
              </a:rPr>
              <a:t>)</a:t>
            </a:r>
            <a:endParaRPr sz="2000" b="0" dirty="0">
              <a:solidFill>
                <a:srgbClr val="5F6F78"/>
              </a:solidFill>
              <a:latin typeface="Arial"/>
            </a:endParaRPr>
          </a:p>
        </p:txBody>
      </p:sp>
      <p:sp>
        <p:nvSpPr>
          <p:cNvPr id="7" name="Rectangle 6"/>
          <p:cNvSpPr/>
          <p:nvPr/>
        </p:nvSpPr>
        <p:spPr>
          <a:xfrm>
            <a:off x="621792" y="2176272"/>
            <a:ext cx="7040880" cy="27432"/>
          </a:xfrm>
          <a:prstGeom prst="rect">
            <a:avLst/>
          </a:prstGeom>
          <a:solidFill>
            <a:srgbClr val="142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19872" y="1540692"/>
            <a:ext cx="3383280" cy="652486"/>
          </a:xfrm>
          <a:prstGeom prst="rect">
            <a:avLst/>
          </a:prstGeom>
          <a:noFill/>
        </p:spPr>
        <p:txBody>
          <a:bodyPr wrap="square" lIns="45720" tIns="18288" rIns="45720" bIns="18288" anchor="t">
            <a:spAutoFit/>
          </a:bodyPr>
          <a:lstStyle/>
          <a:p>
            <a:pPr algn="ctr"/>
            <a:r>
              <a:rPr lang="pt-BR" sz="2000" b="1" noProof="0" dirty="0">
                <a:solidFill>
                  <a:srgbClr val="14283A"/>
                </a:solidFill>
                <a:latin typeface="Georgia"/>
              </a:rPr>
              <a:t>NÃO SUPERVISIONADO</a:t>
            </a:r>
            <a:r>
              <a:rPr lang="pt-BR" sz="2000" b="0" noProof="0" dirty="0">
                <a:solidFill>
                  <a:srgbClr val="5F6F78"/>
                </a:solidFill>
                <a:latin typeface="Arial"/>
              </a:rPr>
              <a:t>   (sem rótulo)</a:t>
            </a:r>
          </a:p>
        </p:txBody>
      </p:sp>
      <p:sp>
        <p:nvSpPr>
          <p:cNvPr id="9" name="Rectangle 8"/>
          <p:cNvSpPr/>
          <p:nvPr/>
        </p:nvSpPr>
        <p:spPr>
          <a:xfrm>
            <a:off x="8119872" y="2176272"/>
            <a:ext cx="3383280" cy="27432"/>
          </a:xfrm>
          <a:prstGeom prst="rect">
            <a:avLst/>
          </a:prstGeom>
          <a:solidFill>
            <a:srgbClr val="142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21792" y="2423160"/>
            <a:ext cx="3383280" cy="2148840"/>
          </a:xfrm>
          <a:prstGeom prst="roundRect">
            <a:avLst>
              <a:gd name="adj" fmla="val 8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 y="2423160"/>
            <a:ext cx="82296" cy="214884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0392" y="2514600"/>
            <a:ext cx="3017520" cy="411480"/>
          </a:xfrm>
          <a:prstGeom prst="rect">
            <a:avLst/>
          </a:prstGeom>
          <a:noFill/>
        </p:spPr>
        <p:txBody>
          <a:bodyPr wrap="square" lIns="45720" tIns="18288" rIns="45720" bIns="18288" anchor="t">
            <a:spAutoFit/>
          </a:bodyPr>
          <a:lstStyle/>
          <a:p>
            <a:pPr algn="l"/>
            <a:r>
              <a:rPr sz="1800" b="1">
                <a:solidFill>
                  <a:srgbClr val="14283A"/>
                </a:solidFill>
                <a:latin typeface="Georgia"/>
              </a:rPr>
              <a:t>REGRESSÃO</a:t>
            </a:r>
          </a:p>
        </p:txBody>
      </p:sp>
      <p:sp>
        <p:nvSpPr>
          <p:cNvPr id="13" name="TextBox 12"/>
          <p:cNvSpPr txBox="1"/>
          <p:nvPr/>
        </p:nvSpPr>
        <p:spPr>
          <a:xfrm>
            <a:off x="850392" y="2944368"/>
            <a:ext cx="3017520" cy="731520"/>
          </a:xfrm>
          <a:prstGeom prst="rect">
            <a:avLst/>
          </a:prstGeom>
          <a:noFill/>
        </p:spPr>
        <p:txBody>
          <a:bodyPr wrap="square" lIns="45720" tIns="18288" rIns="45720" bIns="18288" anchor="t">
            <a:spAutoFit/>
          </a:bodyPr>
          <a:lstStyle/>
          <a:p>
            <a:pPr algn="l"/>
            <a:r>
              <a:rPr sz="1500" b="0">
                <a:solidFill>
                  <a:srgbClr val="14283A"/>
                </a:solidFill>
                <a:latin typeface="Arial"/>
              </a:rPr>
              <a:t>Prever um número.</a:t>
            </a:r>
          </a:p>
        </p:txBody>
      </p:sp>
      <p:sp>
        <p:nvSpPr>
          <p:cNvPr id="14" name="Rectangle 13"/>
          <p:cNvSpPr/>
          <p:nvPr/>
        </p:nvSpPr>
        <p:spPr>
          <a:xfrm>
            <a:off x="896112" y="3657600"/>
            <a:ext cx="2834640" cy="13716"/>
          </a:xfrm>
          <a:prstGeom prst="rect">
            <a:avLst/>
          </a:prstGeom>
          <a:solidFill>
            <a:srgbClr val="D9D3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 y="3721608"/>
            <a:ext cx="3017520" cy="822960"/>
          </a:xfrm>
          <a:prstGeom prst="rect">
            <a:avLst/>
          </a:prstGeom>
          <a:noFill/>
        </p:spPr>
        <p:txBody>
          <a:bodyPr wrap="square" lIns="45720" tIns="18288" rIns="45720" bIns="18288" anchor="t">
            <a:spAutoFit/>
          </a:bodyPr>
          <a:lstStyle/>
          <a:p>
            <a:pPr algn="l"/>
            <a:r>
              <a:rPr sz="1100" b="1">
                <a:solidFill>
                  <a:srgbClr val="007A78"/>
                </a:solidFill>
                <a:latin typeface="Arial"/>
              </a:rPr>
              <a:t>EX.: </a:t>
            </a:r>
            <a:r>
              <a:rPr sz="1300" b="0">
                <a:solidFill>
                  <a:srgbClr val="5F6F78"/>
                </a:solidFill>
                <a:latin typeface="Arial"/>
              </a:rPr>
              <a:t>estimar temperatura de motor, tempo de manutenção ou demanda energética.</a:t>
            </a:r>
          </a:p>
        </p:txBody>
      </p:sp>
      <p:sp>
        <p:nvSpPr>
          <p:cNvPr id="16" name="Rounded Rectangle 15"/>
          <p:cNvSpPr/>
          <p:nvPr/>
        </p:nvSpPr>
        <p:spPr>
          <a:xfrm>
            <a:off x="4279392" y="2423160"/>
            <a:ext cx="3383280" cy="2148840"/>
          </a:xfrm>
          <a:prstGeom prst="roundRect">
            <a:avLst>
              <a:gd name="adj" fmla="val 8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79392" y="2423160"/>
            <a:ext cx="82296" cy="2148840"/>
          </a:xfrm>
          <a:prstGeom prst="rect">
            <a:avLst/>
          </a:prstGeom>
          <a:solidFill>
            <a:srgbClr val="E09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07992" y="2514600"/>
            <a:ext cx="3017520" cy="411480"/>
          </a:xfrm>
          <a:prstGeom prst="rect">
            <a:avLst/>
          </a:prstGeom>
          <a:noFill/>
        </p:spPr>
        <p:txBody>
          <a:bodyPr wrap="square" lIns="45720" tIns="18288" rIns="45720" bIns="18288" anchor="t">
            <a:spAutoFit/>
          </a:bodyPr>
          <a:lstStyle/>
          <a:p>
            <a:pPr algn="l"/>
            <a:r>
              <a:rPr sz="1800" b="1">
                <a:solidFill>
                  <a:srgbClr val="14283A"/>
                </a:solidFill>
                <a:latin typeface="Georgia"/>
              </a:rPr>
              <a:t>CLASSIFICAÇÃO</a:t>
            </a:r>
          </a:p>
        </p:txBody>
      </p:sp>
      <p:sp>
        <p:nvSpPr>
          <p:cNvPr id="19" name="TextBox 18"/>
          <p:cNvSpPr txBox="1"/>
          <p:nvPr/>
        </p:nvSpPr>
        <p:spPr>
          <a:xfrm>
            <a:off x="4507992" y="2944368"/>
            <a:ext cx="3017520" cy="731520"/>
          </a:xfrm>
          <a:prstGeom prst="rect">
            <a:avLst/>
          </a:prstGeom>
          <a:noFill/>
        </p:spPr>
        <p:txBody>
          <a:bodyPr wrap="square" lIns="45720" tIns="18288" rIns="45720" bIns="18288" anchor="t">
            <a:spAutoFit/>
          </a:bodyPr>
          <a:lstStyle/>
          <a:p>
            <a:pPr algn="l"/>
            <a:r>
              <a:rPr sz="1500" b="0">
                <a:solidFill>
                  <a:srgbClr val="14283A"/>
                </a:solidFill>
                <a:latin typeface="Arial"/>
              </a:rPr>
              <a:t>Prever uma categoria.</a:t>
            </a:r>
          </a:p>
        </p:txBody>
      </p:sp>
      <p:sp>
        <p:nvSpPr>
          <p:cNvPr id="20" name="Rectangle 19"/>
          <p:cNvSpPr/>
          <p:nvPr/>
        </p:nvSpPr>
        <p:spPr>
          <a:xfrm>
            <a:off x="4553712" y="3657600"/>
            <a:ext cx="2834640" cy="13716"/>
          </a:xfrm>
          <a:prstGeom prst="rect">
            <a:avLst/>
          </a:prstGeom>
          <a:solidFill>
            <a:srgbClr val="D9D3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07992" y="3721608"/>
            <a:ext cx="3017520" cy="822960"/>
          </a:xfrm>
          <a:prstGeom prst="rect">
            <a:avLst/>
          </a:prstGeom>
          <a:noFill/>
        </p:spPr>
        <p:txBody>
          <a:bodyPr wrap="square" lIns="45720" tIns="18288" rIns="45720" bIns="18288" anchor="t">
            <a:spAutoFit/>
          </a:bodyPr>
          <a:lstStyle/>
          <a:p>
            <a:pPr algn="l"/>
            <a:r>
              <a:rPr sz="1100" b="1">
                <a:solidFill>
                  <a:srgbClr val="E0903A"/>
                </a:solidFill>
                <a:latin typeface="Arial"/>
              </a:rPr>
              <a:t>EX.: </a:t>
            </a:r>
            <a:r>
              <a:rPr sz="1300" b="0">
                <a:solidFill>
                  <a:srgbClr val="5F6F78"/>
                </a:solidFill>
                <a:latin typeface="Arial"/>
              </a:rPr>
              <a:t>normal/falha, aprovado/reprovado ou classe de risco.</a:t>
            </a:r>
          </a:p>
        </p:txBody>
      </p:sp>
      <p:sp>
        <p:nvSpPr>
          <p:cNvPr id="22" name="Rounded Rectangle 21"/>
          <p:cNvSpPr/>
          <p:nvPr/>
        </p:nvSpPr>
        <p:spPr>
          <a:xfrm>
            <a:off x="8119872" y="2423160"/>
            <a:ext cx="3383280" cy="2148840"/>
          </a:xfrm>
          <a:prstGeom prst="roundRect">
            <a:avLst>
              <a:gd name="adj" fmla="val 8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19872" y="2423160"/>
            <a:ext cx="82296" cy="214884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48472" y="2514600"/>
            <a:ext cx="3017520" cy="411480"/>
          </a:xfrm>
          <a:prstGeom prst="rect">
            <a:avLst/>
          </a:prstGeom>
          <a:noFill/>
        </p:spPr>
        <p:txBody>
          <a:bodyPr wrap="square" lIns="45720" tIns="18288" rIns="45720" bIns="18288" anchor="t">
            <a:spAutoFit/>
          </a:bodyPr>
          <a:lstStyle/>
          <a:p>
            <a:pPr algn="l"/>
            <a:r>
              <a:rPr sz="1800" b="1">
                <a:solidFill>
                  <a:srgbClr val="14283A"/>
                </a:solidFill>
                <a:latin typeface="Georgia"/>
              </a:rPr>
              <a:t>AGRUPAMENTO</a:t>
            </a:r>
          </a:p>
        </p:txBody>
      </p:sp>
      <p:sp>
        <p:nvSpPr>
          <p:cNvPr id="25" name="TextBox 24"/>
          <p:cNvSpPr txBox="1"/>
          <p:nvPr/>
        </p:nvSpPr>
        <p:spPr>
          <a:xfrm>
            <a:off x="8348472" y="2944368"/>
            <a:ext cx="3017520" cy="731520"/>
          </a:xfrm>
          <a:prstGeom prst="rect">
            <a:avLst/>
          </a:prstGeom>
          <a:noFill/>
        </p:spPr>
        <p:txBody>
          <a:bodyPr wrap="square" lIns="45720" tIns="18288" rIns="45720" bIns="18288" anchor="t">
            <a:spAutoFit/>
          </a:bodyPr>
          <a:lstStyle/>
          <a:p>
            <a:pPr algn="l"/>
            <a:r>
              <a:rPr sz="1500" b="0">
                <a:solidFill>
                  <a:srgbClr val="14283A"/>
                </a:solidFill>
                <a:latin typeface="Arial"/>
              </a:rPr>
              <a:t>Encontrar observações semelhantes sem rótulos fornecidos.</a:t>
            </a:r>
          </a:p>
        </p:txBody>
      </p:sp>
      <p:sp>
        <p:nvSpPr>
          <p:cNvPr id="26" name="Rectangle 25"/>
          <p:cNvSpPr/>
          <p:nvPr/>
        </p:nvSpPr>
        <p:spPr>
          <a:xfrm>
            <a:off x="8394192" y="3657600"/>
            <a:ext cx="2834640" cy="13716"/>
          </a:xfrm>
          <a:prstGeom prst="rect">
            <a:avLst/>
          </a:prstGeom>
          <a:solidFill>
            <a:srgbClr val="D9D3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48472" y="3721608"/>
            <a:ext cx="3017520" cy="822960"/>
          </a:xfrm>
          <a:prstGeom prst="rect">
            <a:avLst/>
          </a:prstGeom>
          <a:noFill/>
        </p:spPr>
        <p:txBody>
          <a:bodyPr wrap="square" lIns="45720" tIns="18288" rIns="45720" bIns="18288" anchor="t">
            <a:spAutoFit/>
          </a:bodyPr>
          <a:lstStyle/>
          <a:p>
            <a:pPr algn="l"/>
            <a:r>
              <a:rPr sz="1100" b="1">
                <a:solidFill>
                  <a:srgbClr val="007A78"/>
                </a:solidFill>
                <a:latin typeface="Arial"/>
              </a:rPr>
              <a:t>EX.: </a:t>
            </a:r>
            <a:r>
              <a:rPr sz="1300" b="0">
                <a:solidFill>
                  <a:srgbClr val="5F6F78"/>
                </a:solidFill>
                <a:latin typeface="Arial"/>
              </a:rPr>
              <a:t>descobrir perfis de operação.</a:t>
            </a:r>
          </a:p>
        </p:txBody>
      </p:sp>
      <p:sp>
        <p:nvSpPr>
          <p:cNvPr id="28" name="Rounded Rectangle 27"/>
          <p:cNvSpPr/>
          <p:nvPr/>
        </p:nvSpPr>
        <p:spPr>
          <a:xfrm>
            <a:off x="621792" y="4983480"/>
            <a:ext cx="2606040" cy="1097280"/>
          </a:xfrm>
          <a:prstGeom prst="roundRect">
            <a:avLst>
              <a:gd name="adj" fmla="val 14000"/>
            </a:avLst>
          </a:prstGeom>
          <a:solidFill>
            <a:srgbClr val="14283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800" b="1">
                <a:solidFill>
                  <a:srgbClr val="FFFFFF"/>
                </a:solidFill>
                <a:latin typeface="Arial"/>
              </a:rPr>
              <a:t>PERGUNTA</a:t>
            </a:r>
          </a:p>
          <a:p>
            <a:pPr algn="ctr"/>
            <a:r>
              <a:rPr sz="1200" b="0">
                <a:solidFill>
                  <a:srgbClr val="DCE8E8"/>
                </a:solidFill>
                <a:latin typeface="Arial"/>
              </a:rPr>
              <a:t>O que quero prever ou descobrir?</a:t>
            </a:r>
          </a:p>
        </p:txBody>
      </p:sp>
      <p:sp>
        <p:nvSpPr>
          <p:cNvPr id="29" name="Rounded Rectangle 28"/>
          <p:cNvSpPr/>
          <p:nvPr/>
        </p:nvSpPr>
        <p:spPr>
          <a:xfrm>
            <a:off x="3410712" y="4983480"/>
            <a:ext cx="2606040" cy="1097280"/>
          </a:xfrm>
          <a:prstGeom prst="roundRect">
            <a:avLst>
              <a:gd name="adj" fmla="val 14000"/>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800" b="1">
                <a:solidFill>
                  <a:srgbClr val="FFFFFF"/>
                </a:solidFill>
                <a:latin typeface="Arial"/>
              </a:rPr>
              <a:t>DADOS X</a:t>
            </a:r>
          </a:p>
          <a:p>
            <a:pPr algn="ctr"/>
            <a:r>
              <a:rPr sz="1200" b="0">
                <a:solidFill>
                  <a:srgbClr val="DCE8E8"/>
                </a:solidFill>
                <a:latin typeface="Arial"/>
              </a:rPr>
              <a:t>Variáveis de entrada</a:t>
            </a:r>
          </a:p>
        </p:txBody>
      </p:sp>
      <p:sp>
        <p:nvSpPr>
          <p:cNvPr id="30" name="Rounded Rectangle 29"/>
          <p:cNvSpPr/>
          <p:nvPr/>
        </p:nvSpPr>
        <p:spPr>
          <a:xfrm>
            <a:off x="6199632" y="4983480"/>
            <a:ext cx="2606040" cy="1097280"/>
          </a:xfrm>
          <a:prstGeom prst="roundRect">
            <a:avLst>
              <a:gd name="adj" fmla="val 14000"/>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800" b="1">
                <a:solidFill>
                  <a:srgbClr val="FFFFFF"/>
                </a:solidFill>
                <a:latin typeface="Arial"/>
              </a:rPr>
              <a:t>ALVO y</a:t>
            </a:r>
          </a:p>
          <a:p>
            <a:pPr algn="ctr"/>
            <a:r>
              <a:rPr sz="1200" b="0">
                <a:solidFill>
                  <a:srgbClr val="DCE8E8"/>
                </a:solidFill>
                <a:latin typeface="Arial"/>
              </a:rPr>
              <a:t>Variável de saída (AM supervisionado)</a:t>
            </a:r>
          </a:p>
        </p:txBody>
      </p:sp>
      <p:sp>
        <p:nvSpPr>
          <p:cNvPr id="31" name="Rounded Rectangle 30"/>
          <p:cNvSpPr/>
          <p:nvPr/>
        </p:nvSpPr>
        <p:spPr>
          <a:xfrm>
            <a:off x="8988552" y="4983480"/>
            <a:ext cx="2606040" cy="1097280"/>
          </a:xfrm>
          <a:prstGeom prst="roundRect">
            <a:avLst>
              <a:gd name="adj" fmla="val 14000"/>
            </a:avLst>
          </a:prstGeom>
          <a:solidFill>
            <a:srgbClr val="14283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800" b="1">
                <a:solidFill>
                  <a:srgbClr val="FFFFFF"/>
                </a:solidFill>
                <a:latin typeface="Arial"/>
              </a:rPr>
              <a:t>MÉTRICA</a:t>
            </a:r>
          </a:p>
          <a:p>
            <a:pPr algn="ctr"/>
            <a:r>
              <a:rPr sz="1200" b="0">
                <a:solidFill>
                  <a:srgbClr val="DCE8E8"/>
                </a:solidFill>
                <a:latin typeface="Arial"/>
              </a:rPr>
              <a:t>Acurácia, precisão, curva ROC, sensibilidade, especificidade</a:t>
            </a:r>
          </a:p>
        </p:txBody>
      </p:sp>
      <p:sp>
        <p:nvSpPr>
          <p:cNvPr id="32" name="TextBox 31"/>
          <p:cNvSpPr txBox="1"/>
          <p:nvPr/>
        </p:nvSpPr>
        <p:spPr>
          <a:xfrm>
            <a:off x="621792" y="6355080"/>
            <a:ext cx="7315200" cy="274320"/>
          </a:xfrm>
          <a:prstGeom prst="rect">
            <a:avLst/>
          </a:prstGeom>
          <a:noFill/>
        </p:spPr>
        <p:txBody>
          <a:bodyPr wrap="square" lIns="45720" tIns="18288" rIns="45720" bIns="18288" anchor="t">
            <a:spAutoFit/>
          </a:bodyPr>
          <a:lstStyle/>
          <a:p>
            <a:pPr algn="l"/>
            <a:r>
              <a:rPr sz="1000" b="0">
                <a:solidFill>
                  <a:srgbClr val="5F6F78"/>
                </a:solidFill>
                <a:latin typeface="Arial"/>
              </a:rPr>
              <a:t>Da engenharia à oncologia · IA na solução de problemas reais</a:t>
            </a:r>
          </a:p>
        </p:txBody>
      </p:sp>
      <p:sp>
        <p:nvSpPr>
          <p:cNvPr id="33" name="TextBox 32"/>
          <p:cNvSpPr txBox="1"/>
          <p:nvPr/>
        </p:nvSpPr>
        <p:spPr>
          <a:xfrm>
            <a:off x="10972800" y="6355080"/>
            <a:ext cx="594360" cy="274320"/>
          </a:xfrm>
          <a:prstGeom prst="rect">
            <a:avLst/>
          </a:prstGeom>
          <a:noFill/>
        </p:spPr>
        <p:txBody>
          <a:bodyPr wrap="square" lIns="45720" tIns="18288" rIns="45720" bIns="18288" anchor="t">
            <a:spAutoFit/>
          </a:bodyPr>
          <a:lstStyle/>
          <a:p>
            <a:pPr algn="r"/>
            <a:r>
              <a:rPr sz="1000" b="1">
                <a:solidFill>
                  <a:srgbClr val="5F6F78"/>
                </a:solidFill>
                <a:latin typeface="Arial"/>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834C9-A933-456E-0C61-13736C13FBC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D04B00A-5C39-D199-D6C9-3D56933EFF4C}"/>
              </a:ext>
            </a:extLst>
          </p:cNvPr>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7706B"/>
                </a:solidFill>
                <a:latin typeface="DM Sans" pitchFamily="34" charset="0"/>
                <a:ea typeface="DM Sans" pitchFamily="34" charset="-122"/>
                <a:cs typeface="DM Sans" pitchFamily="34" charset="-120"/>
              </a:rPr>
              <a:t>TÉCNICAS</a:t>
            </a:r>
            <a:endParaRPr lang="en-US" sz="1200" dirty="0"/>
          </a:p>
        </p:txBody>
      </p:sp>
      <p:sp>
        <p:nvSpPr>
          <p:cNvPr id="3" name="Text 1">
            <a:extLst>
              <a:ext uri="{FF2B5EF4-FFF2-40B4-BE49-F238E27FC236}">
                <a16:creationId xmlns:a16="http://schemas.microsoft.com/office/drawing/2014/main" id="{CA6AC3AF-0E2E-2480-72BD-65940EB9E2B3}"/>
              </a:ext>
            </a:extLst>
          </p:cNvPr>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0242B"/>
                </a:solidFill>
                <a:latin typeface="EB Garamond" pitchFamily="18" charset="0"/>
                <a:ea typeface="EB Garamond" pitchFamily="18" charset="-122"/>
                <a:cs typeface="EB Garamond" pitchFamily="18" charset="-120"/>
              </a:rPr>
              <a:t>As técnicas de IA e onde as encontramos</a:t>
            </a:r>
            <a:endParaRPr lang="en-US" sz="3600" dirty="0"/>
          </a:p>
        </p:txBody>
      </p:sp>
      <p:graphicFrame>
        <p:nvGraphicFramePr>
          <p:cNvPr id="4" name="Table 0">
            <a:extLst>
              <a:ext uri="{FF2B5EF4-FFF2-40B4-BE49-F238E27FC236}">
                <a16:creationId xmlns:a16="http://schemas.microsoft.com/office/drawing/2014/main" id="{41EDE3EB-2B6D-F64C-7749-98B082D453C8}"/>
              </a:ext>
            </a:extLst>
          </p:cNvPr>
          <p:cNvGraphicFramePr>
            <a:graphicFrameLocks noGrp="1"/>
          </p:cNvGraphicFramePr>
          <p:nvPr/>
        </p:nvGraphicFramePr>
        <p:xfrm>
          <a:off x="825500" y="1922711"/>
          <a:ext cx="10553700" cy="3458615"/>
        </p:xfrm>
        <a:graphic>
          <a:graphicData uri="http://schemas.openxmlformats.org/drawingml/2006/table">
            <a:tbl>
              <a:tblPr/>
              <a:tblGrid>
                <a:gridCol w="2532888">
                  <a:extLst>
                    <a:ext uri="{9D8B030D-6E8A-4147-A177-3AD203B41FA5}">
                      <a16:colId xmlns:a16="http://schemas.microsoft.com/office/drawing/2014/main" val="20000"/>
                    </a:ext>
                  </a:extLst>
                </a:gridCol>
                <a:gridCol w="2321814">
                  <a:extLst>
                    <a:ext uri="{9D8B030D-6E8A-4147-A177-3AD203B41FA5}">
                      <a16:colId xmlns:a16="http://schemas.microsoft.com/office/drawing/2014/main" val="20001"/>
                    </a:ext>
                  </a:extLst>
                </a:gridCol>
                <a:gridCol w="2955036">
                  <a:extLst>
                    <a:ext uri="{9D8B030D-6E8A-4147-A177-3AD203B41FA5}">
                      <a16:colId xmlns:a16="http://schemas.microsoft.com/office/drawing/2014/main" val="20002"/>
                    </a:ext>
                  </a:extLst>
                </a:gridCol>
                <a:gridCol w="2743962">
                  <a:extLst>
                    <a:ext uri="{9D8B030D-6E8A-4147-A177-3AD203B41FA5}">
                      <a16:colId xmlns:a16="http://schemas.microsoft.com/office/drawing/2014/main" val="20003"/>
                    </a:ext>
                  </a:extLst>
                </a:gridCol>
              </a:tblGrid>
              <a:tr h="332680">
                <a:tc>
                  <a:txBody>
                    <a:bodyPr/>
                    <a:lstStyle/>
                    <a:p>
                      <a:pPr marL="0" indent="0">
                        <a:lnSpc>
                          <a:spcPts val="1680"/>
                        </a:lnSpc>
                        <a:buNone/>
                      </a:pPr>
                      <a:r>
                        <a:rPr lang="en-US" sz="1200" b="1" dirty="0">
                          <a:solidFill>
                            <a:srgbClr val="F6F3EC"/>
                          </a:solidFill>
                          <a:latin typeface="DM Sans" pitchFamily="34" charset="0"/>
                          <a:ea typeface="DM Sans" pitchFamily="34" charset="-122"/>
                          <a:cs typeface="DM Sans" pitchFamily="34" charset="-120"/>
                        </a:rPr>
                        <a:t>Técnica</a:t>
                      </a:r>
                      <a:endParaRPr lang="en-US" sz="1200" dirty="0">
                        <a:latin typeface="DM Sans" charset="0"/>
                        <a:ea typeface="DM Sans" charset="0"/>
                        <a:cs typeface="DM Sans" charset="0"/>
                      </a:endParaRPr>
                    </a:p>
                  </a:txBody>
                  <a:tcPr marL="53340" marR="53340" marT="53340" marB="53340">
                    <a:lnL w="12700" cap="flat" cmpd="sng" algn="ctr">
                      <a:solidFill>
                        <a:srgbClr val="BBB7AD"/>
                      </a:solidFill>
                      <a:prstDash val="solid"/>
                      <a:round/>
                      <a:headEnd type="none" w="med" len="med"/>
                      <a:tailEnd type="none" w="med" len="med"/>
                    </a:lnL>
                    <a:lnR w="12700" cap="flat" cmpd="sng" algn="ctr">
                      <a:solidFill>
                        <a:srgbClr val="11202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112026"/>
                      </a:solidFill>
                      <a:prstDash val="solid"/>
                      <a:round/>
                      <a:headEnd type="none" w="med" len="med"/>
                      <a:tailEnd type="none" w="med" len="med"/>
                    </a:lnB>
                    <a:solidFill>
                      <a:srgbClr val="10242B"/>
                    </a:solidFill>
                  </a:tcPr>
                </a:tc>
                <a:tc>
                  <a:txBody>
                    <a:bodyPr/>
                    <a:lstStyle/>
                    <a:p>
                      <a:pPr marL="0" indent="0">
                        <a:lnSpc>
                          <a:spcPts val="1680"/>
                        </a:lnSpc>
                        <a:buNone/>
                      </a:pPr>
                      <a:r>
                        <a:rPr lang="en-US" sz="1200" b="1" dirty="0">
                          <a:solidFill>
                            <a:srgbClr val="F6F3EC"/>
                          </a:solidFill>
                          <a:latin typeface="DM Sans" pitchFamily="34" charset="0"/>
                          <a:ea typeface="DM Sans" pitchFamily="34" charset="-122"/>
                          <a:cs typeface="DM Sans" pitchFamily="34" charset="-120"/>
                        </a:rPr>
                        <a:t>O que faz</a:t>
                      </a:r>
                      <a:endParaRPr lang="en-US" sz="1200" dirty="0">
                        <a:latin typeface="DM Sans" charset="0"/>
                        <a:ea typeface="DM Sans" charset="0"/>
                        <a:cs typeface="DM Sans" charset="0"/>
                      </a:endParaRPr>
                    </a:p>
                  </a:txBody>
                  <a:tcPr marL="53340" marR="53340" marT="53340" marB="53340">
                    <a:lnL w="12700" cap="flat" cmpd="sng" algn="ctr">
                      <a:solidFill>
                        <a:srgbClr val="112026"/>
                      </a:solidFill>
                      <a:prstDash val="solid"/>
                      <a:round/>
                      <a:headEnd type="none" w="med" len="med"/>
                      <a:tailEnd type="none" w="med" len="med"/>
                    </a:lnL>
                    <a:lnR w="12700" cap="flat" cmpd="sng" algn="ctr">
                      <a:solidFill>
                        <a:srgbClr val="11202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112026"/>
                      </a:solidFill>
                      <a:prstDash val="solid"/>
                      <a:round/>
                      <a:headEnd type="none" w="med" len="med"/>
                      <a:tailEnd type="none" w="med" len="med"/>
                    </a:lnB>
                    <a:solidFill>
                      <a:srgbClr val="10242B"/>
                    </a:solidFill>
                  </a:tcPr>
                </a:tc>
                <a:tc>
                  <a:txBody>
                    <a:bodyPr/>
                    <a:lstStyle/>
                    <a:p>
                      <a:pPr marL="0" indent="0">
                        <a:lnSpc>
                          <a:spcPts val="1680"/>
                        </a:lnSpc>
                        <a:buNone/>
                      </a:pPr>
                      <a:r>
                        <a:rPr lang="en-US" sz="1200" b="1" dirty="0">
                          <a:solidFill>
                            <a:srgbClr val="F6F3EC"/>
                          </a:solidFill>
                          <a:latin typeface="DM Sans" pitchFamily="34" charset="0"/>
                          <a:ea typeface="DM Sans" pitchFamily="34" charset="-122"/>
                          <a:cs typeface="DM Sans" pitchFamily="34" charset="-120"/>
                        </a:rPr>
                        <a:t>No dia a dia</a:t>
                      </a:r>
                      <a:endParaRPr lang="en-US" sz="1200" dirty="0">
                        <a:latin typeface="DM Sans" charset="0"/>
                        <a:ea typeface="DM Sans" charset="0"/>
                        <a:cs typeface="DM Sans" charset="0"/>
                      </a:endParaRPr>
                    </a:p>
                  </a:txBody>
                  <a:tcPr marL="53340" marR="53340" marT="53340" marB="53340">
                    <a:lnL w="12700" cap="flat" cmpd="sng" algn="ctr">
                      <a:solidFill>
                        <a:srgbClr val="112026"/>
                      </a:solidFill>
                      <a:prstDash val="solid"/>
                      <a:round/>
                      <a:headEnd type="none" w="med" len="med"/>
                      <a:tailEnd type="none" w="med" len="med"/>
                    </a:lnL>
                    <a:lnR w="12700" cap="flat" cmpd="sng" algn="ctr">
                      <a:solidFill>
                        <a:srgbClr val="11202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112026"/>
                      </a:solidFill>
                      <a:prstDash val="solid"/>
                      <a:round/>
                      <a:headEnd type="none" w="med" len="med"/>
                      <a:tailEnd type="none" w="med" len="med"/>
                    </a:lnB>
                    <a:solidFill>
                      <a:srgbClr val="10242B"/>
                    </a:solidFill>
                  </a:tcPr>
                </a:tc>
                <a:tc>
                  <a:txBody>
                    <a:bodyPr/>
                    <a:lstStyle/>
                    <a:p>
                      <a:pPr marL="0" indent="0">
                        <a:lnSpc>
                          <a:spcPts val="1680"/>
                        </a:lnSpc>
                        <a:buNone/>
                      </a:pPr>
                      <a:r>
                        <a:rPr lang="en-US" sz="1200" b="1" dirty="0">
                          <a:solidFill>
                            <a:srgbClr val="F6F3EC"/>
                          </a:solidFill>
                          <a:latin typeface="DM Sans" pitchFamily="34" charset="0"/>
                          <a:ea typeface="DM Sans" pitchFamily="34" charset="-122"/>
                          <a:cs typeface="DM Sans" pitchFamily="34" charset="-120"/>
                        </a:rPr>
                        <a:t>Nas engenharias</a:t>
                      </a:r>
                      <a:endParaRPr lang="en-US" sz="1200" dirty="0">
                        <a:latin typeface="DM Sans" charset="0"/>
                        <a:ea typeface="DM Sans" charset="0"/>
                        <a:cs typeface="DM Sans" charset="0"/>
                      </a:endParaRPr>
                    </a:p>
                  </a:txBody>
                  <a:tcPr marL="53340" marR="53340" marT="53340" marB="53340">
                    <a:lnL w="12700" cap="flat" cmpd="sng" algn="ctr">
                      <a:solidFill>
                        <a:srgbClr val="112026"/>
                      </a:solidFill>
                      <a:prstDash val="solid"/>
                      <a:round/>
                      <a:headEnd type="none" w="med" len="med"/>
                      <a:tailEnd type="none" w="med" len="med"/>
                    </a:lnL>
                    <a:lnR w="12700" cap="flat" cmpd="sng" algn="ctr">
                      <a:solidFill>
                        <a:srgbClr val="112026"/>
                      </a:solidFill>
                      <a:prstDash val="solid"/>
                      <a:round/>
                      <a:headEnd type="none" w="med" len="med"/>
                      <a:tailEnd type="none" w="med" len="med"/>
                    </a:lnR>
                    <a:lnT w="12700" cap="flat" cmpd="sng" algn="ctr">
                      <a:solidFill>
                        <a:srgbClr val="BBB7AD"/>
                      </a:solidFill>
                      <a:prstDash val="solid"/>
                      <a:round/>
                      <a:headEnd type="none" w="med" len="med"/>
                      <a:tailEnd type="none" w="med" len="med"/>
                    </a:lnT>
                    <a:lnB w="12700" cap="flat" cmpd="sng" algn="ctr">
                      <a:solidFill>
                        <a:srgbClr val="112026"/>
                      </a:solidFill>
                      <a:prstDash val="solid"/>
                      <a:round/>
                      <a:headEnd type="none" w="med" len="med"/>
                      <a:tailEnd type="none" w="med" len="med"/>
                    </a:lnB>
                    <a:solidFill>
                      <a:srgbClr val="10242B"/>
                    </a:solidFill>
                  </a:tcPr>
                </a:tc>
                <a:extLst>
                  <a:ext uri="{0D108BD9-81ED-4DB2-BD59-A6C34878D82A}">
                    <a16:rowId xmlns:a16="http://schemas.microsoft.com/office/drawing/2014/main" val="10000"/>
                  </a:ext>
                </a:extLst>
              </a:tr>
              <a:tr h="546001">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Aprendizado de máquina supervisionado</a:t>
                      </a:r>
                      <a:endParaRPr lang="en-US" sz="1200" dirty="0">
                        <a:latin typeface="DM Sans" charset="0"/>
                        <a:ea typeface="DM Sans" charset="0"/>
                        <a:cs typeface="DM Sans" charset="0"/>
                      </a:endParaRPr>
                    </a:p>
                  </a:txBody>
                  <a:tcPr marL="53340" marR="53340" marT="53340" marB="53340">
                    <a:lnL w="12700" cap="flat" cmpd="sng" algn="ctr">
                      <a:solidFill>
                        <a:srgbClr val="BBB7AD"/>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112026"/>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9F4"/>
                    </a:solidFill>
                  </a:tcPr>
                </a:tc>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Aprende com exemplos que já têm a resposta e prevê casos novos.</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112026"/>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9F4"/>
                    </a:solidFill>
                  </a:tcPr>
                </a:tc>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Filtro de spam, análise de crédito</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112026"/>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9F4"/>
                    </a:solidFill>
                  </a:tcPr>
                </a:tc>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Resistência do concreto; defeito em peças da linha</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112026"/>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9F4"/>
                    </a:solidFill>
                  </a:tcPr>
                </a:tc>
                <a:extLst>
                  <a:ext uri="{0D108BD9-81ED-4DB2-BD59-A6C34878D82A}">
                    <a16:rowId xmlns:a16="http://schemas.microsoft.com/office/drawing/2014/main" val="10001"/>
                  </a:ext>
                </a:extLst>
              </a:tr>
              <a:tr h="546001">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Aprendizado de máquina não supervisionado</a:t>
                      </a:r>
                      <a:endParaRPr lang="en-US" sz="1200" dirty="0">
                        <a:latin typeface="DM Sans" charset="0"/>
                        <a:ea typeface="DM Sans" charset="0"/>
                        <a:cs typeface="DM Sans" charset="0"/>
                      </a:endParaRPr>
                    </a:p>
                  </a:txBody>
                  <a:tcPr marL="53340" marR="53340" marT="53340" marB="53340">
                    <a:lnL w="12700" cap="flat" cmpd="sng" algn="ctr">
                      <a:solidFill>
                        <a:srgbClr val="BBB7AD"/>
                      </a:solidFill>
                      <a:prstDash val="solid"/>
                      <a:round/>
                      <a:headEnd type="none" w="med" len="med"/>
                      <a:tailEnd type="none" w="med" len="med"/>
                    </a:lnL>
                    <a:lnR w="12700" cap="flat" cmpd="sng" algn="ctr">
                      <a:solidFill>
                        <a:srgbClr val="BFBBB1"/>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FBBB1"/>
                      </a:solidFill>
                      <a:prstDash val="solid"/>
                      <a:round/>
                      <a:headEnd type="none" w="med" len="med"/>
                      <a:tailEnd type="none" w="med" len="med"/>
                    </a:lnB>
                    <a:solidFill>
                      <a:srgbClr val="EFEADD"/>
                    </a:solidFill>
                  </a:tcPr>
                </a:tc>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Encontra grupos e padrões nos dados, sem resposta pronta.</a:t>
                      </a:r>
                      <a:endParaRPr lang="en-US" sz="1200" dirty="0">
                        <a:latin typeface="DM Sans" charset="0"/>
                        <a:ea typeface="DM Sans" charset="0"/>
                        <a:cs typeface="DM Sans" charset="0"/>
                      </a:endParaRPr>
                    </a:p>
                  </a:txBody>
                  <a:tcPr marL="53340" marR="53340" marT="53340" marB="53340">
                    <a:lnL w="12700" cap="flat" cmpd="sng" algn="ctr">
                      <a:solidFill>
                        <a:srgbClr val="BFBBB1"/>
                      </a:solidFill>
                      <a:prstDash val="solid"/>
                      <a:round/>
                      <a:headEnd type="none" w="med" len="med"/>
                      <a:tailEnd type="none" w="med" len="med"/>
                    </a:lnL>
                    <a:lnR w="12700" cap="flat" cmpd="sng" algn="ctr">
                      <a:solidFill>
                        <a:srgbClr val="BFBBB1"/>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FBBB1"/>
                      </a:solidFill>
                      <a:prstDash val="solid"/>
                      <a:round/>
                      <a:headEnd type="none" w="med" len="med"/>
                      <a:tailEnd type="none" w="med" len="med"/>
                    </a:lnB>
                    <a:solidFill>
                      <a:srgbClr val="EFEADD"/>
                    </a:solidFill>
                  </a:tcPr>
                </a:tc>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Recomendações de compra, grupos de clientes</a:t>
                      </a:r>
                      <a:endParaRPr lang="en-US" sz="1200" dirty="0">
                        <a:latin typeface="DM Sans" charset="0"/>
                        <a:ea typeface="DM Sans" charset="0"/>
                        <a:cs typeface="DM Sans" charset="0"/>
                      </a:endParaRPr>
                    </a:p>
                  </a:txBody>
                  <a:tcPr marL="53340" marR="53340" marT="53340" marB="53340">
                    <a:lnL w="12700" cap="flat" cmpd="sng" algn="ctr">
                      <a:solidFill>
                        <a:srgbClr val="BFBBB1"/>
                      </a:solidFill>
                      <a:prstDash val="solid"/>
                      <a:round/>
                      <a:headEnd type="none" w="med" len="med"/>
                      <a:tailEnd type="none" w="med" len="med"/>
                    </a:lnL>
                    <a:lnR w="12700" cap="flat" cmpd="sng" algn="ctr">
                      <a:solidFill>
                        <a:srgbClr val="BFBBB1"/>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FBBB1"/>
                      </a:solidFill>
                      <a:prstDash val="solid"/>
                      <a:round/>
                      <a:headEnd type="none" w="med" len="med"/>
                      <a:tailEnd type="none" w="med" len="med"/>
                    </a:lnB>
                    <a:solidFill>
                      <a:srgbClr val="EFEADD"/>
                    </a:solidFill>
                  </a:tcPr>
                </a:tc>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Perfis de operação de motores; anomalias em sensores</a:t>
                      </a:r>
                      <a:endParaRPr lang="en-US" sz="1200" dirty="0">
                        <a:latin typeface="DM Sans" charset="0"/>
                        <a:ea typeface="DM Sans" charset="0"/>
                        <a:cs typeface="DM Sans" charset="0"/>
                      </a:endParaRPr>
                    </a:p>
                  </a:txBody>
                  <a:tcPr marL="53340" marR="53340" marT="53340" marB="53340">
                    <a:lnL w="12700" cap="flat" cmpd="sng" algn="ctr">
                      <a:solidFill>
                        <a:srgbClr val="BFBBB1"/>
                      </a:solidFill>
                      <a:prstDash val="solid"/>
                      <a:round/>
                      <a:headEnd type="none" w="med" len="med"/>
                      <a:tailEnd type="none" w="med" len="med"/>
                    </a:lnL>
                    <a:lnR w="12700" cap="flat" cmpd="sng" algn="ctr">
                      <a:solidFill>
                        <a:srgbClr val="BFBBB1"/>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FBBB1"/>
                      </a:solidFill>
                      <a:prstDash val="solid"/>
                      <a:round/>
                      <a:headEnd type="none" w="med" len="med"/>
                      <a:tailEnd type="none" w="med" len="med"/>
                    </a:lnB>
                    <a:solidFill>
                      <a:srgbClr val="EFEADD"/>
                    </a:solidFill>
                  </a:tcPr>
                </a:tc>
                <a:extLst>
                  <a:ext uri="{0D108BD9-81ED-4DB2-BD59-A6C34878D82A}">
                    <a16:rowId xmlns:a16="http://schemas.microsoft.com/office/drawing/2014/main" val="10002"/>
                  </a:ext>
                </a:extLst>
              </a:tr>
              <a:tr h="546001">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Redes neurais (aprendizado profundo)</a:t>
                      </a:r>
                      <a:endParaRPr lang="en-US" sz="1200" dirty="0">
                        <a:latin typeface="DM Sans" charset="0"/>
                        <a:ea typeface="DM Sans" charset="0"/>
                        <a:cs typeface="DM Sans" charset="0"/>
                      </a:endParaRPr>
                    </a:p>
                  </a:txBody>
                  <a:tcPr marL="53340" marR="53340" marT="53340" marB="53340">
                    <a:lnL w="12700" cap="flat" cmpd="sng" algn="ctr">
                      <a:solidFill>
                        <a:srgbClr val="BBB7AD"/>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FBBB1"/>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9F4"/>
                    </a:solidFill>
                  </a:tcPr>
                </a:tc>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Camadas de neurônios artificiais que aprendem padrões complexos.</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FBBB1"/>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9F4"/>
                    </a:solidFill>
                  </a:tcPr>
                </a:tc>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Reconhecimento de voz, tradução automática</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FBBB1"/>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9F4"/>
                    </a:solidFill>
                  </a:tcPr>
                </a:tc>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Inspeção visual de peças; trincas em estruturas</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FBBB1"/>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9F4"/>
                    </a:solidFill>
                  </a:tcPr>
                </a:tc>
                <a:extLst>
                  <a:ext uri="{0D108BD9-81ED-4DB2-BD59-A6C34878D82A}">
                    <a16:rowId xmlns:a16="http://schemas.microsoft.com/office/drawing/2014/main" val="10003"/>
                  </a:ext>
                </a:extLst>
              </a:tr>
              <a:tr h="546001">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Visão computacional</a:t>
                      </a:r>
                      <a:endParaRPr lang="en-US" sz="1200" dirty="0">
                        <a:latin typeface="DM Sans" charset="0"/>
                        <a:ea typeface="DM Sans" charset="0"/>
                        <a:cs typeface="DM Sans" charset="0"/>
                      </a:endParaRPr>
                    </a:p>
                  </a:txBody>
                  <a:tcPr marL="53340" marR="53340" marT="53340" marB="53340">
                    <a:lnL w="12700" cap="flat" cmpd="sng" algn="ctr">
                      <a:solidFill>
                        <a:srgbClr val="BBB7AD"/>
                      </a:solidFill>
                      <a:prstDash val="solid"/>
                      <a:round/>
                      <a:headEnd type="none" w="med" len="med"/>
                      <a:tailEnd type="none" w="med" len="med"/>
                    </a:lnL>
                    <a:lnR w="12700" cap="flat" cmpd="sng" algn="ctr">
                      <a:solidFill>
                        <a:srgbClr val="BFBBB1"/>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FBBB1"/>
                      </a:solidFill>
                      <a:prstDash val="solid"/>
                      <a:round/>
                      <a:headEnd type="none" w="med" len="med"/>
                      <a:tailEnd type="none" w="med" len="med"/>
                    </a:lnB>
                    <a:solidFill>
                      <a:srgbClr val="EFEADD"/>
                    </a:solidFill>
                  </a:tcPr>
                </a:tc>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Extrai informação de imagens e vídeos.</a:t>
                      </a:r>
                      <a:endParaRPr lang="en-US" sz="1200" dirty="0">
                        <a:latin typeface="DM Sans" charset="0"/>
                        <a:ea typeface="DM Sans" charset="0"/>
                        <a:cs typeface="DM Sans" charset="0"/>
                      </a:endParaRPr>
                    </a:p>
                  </a:txBody>
                  <a:tcPr marL="53340" marR="53340" marT="53340" marB="53340">
                    <a:lnL w="12700" cap="flat" cmpd="sng" algn="ctr">
                      <a:solidFill>
                        <a:srgbClr val="BFBBB1"/>
                      </a:solidFill>
                      <a:prstDash val="solid"/>
                      <a:round/>
                      <a:headEnd type="none" w="med" len="med"/>
                      <a:tailEnd type="none" w="med" len="med"/>
                    </a:lnL>
                    <a:lnR w="12700" cap="flat" cmpd="sng" algn="ctr">
                      <a:solidFill>
                        <a:srgbClr val="BFBBB1"/>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FBBB1"/>
                      </a:solidFill>
                      <a:prstDash val="solid"/>
                      <a:round/>
                      <a:headEnd type="none" w="med" len="med"/>
                      <a:tailEnd type="none" w="med" len="med"/>
                    </a:lnB>
                    <a:solidFill>
                      <a:srgbClr val="EFEADD"/>
                    </a:solidFill>
                  </a:tcPr>
                </a:tc>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Desbloqueio do celular, leitura de placas</a:t>
                      </a:r>
                      <a:endParaRPr lang="en-US" sz="1200" dirty="0">
                        <a:latin typeface="DM Sans" charset="0"/>
                        <a:ea typeface="DM Sans" charset="0"/>
                        <a:cs typeface="DM Sans" charset="0"/>
                      </a:endParaRPr>
                    </a:p>
                  </a:txBody>
                  <a:tcPr marL="53340" marR="53340" marT="53340" marB="53340">
                    <a:lnL w="12700" cap="flat" cmpd="sng" algn="ctr">
                      <a:solidFill>
                        <a:srgbClr val="BFBBB1"/>
                      </a:solidFill>
                      <a:prstDash val="solid"/>
                      <a:round/>
                      <a:headEnd type="none" w="med" len="med"/>
                      <a:tailEnd type="none" w="med" len="med"/>
                    </a:lnL>
                    <a:lnR w="12700" cap="flat" cmpd="sng" algn="ctr">
                      <a:solidFill>
                        <a:srgbClr val="BFBBB1"/>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FBBB1"/>
                      </a:solidFill>
                      <a:prstDash val="solid"/>
                      <a:round/>
                      <a:headEnd type="none" w="med" len="med"/>
                      <a:tailEnd type="none" w="med" len="med"/>
                    </a:lnB>
                    <a:solidFill>
                      <a:srgbClr val="EFEADD"/>
                    </a:solidFill>
                  </a:tcPr>
                </a:tc>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Inspeção de frutas; carros autônomos; defeitos de solda</a:t>
                      </a:r>
                      <a:endParaRPr lang="en-US" sz="1200" dirty="0">
                        <a:latin typeface="DM Sans" charset="0"/>
                        <a:ea typeface="DM Sans" charset="0"/>
                        <a:cs typeface="DM Sans" charset="0"/>
                      </a:endParaRPr>
                    </a:p>
                  </a:txBody>
                  <a:tcPr marL="53340" marR="53340" marT="53340" marB="53340">
                    <a:lnL w="12700" cap="flat" cmpd="sng" algn="ctr">
                      <a:solidFill>
                        <a:srgbClr val="BFBBB1"/>
                      </a:solidFill>
                      <a:prstDash val="solid"/>
                      <a:round/>
                      <a:headEnd type="none" w="med" len="med"/>
                      <a:tailEnd type="none" w="med" len="med"/>
                    </a:lnL>
                    <a:lnR w="12700" cap="flat" cmpd="sng" algn="ctr">
                      <a:solidFill>
                        <a:srgbClr val="BFBBB1"/>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FBBB1"/>
                      </a:solidFill>
                      <a:prstDash val="solid"/>
                      <a:round/>
                      <a:headEnd type="none" w="med" len="med"/>
                      <a:tailEnd type="none" w="med" len="med"/>
                    </a:lnB>
                    <a:solidFill>
                      <a:srgbClr val="EFEADD"/>
                    </a:solidFill>
                  </a:tcPr>
                </a:tc>
                <a:extLst>
                  <a:ext uri="{0D108BD9-81ED-4DB2-BD59-A6C34878D82A}">
                    <a16:rowId xmlns:a16="http://schemas.microsoft.com/office/drawing/2014/main" val="10004"/>
                  </a:ext>
                </a:extLst>
              </a:tr>
              <a:tr h="546001">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IA generativa (LLMs)</a:t>
                      </a:r>
                      <a:endParaRPr lang="en-US" sz="1200" dirty="0">
                        <a:latin typeface="DM Sans" charset="0"/>
                        <a:ea typeface="DM Sans" charset="0"/>
                        <a:cs typeface="DM Sans" charset="0"/>
                      </a:endParaRPr>
                    </a:p>
                  </a:txBody>
                  <a:tcPr marL="53340" marR="53340" marT="53340" marB="53340">
                    <a:lnL w="12700" cap="flat" cmpd="sng" algn="ctr">
                      <a:solidFill>
                        <a:srgbClr val="BBB7AD"/>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FBBB1"/>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9F4"/>
                    </a:solidFill>
                  </a:tcPr>
                </a:tc>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Cria texto, imagem e código a partir do que aprendeu.</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FBBB1"/>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9F4"/>
                    </a:solidFill>
                  </a:tcPr>
                </a:tc>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Assistentes de texto, geradores de imagem</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FBBB1"/>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9F4"/>
                    </a:solidFill>
                  </a:tcPr>
                </a:tc>
                <a:tc>
                  <a:txBody>
                    <a:bodyPr/>
                    <a:lstStyle/>
                    <a:p>
                      <a:pPr marL="0" indent="0">
                        <a:lnSpc>
                          <a:spcPts val="1680"/>
                        </a:lnSpc>
                        <a:buNone/>
                      </a:pPr>
                      <a:r>
                        <a:rPr lang="en-US" sz="1200" dirty="0">
                          <a:solidFill>
                            <a:srgbClr val="3B4A4F"/>
                          </a:solidFill>
                          <a:latin typeface="DM Sans" pitchFamily="34" charset="0"/>
                          <a:ea typeface="DM Sans" pitchFamily="34" charset="-122"/>
                          <a:cs typeface="DM Sans" pitchFamily="34" charset="-120"/>
                        </a:rPr>
                        <a:t>Documentação técnica, código e relatórios</a:t>
                      </a:r>
                      <a:endParaRPr lang="en-US" sz="1200" dirty="0">
                        <a:latin typeface="DM Sans" charset="0"/>
                        <a:ea typeface="DM Sans" charset="0"/>
                        <a:cs typeface="DM Sans" charset="0"/>
                      </a:endParaRPr>
                    </a:p>
                  </a:txBody>
                  <a:tcPr marL="53340" marR="53340" marT="53340" marB="53340">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FBBB1"/>
                      </a:solidFill>
                      <a:prstDash val="solid"/>
                      <a:round/>
                      <a:headEnd type="none" w="med" len="med"/>
                      <a:tailEnd type="none" w="med" len="med"/>
                    </a:lnT>
                    <a:lnB w="12700" cap="flat" cmpd="sng" algn="ctr">
                      <a:solidFill>
                        <a:srgbClr val="C8C7C3"/>
                      </a:solidFill>
                      <a:prstDash val="solid"/>
                      <a:round/>
                      <a:headEnd type="none" w="med" len="med"/>
                      <a:tailEnd type="none" w="med" len="med"/>
                    </a:lnB>
                    <a:solidFill>
                      <a:srgbClr val="FBF9F4"/>
                    </a:solidFill>
                  </a:tcPr>
                </a:tc>
                <a:extLst>
                  <a:ext uri="{0D108BD9-81ED-4DB2-BD59-A6C34878D82A}">
                    <a16:rowId xmlns:a16="http://schemas.microsoft.com/office/drawing/2014/main" val="10005"/>
                  </a:ext>
                </a:extLst>
              </a:tr>
            </a:tbl>
          </a:graphicData>
        </a:graphic>
      </p:graphicFrame>
      <p:sp>
        <p:nvSpPr>
          <p:cNvPr id="5" name="Text 2">
            <a:extLst>
              <a:ext uri="{FF2B5EF4-FFF2-40B4-BE49-F238E27FC236}">
                <a16:creationId xmlns:a16="http://schemas.microsoft.com/office/drawing/2014/main" id="{20FA5F33-4315-780E-1BFD-A99449B5E348}"/>
              </a:ext>
            </a:extLst>
          </p:cNvPr>
          <p:cNvSpPr/>
          <p:nvPr/>
        </p:nvSpPr>
        <p:spPr>
          <a:xfrm>
            <a:off x="812800" y="6238280"/>
            <a:ext cx="98107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A6E"/>
                </a:solidFill>
                <a:latin typeface="DM Sans" pitchFamily="34" charset="0"/>
                <a:ea typeface="DM Sans" pitchFamily="34" charset="-122"/>
                <a:cs typeface="DM Sans" pitchFamily="34" charset="-120"/>
              </a:rPr>
              <a:t>Da engenharia à oncologia: IA na solução de problemas reais</a:t>
            </a:r>
            <a:endParaRPr lang="en-US" sz="1200" dirty="0"/>
          </a:p>
        </p:txBody>
      </p:sp>
      <p:sp>
        <p:nvSpPr>
          <p:cNvPr id="6" name="Text 3">
            <a:extLst>
              <a:ext uri="{FF2B5EF4-FFF2-40B4-BE49-F238E27FC236}">
                <a16:creationId xmlns:a16="http://schemas.microsoft.com/office/drawing/2014/main" id="{0DBAAF26-4F01-B4E8-233A-5289F4730060}"/>
              </a:ext>
            </a:extLst>
          </p:cNvPr>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A6E"/>
                </a:solidFill>
                <a:latin typeface="DM Sans" pitchFamily="34" charset="0"/>
                <a:ea typeface="DM Sans" pitchFamily="34" charset="-122"/>
                <a:cs typeface="DM Sans" pitchFamily="34" charset="-120"/>
              </a:rPr>
              <a:t>24</a:t>
            </a:r>
            <a:endParaRPr lang="en-US" sz="1200" dirty="0"/>
          </a:p>
        </p:txBody>
      </p:sp>
    </p:spTree>
    <p:extLst>
      <p:ext uri="{BB962C8B-B14F-4D97-AF65-F5344CB8AC3E}">
        <p14:creationId xmlns:p14="http://schemas.microsoft.com/office/powerpoint/2010/main" val="18174842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29184"/>
            <a:ext cx="9144000" cy="320040"/>
          </a:xfrm>
          <a:prstGeom prst="rect">
            <a:avLst/>
          </a:prstGeom>
          <a:noFill/>
        </p:spPr>
        <p:txBody>
          <a:bodyPr wrap="square" lIns="54864" tIns="18288" rIns="54864" bIns="18288" anchor="t">
            <a:spAutoFit/>
          </a:bodyPr>
          <a:lstStyle/>
          <a:p>
            <a:pPr algn="l"/>
            <a:r>
              <a:rPr sz="1200" b="1">
                <a:solidFill>
                  <a:srgbClr val="1A7A6E"/>
                </a:solidFill>
                <a:latin typeface="Arial"/>
              </a:rPr>
              <a:t>O QUE É INTELIGÊNCIA ARTIFICIAL?</a:t>
            </a:r>
          </a:p>
        </p:txBody>
      </p:sp>
      <p:sp>
        <p:nvSpPr>
          <p:cNvPr id="4" name="TextBox 3"/>
          <p:cNvSpPr txBox="1"/>
          <p:nvPr/>
        </p:nvSpPr>
        <p:spPr>
          <a:xfrm>
            <a:off x="640080" y="621792"/>
            <a:ext cx="11247120" cy="731520"/>
          </a:xfrm>
          <a:prstGeom prst="rect">
            <a:avLst/>
          </a:prstGeom>
          <a:noFill/>
        </p:spPr>
        <p:txBody>
          <a:bodyPr wrap="square" lIns="54864" tIns="18288" rIns="54864" bIns="18288" anchor="t">
            <a:spAutoFit/>
          </a:bodyPr>
          <a:lstStyle/>
          <a:p>
            <a:pPr algn="l"/>
            <a:r>
              <a:rPr sz="3400" b="1">
                <a:solidFill>
                  <a:srgbClr val="14283A"/>
                </a:solidFill>
                <a:latin typeface="Georgia"/>
              </a:rPr>
              <a:t>IA aprende padrões a partir de exemplos</a:t>
            </a:r>
          </a:p>
        </p:txBody>
      </p:sp>
      <p:sp>
        <p:nvSpPr>
          <p:cNvPr id="5" name="TextBox 4"/>
          <p:cNvSpPr txBox="1"/>
          <p:nvPr/>
        </p:nvSpPr>
        <p:spPr>
          <a:xfrm>
            <a:off x="640080" y="1417320"/>
            <a:ext cx="10881360" cy="457200"/>
          </a:xfrm>
          <a:prstGeom prst="rect">
            <a:avLst/>
          </a:prstGeom>
          <a:noFill/>
        </p:spPr>
        <p:txBody>
          <a:bodyPr wrap="square" lIns="54864" tIns="18288" rIns="54864" bIns="18288" anchor="t">
            <a:spAutoFit/>
          </a:bodyPr>
          <a:lstStyle/>
          <a:p>
            <a:pPr algn="ctr"/>
            <a:r>
              <a:rPr sz="1900" b="0">
                <a:solidFill>
                  <a:srgbClr val="3E4F57"/>
                </a:solidFill>
                <a:latin typeface="Arial"/>
              </a:rPr>
              <a:t>Pense nela como uma ferramenta: recebe exemplos, encontra padrões e produz uma resposta.</a:t>
            </a:r>
          </a:p>
        </p:txBody>
      </p:sp>
      <p:sp>
        <p:nvSpPr>
          <p:cNvPr id="6" name="Rounded Rectangle 5"/>
          <p:cNvSpPr/>
          <p:nvPr/>
        </p:nvSpPr>
        <p:spPr>
          <a:xfrm>
            <a:off x="685800" y="2258568"/>
            <a:ext cx="2240280" cy="1508760"/>
          </a:xfrm>
          <a:prstGeom prst="roundRect">
            <a:avLst>
              <a:gd name="adj" fmla="val 12000"/>
            </a:avLst>
          </a:prstGeom>
          <a:solidFill>
            <a:srgbClr val="E6F0EC"/>
          </a:solidFill>
          <a:ln w="9525">
            <a:solidFill>
              <a:srgbClr val="E4D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971800" y="2971800"/>
            <a:ext cx="475488" cy="36576"/>
          </a:xfrm>
          <a:prstGeom prst="rect">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960" y="2404872"/>
            <a:ext cx="393192" cy="393192"/>
          </a:xfrm>
          <a:prstGeom prst="ellipse">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400" b="1">
                <a:solidFill>
                  <a:srgbClr val="FFFFFF"/>
                </a:solidFill>
                <a:latin typeface="Arial"/>
              </a:rPr>
              <a:t>1</a:t>
            </a:r>
          </a:p>
        </p:txBody>
      </p:sp>
      <p:sp>
        <p:nvSpPr>
          <p:cNvPr id="9" name="TextBox 8"/>
          <p:cNvSpPr txBox="1"/>
          <p:nvPr/>
        </p:nvSpPr>
        <p:spPr>
          <a:xfrm>
            <a:off x="1325880" y="2450592"/>
            <a:ext cx="1554480" cy="365760"/>
          </a:xfrm>
          <a:prstGeom prst="rect">
            <a:avLst/>
          </a:prstGeom>
          <a:noFill/>
        </p:spPr>
        <p:txBody>
          <a:bodyPr wrap="square" lIns="54864" tIns="18288" rIns="54864" bIns="18288" anchor="t">
            <a:spAutoFit/>
          </a:bodyPr>
          <a:lstStyle/>
          <a:p>
            <a:pPr algn="l"/>
            <a:r>
              <a:rPr sz="1350" b="1">
                <a:solidFill>
                  <a:srgbClr val="14283A"/>
                </a:solidFill>
                <a:latin typeface="Arial"/>
              </a:rPr>
              <a:t>EXEMPLOS</a:t>
            </a:r>
          </a:p>
        </p:txBody>
      </p:sp>
      <p:sp>
        <p:nvSpPr>
          <p:cNvPr id="10" name="TextBox 9"/>
          <p:cNvSpPr txBox="1"/>
          <p:nvPr/>
        </p:nvSpPr>
        <p:spPr>
          <a:xfrm>
            <a:off x="777240" y="2944368"/>
            <a:ext cx="2057400" cy="777240"/>
          </a:xfrm>
          <a:prstGeom prst="rect">
            <a:avLst/>
          </a:prstGeom>
          <a:noFill/>
        </p:spPr>
        <p:txBody>
          <a:bodyPr wrap="square" lIns="54864" tIns="18288" rIns="54864" bIns="18288" anchor="t">
            <a:spAutoFit/>
          </a:bodyPr>
          <a:lstStyle/>
          <a:p>
            <a:pPr algn="ctr"/>
            <a:r>
              <a:rPr sz="1500" b="0">
                <a:solidFill>
                  <a:srgbClr val="3E4F57"/>
                </a:solidFill>
                <a:latin typeface="Arial"/>
              </a:rPr>
              <a:t>Dados de entrada</a:t>
            </a:r>
          </a:p>
        </p:txBody>
      </p:sp>
      <p:sp>
        <p:nvSpPr>
          <p:cNvPr id="11" name="Rounded Rectangle 10"/>
          <p:cNvSpPr/>
          <p:nvPr/>
        </p:nvSpPr>
        <p:spPr>
          <a:xfrm>
            <a:off x="3520440" y="2258568"/>
            <a:ext cx="2240280" cy="1508760"/>
          </a:xfrm>
          <a:prstGeom prst="roundRect">
            <a:avLst>
              <a:gd name="adj" fmla="val 12000"/>
            </a:avLst>
          </a:prstGeom>
          <a:solidFill>
            <a:srgbClr val="E6EEF8"/>
          </a:solidFill>
          <a:ln w="9525">
            <a:solidFill>
              <a:srgbClr val="E4D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806440" y="2971800"/>
            <a:ext cx="475488" cy="36576"/>
          </a:xfrm>
          <a:prstGeom prst="rect">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600" y="2404872"/>
            <a:ext cx="393192" cy="393192"/>
          </a:xfrm>
          <a:prstGeom prst="ellipse">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400" b="1">
                <a:solidFill>
                  <a:srgbClr val="FFFFFF"/>
                </a:solidFill>
                <a:latin typeface="Arial"/>
              </a:rPr>
              <a:t>2</a:t>
            </a:r>
          </a:p>
        </p:txBody>
      </p:sp>
      <p:sp>
        <p:nvSpPr>
          <p:cNvPr id="14" name="TextBox 13"/>
          <p:cNvSpPr txBox="1"/>
          <p:nvPr/>
        </p:nvSpPr>
        <p:spPr>
          <a:xfrm>
            <a:off x="4160520" y="2450592"/>
            <a:ext cx="1554480" cy="365760"/>
          </a:xfrm>
          <a:prstGeom prst="rect">
            <a:avLst/>
          </a:prstGeom>
          <a:noFill/>
        </p:spPr>
        <p:txBody>
          <a:bodyPr wrap="square" lIns="54864" tIns="18288" rIns="54864" bIns="18288" anchor="t">
            <a:spAutoFit/>
          </a:bodyPr>
          <a:lstStyle/>
          <a:p>
            <a:pPr algn="l"/>
            <a:r>
              <a:rPr sz="1350" b="1">
                <a:solidFill>
                  <a:srgbClr val="14283A"/>
                </a:solidFill>
                <a:latin typeface="Arial"/>
              </a:rPr>
              <a:t>PADRÕES</a:t>
            </a:r>
          </a:p>
        </p:txBody>
      </p:sp>
      <p:sp>
        <p:nvSpPr>
          <p:cNvPr id="15" name="TextBox 14"/>
          <p:cNvSpPr txBox="1"/>
          <p:nvPr/>
        </p:nvSpPr>
        <p:spPr>
          <a:xfrm>
            <a:off x="3611880" y="2944368"/>
            <a:ext cx="2057400" cy="777240"/>
          </a:xfrm>
          <a:prstGeom prst="rect">
            <a:avLst/>
          </a:prstGeom>
          <a:noFill/>
        </p:spPr>
        <p:txBody>
          <a:bodyPr wrap="square" lIns="54864" tIns="18288" rIns="54864" bIns="18288" anchor="t">
            <a:spAutoFit/>
          </a:bodyPr>
          <a:lstStyle/>
          <a:p>
            <a:pPr algn="ctr"/>
            <a:r>
              <a:rPr sz="1500" b="0">
                <a:solidFill>
                  <a:srgbClr val="3E4F57"/>
                </a:solidFill>
                <a:latin typeface="Arial"/>
              </a:rPr>
              <a:t>O algoritmo ajusta o modelo</a:t>
            </a:r>
          </a:p>
        </p:txBody>
      </p:sp>
      <p:sp>
        <p:nvSpPr>
          <p:cNvPr id="16" name="Rounded Rectangle 15"/>
          <p:cNvSpPr/>
          <p:nvPr/>
        </p:nvSpPr>
        <p:spPr>
          <a:xfrm>
            <a:off x="6355080" y="2258568"/>
            <a:ext cx="2240280" cy="1508760"/>
          </a:xfrm>
          <a:prstGeom prst="roundRect">
            <a:avLst>
              <a:gd name="adj" fmla="val 12000"/>
            </a:avLst>
          </a:prstGeom>
          <a:solidFill>
            <a:srgbClr val="FBEFD9"/>
          </a:solidFill>
          <a:ln w="9525">
            <a:solidFill>
              <a:srgbClr val="E4D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641080" y="2971800"/>
            <a:ext cx="475488" cy="36576"/>
          </a:xfrm>
          <a:prstGeom prst="rect">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492240" y="2404872"/>
            <a:ext cx="393192" cy="393192"/>
          </a:xfrm>
          <a:prstGeom prst="ellipse">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400" b="1">
                <a:solidFill>
                  <a:srgbClr val="FFFFFF"/>
                </a:solidFill>
                <a:latin typeface="Arial"/>
              </a:rPr>
              <a:t>3</a:t>
            </a:r>
          </a:p>
        </p:txBody>
      </p:sp>
      <p:sp>
        <p:nvSpPr>
          <p:cNvPr id="19" name="TextBox 18"/>
          <p:cNvSpPr txBox="1"/>
          <p:nvPr/>
        </p:nvSpPr>
        <p:spPr>
          <a:xfrm>
            <a:off x="6995160" y="2450592"/>
            <a:ext cx="1554480" cy="365760"/>
          </a:xfrm>
          <a:prstGeom prst="rect">
            <a:avLst/>
          </a:prstGeom>
          <a:noFill/>
        </p:spPr>
        <p:txBody>
          <a:bodyPr wrap="square" lIns="54864" tIns="18288" rIns="54864" bIns="18288" anchor="t">
            <a:spAutoFit/>
          </a:bodyPr>
          <a:lstStyle/>
          <a:p>
            <a:pPr algn="l"/>
            <a:r>
              <a:rPr sz="1350" b="1">
                <a:solidFill>
                  <a:srgbClr val="14283A"/>
                </a:solidFill>
                <a:latin typeface="Arial"/>
              </a:rPr>
              <a:t>PREVISÃO</a:t>
            </a:r>
          </a:p>
        </p:txBody>
      </p:sp>
      <p:sp>
        <p:nvSpPr>
          <p:cNvPr id="20" name="TextBox 19"/>
          <p:cNvSpPr txBox="1"/>
          <p:nvPr/>
        </p:nvSpPr>
        <p:spPr>
          <a:xfrm>
            <a:off x="6446520" y="2944368"/>
            <a:ext cx="2057400" cy="777240"/>
          </a:xfrm>
          <a:prstGeom prst="rect">
            <a:avLst/>
          </a:prstGeom>
          <a:noFill/>
        </p:spPr>
        <p:txBody>
          <a:bodyPr wrap="square" lIns="54864" tIns="18288" rIns="54864" bIns="18288" anchor="t">
            <a:spAutoFit/>
          </a:bodyPr>
          <a:lstStyle/>
          <a:p>
            <a:pPr algn="ctr"/>
            <a:r>
              <a:rPr sz="1500" b="0">
                <a:solidFill>
                  <a:srgbClr val="3E4F57"/>
                </a:solidFill>
                <a:latin typeface="Arial"/>
              </a:rPr>
              <a:t>Classifica ou estima um caso novo</a:t>
            </a:r>
          </a:p>
        </p:txBody>
      </p:sp>
      <p:sp>
        <p:nvSpPr>
          <p:cNvPr id="21" name="Rounded Rectangle 20"/>
          <p:cNvSpPr/>
          <p:nvPr/>
        </p:nvSpPr>
        <p:spPr>
          <a:xfrm>
            <a:off x="9189720" y="2258568"/>
            <a:ext cx="2240280" cy="1508760"/>
          </a:xfrm>
          <a:prstGeom prst="roundRect">
            <a:avLst>
              <a:gd name="adj" fmla="val 12000"/>
            </a:avLst>
          </a:prstGeom>
          <a:solidFill>
            <a:srgbClr val="EEE6F5"/>
          </a:solidFill>
          <a:ln w="9525">
            <a:solidFill>
              <a:srgbClr val="E4D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326880" y="2404872"/>
            <a:ext cx="393192" cy="393192"/>
          </a:xfrm>
          <a:prstGeom prst="ellipse">
            <a:avLst/>
          </a:prstGeom>
          <a:solidFill>
            <a:srgbClr val="12272E"/>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400" b="1">
                <a:solidFill>
                  <a:srgbClr val="FFFFFF"/>
                </a:solidFill>
                <a:latin typeface="Arial"/>
              </a:rPr>
              <a:t>4</a:t>
            </a:r>
          </a:p>
        </p:txBody>
      </p:sp>
      <p:sp>
        <p:nvSpPr>
          <p:cNvPr id="23" name="TextBox 22"/>
          <p:cNvSpPr txBox="1"/>
          <p:nvPr/>
        </p:nvSpPr>
        <p:spPr>
          <a:xfrm>
            <a:off x="9829800" y="2450592"/>
            <a:ext cx="1554480" cy="365760"/>
          </a:xfrm>
          <a:prstGeom prst="rect">
            <a:avLst/>
          </a:prstGeom>
          <a:noFill/>
        </p:spPr>
        <p:txBody>
          <a:bodyPr wrap="square" lIns="54864" tIns="18288" rIns="54864" bIns="18288" anchor="t">
            <a:spAutoFit/>
          </a:bodyPr>
          <a:lstStyle/>
          <a:p>
            <a:pPr algn="l"/>
            <a:r>
              <a:rPr sz="1350" b="1">
                <a:solidFill>
                  <a:srgbClr val="14283A"/>
                </a:solidFill>
                <a:latin typeface="Arial"/>
              </a:rPr>
              <a:t>REVISÃO</a:t>
            </a:r>
          </a:p>
        </p:txBody>
      </p:sp>
      <p:sp>
        <p:nvSpPr>
          <p:cNvPr id="24" name="TextBox 23"/>
          <p:cNvSpPr txBox="1"/>
          <p:nvPr/>
        </p:nvSpPr>
        <p:spPr>
          <a:xfrm>
            <a:off x="9281160" y="2944368"/>
            <a:ext cx="2057400" cy="777240"/>
          </a:xfrm>
          <a:prstGeom prst="rect">
            <a:avLst/>
          </a:prstGeom>
          <a:noFill/>
        </p:spPr>
        <p:txBody>
          <a:bodyPr wrap="square" lIns="54864" tIns="18288" rIns="54864" bIns="18288" anchor="t">
            <a:spAutoFit/>
          </a:bodyPr>
          <a:lstStyle/>
          <a:p>
            <a:pPr algn="ctr"/>
            <a:r>
              <a:rPr sz="1500" b="0">
                <a:solidFill>
                  <a:srgbClr val="3E4F57"/>
                </a:solidFill>
                <a:latin typeface="Arial"/>
              </a:rPr>
              <a:t>Uma pessoa verifica e decide</a:t>
            </a:r>
          </a:p>
        </p:txBody>
      </p:sp>
      <p:sp>
        <p:nvSpPr>
          <p:cNvPr id="25" name="Rounded Rectangle 24"/>
          <p:cNvSpPr/>
          <p:nvPr/>
        </p:nvSpPr>
        <p:spPr>
          <a:xfrm>
            <a:off x="950976" y="4215384"/>
            <a:ext cx="10241280" cy="978408"/>
          </a:xfrm>
          <a:prstGeom prst="roundRect">
            <a:avLst>
              <a:gd name="adj" fmla="val 18000"/>
            </a:avLst>
          </a:prstGeom>
          <a:solidFill>
            <a:srgbClr val="12272E"/>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750" b="1">
                <a:solidFill>
                  <a:srgbClr val="B9D79B"/>
                </a:solidFill>
                <a:latin typeface="Arial"/>
              </a:rPr>
              <a:t>Importante: </a:t>
            </a:r>
            <a:r>
              <a:rPr sz="1750" b="1">
                <a:solidFill>
                  <a:srgbClr val="FFFFFF"/>
                </a:solidFill>
                <a:latin typeface="Arial"/>
              </a:rPr>
              <a:t>IA não é mágica nem infalível. A qualidade dos dados e a validação fazem diferença.</a:t>
            </a:r>
          </a:p>
        </p:txBody>
      </p:sp>
      <p:sp>
        <p:nvSpPr>
          <p:cNvPr id="26" name="TextBox 25"/>
          <p:cNvSpPr txBox="1"/>
          <p:nvPr/>
        </p:nvSpPr>
        <p:spPr>
          <a:xfrm>
            <a:off x="640080" y="5577840"/>
            <a:ext cx="10881360" cy="457200"/>
          </a:xfrm>
          <a:prstGeom prst="rect">
            <a:avLst/>
          </a:prstGeom>
          <a:noFill/>
        </p:spPr>
        <p:txBody>
          <a:bodyPr wrap="square" lIns="54864" tIns="18288" rIns="54864" bIns="18288" anchor="t">
            <a:spAutoFit/>
          </a:bodyPr>
          <a:lstStyle/>
          <a:p>
            <a:pPr algn="ctr"/>
            <a:r>
              <a:rPr sz="1800" b="1">
                <a:solidFill>
                  <a:srgbClr val="007A78"/>
                </a:solidFill>
                <a:latin typeface="Arial"/>
              </a:rPr>
              <a:t>Vamos ver isso em um exemplo, a seguir.</a:t>
            </a:r>
          </a:p>
        </p:txBody>
      </p:sp>
      <p:sp>
        <p:nvSpPr>
          <p:cNvPr id="27" name="TextBox 26"/>
          <p:cNvSpPr txBox="1"/>
          <p:nvPr/>
        </p:nvSpPr>
        <p:spPr>
          <a:xfrm>
            <a:off x="640080" y="6400800"/>
            <a:ext cx="7315200" cy="274320"/>
          </a:xfrm>
          <a:prstGeom prst="rect">
            <a:avLst/>
          </a:prstGeom>
          <a:noFill/>
        </p:spPr>
        <p:txBody>
          <a:bodyPr wrap="square" lIns="54864" tIns="18288" rIns="54864" bIns="18288" anchor="t">
            <a:spAutoFit/>
          </a:bodyPr>
          <a:lstStyle/>
          <a:p>
            <a:pPr algn="l"/>
            <a:r>
              <a:rPr sz="1000" b="0">
                <a:solidFill>
                  <a:srgbClr val="3E4F57"/>
                </a:solidFill>
                <a:latin typeface="Arial"/>
              </a:rPr>
              <a:t>Da engenharia à oncologia: IA na solução de problemas reais</a:t>
            </a:r>
          </a:p>
        </p:txBody>
      </p:sp>
      <p:sp>
        <p:nvSpPr>
          <p:cNvPr id="28" name="TextBox 27"/>
          <p:cNvSpPr txBox="1"/>
          <p:nvPr/>
        </p:nvSpPr>
        <p:spPr>
          <a:xfrm>
            <a:off x="10972800" y="6400800"/>
            <a:ext cx="594360" cy="274320"/>
          </a:xfrm>
          <a:prstGeom prst="rect">
            <a:avLst/>
          </a:prstGeom>
          <a:noFill/>
        </p:spPr>
        <p:txBody>
          <a:bodyPr wrap="square" lIns="54864" tIns="18288" rIns="54864" bIns="18288" anchor="t">
            <a:spAutoFit/>
          </a:bodyPr>
          <a:lstStyle/>
          <a:p>
            <a:pPr algn="r"/>
            <a:r>
              <a:rPr sz="1000" b="0">
                <a:solidFill>
                  <a:srgbClr val="3E4F57"/>
                </a:solidFill>
                <a:latin typeface="Arial"/>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29184"/>
            <a:ext cx="9144000" cy="320040"/>
          </a:xfrm>
          <a:prstGeom prst="rect">
            <a:avLst/>
          </a:prstGeom>
          <a:noFill/>
        </p:spPr>
        <p:txBody>
          <a:bodyPr wrap="square" lIns="54864" tIns="18288" rIns="54864" bIns="18288" anchor="t">
            <a:spAutoFit/>
          </a:bodyPr>
          <a:lstStyle/>
          <a:p>
            <a:pPr algn="l"/>
            <a:r>
              <a:rPr sz="1200" b="1">
                <a:solidFill>
                  <a:srgbClr val="1A7A6E"/>
                </a:solidFill>
                <a:latin typeface="Arial"/>
              </a:rPr>
              <a:t>NA PRÁTICA · O CAMINHO DO PROJETO</a:t>
            </a:r>
          </a:p>
        </p:txBody>
      </p:sp>
      <p:sp>
        <p:nvSpPr>
          <p:cNvPr id="4" name="TextBox 3"/>
          <p:cNvSpPr txBox="1"/>
          <p:nvPr/>
        </p:nvSpPr>
        <p:spPr>
          <a:xfrm>
            <a:off x="640080" y="621792"/>
            <a:ext cx="11247120" cy="731520"/>
          </a:xfrm>
          <a:prstGeom prst="rect">
            <a:avLst/>
          </a:prstGeom>
          <a:noFill/>
        </p:spPr>
        <p:txBody>
          <a:bodyPr wrap="square" lIns="54864" tIns="18288" rIns="54864" bIns="18288" anchor="t">
            <a:spAutoFit/>
          </a:bodyPr>
          <a:lstStyle/>
          <a:p>
            <a:pPr algn="l"/>
            <a:r>
              <a:rPr sz="3400" b="1">
                <a:solidFill>
                  <a:srgbClr val="14283A"/>
                </a:solidFill>
                <a:latin typeface="Georgia"/>
              </a:rPr>
              <a:t>Na prática, todo projeto segue quatro passos</a:t>
            </a:r>
          </a:p>
        </p:txBody>
      </p:sp>
      <p:sp>
        <p:nvSpPr>
          <p:cNvPr id="5" name="TextBox 4"/>
          <p:cNvSpPr txBox="1"/>
          <p:nvPr/>
        </p:nvSpPr>
        <p:spPr>
          <a:xfrm>
            <a:off x="640080" y="1417320"/>
            <a:ext cx="10881360" cy="457200"/>
          </a:xfrm>
          <a:prstGeom prst="rect">
            <a:avLst/>
          </a:prstGeom>
          <a:noFill/>
        </p:spPr>
        <p:txBody>
          <a:bodyPr wrap="square" lIns="54864" tIns="18288" rIns="54864" bIns="18288" anchor="t">
            <a:spAutoFit/>
          </a:bodyPr>
          <a:lstStyle/>
          <a:p>
            <a:pPr algn="ctr"/>
            <a:r>
              <a:rPr sz="1900" b="0">
                <a:solidFill>
                  <a:srgbClr val="3E4F57"/>
                </a:solidFill>
                <a:latin typeface="Arial"/>
              </a:rPr>
              <a:t>Agora, como organizar isso em um projeto de verdade.</a:t>
            </a:r>
          </a:p>
        </p:txBody>
      </p:sp>
      <p:sp>
        <p:nvSpPr>
          <p:cNvPr id="6" name="Rounded Rectangle 5"/>
          <p:cNvSpPr/>
          <p:nvPr/>
        </p:nvSpPr>
        <p:spPr>
          <a:xfrm>
            <a:off x="685800" y="2258568"/>
            <a:ext cx="2240280" cy="1508760"/>
          </a:xfrm>
          <a:prstGeom prst="roundRect">
            <a:avLst>
              <a:gd name="adj" fmla="val 12000"/>
            </a:avLst>
          </a:prstGeom>
          <a:solidFill>
            <a:srgbClr val="E6F0EC"/>
          </a:solidFill>
          <a:ln w="9525">
            <a:solidFill>
              <a:srgbClr val="E4D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971800" y="2971800"/>
            <a:ext cx="475488" cy="36576"/>
          </a:xfrm>
          <a:prstGeom prst="rect">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960" y="2404872"/>
            <a:ext cx="393192" cy="393192"/>
          </a:xfrm>
          <a:prstGeom prst="ellipse">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400" b="1">
                <a:solidFill>
                  <a:srgbClr val="FFFFFF"/>
                </a:solidFill>
                <a:latin typeface="Arial"/>
              </a:rPr>
              <a:t>1</a:t>
            </a:r>
          </a:p>
        </p:txBody>
      </p:sp>
      <p:sp>
        <p:nvSpPr>
          <p:cNvPr id="9" name="TextBox 8"/>
          <p:cNvSpPr txBox="1"/>
          <p:nvPr/>
        </p:nvSpPr>
        <p:spPr>
          <a:xfrm>
            <a:off x="1325880" y="2450592"/>
            <a:ext cx="1554480" cy="365760"/>
          </a:xfrm>
          <a:prstGeom prst="rect">
            <a:avLst/>
          </a:prstGeom>
          <a:noFill/>
        </p:spPr>
        <p:txBody>
          <a:bodyPr wrap="square" lIns="54864" tIns="18288" rIns="54864" bIns="18288" anchor="t">
            <a:spAutoFit/>
          </a:bodyPr>
          <a:lstStyle/>
          <a:p>
            <a:pPr algn="l"/>
            <a:r>
              <a:rPr sz="1350" b="1">
                <a:solidFill>
                  <a:srgbClr val="14283A"/>
                </a:solidFill>
                <a:latin typeface="Arial"/>
              </a:rPr>
              <a:t>DADOS</a:t>
            </a:r>
          </a:p>
        </p:txBody>
      </p:sp>
      <p:sp>
        <p:nvSpPr>
          <p:cNvPr id="10" name="TextBox 9"/>
          <p:cNvSpPr txBox="1"/>
          <p:nvPr/>
        </p:nvSpPr>
        <p:spPr>
          <a:xfrm>
            <a:off x="777240" y="2944368"/>
            <a:ext cx="2057400" cy="777240"/>
          </a:xfrm>
          <a:prstGeom prst="rect">
            <a:avLst/>
          </a:prstGeom>
          <a:noFill/>
        </p:spPr>
        <p:txBody>
          <a:bodyPr wrap="square" lIns="54864" tIns="18288" rIns="54864" bIns="18288" anchor="t">
            <a:spAutoFit/>
          </a:bodyPr>
          <a:lstStyle/>
          <a:p>
            <a:pPr algn="ctr"/>
            <a:r>
              <a:rPr sz="1500" b="0">
                <a:solidFill>
                  <a:srgbClr val="3E4F57"/>
                </a:solidFill>
                <a:latin typeface="Arial"/>
              </a:rPr>
              <a:t>Carregar e limpar</a:t>
            </a:r>
          </a:p>
        </p:txBody>
      </p:sp>
      <p:sp>
        <p:nvSpPr>
          <p:cNvPr id="11" name="Rounded Rectangle 10"/>
          <p:cNvSpPr/>
          <p:nvPr/>
        </p:nvSpPr>
        <p:spPr>
          <a:xfrm>
            <a:off x="3520440" y="2258568"/>
            <a:ext cx="2240280" cy="1508760"/>
          </a:xfrm>
          <a:prstGeom prst="roundRect">
            <a:avLst>
              <a:gd name="adj" fmla="val 12000"/>
            </a:avLst>
          </a:prstGeom>
          <a:solidFill>
            <a:srgbClr val="E6EEF8"/>
          </a:solidFill>
          <a:ln w="9525">
            <a:solidFill>
              <a:srgbClr val="E4D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806440" y="2971800"/>
            <a:ext cx="475488" cy="36576"/>
          </a:xfrm>
          <a:prstGeom prst="rect">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57600" y="2404872"/>
            <a:ext cx="393192" cy="393192"/>
          </a:xfrm>
          <a:prstGeom prst="ellipse">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400" b="1">
                <a:solidFill>
                  <a:srgbClr val="FFFFFF"/>
                </a:solidFill>
                <a:latin typeface="Arial"/>
              </a:rPr>
              <a:t>2</a:t>
            </a:r>
          </a:p>
        </p:txBody>
      </p:sp>
      <p:sp>
        <p:nvSpPr>
          <p:cNvPr id="14" name="TextBox 13"/>
          <p:cNvSpPr txBox="1"/>
          <p:nvPr/>
        </p:nvSpPr>
        <p:spPr>
          <a:xfrm>
            <a:off x="4160520" y="2450592"/>
            <a:ext cx="1554480" cy="365760"/>
          </a:xfrm>
          <a:prstGeom prst="rect">
            <a:avLst/>
          </a:prstGeom>
          <a:noFill/>
        </p:spPr>
        <p:txBody>
          <a:bodyPr wrap="square" lIns="54864" tIns="18288" rIns="54864" bIns="18288" anchor="t">
            <a:spAutoFit/>
          </a:bodyPr>
          <a:lstStyle/>
          <a:p>
            <a:pPr algn="l"/>
            <a:r>
              <a:rPr sz="1350" b="1">
                <a:solidFill>
                  <a:srgbClr val="14283A"/>
                </a:solidFill>
                <a:latin typeface="Arial"/>
              </a:rPr>
              <a:t>DIVISÃO</a:t>
            </a:r>
          </a:p>
        </p:txBody>
      </p:sp>
      <p:sp>
        <p:nvSpPr>
          <p:cNvPr id="15" name="TextBox 14"/>
          <p:cNvSpPr txBox="1"/>
          <p:nvPr/>
        </p:nvSpPr>
        <p:spPr>
          <a:xfrm>
            <a:off x="3611880" y="2944368"/>
            <a:ext cx="2057400" cy="777240"/>
          </a:xfrm>
          <a:prstGeom prst="rect">
            <a:avLst/>
          </a:prstGeom>
          <a:noFill/>
        </p:spPr>
        <p:txBody>
          <a:bodyPr wrap="square" lIns="54864" tIns="18288" rIns="54864" bIns="18288" anchor="t">
            <a:spAutoFit/>
          </a:bodyPr>
          <a:lstStyle/>
          <a:p>
            <a:pPr algn="ctr"/>
            <a:r>
              <a:rPr sz="1500" b="0">
                <a:solidFill>
                  <a:srgbClr val="3E4F57"/>
                </a:solidFill>
                <a:latin typeface="Arial"/>
              </a:rPr>
              <a:t>Separar treino e teste</a:t>
            </a:r>
          </a:p>
        </p:txBody>
      </p:sp>
      <p:sp>
        <p:nvSpPr>
          <p:cNvPr id="16" name="Rounded Rectangle 15"/>
          <p:cNvSpPr/>
          <p:nvPr/>
        </p:nvSpPr>
        <p:spPr>
          <a:xfrm>
            <a:off x="6355080" y="2258568"/>
            <a:ext cx="2240280" cy="1508760"/>
          </a:xfrm>
          <a:prstGeom prst="roundRect">
            <a:avLst>
              <a:gd name="adj" fmla="val 12000"/>
            </a:avLst>
          </a:prstGeom>
          <a:solidFill>
            <a:srgbClr val="FBEFD9"/>
          </a:solidFill>
          <a:ln w="9525">
            <a:solidFill>
              <a:srgbClr val="E4D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641080" y="2971800"/>
            <a:ext cx="475488" cy="36576"/>
          </a:xfrm>
          <a:prstGeom prst="rect">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492240" y="2404872"/>
            <a:ext cx="393192" cy="393192"/>
          </a:xfrm>
          <a:prstGeom prst="ellipse">
            <a:avLst/>
          </a:prstGeom>
          <a:solidFill>
            <a:srgbClr val="1A7A6E"/>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400" b="1">
                <a:solidFill>
                  <a:srgbClr val="FFFFFF"/>
                </a:solidFill>
                <a:latin typeface="Arial"/>
              </a:rPr>
              <a:t>3</a:t>
            </a:r>
          </a:p>
        </p:txBody>
      </p:sp>
      <p:sp>
        <p:nvSpPr>
          <p:cNvPr id="19" name="TextBox 18"/>
          <p:cNvSpPr txBox="1"/>
          <p:nvPr/>
        </p:nvSpPr>
        <p:spPr>
          <a:xfrm>
            <a:off x="6995160" y="2450592"/>
            <a:ext cx="1554480" cy="365760"/>
          </a:xfrm>
          <a:prstGeom prst="rect">
            <a:avLst/>
          </a:prstGeom>
          <a:noFill/>
        </p:spPr>
        <p:txBody>
          <a:bodyPr wrap="square" lIns="54864" tIns="18288" rIns="54864" bIns="18288" anchor="t">
            <a:spAutoFit/>
          </a:bodyPr>
          <a:lstStyle/>
          <a:p>
            <a:pPr algn="l"/>
            <a:r>
              <a:rPr sz="1350" b="1">
                <a:solidFill>
                  <a:srgbClr val="14283A"/>
                </a:solidFill>
                <a:latin typeface="Arial"/>
              </a:rPr>
              <a:t>MODELO</a:t>
            </a:r>
          </a:p>
        </p:txBody>
      </p:sp>
      <p:sp>
        <p:nvSpPr>
          <p:cNvPr id="20" name="TextBox 19"/>
          <p:cNvSpPr txBox="1"/>
          <p:nvPr/>
        </p:nvSpPr>
        <p:spPr>
          <a:xfrm>
            <a:off x="6446520" y="2944368"/>
            <a:ext cx="2057400" cy="777240"/>
          </a:xfrm>
          <a:prstGeom prst="rect">
            <a:avLst/>
          </a:prstGeom>
          <a:noFill/>
        </p:spPr>
        <p:txBody>
          <a:bodyPr wrap="square" lIns="54864" tIns="18288" rIns="54864" bIns="18288" anchor="t">
            <a:spAutoFit/>
          </a:bodyPr>
          <a:lstStyle/>
          <a:p>
            <a:pPr algn="ctr"/>
            <a:r>
              <a:rPr sz="1500" b="0">
                <a:solidFill>
                  <a:srgbClr val="3E4F57"/>
                </a:solidFill>
                <a:latin typeface="Arial"/>
              </a:rPr>
              <a:t>Treinar o algoritmo: aqui a IA aprende os padrões</a:t>
            </a:r>
          </a:p>
        </p:txBody>
      </p:sp>
      <p:sp>
        <p:nvSpPr>
          <p:cNvPr id="21" name="Rounded Rectangle 20"/>
          <p:cNvSpPr/>
          <p:nvPr/>
        </p:nvSpPr>
        <p:spPr>
          <a:xfrm>
            <a:off x="9189720" y="2258568"/>
            <a:ext cx="2240280" cy="1508760"/>
          </a:xfrm>
          <a:prstGeom prst="roundRect">
            <a:avLst>
              <a:gd name="adj" fmla="val 12000"/>
            </a:avLst>
          </a:prstGeom>
          <a:solidFill>
            <a:srgbClr val="EEE6F5"/>
          </a:solidFill>
          <a:ln w="9525">
            <a:solidFill>
              <a:srgbClr val="E4D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326880" y="2404872"/>
            <a:ext cx="393192" cy="393192"/>
          </a:xfrm>
          <a:prstGeom prst="ellipse">
            <a:avLst/>
          </a:prstGeom>
          <a:solidFill>
            <a:srgbClr val="12272E"/>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400" b="1">
                <a:solidFill>
                  <a:srgbClr val="FFFFFF"/>
                </a:solidFill>
                <a:latin typeface="Arial"/>
              </a:rPr>
              <a:t>4</a:t>
            </a:r>
          </a:p>
        </p:txBody>
      </p:sp>
      <p:sp>
        <p:nvSpPr>
          <p:cNvPr id="23" name="TextBox 22"/>
          <p:cNvSpPr txBox="1"/>
          <p:nvPr/>
        </p:nvSpPr>
        <p:spPr>
          <a:xfrm>
            <a:off x="9829800" y="2450592"/>
            <a:ext cx="1554480" cy="365760"/>
          </a:xfrm>
          <a:prstGeom prst="rect">
            <a:avLst/>
          </a:prstGeom>
          <a:noFill/>
        </p:spPr>
        <p:txBody>
          <a:bodyPr wrap="square" lIns="54864" tIns="18288" rIns="54864" bIns="18288" anchor="t">
            <a:spAutoFit/>
          </a:bodyPr>
          <a:lstStyle/>
          <a:p>
            <a:pPr algn="l"/>
            <a:r>
              <a:rPr sz="1350" b="1">
                <a:solidFill>
                  <a:srgbClr val="14283A"/>
                </a:solidFill>
                <a:latin typeface="Arial"/>
              </a:rPr>
              <a:t>AVALIAÇÃO</a:t>
            </a:r>
          </a:p>
        </p:txBody>
      </p:sp>
      <p:sp>
        <p:nvSpPr>
          <p:cNvPr id="24" name="TextBox 23"/>
          <p:cNvSpPr txBox="1"/>
          <p:nvPr/>
        </p:nvSpPr>
        <p:spPr>
          <a:xfrm>
            <a:off x="9281160" y="2944368"/>
            <a:ext cx="2057400" cy="777240"/>
          </a:xfrm>
          <a:prstGeom prst="rect">
            <a:avLst/>
          </a:prstGeom>
          <a:noFill/>
        </p:spPr>
        <p:txBody>
          <a:bodyPr wrap="square" lIns="54864" tIns="18288" rIns="54864" bIns="18288" anchor="t">
            <a:spAutoFit/>
          </a:bodyPr>
          <a:lstStyle/>
          <a:p>
            <a:pPr algn="ctr"/>
            <a:r>
              <a:rPr sz="1500" b="0">
                <a:solidFill>
                  <a:srgbClr val="3E4F57"/>
                </a:solidFill>
                <a:latin typeface="Arial"/>
              </a:rPr>
              <a:t>Medir no conjunto de teste</a:t>
            </a:r>
          </a:p>
        </p:txBody>
      </p:sp>
      <p:sp>
        <p:nvSpPr>
          <p:cNvPr id="25" name="Rounded Rectangle 24"/>
          <p:cNvSpPr/>
          <p:nvPr/>
        </p:nvSpPr>
        <p:spPr>
          <a:xfrm>
            <a:off x="950976" y="4215384"/>
            <a:ext cx="10241280" cy="978408"/>
          </a:xfrm>
          <a:prstGeom prst="roundRect">
            <a:avLst>
              <a:gd name="adj" fmla="val 18000"/>
            </a:avLst>
          </a:prstGeom>
          <a:solidFill>
            <a:srgbClr val="12272E"/>
          </a:solidFill>
          <a:ln>
            <a:no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750" b="1">
                <a:solidFill>
                  <a:srgbClr val="B9D79B"/>
                </a:solidFill>
                <a:latin typeface="Arial"/>
              </a:rPr>
              <a:t>Regra de ouro: </a:t>
            </a:r>
            <a:r>
              <a:rPr sz="1750" b="1">
                <a:solidFill>
                  <a:srgbClr val="FFFFFF"/>
                </a:solidFill>
                <a:latin typeface="Arial"/>
              </a:rPr>
              <a:t>nunca avalie o modelo com os mesmos dados usados para treinar.</a:t>
            </a:r>
          </a:p>
        </p:txBody>
      </p:sp>
      <p:sp>
        <p:nvSpPr>
          <p:cNvPr id="26" name="TextBox 25"/>
          <p:cNvSpPr txBox="1"/>
          <p:nvPr/>
        </p:nvSpPr>
        <p:spPr>
          <a:xfrm>
            <a:off x="640080" y="5577840"/>
            <a:ext cx="10881360" cy="457200"/>
          </a:xfrm>
          <a:prstGeom prst="rect">
            <a:avLst/>
          </a:prstGeom>
          <a:noFill/>
        </p:spPr>
        <p:txBody>
          <a:bodyPr wrap="square" lIns="54864" tIns="18288" rIns="54864" bIns="18288" anchor="t">
            <a:spAutoFit/>
          </a:bodyPr>
          <a:lstStyle/>
          <a:p>
            <a:pPr algn="ctr"/>
            <a:r>
              <a:rPr sz="1800" b="0">
                <a:solidFill>
                  <a:srgbClr val="3E4F57"/>
                </a:solidFill>
                <a:latin typeface="Arial"/>
              </a:rPr>
              <a:t>Faremos esses quatro passos em Python, até o gráfico de resultados.</a:t>
            </a:r>
          </a:p>
        </p:txBody>
      </p:sp>
      <p:sp>
        <p:nvSpPr>
          <p:cNvPr id="27" name="TextBox 26"/>
          <p:cNvSpPr txBox="1"/>
          <p:nvPr/>
        </p:nvSpPr>
        <p:spPr>
          <a:xfrm>
            <a:off x="640080" y="6400800"/>
            <a:ext cx="7315200" cy="274320"/>
          </a:xfrm>
          <a:prstGeom prst="rect">
            <a:avLst/>
          </a:prstGeom>
          <a:noFill/>
        </p:spPr>
        <p:txBody>
          <a:bodyPr wrap="square" lIns="54864" tIns="18288" rIns="54864" bIns="18288" anchor="t">
            <a:spAutoFit/>
          </a:bodyPr>
          <a:lstStyle/>
          <a:p>
            <a:pPr algn="l"/>
            <a:r>
              <a:rPr sz="1000" b="0">
                <a:solidFill>
                  <a:srgbClr val="3E4F57"/>
                </a:solidFill>
                <a:latin typeface="Arial"/>
              </a:rPr>
              <a:t>Da engenharia à oncologia: IA na solução de problemas reais</a:t>
            </a:r>
          </a:p>
        </p:txBody>
      </p:sp>
      <p:sp>
        <p:nvSpPr>
          <p:cNvPr id="28" name="TextBox 27"/>
          <p:cNvSpPr txBox="1"/>
          <p:nvPr/>
        </p:nvSpPr>
        <p:spPr>
          <a:xfrm>
            <a:off x="10972800" y="6400800"/>
            <a:ext cx="594360" cy="274320"/>
          </a:xfrm>
          <a:prstGeom prst="rect">
            <a:avLst/>
          </a:prstGeom>
          <a:noFill/>
        </p:spPr>
        <p:txBody>
          <a:bodyPr wrap="square" lIns="54864" tIns="18288" rIns="54864" bIns="18288" anchor="t">
            <a:spAutoFit/>
          </a:bodyPr>
          <a:lstStyle/>
          <a:p>
            <a:pPr algn="r"/>
            <a:r>
              <a:rPr sz="1000" b="0">
                <a:solidFill>
                  <a:srgbClr val="3E4F57"/>
                </a:solidFill>
                <a:latin typeface="Arial"/>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256032"/>
          </a:xfrm>
          <a:prstGeom prst="rect">
            <a:avLst/>
          </a:prstGeom>
          <a:noFill/>
        </p:spPr>
        <p:txBody>
          <a:bodyPr wrap="square" lIns="45720" rIns="45720" anchor="t">
            <a:spAutoFit/>
          </a:bodyPr>
          <a:lstStyle/>
          <a:p>
            <a:pPr algn="l">
              <a:spcAft>
                <a:spcPts val="0"/>
              </a:spcAft>
            </a:pPr>
            <a:r>
              <a:rPr sz="1100" b="1">
                <a:solidFill>
                  <a:srgbClr val="177770"/>
                </a:solidFill>
                <a:latin typeface="Aptos"/>
              </a:rPr>
              <a:t>EXEMPLO PRÁTICO · ETAPA 1 DE 3 · COLAB: BÔNUS A</a:t>
            </a:r>
          </a:p>
        </p:txBody>
      </p:sp>
      <p:sp>
        <p:nvSpPr>
          <p:cNvPr id="3" name="TextBox 2"/>
          <p:cNvSpPr txBox="1"/>
          <p:nvPr/>
        </p:nvSpPr>
        <p:spPr>
          <a:xfrm>
            <a:off x="594360" y="566928"/>
            <a:ext cx="11064240" cy="923330"/>
          </a:xfrm>
          <a:prstGeom prst="rect">
            <a:avLst/>
          </a:prstGeom>
          <a:noFill/>
        </p:spPr>
        <p:txBody>
          <a:bodyPr wrap="square" lIns="45720" rIns="45720" anchor="t">
            <a:spAutoFit/>
          </a:bodyPr>
          <a:lstStyle/>
          <a:p>
            <a:pPr algn="l">
              <a:spcAft>
                <a:spcPts val="0"/>
              </a:spcAft>
            </a:pPr>
            <a:r>
              <a:rPr sz="2700" b="1" dirty="0">
                <a:solidFill>
                  <a:srgbClr val="10272D"/>
                </a:solidFill>
                <a:latin typeface="Georgia"/>
              </a:rPr>
              <a:t>1. </a:t>
            </a:r>
            <a:r>
              <a:rPr lang="pt-BR" sz="2700" b="1" dirty="0">
                <a:solidFill>
                  <a:srgbClr val="10272D"/>
                </a:solidFill>
                <a:latin typeface="Georgia"/>
              </a:rPr>
              <a:t>Aprendizado de Máquina </a:t>
            </a:r>
            <a:r>
              <a:rPr lang="pt-BR" sz="2700" b="1" dirty="0" err="1">
                <a:solidFill>
                  <a:srgbClr val="10272D"/>
                </a:solidFill>
                <a:latin typeface="Georgia"/>
              </a:rPr>
              <a:t>Supervisonado</a:t>
            </a:r>
            <a:endParaRPr lang="pt-BR" sz="2700" b="1" dirty="0">
              <a:solidFill>
                <a:srgbClr val="10272D"/>
              </a:solidFill>
              <a:latin typeface="Georgia"/>
            </a:endParaRPr>
          </a:p>
          <a:p>
            <a:pPr algn="l">
              <a:spcAft>
                <a:spcPts val="0"/>
              </a:spcAft>
            </a:pPr>
            <a:r>
              <a:rPr sz="2700" b="1" dirty="0">
                <a:solidFill>
                  <a:srgbClr val="10272D"/>
                </a:solidFill>
                <a:latin typeface="Georgia"/>
              </a:rPr>
              <a:t>Primeiro, </a:t>
            </a:r>
            <a:r>
              <a:rPr sz="2700" b="1" dirty="0" err="1">
                <a:solidFill>
                  <a:srgbClr val="10272D"/>
                </a:solidFill>
                <a:latin typeface="Georgia"/>
              </a:rPr>
              <a:t>mostramos</a:t>
            </a:r>
            <a:r>
              <a:rPr sz="2700" b="1" dirty="0">
                <a:solidFill>
                  <a:srgbClr val="10272D"/>
                </a:solidFill>
                <a:latin typeface="Georgia"/>
              </a:rPr>
              <a:t> </a:t>
            </a:r>
            <a:r>
              <a:rPr sz="2700" b="1" dirty="0" err="1">
                <a:solidFill>
                  <a:srgbClr val="10272D"/>
                </a:solidFill>
                <a:latin typeface="Georgia"/>
              </a:rPr>
              <a:t>exemplos</a:t>
            </a:r>
            <a:r>
              <a:rPr lang="pt-BR" sz="2700" b="1" dirty="0">
                <a:solidFill>
                  <a:srgbClr val="10272D"/>
                </a:solidFill>
                <a:latin typeface="Georgia"/>
              </a:rPr>
              <a:t> (treinamento)</a:t>
            </a:r>
            <a:endParaRPr sz="2700" b="1" dirty="0">
              <a:solidFill>
                <a:srgbClr val="10272D"/>
              </a:solidFill>
              <a:latin typeface="Georgia"/>
            </a:endParaRPr>
          </a:p>
        </p:txBody>
      </p:sp>
      <p:sp>
        <p:nvSpPr>
          <p:cNvPr id="4" name="TextBox 3"/>
          <p:cNvSpPr txBox="1"/>
          <p:nvPr/>
        </p:nvSpPr>
        <p:spPr>
          <a:xfrm>
            <a:off x="685800" y="1679957"/>
            <a:ext cx="10972800" cy="384048"/>
          </a:xfrm>
          <a:prstGeom prst="rect">
            <a:avLst/>
          </a:prstGeom>
          <a:noFill/>
        </p:spPr>
        <p:txBody>
          <a:bodyPr wrap="square" lIns="45720" rIns="45720" anchor="t">
            <a:spAutoFit/>
          </a:bodyPr>
          <a:lstStyle/>
          <a:p>
            <a:pPr algn="l">
              <a:spcAft>
                <a:spcPts val="0"/>
              </a:spcAft>
            </a:pPr>
            <a:r>
              <a:rPr lang="pt-BR" b="0" noProof="0" dirty="0">
                <a:solidFill>
                  <a:srgbClr val="3A4B51"/>
                </a:solidFill>
                <a:latin typeface="Aptos"/>
              </a:rPr>
              <a:t>Dados rotulados ajudam o modelo a aprender a diferença entre classes.</a:t>
            </a:r>
          </a:p>
        </p:txBody>
      </p:sp>
      <p:sp>
        <p:nvSpPr>
          <p:cNvPr id="5" name="Oval 4"/>
          <p:cNvSpPr/>
          <p:nvPr/>
        </p:nvSpPr>
        <p:spPr>
          <a:xfrm>
            <a:off x="1005840" y="2279395"/>
            <a:ext cx="457200" cy="457200"/>
          </a:xfrm>
          <a:prstGeom prst="ellipse">
            <a:avLst/>
          </a:prstGeom>
          <a:solidFill>
            <a:srgbClr val="177770"/>
          </a:solidFill>
          <a:ln>
            <a:solidFill>
              <a:srgbClr val="177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2343403"/>
            <a:ext cx="457200" cy="228600"/>
          </a:xfrm>
          <a:prstGeom prst="rect">
            <a:avLst/>
          </a:prstGeom>
          <a:noFill/>
        </p:spPr>
        <p:txBody>
          <a:bodyPr wrap="square" lIns="45720" rIns="45720" anchor="t">
            <a:spAutoFit/>
          </a:bodyPr>
          <a:lstStyle/>
          <a:p>
            <a:pPr algn="ctr">
              <a:spcAft>
                <a:spcPts val="0"/>
              </a:spcAft>
            </a:pPr>
            <a:r>
              <a:rPr sz="1400" b="1">
                <a:solidFill>
                  <a:srgbClr val="FFFFFF"/>
                </a:solidFill>
                <a:latin typeface="Aptos"/>
              </a:rPr>
              <a:t>1</a:t>
            </a:r>
          </a:p>
        </p:txBody>
      </p:sp>
      <p:sp>
        <p:nvSpPr>
          <p:cNvPr id="7" name="TextBox 6"/>
          <p:cNvSpPr txBox="1"/>
          <p:nvPr/>
        </p:nvSpPr>
        <p:spPr>
          <a:xfrm>
            <a:off x="1600200" y="2343403"/>
            <a:ext cx="1920240" cy="256032"/>
          </a:xfrm>
          <a:prstGeom prst="rect">
            <a:avLst/>
          </a:prstGeom>
          <a:noFill/>
        </p:spPr>
        <p:txBody>
          <a:bodyPr wrap="square" lIns="45720" rIns="45720" anchor="t">
            <a:spAutoFit/>
          </a:bodyPr>
          <a:lstStyle/>
          <a:p>
            <a:pPr algn="l">
              <a:spcAft>
                <a:spcPts val="0"/>
              </a:spcAft>
            </a:pPr>
            <a:r>
              <a:rPr sz="1300" b="1">
                <a:solidFill>
                  <a:srgbClr val="10272D"/>
                </a:solidFill>
                <a:latin typeface="Aptos"/>
              </a:rPr>
              <a:t>EXEMPLOS</a:t>
            </a:r>
          </a:p>
        </p:txBody>
      </p:sp>
      <p:cxnSp>
        <p:nvCxnSpPr>
          <p:cNvPr id="8" name="Connector 7"/>
          <p:cNvCxnSpPr/>
          <p:nvPr/>
        </p:nvCxnSpPr>
        <p:spPr>
          <a:xfrm>
            <a:off x="3611880" y="2507995"/>
            <a:ext cx="822960" cy="0"/>
          </a:xfrm>
          <a:prstGeom prst="line">
            <a:avLst/>
          </a:prstGeom>
          <a:ln w="25400">
            <a:solidFill>
              <a:srgbClr val="DED6C7"/>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572000" y="2279395"/>
            <a:ext cx="457200" cy="457200"/>
          </a:xfrm>
          <a:prstGeom prst="ellipse">
            <a:avLst/>
          </a:prstGeom>
          <a:solidFill>
            <a:srgbClr val="DED6C7"/>
          </a:solidFill>
          <a:ln>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2343403"/>
            <a:ext cx="457200" cy="228600"/>
          </a:xfrm>
          <a:prstGeom prst="rect">
            <a:avLst/>
          </a:prstGeom>
          <a:noFill/>
        </p:spPr>
        <p:txBody>
          <a:bodyPr wrap="square" lIns="45720" rIns="45720" anchor="t">
            <a:spAutoFit/>
          </a:bodyPr>
          <a:lstStyle/>
          <a:p>
            <a:pPr algn="ctr">
              <a:spcAft>
                <a:spcPts val="0"/>
              </a:spcAft>
            </a:pPr>
            <a:r>
              <a:rPr sz="1400" b="1">
                <a:solidFill>
                  <a:srgbClr val="3A4B51"/>
                </a:solidFill>
                <a:latin typeface="Aptos"/>
              </a:rPr>
              <a:t>2</a:t>
            </a:r>
          </a:p>
        </p:txBody>
      </p:sp>
      <p:sp>
        <p:nvSpPr>
          <p:cNvPr id="11" name="TextBox 10"/>
          <p:cNvSpPr txBox="1"/>
          <p:nvPr/>
        </p:nvSpPr>
        <p:spPr>
          <a:xfrm>
            <a:off x="5166360" y="2343403"/>
            <a:ext cx="1920240" cy="256032"/>
          </a:xfrm>
          <a:prstGeom prst="rect">
            <a:avLst/>
          </a:prstGeom>
          <a:noFill/>
        </p:spPr>
        <p:txBody>
          <a:bodyPr wrap="square" lIns="45720" rIns="45720" anchor="t">
            <a:spAutoFit/>
          </a:bodyPr>
          <a:lstStyle/>
          <a:p>
            <a:pPr algn="l">
              <a:spcAft>
                <a:spcPts val="0"/>
              </a:spcAft>
            </a:pPr>
            <a:r>
              <a:rPr sz="1300" b="1">
                <a:solidFill>
                  <a:srgbClr val="3A4B51"/>
                </a:solidFill>
                <a:latin typeface="Aptos"/>
              </a:rPr>
              <a:t>PADRÕES</a:t>
            </a:r>
          </a:p>
        </p:txBody>
      </p:sp>
      <p:cxnSp>
        <p:nvCxnSpPr>
          <p:cNvPr id="12" name="Connector 11"/>
          <p:cNvCxnSpPr/>
          <p:nvPr/>
        </p:nvCxnSpPr>
        <p:spPr>
          <a:xfrm>
            <a:off x="7178040" y="2507995"/>
            <a:ext cx="822960" cy="0"/>
          </a:xfrm>
          <a:prstGeom prst="line">
            <a:avLst/>
          </a:prstGeom>
          <a:ln w="25400">
            <a:solidFill>
              <a:srgbClr val="DED6C7"/>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38160" y="2279395"/>
            <a:ext cx="457200" cy="457200"/>
          </a:xfrm>
          <a:prstGeom prst="ellipse">
            <a:avLst/>
          </a:prstGeom>
          <a:solidFill>
            <a:srgbClr val="DED6C7"/>
          </a:solidFill>
          <a:ln>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38160" y="2343403"/>
            <a:ext cx="457200" cy="228600"/>
          </a:xfrm>
          <a:prstGeom prst="rect">
            <a:avLst/>
          </a:prstGeom>
          <a:noFill/>
        </p:spPr>
        <p:txBody>
          <a:bodyPr wrap="square" lIns="45720" rIns="45720" anchor="t">
            <a:spAutoFit/>
          </a:bodyPr>
          <a:lstStyle/>
          <a:p>
            <a:pPr algn="ctr">
              <a:spcAft>
                <a:spcPts val="0"/>
              </a:spcAft>
            </a:pPr>
            <a:r>
              <a:rPr sz="1400" b="1">
                <a:solidFill>
                  <a:srgbClr val="3A4B51"/>
                </a:solidFill>
                <a:latin typeface="Aptos"/>
              </a:rPr>
              <a:t>3</a:t>
            </a:r>
          </a:p>
        </p:txBody>
      </p:sp>
      <p:sp>
        <p:nvSpPr>
          <p:cNvPr id="15" name="TextBox 14"/>
          <p:cNvSpPr txBox="1"/>
          <p:nvPr/>
        </p:nvSpPr>
        <p:spPr>
          <a:xfrm>
            <a:off x="8732520" y="2343403"/>
            <a:ext cx="1920240" cy="256032"/>
          </a:xfrm>
          <a:prstGeom prst="rect">
            <a:avLst/>
          </a:prstGeom>
          <a:noFill/>
        </p:spPr>
        <p:txBody>
          <a:bodyPr wrap="square" lIns="45720" rIns="45720" anchor="t">
            <a:spAutoFit/>
          </a:bodyPr>
          <a:lstStyle/>
          <a:p>
            <a:pPr algn="l">
              <a:spcAft>
                <a:spcPts val="0"/>
              </a:spcAft>
            </a:pPr>
            <a:r>
              <a:rPr sz="1300" b="1">
                <a:solidFill>
                  <a:srgbClr val="3A4B51"/>
                </a:solidFill>
                <a:latin typeface="Aptos"/>
              </a:rPr>
              <a:t>PREVISÃO</a:t>
            </a:r>
          </a:p>
        </p:txBody>
      </p:sp>
      <p:sp>
        <p:nvSpPr>
          <p:cNvPr id="16" name="Rounded Rectangle 15"/>
          <p:cNvSpPr/>
          <p:nvPr/>
        </p:nvSpPr>
        <p:spPr>
          <a:xfrm>
            <a:off x="731520" y="3010915"/>
            <a:ext cx="4663440" cy="2331720"/>
          </a:xfrm>
          <a:prstGeom prst="roundRect">
            <a:avLst/>
          </a:prstGeom>
          <a:solidFill>
            <a:srgbClr val="FCFAF5"/>
          </a:solidFill>
          <a:ln w="13970">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3166363"/>
            <a:ext cx="4206240" cy="615553"/>
          </a:xfrm>
          <a:prstGeom prst="rect">
            <a:avLst/>
          </a:prstGeom>
          <a:noFill/>
        </p:spPr>
        <p:txBody>
          <a:bodyPr wrap="square" lIns="45720" rIns="45720" anchor="t">
            <a:spAutoFit/>
          </a:bodyPr>
          <a:lstStyle/>
          <a:p>
            <a:pPr algn="ctr">
              <a:spcAft>
                <a:spcPts val="0"/>
              </a:spcAft>
            </a:pPr>
            <a:r>
              <a:rPr lang="pt-BR" sz="1700" b="1" noProof="0" dirty="0">
                <a:solidFill>
                  <a:srgbClr val="10272D"/>
                </a:solidFill>
                <a:latin typeface="Aptos"/>
              </a:rPr>
              <a:t>O computador recebe muitos exemplos</a:t>
            </a:r>
          </a:p>
          <a:p>
            <a:pPr algn="ctr">
              <a:spcAft>
                <a:spcPts val="0"/>
              </a:spcAft>
            </a:pPr>
            <a:r>
              <a:rPr lang="pt-BR" sz="1700" b="1" dirty="0">
                <a:solidFill>
                  <a:srgbClr val="10272D"/>
                </a:solidFill>
                <a:latin typeface="Aptos"/>
              </a:rPr>
              <a:t>rotulados</a:t>
            </a:r>
            <a:endParaRPr sz="1700" b="1" dirty="0">
              <a:solidFill>
                <a:srgbClr val="10272D"/>
              </a:solidFill>
              <a:latin typeface="Aptos"/>
            </a:endParaRPr>
          </a:p>
        </p:txBody>
      </p:sp>
      <p:sp>
        <p:nvSpPr>
          <p:cNvPr id="18" name="Oval 17"/>
          <p:cNvSpPr/>
          <p:nvPr/>
        </p:nvSpPr>
        <p:spPr>
          <a:xfrm rot="2280000">
            <a:off x="1980029" y="3742435"/>
            <a:ext cx="699516" cy="971550"/>
          </a:xfrm>
          <a:prstGeom prst="ellipse">
            <a:avLst/>
          </a:prstGeom>
          <a:solidFill>
            <a:srgbClr val="529752"/>
          </a:solidFill>
          <a:ln>
            <a:solidFill>
              <a:srgbClr val="3269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V="1">
            <a:off x="2073297" y="3882338"/>
            <a:ext cx="489662" cy="652881"/>
          </a:xfrm>
          <a:prstGeom prst="line">
            <a:avLst/>
          </a:prstGeom>
          <a:ln w="20320">
            <a:solidFill>
              <a:srgbClr val="EBEFC9"/>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rot="2280000">
            <a:off x="3351629" y="3742435"/>
            <a:ext cx="699516" cy="971550"/>
          </a:xfrm>
          <a:prstGeom prst="ellipse">
            <a:avLst/>
          </a:prstGeom>
          <a:solidFill>
            <a:srgbClr val="6F9950"/>
          </a:solidFill>
          <a:ln>
            <a:solidFill>
              <a:srgbClr val="3269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3444897" y="3882338"/>
            <a:ext cx="489662" cy="652881"/>
          </a:xfrm>
          <a:prstGeom prst="line">
            <a:avLst/>
          </a:prstGeom>
          <a:ln w="20320">
            <a:solidFill>
              <a:srgbClr val="EBEFC9"/>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569256" y="4193234"/>
            <a:ext cx="93268" cy="93268"/>
          </a:xfrm>
          <a:prstGeom prst="ellipse">
            <a:avLst/>
          </a:prstGeom>
          <a:solidFill>
            <a:srgbClr val="DDAC4F"/>
          </a:solidFill>
          <a:ln>
            <a:solidFill>
              <a:srgbClr val="DDAC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3763566" y="4325365"/>
            <a:ext cx="93268" cy="93268"/>
          </a:xfrm>
          <a:prstGeom prst="ellipse">
            <a:avLst/>
          </a:prstGeom>
          <a:solidFill>
            <a:srgbClr val="DDAC4F"/>
          </a:solidFill>
          <a:ln>
            <a:solidFill>
              <a:srgbClr val="DDAC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833517" y="4068875"/>
            <a:ext cx="93268" cy="93268"/>
          </a:xfrm>
          <a:prstGeom prst="ellipse">
            <a:avLst/>
          </a:prstGeom>
          <a:solidFill>
            <a:srgbClr val="DDAC4F"/>
          </a:solidFill>
          <a:ln>
            <a:solidFill>
              <a:srgbClr val="DDAC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431389" y="4903723"/>
            <a:ext cx="1371600" cy="274320"/>
          </a:xfrm>
          <a:prstGeom prst="rect">
            <a:avLst/>
          </a:prstGeom>
          <a:noFill/>
        </p:spPr>
        <p:txBody>
          <a:bodyPr wrap="square" lIns="45720" rIns="45720" anchor="t">
            <a:spAutoFit/>
          </a:bodyPr>
          <a:lstStyle/>
          <a:p>
            <a:pPr algn="ctr">
              <a:spcAft>
                <a:spcPts val="0"/>
              </a:spcAft>
            </a:pPr>
            <a:r>
              <a:rPr sz="1300" b="1">
                <a:solidFill>
                  <a:srgbClr val="3A4B51"/>
                </a:solidFill>
                <a:latin typeface="Aptos"/>
              </a:rPr>
              <a:t>Folha A</a:t>
            </a:r>
          </a:p>
        </p:txBody>
      </p:sp>
      <p:sp>
        <p:nvSpPr>
          <p:cNvPr id="26" name="TextBox 25"/>
          <p:cNvSpPr txBox="1"/>
          <p:nvPr/>
        </p:nvSpPr>
        <p:spPr>
          <a:xfrm>
            <a:off x="2848709" y="4903723"/>
            <a:ext cx="1645920" cy="274320"/>
          </a:xfrm>
          <a:prstGeom prst="rect">
            <a:avLst/>
          </a:prstGeom>
          <a:noFill/>
        </p:spPr>
        <p:txBody>
          <a:bodyPr wrap="square" lIns="45720" rIns="45720" anchor="t">
            <a:spAutoFit/>
          </a:bodyPr>
          <a:lstStyle/>
          <a:p>
            <a:pPr algn="ctr">
              <a:spcAft>
                <a:spcPts val="0"/>
              </a:spcAft>
            </a:pPr>
            <a:r>
              <a:rPr sz="1300" b="1">
                <a:solidFill>
                  <a:srgbClr val="3A4B51"/>
                </a:solidFill>
                <a:latin typeface="Aptos"/>
              </a:rPr>
              <a:t>Folha B</a:t>
            </a:r>
          </a:p>
        </p:txBody>
      </p:sp>
      <p:sp>
        <p:nvSpPr>
          <p:cNvPr id="27" name="Rounded Rectangle 26"/>
          <p:cNvSpPr/>
          <p:nvPr/>
        </p:nvSpPr>
        <p:spPr>
          <a:xfrm>
            <a:off x="5806440" y="3010915"/>
            <a:ext cx="5349240" cy="2331720"/>
          </a:xfrm>
          <a:prstGeom prst="roundRect">
            <a:avLst/>
          </a:prstGeom>
          <a:solidFill>
            <a:srgbClr val="E7F1ED"/>
          </a:solidFill>
          <a:ln w="13970">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26480" y="3285235"/>
            <a:ext cx="4663440" cy="457200"/>
          </a:xfrm>
          <a:prstGeom prst="rect">
            <a:avLst/>
          </a:prstGeom>
          <a:noFill/>
        </p:spPr>
        <p:txBody>
          <a:bodyPr wrap="square" lIns="45720" rIns="45720" anchor="t">
            <a:spAutoFit/>
          </a:bodyPr>
          <a:lstStyle/>
          <a:p>
            <a:pPr algn="ctr">
              <a:spcAft>
                <a:spcPts val="0"/>
              </a:spcAft>
            </a:pPr>
            <a:r>
              <a:rPr sz="1700" b="1">
                <a:solidFill>
                  <a:srgbClr val="10272D"/>
                </a:solidFill>
                <a:latin typeface="Aptos"/>
              </a:rPr>
              <a:t>Cada imagem vem acompanhada de um exemplo conhecido</a:t>
            </a:r>
          </a:p>
        </p:txBody>
      </p:sp>
      <p:sp>
        <p:nvSpPr>
          <p:cNvPr id="29" name="TextBox 28"/>
          <p:cNvSpPr txBox="1"/>
          <p:nvPr/>
        </p:nvSpPr>
        <p:spPr>
          <a:xfrm>
            <a:off x="6309360" y="3925315"/>
            <a:ext cx="4389120" cy="777240"/>
          </a:xfrm>
          <a:prstGeom prst="rect">
            <a:avLst/>
          </a:prstGeom>
          <a:noFill/>
        </p:spPr>
        <p:txBody>
          <a:bodyPr wrap="square" lIns="45720" rIns="45720" anchor="ctr">
            <a:spAutoFit/>
          </a:bodyPr>
          <a:lstStyle/>
          <a:p>
            <a:pPr algn="ctr">
              <a:spcAft>
                <a:spcPts val="0"/>
              </a:spcAft>
            </a:pPr>
            <a:r>
              <a:rPr sz="1700" b="0">
                <a:solidFill>
                  <a:srgbClr val="3A4B51"/>
                </a:solidFill>
                <a:latin typeface="Aptos"/>
              </a:rPr>
              <a:t>“Este exemplo tem sinais de greening”
“Este outro pertence a outra classe”</a:t>
            </a:r>
          </a:p>
        </p:txBody>
      </p:sp>
      <p:sp>
        <p:nvSpPr>
          <p:cNvPr id="30" name="TextBox 29"/>
          <p:cNvSpPr txBox="1"/>
          <p:nvPr/>
        </p:nvSpPr>
        <p:spPr>
          <a:xfrm>
            <a:off x="868680" y="5754115"/>
            <a:ext cx="10332720" cy="502920"/>
          </a:xfrm>
          <a:prstGeom prst="rect">
            <a:avLst/>
          </a:prstGeom>
          <a:noFill/>
        </p:spPr>
        <p:txBody>
          <a:bodyPr wrap="square" lIns="45720" rIns="45720" anchor="t">
            <a:spAutoFit/>
          </a:bodyPr>
          <a:lstStyle/>
          <a:p>
            <a:pPr algn="ctr">
              <a:spcAft>
                <a:spcPts val="0"/>
              </a:spcAft>
            </a:pPr>
            <a:r>
              <a:rPr sz="1700" b="1">
                <a:solidFill>
                  <a:srgbClr val="177770"/>
                </a:solidFill>
                <a:latin typeface="Aptos"/>
              </a:rPr>
              <a:t>É como estudar várias questões com o gabarito antes de fazer uma prova.</a:t>
            </a:r>
          </a:p>
        </p:txBody>
      </p:sp>
      <p:sp>
        <p:nvSpPr>
          <p:cNvPr id="31" name="TextBox 30"/>
          <p:cNvSpPr txBox="1"/>
          <p:nvPr/>
        </p:nvSpPr>
        <p:spPr>
          <a:xfrm>
            <a:off x="594360" y="6519672"/>
            <a:ext cx="10515600" cy="201168"/>
          </a:xfrm>
          <a:prstGeom prst="rect">
            <a:avLst/>
          </a:prstGeom>
          <a:noFill/>
        </p:spPr>
        <p:txBody>
          <a:bodyPr wrap="square" lIns="45720" rIns="45720" anchor="t">
            <a:spAutoFit/>
          </a:bodyPr>
          <a:lstStyle/>
          <a:p>
            <a:pPr algn="l">
              <a:spcAft>
                <a:spcPts val="0"/>
              </a:spcAft>
            </a:pPr>
            <a:r>
              <a:rPr sz="900" b="0">
                <a:solidFill>
                  <a:srgbClr val="3A4B51"/>
                </a:solidFill>
                <a:latin typeface="Aptos"/>
              </a:rPr>
              <a:t>Da engenharia à oncologia: IA na solução de problemas reais</a:t>
            </a:r>
          </a:p>
        </p:txBody>
      </p:sp>
      <p:sp>
        <p:nvSpPr>
          <p:cNvPr id="32" name="TextBox 31"/>
          <p:cNvSpPr txBox="1"/>
          <p:nvPr/>
        </p:nvSpPr>
        <p:spPr>
          <a:xfrm>
            <a:off x="11155680" y="6519672"/>
            <a:ext cx="320040" cy="201168"/>
          </a:xfrm>
          <a:prstGeom prst="rect">
            <a:avLst/>
          </a:prstGeom>
          <a:noFill/>
        </p:spPr>
        <p:txBody>
          <a:bodyPr wrap="square" lIns="45720" rIns="45720" anchor="t">
            <a:spAutoFit/>
          </a:bodyPr>
          <a:lstStyle/>
          <a:p>
            <a:pPr algn="r">
              <a:spcAft>
                <a:spcPts val="0"/>
              </a:spcAft>
            </a:pPr>
            <a:r>
              <a:rPr sz="900" b="0">
                <a:solidFill>
                  <a:srgbClr val="3A4B51"/>
                </a:solidFill>
                <a:latin typeface="Aptos"/>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256032"/>
          </a:xfrm>
          <a:prstGeom prst="rect">
            <a:avLst/>
          </a:prstGeom>
          <a:noFill/>
        </p:spPr>
        <p:txBody>
          <a:bodyPr wrap="square" lIns="45720" rIns="45720" anchor="t">
            <a:spAutoFit/>
          </a:bodyPr>
          <a:lstStyle/>
          <a:p>
            <a:pPr algn="l">
              <a:spcAft>
                <a:spcPts val="0"/>
              </a:spcAft>
            </a:pPr>
            <a:r>
              <a:rPr sz="1100" b="1">
                <a:solidFill>
                  <a:srgbClr val="177770"/>
                </a:solidFill>
                <a:latin typeface="Aptos"/>
              </a:rPr>
              <a:t>EXEMPLO PRÁTICO · ETAPA 2 DE 3 · COLAB: BÔNUS A</a:t>
            </a:r>
          </a:p>
        </p:txBody>
      </p:sp>
      <p:sp>
        <p:nvSpPr>
          <p:cNvPr id="3" name="TextBox 2"/>
          <p:cNvSpPr txBox="1"/>
          <p:nvPr/>
        </p:nvSpPr>
        <p:spPr>
          <a:xfrm>
            <a:off x="594360" y="566928"/>
            <a:ext cx="11064240" cy="594360"/>
          </a:xfrm>
          <a:prstGeom prst="rect">
            <a:avLst/>
          </a:prstGeom>
          <a:noFill/>
        </p:spPr>
        <p:txBody>
          <a:bodyPr wrap="square" lIns="45720" rIns="45720" anchor="t">
            <a:spAutoFit/>
          </a:bodyPr>
          <a:lstStyle/>
          <a:p>
            <a:pPr algn="l">
              <a:spcAft>
                <a:spcPts val="0"/>
              </a:spcAft>
            </a:pPr>
            <a:r>
              <a:rPr sz="2700" b="1">
                <a:solidFill>
                  <a:srgbClr val="10272D"/>
                </a:solidFill>
                <a:latin typeface="Georgia"/>
              </a:rPr>
              <a:t>2. Depois, o modelo aprende padrões</a:t>
            </a:r>
          </a:p>
        </p:txBody>
      </p:sp>
      <p:sp>
        <p:nvSpPr>
          <p:cNvPr id="4" name="TextBox 3"/>
          <p:cNvSpPr txBox="1"/>
          <p:nvPr/>
        </p:nvSpPr>
        <p:spPr>
          <a:xfrm>
            <a:off x="621792" y="1399736"/>
            <a:ext cx="10972800" cy="384048"/>
          </a:xfrm>
          <a:prstGeom prst="rect">
            <a:avLst/>
          </a:prstGeom>
          <a:noFill/>
        </p:spPr>
        <p:txBody>
          <a:bodyPr wrap="square" lIns="45720" rIns="45720" anchor="t">
            <a:spAutoFit/>
          </a:bodyPr>
          <a:lstStyle/>
          <a:p>
            <a:pPr algn="l">
              <a:spcAft>
                <a:spcPts val="0"/>
              </a:spcAft>
            </a:pPr>
            <a:r>
              <a:rPr lang="pt-BR" b="0" noProof="0" dirty="0">
                <a:solidFill>
                  <a:srgbClr val="3A4B51"/>
                </a:solidFill>
                <a:latin typeface="Aptos"/>
              </a:rPr>
              <a:t>Em imagens, esses padrões podem envolver textura, cor e forma.</a:t>
            </a:r>
          </a:p>
        </p:txBody>
      </p:sp>
      <p:sp>
        <p:nvSpPr>
          <p:cNvPr id="5" name="Oval 4"/>
          <p:cNvSpPr/>
          <p:nvPr/>
        </p:nvSpPr>
        <p:spPr>
          <a:xfrm>
            <a:off x="1005840" y="1902656"/>
            <a:ext cx="457200" cy="457200"/>
          </a:xfrm>
          <a:prstGeom prst="ellipse">
            <a:avLst/>
          </a:prstGeom>
          <a:solidFill>
            <a:srgbClr val="177770"/>
          </a:solidFill>
          <a:ln>
            <a:solidFill>
              <a:srgbClr val="177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966664"/>
            <a:ext cx="457200" cy="228600"/>
          </a:xfrm>
          <a:prstGeom prst="rect">
            <a:avLst/>
          </a:prstGeom>
          <a:noFill/>
        </p:spPr>
        <p:txBody>
          <a:bodyPr wrap="square" lIns="45720" rIns="45720" anchor="t">
            <a:spAutoFit/>
          </a:bodyPr>
          <a:lstStyle/>
          <a:p>
            <a:pPr algn="ctr">
              <a:spcAft>
                <a:spcPts val="0"/>
              </a:spcAft>
            </a:pPr>
            <a:r>
              <a:rPr sz="1400" b="1">
                <a:solidFill>
                  <a:srgbClr val="FFFFFF"/>
                </a:solidFill>
                <a:latin typeface="Aptos"/>
              </a:rPr>
              <a:t>1</a:t>
            </a:r>
          </a:p>
        </p:txBody>
      </p:sp>
      <p:sp>
        <p:nvSpPr>
          <p:cNvPr id="7" name="TextBox 6"/>
          <p:cNvSpPr txBox="1"/>
          <p:nvPr/>
        </p:nvSpPr>
        <p:spPr>
          <a:xfrm>
            <a:off x="1600200" y="1966664"/>
            <a:ext cx="1920240" cy="256032"/>
          </a:xfrm>
          <a:prstGeom prst="rect">
            <a:avLst/>
          </a:prstGeom>
          <a:noFill/>
        </p:spPr>
        <p:txBody>
          <a:bodyPr wrap="square" lIns="45720" rIns="45720" anchor="t">
            <a:spAutoFit/>
          </a:bodyPr>
          <a:lstStyle/>
          <a:p>
            <a:pPr algn="l">
              <a:spcAft>
                <a:spcPts val="0"/>
              </a:spcAft>
            </a:pPr>
            <a:r>
              <a:rPr sz="1300" b="1">
                <a:solidFill>
                  <a:srgbClr val="10272D"/>
                </a:solidFill>
                <a:latin typeface="Aptos"/>
              </a:rPr>
              <a:t>EXEMPLOS</a:t>
            </a:r>
          </a:p>
        </p:txBody>
      </p:sp>
      <p:cxnSp>
        <p:nvCxnSpPr>
          <p:cNvPr id="8" name="Connector 7"/>
          <p:cNvCxnSpPr/>
          <p:nvPr/>
        </p:nvCxnSpPr>
        <p:spPr>
          <a:xfrm>
            <a:off x="3611880" y="2131256"/>
            <a:ext cx="822960" cy="0"/>
          </a:xfrm>
          <a:prstGeom prst="line">
            <a:avLst/>
          </a:prstGeom>
          <a:ln w="25400">
            <a:solidFill>
              <a:srgbClr val="177770"/>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572000" y="1902656"/>
            <a:ext cx="457200" cy="457200"/>
          </a:xfrm>
          <a:prstGeom prst="ellipse">
            <a:avLst/>
          </a:prstGeom>
          <a:solidFill>
            <a:srgbClr val="177770"/>
          </a:solidFill>
          <a:ln>
            <a:solidFill>
              <a:srgbClr val="177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1966664"/>
            <a:ext cx="457200" cy="228600"/>
          </a:xfrm>
          <a:prstGeom prst="rect">
            <a:avLst/>
          </a:prstGeom>
          <a:noFill/>
        </p:spPr>
        <p:txBody>
          <a:bodyPr wrap="square" lIns="45720" rIns="45720" anchor="t">
            <a:spAutoFit/>
          </a:bodyPr>
          <a:lstStyle/>
          <a:p>
            <a:pPr algn="ctr">
              <a:spcAft>
                <a:spcPts val="0"/>
              </a:spcAft>
            </a:pPr>
            <a:r>
              <a:rPr sz="1400" b="1">
                <a:solidFill>
                  <a:srgbClr val="FFFFFF"/>
                </a:solidFill>
                <a:latin typeface="Aptos"/>
              </a:rPr>
              <a:t>2</a:t>
            </a:r>
          </a:p>
        </p:txBody>
      </p:sp>
      <p:sp>
        <p:nvSpPr>
          <p:cNvPr id="11" name="TextBox 10"/>
          <p:cNvSpPr txBox="1"/>
          <p:nvPr/>
        </p:nvSpPr>
        <p:spPr>
          <a:xfrm>
            <a:off x="5166360" y="1966664"/>
            <a:ext cx="1920240" cy="256032"/>
          </a:xfrm>
          <a:prstGeom prst="rect">
            <a:avLst/>
          </a:prstGeom>
          <a:noFill/>
        </p:spPr>
        <p:txBody>
          <a:bodyPr wrap="square" lIns="45720" rIns="45720" anchor="t">
            <a:spAutoFit/>
          </a:bodyPr>
          <a:lstStyle/>
          <a:p>
            <a:pPr algn="l">
              <a:spcAft>
                <a:spcPts val="0"/>
              </a:spcAft>
            </a:pPr>
            <a:r>
              <a:rPr sz="1300" b="1">
                <a:solidFill>
                  <a:srgbClr val="10272D"/>
                </a:solidFill>
                <a:latin typeface="Aptos"/>
              </a:rPr>
              <a:t>PADRÕES</a:t>
            </a:r>
          </a:p>
        </p:txBody>
      </p:sp>
      <p:cxnSp>
        <p:nvCxnSpPr>
          <p:cNvPr id="12" name="Connector 11"/>
          <p:cNvCxnSpPr/>
          <p:nvPr/>
        </p:nvCxnSpPr>
        <p:spPr>
          <a:xfrm>
            <a:off x="7178040" y="2131256"/>
            <a:ext cx="822960" cy="0"/>
          </a:xfrm>
          <a:prstGeom prst="line">
            <a:avLst/>
          </a:prstGeom>
          <a:ln w="25400">
            <a:solidFill>
              <a:srgbClr val="DED6C7"/>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38160" y="1902656"/>
            <a:ext cx="457200" cy="457200"/>
          </a:xfrm>
          <a:prstGeom prst="ellipse">
            <a:avLst/>
          </a:prstGeom>
          <a:solidFill>
            <a:srgbClr val="DED6C7"/>
          </a:solidFill>
          <a:ln>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38160" y="1966664"/>
            <a:ext cx="457200" cy="228600"/>
          </a:xfrm>
          <a:prstGeom prst="rect">
            <a:avLst/>
          </a:prstGeom>
          <a:noFill/>
        </p:spPr>
        <p:txBody>
          <a:bodyPr wrap="square" lIns="45720" rIns="45720" anchor="t">
            <a:spAutoFit/>
          </a:bodyPr>
          <a:lstStyle/>
          <a:p>
            <a:pPr algn="ctr">
              <a:spcAft>
                <a:spcPts val="0"/>
              </a:spcAft>
            </a:pPr>
            <a:r>
              <a:rPr sz="1400" b="1">
                <a:solidFill>
                  <a:srgbClr val="3A4B51"/>
                </a:solidFill>
                <a:latin typeface="Aptos"/>
              </a:rPr>
              <a:t>3</a:t>
            </a:r>
          </a:p>
        </p:txBody>
      </p:sp>
      <p:sp>
        <p:nvSpPr>
          <p:cNvPr id="15" name="TextBox 14"/>
          <p:cNvSpPr txBox="1"/>
          <p:nvPr/>
        </p:nvSpPr>
        <p:spPr>
          <a:xfrm>
            <a:off x="8732520" y="1966664"/>
            <a:ext cx="1920240" cy="256032"/>
          </a:xfrm>
          <a:prstGeom prst="rect">
            <a:avLst/>
          </a:prstGeom>
          <a:noFill/>
        </p:spPr>
        <p:txBody>
          <a:bodyPr wrap="square" lIns="45720" rIns="45720" anchor="t">
            <a:spAutoFit/>
          </a:bodyPr>
          <a:lstStyle/>
          <a:p>
            <a:pPr algn="l">
              <a:spcAft>
                <a:spcPts val="0"/>
              </a:spcAft>
            </a:pPr>
            <a:r>
              <a:rPr sz="1300" b="1">
                <a:solidFill>
                  <a:srgbClr val="3A4B51"/>
                </a:solidFill>
                <a:latin typeface="Aptos"/>
              </a:rPr>
              <a:t>PREVISÃO</a:t>
            </a:r>
          </a:p>
        </p:txBody>
      </p:sp>
      <p:sp>
        <p:nvSpPr>
          <p:cNvPr id="16" name="Rounded Rectangle 15"/>
          <p:cNvSpPr/>
          <p:nvPr/>
        </p:nvSpPr>
        <p:spPr>
          <a:xfrm>
            <a:off x="731520" y="2634176"/>
            <a:ext cx="4663440" cy="2331720"/>
          </a:xfrm>
          <a:prstGeom prst="roundRect">
            <a:avLst/>
          </a:prstGeom>
          <a:solidFill>
            <a:srgbClr val="FCFAF5"/>
          </a:solidFill>
          <a:ln w="13970">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2817056"/>
            <a:ext cx="4114800" cy="365760"/>
          </a:xfrm>
          <a:prstGeom prst="rect">
            <a:avLst/>
          </a:prstGeom>
          <a:noFill/>
        </p:spPr>
        <p:txBody>
          <a:bodyPr wrap="square" lIns="45720" rIns="45720" anchor="t">
            <a:spAutoFit/>
          </a:bodyPr>
          <a:lstStyle/>
          <a:p>
            <a:pPr algn="ctr">
              <a:spcAft>
                <a:spcPts val="0"/>
              </a:spcAft>
            </a:pPr>
            <a:r>
              <a:rPr sz="1700" b="1">
                <a:solidFill>
                  <a:srgbClr val="10272D"/>
                </a:solidFill>
                <a:latin typeface="Aptos"/>
              </a:rPr>
              <a:t>O algoritmo procura padrões</a:t>
            </a:r>
          </a:p>
        </p:txBody>
      </p:sp>
      <p:sp>
        <p:nvSpPr>
          <p:cNvPr id="18" name="Oval 17"/>
          <p:cNvSpPr/>
          <p:nvPr/>
        </p:nvSpPr>
        <p:spPr>
          <a:xfrm rot="2280000">
            <a:off x="1600200" y="3319976"/>
            <a:ext cx="658368" cy="914400"/>
          </a:xfrm>
          <a:prstGeom prst="ellipse">
            <a:avLst/>
          </a:prstGeom>
          <a:solidFill>
            <a:srgbClr val="529752"/>
          </a:solidFill>
          <a:ln>
            <a:solidFill>
              <a:srgbClr val="3269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V="1">
            <a:off x="1687982" y="3451649"/>
            <a:ext cx="460858" cy="614477"/>
          </a:xfrm>
          <a:prstGeom prst="line">
            <a:avLst/>
          </a:prstGeom>
          <a:ln w="20320">
            <a:solidFill>
              <a:srgbClr val="EBEFC9"/>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rot="2280000">
            <a:off x="2971800" y="3319976"/>
            <a:ext cx="658368" cy="914400"/>
          </a:xfrm>
          <a:prstGeom prst="ellipse">
            <a:avLst/>
          </a:prstGeom>
          <a:solidFill>
            <a:srgbClr val="6F9950"/>
          </a:solidFill>
          <a:ln>
            <a:solidFill>
              <a:srgbClr val="3269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3059582" y="3451649"/>
            <a:ext cx="460858" cy="614477"/>
          </a:xfrm>
          <a:prstGeom prst="line">
            <a:avLst/>
          </a:prstGeom>
          <a:ln w="20320">
            <a:solidFill>
              <a:srgbClr val="EBEFC9"/>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176625" y="3744257"/>
            <a:ext cx="87782" cy="87782"/>
          </a:xfrm>
          <a:prstGeom prst="ellipse">
            <a:avLst/>
          </a:prstGeom>
          <a:solidFill>
            <a:srgbClr val="DDAC4F"/>
          </a:solidFill>
          <a:ln>
            <a:solidFill>
              <a:srgbClr val="DDAC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3359505" y="3868616"/>
            <a:ext cx="87782" cy="87782"/>
          </a:xfrm>
          <a:prstGeom prst="ellipse">
            <a:avLst/>
          </a:prstGeom>
          <a:solidFill>
            <a:srgbClr val="DDAC4F"/>
          </a:solidFill>
          <a:ln>
            <a:solidFill>
              <a:srgbClr val="DDAC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425342" y="3627214"/>
            <a:ext cx="87782" cy="87782"/>
          </a:xfrm>
          <a:prstGeom prst="ellipse">
            <a:avLst/>
          </a:prstGeom>
          <a:solidFill>
            <a:srgbClr val="DDAC4F"/>
          </a:solidFill>
          <a:ln>
            <a:solidFill>
              <a:srgbClr val="DDAC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806440" y="2634176"/>
            <a:ext cx="5349240" cy="2331720"/>
          </a:xfrm>
          <a:prstGeom prst="roundRect">
            <a:avLst/>
          </a:prstGeom>
          <a:solidFill>
            <a:srgbClr val="E7EFF8"/>
          </a:solidFill>
          <a:ln w="13970">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26480" y="2862776"/>
            <a:ext cx="4663440" cy="365760"/>
          </a:xfrm>
          <a:prstGeom prst="rect">
            <a:avLst/>
          </a:prstGeom>
          <a:noFill/>
        </p:spPr>
        <p:txBody>
          <a:bodyPr wrap="square" lIns="45720" rIns="45720" anchor="t">
            <a:spAutoFit/>
          </a:bodyPr>
          <a:lstStyle/>
          <a:p>
            <a:pPr algn="ctr">
              <a:spcAft>
                <a:spcPts val="0"/>
              </a:spcAft>
            </a:pPr>
            <a:r>
              <a:rPr sz="1700" b="1">
                <a:solidFill>
                  <a:srgbClr val="10272D"/>
                </a:solidFill>
                <a:latin typeface="Aptos"/>
              </a:rPr>
              <a:t>Pode aprender diferenças como:</a:t>
            </a:r>
          </a:p>
        </p:txBody>
      </p:sp>
      <p:sp>
        <p:nvSpPr>
          <p:cNvPr id="27" name="Oval 26"/>
          <p:cNvSpPr/>
          <p:nvPr/>
        </p:nvSpPr>
        <p:spPr>
          <a:xfrm>
            <a:off x="6537960" y="3457136"/>
            <a:ext cx="164592" cy="164592"/>
          </a:xfrm>
          <a:prstGeom prst="ellipse">
            <a:avLst/>
          </a:prstGeom>
          <a:solidFill>
            <a:srgbClr val="177770"/>
          </a:solidFill>
          <a:ln>
            <a:solidFill>
              <a:srgbClr val="177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58000" y="3438848"/>
            <a:ext cx="3566160" cy="228600"/>
          </a:xfrm>
          <a:prstGeom prst="rect">
            <a:avLst/>
          </a:prstGeom>
          <a:noFill/>
        </p:spPr>
        <p:txBody>
          <a:bodyPr wrap="square" lIns="45720" rIns="45720" anchor="t">
            <a:spAutoFit/>
          </a:bodyPr>
          <a:lstStyle/>
          <a:p>
            <a:pPr algn="l">
              <a:spcAft>
                <a:spcPts val="0"/>
              </a:spcAft>
            </a:pPr>
            <a:r>
              <a:rPr sz="1500" b="0">
                <a:solidFill>
                  <a:srgbClr val="3A4B51"/>
                </a:solidFill>
                <a:latin typeface="Aptos"/>
              </a:rPr>
              <a:t>textura</a:t>
            </a:r>
          </a:p>
        </p:txBody>
      </p:sp>
      <p:sp>
        <p:nvSpPr>
          <p:cNvPr id="29" name="Oval 28"/>
          <p:cNvSpPr/>
          <p:nvPr/>
        </p:nvSpPr>
        <p:spPr>
          <a:xfrm>
            <a:off x="6537960" y="3914336"/>
            <a:ext cx="164592" cy="164592"/>
          </a:xfrm>
          <a:prstGeom prst="ellipse">
            <a:avLst/>
          </a:prstGeom>
          <a:solidFill>
            <a:srgbClr val="177770"/>
          </a:solidFill>
          <a:ln>
            <a:solidFill>
              <a:srgbClr val="177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58000" y="3896048"/>
            <a:ext cx="3566160" cy="228600"/>
          </a:xfrm>
          <a:prstGeom prst="rect">
            <a:avLst/>
          </a:prstGeom>
          <a:noFill/>
        </p:spPr>
        <p:txBody>
          <a:bodyPr wrap="square" lIns="45720" rIns="45720" anchor="t">
            <a:spAutoFit/>
          </a:bodyPr>
          <a:lstStyle/>
          <a:p>
            <a:pPr algn="l">
              <a:spcAft>
                <a:spcPts val="0"/>
              </a:spcAft>
            </a:pPr>
            <a:r>
              <a:rPr sz="1500" b="0">
                <a:solidFill>
                  <a:srgbClr val="3A4B51"/>
                </a:solidFill>
                <a:latin typeface="Aptos"/>
              </a:rPr>
              <a:t>distribuição de cores</a:t>
            </a:r>
          </a:p>
        </p:txBody>
      </p:sp>
      <p:sp>
        <p:nvSpPr>
          <p:cNvPr id="31" name="Oval 30"/>
          <p:cNvSpPr/>
          <p:nvPr/>
        </p:nvSpPr>
        <p:spPr>
          <a:xfrm>
            <a:off x="6537960" y="4371536"/>
            <a:ext cx="164592" cy="164592"/>
          </a:xfrm>
          <a:prstGeom prst="ellipse">
            <a:avLst/>
          </a:prstGeom>
          <a:solidFill>
            <a:srgbClr val="177770"/>
          </a:solidFill>
          <a:ln>
            <a:solidFill>
              <a:srgbClr val="177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58000" y="4353248"/>
            <a:ext cx="3566160" cy="228600"/>
          </a:xfrm>
          <a:prstGeom prst="rect">
            <a:avLst/>
          </a:prstGeom>
          <a:noFill/>
        </p:spPr>
        <p:txBody>
          <a:bodyPr wrap="square" lIns="45720" rIns="45720" anchor="t">
            <a:spAutoFit/>
          </a:bodyPr>
          <a:lstStyle/>
          <a:p>
            <a:pPr algn="l">
              <a:spcAft>
                <a:spcPts val="0"/>
              </a:spcAft>
            </a:pPr>
            <a:r>
              <a:rPr sz="1500" b="0">
                <a:solidFill>
                  <a:srgbClr val="3A4B51"/>
                </a:solidFill>
                <a:latin typeface="Aptos"/>
              </a:rPr>
              <a:t>formato e manchas</a:t>
            </a:r>
          </a:p>
        </p:txBody>
      </p:sp>
      <p:sp>
        <p:nvSpPr>
          <p:cNvPr id="33" name="TextBox 32"/>
          <p:cNvSpPr txBox="1"/>
          <p:nvPr/>
        </p:nvSpPr>
        <p:spPr>
          <a:xfrm>
            <a:off x="868680" y="5377376"/>
            <a:ext cx="10332720" cy="502920"/>
          </a:xfrm>
          <a:prstGeom prst="rect">
            <a:avLst/>
          </a:prstGeom>
          <a:noFill/>
        </p:spPr>
        <p:txBody>
          <a:bodyPr wrap="square" lIns="45720" rIns="45720" anchor="t">
            <a:spAutoFit/>
          </a:bodyPr>
          <a:lstStyle/>
          <a:p>
            <a:pPr algn="ctr">
              <a:spcAft>
                <a:spcPts val="0"/>
              </a:spcAft>
            </a:pPr>
            <a:r>
              <a:rPr sz="1600" b="1">
                <a:solidFill>
                  <a:srgbClr val="177770"/>
                </a:solidFill>
                <a:latin typeface="Aptos"/>
              </a:rPr>
              <a:t>O modelo não “entende” a folha como uma pessoa: aprende relações estatísticas nos dados.</a:t>
            </a:r>
          </a:p>
        </p:txBody>
      </p:sp>
      <p:sp>
        <p:nvSpPr>
          <p:cNvPr id="34" name="TextBox 33"/>
          <p:cNvSpPr txBox="1"/>
          <p:nvPr/>
        </p:nvSpPr>
        <p:spPr>
          <a:xfrm>
            <a:off x="594360" y="6519672"/>
            <a:ext cx="10515600" cy="201168"/>
          </a:xfrm>
          <a:prstGeom prst="rect">
            <a:avLst/>
          </a:prstGeom>
          <a:noFill/>
        </p:spPr>
        <p:txBody>
          <a:bodyPr wrap="square" lIns="45720" rIns="45720" anchor="t">
            <a:spAutoFit/>
          </a:bodyPr>
          <a:lstStyle/>
          <a:p>
            <a:pPr algn="l">
              <a:spcAft>
                <a:spcPts val="0"/>
              </a:spcAft>
            </a:pPr>
            <a:r>
              <a:rPr sz="900" b="0">
                <a:solidFill>
                  <a:srgbClr val="3A4B51"/>
                </a:solidFill>
                <a:latin typeface="Aptos"/>
              </a:rPr>
              <a:t>Da engenharia à oncologia: IA na solução de problemas reais</a:t>
            </a:r>
          </a:p>
        </p:txBody>
      </p:sp>
      <p:sp>
        <p:nvSpPr>
          <p:cNvPr id="35" name="TextBox 34"/>
          <p:cNvSpPr txBox="1"/>
          <p:nvPr/>
        </p:nvSpPr>
        <p:spPr>
          <a:xfrm>
            <a:off x="11155680" y="6519672"/>
            <a:ext cx="320040" cy="201168"/>
          </a:xfrm>
          <a:prstGeom prst="rect">
            <a:avLst/>
          </a:prstGeom>
          <a:noFill/>
        </p:spPr>
        <p:txBody>
          <a:bodyPr wrap="square" lIns="45720" rIns="45720" anchor="t">
            <a:spAutoFit/>
          </a:bodyPr>
          <a:lstStyle/>
          <a:p>
            <a:pPr algn="r">
              <a:spcAft>
                <a:spcPts val="0"/>
              </a:spcAft>
            </a:pPr>
            <a:r>
              <a:rPr sz="900" b="0">
                <a:solidFill>
                  <a:srgbClr val="3A4B51"/>
                </a:solidFill>
                <a:latin typeface="Aptos"/>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TextBox 1"/>
          <p:cNvSpPr txBox="1"/>
          <p:nvPr/>
        </p:nvSpPr>
        <p:spPr>
          <a:xfrm>
            <a:off x="594360" y="292608"/>
            <a:ext cx="10972800" cy="256032"/>
          </a:xfrm>
          <a:prstGeom prst="rect">
            <a:avLst/>
          </a:prstGeom>
          <a:noFill/>
        </p:spPr>
        <p:txBody>
          <a:bodyPr wrap="square" lIns="45720" rIns="45720" anchor="t">
            <a:spAutoFit/>
          </a:bodyPr>
          <a:lstStyle/>
          <a:p>
            <a:pPr algn="l">
              <a:spcAft>
                <a:spcPts val="0"/>
              </a:spcAft>
            </a:pPr>
            <a:r>
              <a:rPr sz="1100" b="1">
                <a:solidFill>
                  <a:srgbClr val="177770"/>
                </a:solidFill>
                <a:latin typeface="Aptos"/>
              </a:rPr>
              <a:t>EXEMPLO PRÁTICO · ETAPA 3 DE 3 · COLAB: BÔNUS A</a:t>
            </a:r>
          </a:p>
        </p:txBody>
      </p:sp>
      <p:sp>
        <p:nvSpPr>
          <p:cNvPr id="3" name="TextBox 2"/>
          <p:cNvSpPr txBox="1"/>
          <p:nvPr/>
        </p:nvSpPr>
        <p:spPr>
          <a:xfrm>
            <a:off x="594360" y="566928"/>
            <a:ext cx="11064240" cy="507831"/>
          </a:xfrm>
          <a:prstGeom prst="rect">
            <a:avLst/>
          </a:prstGeom>
          <a:noFill/>
        </p:spPr>
        <p:txBody>
          <a:bodyPr wrap="square" lIns="45720" rIns="45720" anchor="t">
            <a:spAutoFit/>
          </a:bodyPr>
          <a:lstStyle/>
          <a:p>
            <a:pPr algn="l">
              <a:spcAft>
                <a:spcPts val="0"/>
              </a:spcAft>
            </a:pPr>
            <a:r>
              <a:rPr sz="2700" b="1" dirty="0">
                <a:solidFill>
                  <a:srgbClr val="10272D"/>
                </a:solidFill>
                <a:latin typeface="Georgia"/>
              </a:rPr>
              <a:t>3. Por </a:t>
            </a:r>
            <a:r>
              <a:rPr sz="2700" b="1" dirty="0" err="1">
                <a:solidFill>
                  <a:srgbClr val="10272D"/>
                </a:solidFill>
                <a:latin typeface="Georgia"/>
              </a:rPr>
              <a:t>fim</a:t>
            </a:r>
            <a:r>
              <a:rPr sz="2700" b="1" dirty="0">
                <a:solidFill>
                  <a:srgbClr val="10272D"/>
                </a:solidFill>
                <a:latin typeface="Georgia"/>
              </a:rPr>
              <a:t>, </a:t>
            </a:r>
            <a:r>
              <a:rPr sz="2700" b="1" dirty="0" err="1">
                <a:solidFill>
                  <a:srgbClr val="10272D"/>
                </a:solidFill>
                <a:latin typeface="Georgia"/>
              </a:rPr>
              <a:t>analisamos</a:t>
            </a:r>
            <a:r>
              <a:rPr sz="2700" b="1" dirty="0">
                <a:solidFill>
                  <a:srgbClr val="10272D"/>
                </a:solidFill>
                <a:latin typeface="Georgia"/>
              </a:rPr>
              <a:t> </a:t>
            </a:r>
            <a:r>
              <a:rPr sz="2700" b="1" dirty="0" err="1">
                <a:solidFill>
                  <a:srgbClr val="10272D"/>
                </a:solidFill>
                <a:latin typeface="Georgia"/>
              </a:rPr>
              <a:t>uma</a:t>
            </a:r>
            <a:r>
              <a:rPr sz="2700" b="1" dirty="0">
                <a:solidFill>
                  <a:srgbClr val="10272D"/>
                </a:solidFill>
                <a:latin typeface="Georgia"/>
              </a:rPr>
              <a:t> nova </a:t>
            </a:r>
            <a:r>
              <a:rPr sz="2700" b="1" dirty="0" err="1">
                <a:solidFill>
                  <a:srgbClr val="10272D"/>
                </a:solidFill>
                <a:latin typeface="Georgia"/>
              </a:rPr>
              <a:t>imagem</a:t>
            </a:r>
            <a:r>
              <a:rPr lang="pt-BR" sz="2700" b="1" dirty="0">
                <a:solidFill>
                  <a:srgbClr val="10272D"/>
                </a:solidFill>
                <a:latin typeface="Georgia"/>
              </a:rPr>
              <a:t> (teste)</a:t>
            </a:r>
            <a:endParaRPr sz="2700" b="1" dirty="0">
              <a:solidFill>
                <a:srgbClr val="10272D"/>
              </a:solidFill>
              <a:latin typeface="Georgia"/>
            </a:endParaRPr>
          </a:p>
        </p:txBody>
      </p:sp>
      <p:sp>
        <p:nvSpPr>
          <p:cNvPr id="4" name="TextBox 3"/>
          <p:cNvSpPr txBox="1"/>
          <p:nvPr/>
        </p:nvSpPr>
        <p:spPr>
          <a:xfrm>
            <a:off x="621792" y="1311814"/>
            <a:ext cx="10972800" cy="384048"/>
          </a:xfrm>
          <a:prstGeom prst="rect">
            <a:avLst/>
          </a:prstGeom>
          <a:noFill/>
        </p:spPr>
        <p:txBody>
          <a:bodyPr wrap="square" lIns="45720" rIns="45720" anchor="t">
            <a:spAutoFit/>
          </a:bodyPr>
          <a:lstStyle/>
          <a:p>
            <a:pPr algn="l">
              <a:spcAft>
                <a:spcPts val="0"/>
              </a:spcAft>
            </a:pPr>
            <a:r>
              <a:rPr lang="pt-BR" b="0" noProof="0" dirty="0">
                <a:solidFill>
                  <a:srgbClr val="3A4B51"/>
                </a:solidFill>
                <a:latin typeface="Aptos"/>
              </a:rPr>
              <a:t>O modelo produz uma estimativa que precisa ser conferida.</a:t>
            </a:r>
          </a:p>
        </p:txBody>
      </p:sp>
      <p:sp>
        <p:nvSpPr>
          <p:cNvPr id="5" name="Oval 4"/>
          <p:cNvSpPr/>
          <p:nvPr/>
        </p:nvSpPr>
        <p:spPr>
          <a:xfrm>
            <a:off x="1005840" y="1814734"/>
            <a:ext cx="457200" cy="457200"/>
          </a:xfrm>
          <a:prstGeom prst="ellipse">
            <a:avLst/>
          </a:prstGeom>
          <a:solidFill>
            <a:srgbClr val="177770"/>
          </a:solidFill>
          <a:ln>
            <a:solidFill>
              <a:srgbClr val="177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878742"/>
            <a:ext cx="457200" cy="228600"/>
          </a:xfrm>
          <a:prstGeom prst="rect">
            <a:avLst/>
          </a:prstGeom>
          <a:noFill/>
        </p:spPr>
        <p:txBody>
          <a:bodyPr wrap="square" lIns="45720" rIns="45720" anchor="t">
            <a:spAutoFit/>
          </a:bodyPr>
          <a:lstStyle/>
          <a:p>
            <a:pPr algn="ctr">
              <a:spcAft>
                <a:spcPts val="0"/>
              </a:spcAft>
            </a:pPr>
            <a:r>
              <a:rPr sz="1400" b="1">
                <a:solidFill>
                  <a:srgbClr val="FFFFFF"/>
                </a:solidFill>
                <a:latin typeface="Aptos"/>
              </a:rPr>
              <a:t>1</a:t>
            </a:r>
          </a:p>
        </p:txBody>
      </p:sp>
      <p:sp>
        <p:nvSpPr>
          <p:cNvPr id="7" name="TextBox 6"/>
          <p:cNvSpPr txBox="1"/>
          <p:nvPr/>
        </p:nvSpPr>
        <p:spPr>
          <a:xfrm>
            <a:off x="1600200" y="1878742"/>
            <a:ext cx="1920240" cy="256032"/>
          </a:xfrm>
          <a:prstGeom prst="rect">
            <a:avLst/>
          </a:prstGeom>
          <a:noFill/>
        </p:spPr>
        <p:txBody>
          <a:bodyPr wrap="square" lIns="45720" rIns="45720" anchor="t">
            <a:spAutoFit/>
          </a:bodyPr>
          <a:lstStyle/>
          <a:p>
            <a:pPr algn="l">
              <a:spcAft>
                <a:spcPts val="0"/>
              </a:spcAft>
            </a:pPr>
            <a:r>
              <a:rPr sz="1300" b="1">
                <a:solidFill>
                  <a:srgbClr val="10272D"/>
                </a:solidFill>
                <a:latin typeface="Aptos"/>
              </a:rPr>
              <a:t>EXEMPLOS</a:t>
            </a:r>
          </a:p>
        </p:txBody>
      </p:sp>
      <p:cxnSp>
        <p:nvCxnSpPr>
          <p:cNvPr id="8" name="Connector 7"/>
          <p:cNvCxnSpPr/>
          <p:nvPr/>
        </p:nvCxnSpPr>
        <p:spPr>
          <a:xfrm>
            <a:off x="3611880" y="2043334"/>
            <a:ext cx="822960" cy="0"/>
          </a:xfrm>
          <a:prstGeom prst="line">
            <a:avLst/>
          </a:prstGeom>
          <a:ln w="25400">
            <a:solidFill>
              <a:srgbClr val="177770"/>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572000" y="1814734"/>
            <a:ext cx="457200" cy="457200"/>
          </a:xfrm>
          <a:prstGeom prst="ellipse">
            <a:avLst/>
          </a:prstGeom>
          <a:solidFill>
            <a:srgbClr val="177770"/>
          </a:solidFill>
          <a:ln>
            <a:solidFill>
              <a:srgbClr val="177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1878742"/>
            <a:ext cx="457200" cy="228600"/>
          </a:xfrm>
          <a:prstGeom prst="rect">
            <a:avLst/>
          </a:prstGeom>
          <a:noFill/>
        </p:spPr>
        <p:txBody>
          <a:bodyPr wrap="square" lIns="45720" rIns="45720" anchor="t">
            <a:spAutoFit/>
          </a:bodyPr>
          <a:lstStyle/>
          <a:p>
            <a:pPr algn="ctr">
              <a:spcAft>
                <a:spcPts val="0"/>
              </a:spcAft>
            </a:pPr>
            <a:r>
              <a:rPr sz="1400" b="1">
                <a:solidFill>
                  <a:srgbClr val="FFFFFF"/>
                </a:solidFill>
                <a:latin typeface="Aptos"/>
              </a:rPr>
              <a:t>2</a:t>
            </a:r>
          </a:p>
        </p:txBody>
      </p:sp>
      <p:sp>
        <p:nvSpPr>
          <p:cNvPr id="11" name="TextBox 10"/>
          <p:cNvSpPr txBox="1"/>
          <p:nvPr/>
        </p:nvSpPr>
        <p:spPr>
          <a:xfrm>
            <a:off x="5166360" y="1878742"/>
            <a:ext cx="1920240" cy="256032"/>
          </a:xfrm>
          <a:prstGeom prst="rect">
            <a:avLst/>
          </a:prstGeom>
          <a:noFill/>
        </p:spPr>
        <p:txBody>
          <a:bodyPr wrap="square" lIns="45720" rIns="45720" anchor="t">
            <a:spAutoFit/>
          </a:bodyPr>
          <a:lstStyle/>
          <a:p>
            <a:pPr algn="l">
              <a:spcAft>
                <a:spcPts val="0"/>
              </a:spcAft>
            </a:pPr>
            <a:r>
              <a:rPr sz="1300" b="1">
                <a:solidFill>
                  <a:srgbClr val="10272D"/>
                </a:solidFill>
                <a:latin typeface="Aptos"/>
              </a:rPr>
              <a:t>PADRÕES</a:t>
            </a:r>
          </a:p>
        </p:txBody>
      </p:sp>
      <p:cxnSp>
        <p:nvCxnSpPr>
          <p:cNvPr id="12" name="Connector 11"/>
          <p:cNvCxnSpPr/>
          <p:nvPr/>
        </p:nvCxnSpPr>
        <p:spPr>
          <a:xfrm>
            <a:off x="7178040" y="2043334"/>
            <a:ext cx="822960" cy="0"/>
          </a:xfrm>
          <a:prstGeom prst="line">
            <a:avLst/>
          </a:prstGeom>
          <a:ln w="25400">
            <a:solidFill>
              <a:srgbClr val="177770"/>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38160" y="1814734"/>
            <a:ext cx="457200" cy="457200"/>
          </a:xfrm>
          <a:prstGeom prst="ellipse">
            <a:avLst/>
          </a:prstGeom>
          <a:solidFill>
            <a:srgbClr val="177770"/>
          </a:solidFill>
          <a:ln>
            <a:solidFill>
              <a:srgbClr val="177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38160" y="1878742"/>
            <a:ext cx="457200" cy="228600"/>
          </a:xfrm>
          <a:prstGeom prst="rect">
            <a:avLst/>
          </a:prstGeom>
          <a:noFill/>
        </p:spPr>
        <p:txBody>
          <a:bodyPr wrap="square" lIns="45720" rIns="45720" anchor="t">
            <a:spAutoFit/>
          </a:bodyPr>
          <a:lstStyle/>
          <a:p>
            <a:pPr algn="ctr">
              <a:spcAft>
                <a:spcPts val="0"/>
              </a:spcAft>
            </a:pPr>
            <a:r>
              <a:rPr sz="1400" b="1">
                <a:solidFill>
                  <a:srgbClr val="FFFFFF"/>
                </a:solidFill>
                <a:latin typeface="Aptos"/>
              </a:rPr>
              <a:t>3</a:t>
            </a:r>
          </a:p>
        </p:txBody>
      </p:sp>
      <p:sp>
        <p:nvSpPr>
          <p:cNvPr id="15" name="TextBox 14"/>
          <p:cNvSpPr txBox="1"/>
          <p:nvPr/>
        </p:nvSpPr>
        <p:spPr>
          <a:xfrm>
            <a:off x="8732520" y="1878742"/>
            <a:ext cx="1920240" cy="256032"/>
          </a:xfrm>
          <a:prstGeom prst="rect">
            <a:avLst/>
          </a:prstGeom>
          <a:noFill/>
        </p:spPr>
        <p:txBody>
          <a:bodyPr wrap="square" lIns="45720" rIns="45720" anchor="t">
            <a:spAutoFit/>
          </a:bodyPr>
          <a:lstStyle/>
          <a:p>
            <a:pPr algn="l">
              <a:spcAft>
                <a:spcPts val="0"/>
              </a:spcAft>
            </a:pPr>
            <a:r>
              <a:rPr sz="1300" b="1">
                <a:solidFill>
                  <a:srgbClr val="10272D"/>
                </a:solidFill>
                <a:latin typeface="Aptos"/>
              </a:rPr>
              <a:t>PREVISÃO</a:t>
            </a:r>
          </a:p>
        </p:txBody>
      </p:sp>
      <p:sp>
        <p:nvSpPr>
          <p:cNvPr id="16" name="Rounded Rectangle 15"/>
          <p:cNvSpPr/>
          <p:nvPr/>
        </p:nvSpPr>
        <p:spPr>
          <a:xfrm>
            <a:off x="731520" y="2546254"/>
            <a:ext cx="3063240" cy="2331720"/>
          </a:xfrm>
          <a:prstGeom prst="roundRect">
            <a:avLst/>
          </a:prstGeom>
          <a:solidFill>
            <a:srgbClr val="FCFAF5"/>
          </a:solidFill>
          <a:ln w="13970">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2774854"/>
            <a:ext cx="2606040" cy="320040"/>
          </a:xfrm>
          <a:prstGeom prst="rect">
            <a:avLst/>
          </a:prstGeom>
          <a:noFill/>
        </p:spPr>
        <p:txBody>
          <a:bodyPr wrap="square" lIns="45720" rIns="45720" anchor="t">
            <a:spAutoFit/>
          </a:bodyPr>
          <a:lstStyle/>
          <a:p>
            <a:pPr algn="ctr">
              <a:spcAft>
                <a:spcPts val="0"/>
              </a:spcAft>
            </a:pPr>
            <a:r>
              <a:rPr sz="1700" b="1">
                <a:solidFill>
                  <a:srgbClr val="10272D"/>
                </a:solidFill>
                <a:latin typeface="Aptos"/>
              </a:rPr>
              <a:t>Nova folha</a:t>
            </a:r>
          </a:p>
        </p:txBody>
      </p:sp>
      <p:sp>
        <p:nvSpPr>
          <p:cNvPr id="18" name="Oval 17"/>
          <p:cNvSpPr/>
          <p:nvPr/>
        </p:nvSpPr>
        <p:spPr>
          <a:xfrm rot="2280000">
            <a:off x="1783080" y="3369214"/>
            <a:ext cx="699516" cy="971550"/>
          </a:xfrm>
          <a:prstGeom prst="ellipse">
            <a:avLst/>
          </a:prstGeom>
          <a:solidFill>
            <a:srgbClr val="6F9950"/>
          </a:solidFill>
          <a:ln>
            <a:solidFill>
              <a:srgbClr val="3269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V="1">
            <a:off x="1876348" y="3509117"/>
            <a:ext cx="489662" cy="652881"/>
          </a:xfrm>
          <a:prstGeom prst="line">
            <a:avLst/>
          </a:prstGeom>
          <a:ln w="20320">
            <a:solidFill>
              <a:srgbClr val="EBEFC9"/>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2000707" y="3820013"/>
            <a:ext cx="93268" cy="93268"/>
          </a:xfrm>
          <a:prstGeom prst="ellipse">
            <a:avLst/>
          </a:prstGeom>
          <a:solidFill>
            <a:srgbClr val="DDAC4F"/>
          </a:solidFill>
          <a:ln>
            <a:solidFill>
              <a:srgbClr val="DDAC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195017" y="3952144"/>
            <a:ext cx="93268" cy="93268"/>
          </a:xfrm>
          <a:prstGeom prst="ellipse">
            <a:avLst/>
          </a:prstGeom>
          <a:solidFill>
            <a:srgbClr val="DDAC4F"/>
          </a:solidFill>
          <a:ln>
            <a:solidFill>
              <a:srgbClr val="DDAC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2264968" y="3695654"/>
            <a:ext cx="93268" cy="93268"/>
          </a:xfrm>
          <a:prstGeom prst="ellipse">
            <a:avLst/>
          </a:prstGeom>
          <a:solidFill>
            <a:srgbClr val="DDAC4F"/>
          </a:solidFill>
          <a:ln>
            <a:solidFill>
              <a:srgbClr val="DDAC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a:off x="3931920" y="3689254"/>
            <a:ext cx="868680" cy="0"/>
          </a:xfrm>
          <a:prstGeom prst="line">
            <a:avLst/>
          </a:prstGeom>
          <a:ln w="31750">
            <a:solidFill>
              <a:srgbClr val="17777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983480" y="2546254"/>
            <a:ext cx="2834640" cy="2331720"/>
          </a:xfrm>
          <a:prstGeom prst="roundRect">
            <a:avLst/>
          </a:prstGeom>
          <a:solidFill>
            <a:srgbClr val="FAEED8"/>
          </a:solidFill>
          <a:ln w="13970">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257800" y="2820574"/>
            <a:ext cx="2286000" cy="320040"/>
          </a:xfrm>
          <a:prstGeom prst="rect">
            <a:avLst/>
          </a:prstGeom>
          <a:noFill/>
        </p:spPr>
        <p:txBody>
          <a:bodyPr wrap="square" lIns="45720" rIns="45720" anchor="t">
            <a:spAutoFit/>
          </a:bodyPr>
          <a:lstStyle/>
          <a:p>
            <a:pPr algn="ctr">
              <a:spcAft>
                <a:spcPts val="0"/>
              </a:spcAft>
            </a:pPr>
            <a:r>
              <a:rPr sz="1700" b="1" dirty="0" err="1">
                <a:solidFill>
                  <a:srgbClr val="10272D"/>
                </a:solidFill>
                <a:latin typeface="Aptos"/>
              </a:rPr>
              <a:t>Modelo</a:t>
            </a:r>
            <a:r>
              <a:rPr sz="1700" b="1" dirty="0">
                <a:solidFill>
                  <a:srgbClr val="10272D"/>
                </a:solidFill>
                <a:latin typeface="Aptos"/>
              </a:rPr>
              <a:t> de IA</a:t>
            </a:r>
          </a:p>
        </p:txBody>
      </p:sp>
      <p:sp>
        <p:nvSpPr>
          <p:cNvPr id="26" name="TextBox 25"/>
          <p:cNvSpPr txBox="1"/>
          <p:nvPr/>
        </p:nvSpPr>
        <p:spPr>
          <a:xfrm>
            <a:off x="5257800" y="3369214"/>
            <a:ext cx="2286000" cy="777240"/>
          </a:xfrm>
          <a:prstGeom prst="rect">
            <a:avLst/>
          </a:prstGeom>
          <a:noFill/>
        </p:spPr>
        <p:txBody>
          <a:bodyPr wrap="square" lIns="45720" rIns="45720" anchor="t">
            <a:spAutoFit/>
          </a:bodyPr>
          <a:lstStyle/>
          <a:p>
            <a:pPr algn="ctr">
              <a:spcAft>
                <a:spcPts val="0"/>
              </a:spcAft>
            </a:pPr>
            <a:r>
              <a:rPr sz="1500" b="0">
                <a:solidFill>
                  <a:srgbClr val="3A4B51"/>
                </a:solidFill>
                <a:latin typeface="Aptos"/>
              </a:rPr>
              <a:t>Compara padrões
com o que aprendeu</a:t>
            </a:r>
          </a:p>
        </p:txBody>
      </p:sp>
      <p:cxnSp>
        <p:nvCxnSpPr>
          <p:cNvPr id="27" name="Connector 26"/>
          <p:cNvCxnSpPr/>
          <p:nvPr/>
        </p:nvCxnSpPr>
        <p:spPr>
          <a:xfrm>
            <a:off x="7955279" y="3689254"/>
            <a:ext cx="411481" cy="0"/>
          </a:xfrm>
          <a:prstGeom prst="line">
            <a:avLst/>
          </a:prstGeom>
          <a:ln w="31750">
            <a:solidFill>
              <a:srgbClr val="177770"/>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549640" y="2546254"/>
            <a:ext cx="2606040" cy="2331720"/>
          </a:xfrm>
          <a:prstGeom prst="roundRect">
            <a:avLst/>
          </a:prstGeom>
          <a:solidFill>
            <a:srgbClr val="E7F1ED"/>
          </a:solidFill>
          <a:ln w="13970">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778240" y="2820574"/>
            <a:ext cx="2148840" cy="320040"/>
          </a:xfrm>
          <a:prstGeom prst="rect">
            <a:avLst/>
          </a:prstGeom>
          <a:noFill/>
        </p:spPr>
        <p:txBody>
          <a:bodyPr wrap="square" lIns="45720" rIns="45720" anchor="t">
            <a:spAutoFit/>
          </a:bodyPr>
          <a:lstStyle/>
          <a:p>
            <a:pPr algn="ctr">
              <a:spcAft>
                <a:spcPts val="0"/>
              </a:spcAft>
            </a:pPr>
            <a:r>
              <a:rPr sz="1700" b="1">
                <a:solidFill>
                  <a:srgbClr val="10272D"/>
                </a:solidFill>
                <a:latin typeface="Aptos"/>
              </a:rPr>
              <a:t>Resultado</a:t>
            </a:r>
          </a:p>
        </p:txBody>
      </p:sp>
      <p:sp>
        <p:nvSpPr>
          <p:cNvPr id="30" name="TextBox 29"/>
          <p:cNvSpPr txBox="1"/>
          <p:nvPr/>
        </p:nvSpPr>
        <p:spPr>
          <a:xfrm>
            <a:off x="8778240" y="3323494"/>
            <a:ext cx="2148840" cy="822960"/>
          </a:xfrm>
          <a:prstGeom prst="rect">
            <a:avLst/>
          </a:prstGeom>
          <a:noFill/>
        </p:spPr>
        <p:txBody>
          <a:bodyPr wrap="square" lIns="45720" rIns="45720" anchor="ctr">
            <a:spAutoFit/>
          </a:bodyPr>
          <a:lstStyle/>
          <a:p>
            <a:pPr algn="ctr">
              <a:spcAft>
                <a:spcPts val="0"/>
              </a:spcAft>
            </a:pPr>
            <a:r>
              <a:rPr sz="1500" b="1">
                <a:solidFill>
                  <a:srgbClr val="177770"/>
                </a:solidFill>
                <a:latin typeface="Aptos"/>
              </a:rPr>
              <a:t>“Padrão compatível
com greening”</a:t>
            </a:r>
          </a:p>
        </p:txBody>
      </p:sp>
      <p:sp>
        <p:nvSpPr>
          <p:cNvPr id="31" name="TextBox 30"/>
          <p:cNvSpPr txBox="1"/>
          <p:nvPr/>
        </p:nvSpPr>
        <p:spPr>
          <a:xfrm>
            <a:off x="868680" y="5289454"/>
            <a:ext cx="10332720" cy="502920"/>
          </a:xfrm>
          <a:prstGeom prst="rect">
            <a:avLst/>
          </a:prstGeom>
          <a:noFill/>
        </p:spPr>
        <p:txBody>
          <a:bodyPr wrap="square" lIns="45720" rIns="45720" anchor="t">
            <a:spAutoFit/>
          </a:bodyPr>
          <a:lstStyle/>
          <a:p>
            <a:pPr algn="ctr">
              <a:spcAft>
                <a:spcPts val="0"/>
              </a:spcAft>
            </a:pPr>
            <a:r>
              <a:rPr sz="1600" b="1">
                <a:solidFill>
                  <a:srgbClr val="177770"/>
                </a:solidFill>
                <a:latin typeface="Aptos"/>
              </a:rPr>
              <a:t>A previsão é uma pista para investigar — não substitui a confirmação especializada.</a:t>
            </a:r>
          </a:p>
        </p:txBody>
      </p:sp>
      <p:sp>
        <p:nvSpPr>
          <p:cNvPr id="32" name="TextBox 31"/>
          <p:cNvSpPr txBox="1"/>
          <p:nvPr/>
        </p:nvSpPr>
        <p:spPr>
          <a:xfrm>
            <a:off x="594360" y="6519672"/>
            <a:ext cx="10515600" cy="201168"/>
          </a:xfrm>
          <a:prstGeom prst="rect">
            <a:avLst/>
          </a:prstGeom>
          <a:noFill/>
        </p:spPr>
        <p:txBody>
          <a:bodyPr wrap="square" lIns="45720" rIns="45720" anchor="t">
            <a:spAutoFit/>
          </a:bodyPr>
          <a:lstStyle/>
          <a:p>
            <a:pPr algn="l">
              <a:spcAft>
                <a:spcPts val="0"/>
              </a:spcAft>
            </a:pPr>
            <a:r>
              <a:rPr sz="900" b="0">
                <a:solidFill>
                  <a:srgbClr val="3A4B51"/>
                </a:solidFill>
                <a:latin typeface="Aptos"/>
              </a:rPr>
              <a:t>Da engenharia à oncologia: IA na solução de problemas reais</a:t>
            </a:r>
          </a:p>
        </p:txBody>
      </p:sp>
      <p:sp>
        <p:nvSpPr>
          <p:cNvPr id="33" name="TextBox 32"/>
          <p:cNvSpPr txBox="1"/>
          <p:nvPr/>
        </p:nvSpPr>
        <p:spPr>
          <a:xfrm>
            <a:off x="11155680" y="6519672"/>
            <a:ext cx="320040" cy="201168"/>
          </a:xfrm>
          <a:prstGeom prst="rect">
            <a:avLst/>
          </a:prstGeom>
          <a:noFill/>
        </p:spPr>
        <p:txBody>
          <a:bodyPr wrap="square" lIns="45720" rIns="45720" anchor="t">
            <a:spAutoFit/>
          </a:bodyPr>
          <a:lstStyle/>
          <a:p>
            <a:pPr algn="r">
              <a:spcAft>
                <a:spcPts val="0"/>
              </a:spcAft>
            </a:pPr>
            <a:r>
              <a:rPr sz="900" b="0">
                <a:solidFill>
                  <a:srgbClr val="3A4B51"/>
                </a:solidFill>
                <a:latin typeface="Aptos"/>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23">
            <a:extLst>
              <a:ext uri="{FF2B5EF4-FFF2-40B4-BE49-F238E27FC236}">
                <a16:creationId xmlns:a16="http://schemas.microsoft.com/office/drawing/2014/main" id="{A2068FA9-D7AA-E9A7-AF84-633B39D462B2}"/>
              </a:ext>
            </a:extLst>
          </p:cNvPr>
          <p:cNvSpPr/>
          <p:nvPr/>
        </p:nvSpPr>
        <p:spPr>
          <a:xfrm>
            <a:off x="499402" y="1690376"/>
            <a:ext cx="11036105" cy="2035497"/>
          </a:xfrm>
          <a:prstGeom prst="roundRect">
            <a:avLst/>
          </a:prstGeom>
          <a:solidFill>
            <a:srgbClr val="FAEED8"/>
          </a:solidFill>
          <a:ln w="13970">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ítulo 1">
            <a:extLst>
              <a:ext uri="{FF2B5EF4-FFF2-40B4-BE49-F238E27FC236}">
                <a16:creationId xmlns:a16="http://schemas.microsoft.com/office/drawing/2014/main" id="{2FF752FB-1DA2-AA39-B0C2-031D969226B3}"/>
              </a:ext>
            </a:extLst>
          </p:cNvPr>
          <p:cNvSpPr>
            <a:spLocks noGrp="1"/>
          </p:cNvSpPr>
          <p:nvPr>
            <p:ph type="title"/>
          </p:nvPr>
        </p:nvSpPr>
        <p:spPr>
          <a:xfrm>
            <a:off x="812800" y="309910"/>
            <a:ext cx="10566400" cy="502890"/>
          </a:xfrm>
        </p:spPr>
        <p:txBody>
          <a:bodyPr>
            <a:normAutofit fontScale="90000"/>
          </a:bodyPr>
          <a:lstStyle/>
          <a:p>
            <a:pPr algn="ctr"/>
            <a:r>
              <a:rPr lang="pt-BR" b="1" dirty="0"/>
              <a:t>Demonstração prática de Machine Learning</a:t>
            </a:r>
            <a:br>
              <a:rPr lang="pt-BR" b="1" dirty="0"/>
            </a:br>
            <a:r>
              <a:rPr lang="pt-BR" b="1" dirty="0" err="1">
                <a:solidFill>
                  <a:srgbClr val="176D68"/>
                </a:solidFill>
              </a:rPr>
              <a:t>Teachable</a:t>
            </a:r>
            <a:r>
              <a:rPr lang="pt-BR" b="1" dirty="0">
                <a:solidFill>
                  <a:srgbClr val="176D68"/>
                </a:solidFill>
              </a:rPr>
              <a:t> Machine</a:t>
            </a:r>
          </a:p>
        </p:txBody>
      </p:sp>
      <p:sp>
        <p:nvSpPr>
          <p:cNvPr id="3" name="Espaço Reservado para Texto 2">
            <a:extLst>
              <a:ext uri="{FF2B5EF4-FFF2-40B4-BE49-F238E27FC236}">
                <a16:creationId xmlns:a16="http://schemas.microsoft.com/office/drawing/2014/main" id="{7F2760E4-490A-436B-7830-84D1137A1FDC}"/>
              </a:ext>
            </a:extLst>
          </p:cNvPr>
          <p:cNvSpPr>
            <a:spLocks noGrp="1"/>
          </p:cNvSpPr>
          <p:nvPr>
            <p:ph type="body" idx="101"/>
          </p:nvPr>
        </p:nvSpPr>
        <p:spPr>
          <a:xfrm>
            <a:off x="812800" y="1705513"/>
            <a:ext cx="10566400" cy="1723487"/>
          </a:xfrm>
        </p:spPr>
        <p:txBody>
          <a:bodyPr/>
          <a:lstStyle/>
          <a:p>
            <a:pPr algn="just"/>
            <a:r>
              <a:rPr lang="pt-BR" sz="2000" dirty="0"/>
              <a:t>É uma ferramenta educacional de aprendizado de máquina do Google que permite criar e testar modelos diretamente no navegador, sem exigir experiência prévia em programação. Ela transforma conceitos abstratos de </a:t>
            </a:r>
            <a:r>
              <a:rPr lang="pt-BR" sz="2000" i="1" dirty="0"/>
              <a:t>machine learning</a:t>
            </a:r>
            <a:r>
              <a:rPr lang="pt-BR" sz="2000" dirty="0"/>
              <a:t> em um processo visual e experimental, trabalhando principalmente com </a:t>
            </a:r>
            <a:r>
              <a:rPr lang="pt-BR" sz="2000" b="1" dirty="0"/>
              <a:t>imagens, sons e poses corporais</a:t>
            </a:r>
            <a:r>
              <a:rPr lang="pt-BR" sz="2000" dirty="0"/>
              <a:t>.</a:t>
            </a:r>
          </a:p>
        </p:txBody>
      </p:sp>
      <p:sp>
        <p:nvSpPr>
          <p:cNvPr id="5" name="CaixaDeTexto 4">
            <a:extLst>
              <a:ext uri="{FF2B5EF4-FFF2-40B4-BE49-F238E27FC236}">
                <a16:creationId xmlns:a16="http://schemas.microsoft.com/office/drawing/2014/main" id="{C2676686-823C-2F19-79D0-B3941BF7796A}"/>
              </a:ext>
            </a:extLst>
          </p:cNvPr>
          <p:cNvSpPr txBox="1"/>
          <p:nvPr/>
        </p:nvSpPr>
        <p:spPr>
          <a:xfrm>
            <a:off x="3889377" y="6342073"/>
            <a:ext cx="6101860" cy="369332"/>
          </a:xfrm>
          <a:prstGeom prst="rect">
            <a:avLst/>
          </a:prstGeom>
          <a:noFill/>
        </p:spPr>
        <p:txBody>
          <a:bodyPr wrap="square">
            <a:spAutoFit/>
          </a:bodyPr>
          <a:lstStyle/>
          <a:p>
            <a:r>
              <a:rPr lang="pt-BR" dirty="0">
                <a:hlinkClick r:id="rId2"/>
              </a:rPr>
              <a:t>https://</a:t>
            </a:r>
            <a:r>
              <a:rPr lang="pt-BR" dirty="0" err="1">
                <a:hlinkClick r:id="rId2"/>
              </a:rPr>
              <a:t>teachablemachine.withgoogle.com</a:t>
            </a:r>
            <a:r>
              <a:rPr lang="pt-BR" dirty="0">
                <a:hlinkClick r:id="rId2"/>
              </a:rPr>
              <a:t>/</a:t>
            </a:r>
            <a:endParaRPr lang="pt-BR" dirty="0"/>
          </a:p>
        </p:txBody>
      </p:sp>
      <p:pic>
        <p:nvPicPr>
          <p:cNvPr id="1032" name="Picture 8" descr="Day 18 - Appvent23 - Teachable Machine - Global EdTech">
            <a:extLst>
              <a:ext uri="{FF2B5EF4-FFF2-40B4-BE49-F238E27FC236}">
                <a16:creationId xmlns:a16="http://schemas.microsoft.com/office/drawing/2014/main" id="{94DCDDF6-14EB-99DA-0F3D-7B2367BDD5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8109" y="3835899"/>
            <a:ext cx="5102708" cy="2506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0677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409BB252-DC13-4647-7979-7DB5465E34CF}"/>
              </a:ext>
            </a:extLst>
          </p:cNvPr>
          <p:cNvPicPr>
            <a:picLocks noChangeAspect="1"/>
          </p:cNvPicPr>
          <p:nvPr/>
        </p:nvPicPr>
        <p:blipFill>
          <a:blip r:embed="rId2"/>
          <a:srcRect b="2954"/>
          <a:stretch>
            <a:fillRect/>
          </a:stretch>
        </p:blipFill>
        <p:spPr>
          <a:xfrm>
            <a:off x="6096000" y="1456978"/>
            <a:ext cx="5945629" cy="4816231"/>
          </a:xfrm>
          <a:prstGeom prst="rect">
            <a:avLst/>
          </a:prstGeom>
        </p:spPr>
      </p:pic>
      <p:pic>
        <p:nvPicPr>
          <p:cNvPr id="6" name="Imagem 5">
            <a:extLst>
              <a:ext uri="{FF2B5EF4-FFF2-40B4-BE49-F238E27FC236}">
                <a16:creationId xmlns:a16="http://schemas.microsoft.com/office/drawing/2014/main" id="{FE931805-ADB8-1FB2-0E08-1AB406075690}"/>
              </a:ext>
            </a:extLst>
          </p:cNvPr>
          <p:cNvPicPr>
            <a:picLocks noChangeAspect="1"/>
          </p:cNvPicPr>
          <p:nvPr/>
        </p:nvPicPr>
        <p:blipFill>
          <a:blip r:embed="rId3"/>
          <a:stretch>
            <a:fillRect/>
          </a:stretch>
        </p:blipFill>
        <p:spPr>
          <a:xfrm>
            <a:off x="161188" y="1456978"/>
            <a:ext cx="5857315" cy="4816231"/>
          </a:xfrm>
          <a:prstGeom prst="rect">
            <a:avLst/>
          </a:prstGeom>
        </p:spPr>
      </p:pic>
      <p:sp>
        <p:nvSpPr>
          <p:cNvPr id="7" name="Título 1">
            <a:extLst>
              <a:ext uri="{FF2B5EF4-FFF2-40B4-BE49-F238E27FC236}">
                <a16:creationId xmlns:a16="http://schemas.microsoft.com/office/drawing/2014/main" id="{BB49E206-95CF-13D9-FDCE-76306AC5272F}"/>
              </a:ext>
            </a:extLst>
          </p:cNvPr>
          <p:cNvSpPr>
            <a:spLocks noGrp="1"/>
          </p:cNvSpPr>
          <p:nvPr>
            <p:ph type="title"/>
          </p:nvPr>
        </p:nvSpPr>
        <p:spPr>
          <a:xfrm>
            <a:off x="812800" y="309910"/>
            <a:ext cx="10566400" cy="502890"/>
          </a:xfrm>
        </p:spPr>
        <p:txBody>
          <a:bodyPr>
            <a:normAutofit fontScale="90000"/>
          </a:bodyPr>
          <a:lstStyle/>
          <a:p>
            <a:pPr algn="ctr"/>
            <a:r>
              <a:rPr lang="pt-BR" b="1" dirty="0"/>
              <a:t>Demonstração prática de Machine Learning</a:t>
            </a:r>
            <a:br>
              <a:rPr lang="pt-BR" b="1" dirty="0"/>
            </a:br>
            <a:r>
              <a:rPr lang="pt-BR" b="1" dirty="0" err="1">
                <a:solidFill>
                  <a:srgbClr val="176D68"/>
                </a:solidFill>
              </a:rPr>
              <a:t>Teachable</a:t>
            </a:r>
            <a:r>
              <a:rPr lang="pt-BR" b="1" dirty="0">
                <a:solidFill>
                  <a:srgbClr val="176D68"/>
                </a:solidFill>
              </a:rPr>
              <a:t> Machine</a:t>
            </a:r>
          </a:p>
        </p:txBody>
      </p:sp>
    </p:spTree>
    <p:extLst>
      <p:ext uri="{BB962C8B-B14F-4D97-AF65-F5344CB8AC3E}">
        <p14:creationId xmlns:p14="http://schemas.microsoft.com/office/powerpoint/2010/main" val="7884924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9B3B881B-C613-F4A8-72AC-1F965C14107D}"/>
              </a:ext>
            </a:extLst>
          </p:cNvPr>
          <p:cNvSpPr>
            <a:spLocks noGrp="1"/>
          </p:cNvSpPr>
          <p:nvPr>
            <p:ph type="title"/>
          </p:nvPr>
        </p:nvSpPr>
        <p:spPr>
          <a:xfrm>
            <a:off x="812800" y="309910"/>
            <a:ext cx="10566400" cy="502890"/>
          </a:xfrm>
        </p:spPr>
        <p:txBody>
          <a:bodyPr>
            <a:normAutofit fontScale="90000"/>
          </a:bodyPr>
          <a:lstStyle/>
          <a:p>
            <a:pPr algn="ctr"/>
            <a:r>
              <a:rPr lang="pt-BR" b="1" dirty="0"/>
              <a:t>Demonstração prática de Machine Learning</a:t>
            </a:r>
            <a:br>
              <a:rPr lang="pt-BR" b="1" dirty="0"/>
            </a:br>
            <a:r>
              <a:rPr lang="pt-BR" b="1" dirty="0" err="1">
                <a:solidFill>
                  <a:srgbClr val="176D68"/>
                </a:solidFill>
              </a:rPr>
              <a:t>Teachable</a:t>
            </a:r>
            <a:r>
              <a:rPr lang="pt-BR" b="1" dirty="0">
                <a:solidFill>
                  <a:srgbClr val="176D68"/>
                </a:solidFill>
              </a:rPr>
              <a:t> Machine</a:t>
            </a:r>
          </a:p>
        </p:txBody>
      </p:sp>
      <p:pic>
        <p:nvPicPr>
          <p:cNvPr id="5" name="Imagem 4">
            <a:extLst>
              <a:ext uri="{FF2B5EF4-FFF2-40B4-BE49-F238E27FC236}">
                <a16:creationId xmlns:a16="http://schemas.microsoft.com/office/drawing/2014/main" id="{464BF0F3-1BE4-3C25-AC98-2AD70050798B}"/>
              </a:ext>
            </a:extLst>
          </p:cNvPr>
          <p:cNvPicPr>
            <a:picLocks noChangeAspect="1"/>
          </p:cNvPicPr>
          <p:nvPr/>
        </p:nvPicPr>
        <p:blipFill>
          <a:blip r:embed="rId2"/>
          <a:srcRect t="13686" b="10029"/>
          <a:stretch>
            <a:fillRect/>
          </a:stretch>
        </p:blipFill>
        <p:spPr>
          <a:xfrm>
            <a:off x="1087315" y="1601885"/>
            <a:ext cx="10017369" cy="4776084"/>
          </a:xfrm>
          <a:prstGeom prst="rect">
            <a:avLst/>
          </a:prstGeom>
        </p:spPr>
      </p:pic>
    </p:spTree>
    <p:extLst>
      <p:ext uri="{BB962C8B-B14F-4D97-AF65-F5344CB8AC3E}">
        <p14:creationId xmlns:p14="http://schemas.microsoft.com/office/powerpoint/2010/main" val="27060755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292608"/>
            <a:ext cx="7315200" cy="274320"/>
          </a:xfrm>
          <a:prstGeom prst="rect">
            <a:avLst/>
          </a:prstGeom>
          <a:noFill/>
        </p:spPr>
        <p:txBody>
          <a:bodyPr wrap="square" lIns="45720" tIns="18288" rIns="45720" bIns="18288" anchor="t">
            <a:spAutoFit/>
          </a:bodyPr>
          <a:lstStyle/>
          <a:p>
            <a:pPr algn="l"/>
            <a:r>
              <a:rPr sz="1100" b="1">
                <a:solidFill>
                  <a:srgbClr val="007A78"/>
                </a:solidFill>
                <a:latin typeface="Arial"/>
              </a:rPr>
              <a:t>EXEMPLO 1 · SUPERVISIONADO · COLAB: PARTE A</a:t>
            </a:r>
          </a:p>
        </p:txBody>
      </p:sp>
      <p:sp>
        <p:nvSpPr>
          <p:cNvPr id="4" name="TextBox 3"/>
          <p:cNvSpPr txBox="1"/>
          <p:nvPr/>
        </p:nvSpPr>
        <p:spPr>
          <a:xfrm>
            <a:off x="621792" y="603504"/>
            <a:ext cx="11155680" cy="640080"/>
          </a:xfrm>
          <a:prstGeom prst="rect">
            <a:avLst/>
          </a:prstGeom>
          <a:noFill/>
        </p:spPr>
        <p:txBody>
          <a:bodyPr wrap="square" lIns="45720" tIns="18288" rIns="45720" bIns="18288" anchor="t">
            <a:spAutoFit/>
          </a:bodyPr>
          <a:lstStyle/>
          <a:p>
            <a:pPr algn="l"/>
            <a:r>
              <a:rPr sz="2800" b="1">
                <a:solidFill>
                  <a:srgbClr val="14283A"/>
                </a:solidFill>
                <a:latin typeface="Georgia"/>
              </a:rPr>
              <a:t>Supervisionado: aprender com exemplos rotulados</a:t>
            </a:r>
          </a:p>
        </p:txBody>
      </p:sp>
      <p:sp>
        <p:nvSpPr>
          <p:cNvPr id="6" name="Rectangle 5"/>
          <p:cNvSpPr/>
          <p:nvPr/>
        </p:nvSpPr>
        <p:spPr>
          <a:xfrm>
            <a:off x="640080" y="1783080"/>
            <a:ext cx="6675120"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upervisionado_motor.png"/>
          <p:cNvPicPr>
            <a:picLocks noChangeAspect="1"/>
          </p:cNvPicPr>
          <p:nvPr/>
        </p:nvPicPr>
        <p:blipFill>
          <a:blip r:embed="rId3"/>
          <a:stretch>
            <a:fillRect/>
          </a:stretch>
        </p:blipFill>
        <p:spPr>
          <a:xfrm>
            <a:off x="640080" y="1783080"/>
            <a:ext cx="6675120" cy="3520440"/>
          </a:xfrm>
          <a:prstGeom prst="rect">
            <a:avLst/>
          </a:prstGeom>
        </p:spPr>
      </p:pic>
      <p:sp>
        <p:nvSpPr>
          <p:cNvPr id="8" name="Rounded Rectangle 7"/>
          <p:cNvSpPr/>
          <p:nvPr/>
        </p:nvSpPr>
        <p:spPr>
          <a:xfrm>
            <a:off x="7589520" y="178308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589520" y="178308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18120" y="183794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1 · EXEMPLOS</a:t>
            </a:r>
          </a:p>
        </p:txBody>
      </p:sp>
      <p:sp>
        <p:nvSpPr>
          <p:cNvPr id="11" name="TextBox 10"/>
          <p:cNvSpPr txBox="1"/>
          <p:nvPr/>
        </p:nvSpPr>
        <p:spPr>
          <a:xfrm>
            <a:off x="7818120" y="2203704"/>
            <a:ext cx="3611880" cy="640080"/>
          </a:xfrm>
          <a:prstGeom prst="rect">
            <a:avLst/>
          </a:prstGeom>
          <a:noFill/>
        </p:spPr>
        <p:txBody>
          <a:bodyPr wrap="square" lIns="45720" tIns="18288" rIns="45720" bIns="18288" anchor="t">
            <a:spAutoFit/>
          </a:bodyPr>
          <a:lstStyle/>
          <a:p>
            <a:pPr algn="l"/>
            <a:r>
              <a:rPr sz="1250" b="0">
                <a:solidFill>
                  <a:srgbClr val="14283A"/>
                </a:solidFill>
                <a:latin typeface="Arial"/>
              </a:rPr>
              <a:t>Motores já classificados como normal ou falha, com temperatura e vibração medidas.</a:t>
            </a:r>
          </a:p>
        </p:txBody>
      </p:sp>
      <p:sp>
        <p:nvSpPr>
          <p:cNvPr id="12" name="Rounded Rectangle 11"/>
          <p:cNvSpPr/>
          <p:nvPr/>
        </p:nvSpPr>
        <p:spPr>
          <a:xfrm>
            <a:off x="7589520" y="297180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589520" y="2971800"/>
            <a:ext cx="82296" cy="1097280"/>
          </a:xfrm>
          <a:prstGeom prst="rect">
            <a:avLst/>
          </a:prstGeom>
          <a:solidFill>
            <a:srgbClr val="E09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18120" y="3026664"/>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2 · APRENDIZADO</a:t>
            </a:r>
          </a:p>
        </p:txBody>
      </p:sp>
      <p:sp>
        <p:nvSpPr>
          <p:cNvPr id="15" name="TextBox 14"/>
          <p:cNvSpPr txBox="1"/>
          <p:nvPr/>
        </p:nvSpPr>
        <p:spPr>
          <a:xfrm>
            <a:off x="7818120" y="3392424"/>
            <a:ext cx="3611880" cy="640080"/>
          </a:xfrm>
          <a:prstGeom prst="rect">
            <a:avLst/>
          </a:prstGeom>
          <a:noFill/>
        </p:spPr>
        <p:txBody>
          <a:bodyPr wrap="square" lIns="45720" tIns="18288" rIns="45720" bIns="18288" anchor="t">
            <a:spAutoFit/>
          </a:bodyPr>
          <a:lstStyle/>
          <a:p>
            <a:pPr algn="l"/>
            <a:r>
              <a:rPr sz="1250" b="0">
                <a:solidFill>
                  <a:srgbClr val="14283A"/>
                </a:solidFill>
                <a:latin typeface="Arial"/>
              </a:rPr>
              <a:t>O modelo encontra a fronteira que relaciona X (temperatura, vibração) com y (normal ou falha).</a:t>
            </a:r>
          </a:p>
        </p:txBody>
      </p:sp>
      <p:sp>
        <p:nvSpPr>
          <p:cNvPr id="16" name="Rounded Rectangle 15"/>
          <p:cNvSpPr/>
          <p:nvPr/>
        </p:nvSpPr>
        <p:spPr>
          <a:xfrm>
            <a:off x="7589520" y="416052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589520" y="416052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18120" y="421538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3 · PREVISÃO</a:t>
            </a:r>
          </a:p>
        </p:txBody>
      </p:sp>
      <p:sp>
        <p:nvSpPr>
          <p:cNvPr id="19" name="TextBox 18"/>
          <p:cNvSpPr txBox="1"/>
          <p:nvPr/>
        </p:nvSpPr>
        <p:spPr>
          <a:xfrm>
            <a:off x="7818120" y="4581144"/>
            <a:ext cx="3611880" cy="640080"/>
          </a:xfrm>
          <a:prstGeom prst="rect">
            <a:avLst/>
          </a:prstGeom>
          <a:noFill/>
        </p:spPr>
        <p:txBody>
          <a:bodyPr wrap="square" lIns="45720" tIns="18288" rIns="45720" bIns="18288" anchor="t">
            <a:spAutoFit/>
          </a:bodyPr>
          <a:lstStyle/>
          <a:p>
            <a:pPr algn="l"/>
            <a:r>
              <a:rPr sz="1250" b="0">
                <a:solidFill>
                  <a:srgbClr val="14283A"/>
                </a:solidFill>
                <a:latin typeface="Arial"/>
              </a:rPr>
              <a:t>Para uma máquina nova, estima a classe; depois avaliamos os erros.</a:t>
            </a:r>
          </a:p>
        </p:txBody>
      </p:sp>
      <p:sp>
        <p:nvSpPr>
          <p:cNvPr id="20" name="TextBox 19"/>
          <p:cNvSpPr txBox="1"/>
          <p:nvPr/>
        </p:nvSpPr>
        <p:spPr>
          <a:xfrm>
            <a:off x="621792" y="5623560"/>
            <a:ext cx="10972800" cy="267766"/>
          </a:xfrm>
          <a:prstGeom prst="rect">
            <a:avLst/>
          </a:prstGeom>
          <a:noFill/>
        </p:spPr>
        <p:txBody>
          <a:bodyPr wrap="square" lIns="45720" tIns="18288" rIns="45720" bIns="18288" anchor="t">
            <a:spAutoFit/>
          </a:bodyPr>
          <a:lstStyle/>
          <a:p>
            <a:pPr algn="ctr"/>
            <a:r>
              <a:rPr lang="pt-BR" sz="1500" b="1" dirty="0">
                <a:solidFill>
                  <a:srgbClr val="14283A"/>
                </a:solidFill>
                <a:latin typeface="Arial"/>
              </a:rPr>
              <a:t>A qualidade do modelo depende da qualidade dos rótulos.</a:t>
            </a:r>
            <a:endParaRPr sz="1500" b="1" dirty="0">
              <a:solidFill>
                <a:srgbClr val="14283A"/>
              </a:solidFill>
              <a:latin typeface="Arial"/>
            </a:endParaRPr>
          </a:p>
        </p:txBody>
      </p:sp>
      <p:sp>
        <p:nvSpPr>
          <p:cNvPr id="22" name="TextBox 21"/>
          <p:cNvSpPr txBox="1"/>
          <p:nvPr/>
        </p:nvSpPr>
        <p:spPr>
          <a:xfrm>
            <a:off x="10972800" y="6355080"/>
            <a:ext cx="594360" cy="274320"/>
          </a:xfrm>
          <a:prstGeom prst="rect">
            <a:avLst/>
          </a:prstGeom>
          <a:noFill/>
        </p:spPr>
        <p:txBody>
          <a:bodyPr wrap="square" lIns="45720" tIns="18288" rIns="45720" bIns="18288" anchor="t">
            <a:spAutoFit/>
          </a:bodyPr>
          <a:lstStyle/>
          <a:p>
            <a:pPr algn="r"/>
            <a:r>
              <a:rPr sz="1000" b="1">
                <a:solidFill>
                  <a:srgbClr val="5F6F78"/>
                </a:solidFill>
                <a:latin typeface="Arial"/>
              </a:rPr>
              <a:t>33</a:t>
            </a:r>
          </a:p>
        </p:txBody>
      </p:sp>
      <p:sp>
        <p:nvSpPr>
          <p:cNvPr id="23" name="TextBox 4">
            <a:extLst>
              <a:ext uri="{FF2B5EF4-FFF2-40B4-BE49-F238E27FC236}">
                <a16:creationId xmlns:a16="http://schemas.microsoft.com/office/drawing/2014/main" id="{8C9B8AF3-6A59-C77D-DB64-5CEEC7F155EA}"/>
              </a:ext>
            </a:extLst>
          </p:cNvPr>
          <p:cNvSpPr txBox="1"/>
          <p:nvPr/>
        </p:nvSpPr>
        <p:spPr>
          <a:xfrm>
            <a:off x="566928" y="1170432"/>
            <a:ext cx="10972800" cy="411480"/>
          </a:xfrm>
          <a:prstGeom prst="rect">
            <a:avLst/>
          </a:prstGeom>
          <a:noFill/>
        </p:spPr>
        <p:txBody>
          <a:bodyPr wrap="square">
            <a:spAutoFit/>
          </a:bodyPr>
          <a:lstStyle/>
          <a:p>
            <a:pPr>
              <a:spcAft>
                <a:spcPts val="700"/>
              </a:spcAft>
            </a:pPr>
            <a:r>
              <a:rPr lang="pt-BR" sz="2000" b="0" noProof="0" dirty="0">
                <a:solidFill>
                  <a:srgbClr val="637478"/>
                </a:solidFill>
                <a:latin typeface="Aptos"/>
              </a:rPr>
              <a:t>O treinamento inclui entradas X e uma resposta conhecida </a:t>
            </a:r>
            <a:r>
              <a:rPr lang="pt-BR" sz="2000" b="0" noProof="0" dirty="0" err="1">
                <a:solidFill>
                  <a:srgbClr val="637478"/>
                </a:solidFill>
                <a:latin typeface="Aptos"/>
              </a:rPr>
              <a:t>y</a:t>
            </a:r>
            <a:r>
              <a:rPr lang="pt-BR" sz="2000" b="0" noProof="0" dirty="0">
                <a:solidFill>
                  <a:srgbClr val="637478"/>
                </a:solidFill>
                <a:latin typeface="Aptos"/>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EXEMPLO 1 · SUPERVISIONADO · COLAB: PARTE A</a:t>
            </a:r>
          </a:p>
        </p:txBody>
      </p:sp>
      <p:sp>
        <p:nvSpPr>
          <p:cNvPr id="4" name="TextBox 3"/>
          <p:cNvSpPr txBox="1"/>
          <p:nvPr/>
        </p:nvSpPr>
        <p:spPr>
          <a:xfrm>
            <a:off x="530352" y="566928"/>
            <a:ext cx="11155680" cy="566928"/>
          </a:xfrm>
          <a:prstGeom prst="rect">
            <a:avLst/>
          </a:prstGeom>
          <a:noFill/>
        </p:spPr>
        <p:txBody>
          <a:bodyPr wrap="square">
            <a:spAutoFit/>
          </a:bodyPr>
          <a:lstStyle/>
          <a:p>
            <a:pPr>
              <a:spcAft>
                <a:spcPts val="700"/>
              </a:spcAft>
            </a:pPr>
            <a:r>
              <a:rPr sz="2700" b="1">
                <a:solidFill>
                  <a:srgbClr val="142A38"/>
                </a:solidFill>
                <a:latin typeface="Georgia"/>
              </a:rPr>
              <a:t>Classificação supervisionada: prever uma categoria</a:t>
            </a:r>
          </a:p>
        </p:txBody>
      </p:sp>
      <p:sp>
        <p:nvSpPr>
          <p:cNvPr id="5" name="TextBox 4"/>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Exemplo: prever se uma máquina precisa de inspeção a partir de temperatura, vibração e horas de uso.</a:t>
            </a:r>
          </a:p>
        </p:txBody>
      </p:sp>
      <p:sp>
        <p:nvSpPr>
          <p:cNvPr id="7" name="TextBox 6"/>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34</a:t>
            </a:r>
          </a:p>
        </p:txBody>
      </p:sp>
      <p:sp>
        <p:nvSpPr>
          <p:cNvPr id="8" name="Rounded Rectangle 7"/>
          <p:cNvSpPr/>
          <p:nvPr/>
        </p:nvSpPr>
        <p:spPr>
          <a:xfrm>
            <a:off x="640080" y="16916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9164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856232"/>
            <a:ext cx="4873752" cy="384048"/>
          </a:xfrm>
          <a:prstGeom prst="rect">
            <a:avLst/>
          </a:prstGeom>
          <a:noFill/>
        </p:spPr>
        <p:txBody>
          <a:bodyPr wrap="square">
            <a:spAutoFit/>
          </a:bodyPr>
          <a:lstStyle/>
          <a:p>
            <a:pPr>
              <a:spcAft>
                <a:spcPts val="700"/>
              </a:spcAft>
            </a:pPr>
            <a:r>
              <a:rPr sz="1700" b="1">
                <a:solidFill>
                  <a:srgbClr val="142A38"/>
                </a:solidFill>
                <a:latin typeface="Georgia"/>
              </a:rPr>
              <a:t>Árvore de Decisão</a:t>
            </a:r>
          </a:p>
        </p:txBody>
      </p:sp>
      <p:sp>
        <p:nvSpPr>
          <p:cNvPr id="11" name="TextBox 10"/>
          <p:cNvSpPr txBox="1"/>
          <p:nvPr/>
        </p:nvSpPr>
        <p:spPr>
          <a:xfrm>
            <a:off x="841247" y="2313432"/>
            <a:ext cx="4873752" cy="758952"/>
          </a:xfrm>
          <a:prstGeom prst="rect">
            <a:avLst/>
          </a:prstGeom>
          <a:noFill/>
        </p:spPr>
        <p:txBody>
          <a:bodyPr wrap="square">
            <a:spAutoFit/>
          </a:bodyPr>
          <a:lstStyle/>
          <a:p>
            <a:pPr>
              <a:spcAft>
                <a:spcPts val="700"/>
              </a:spcAft>
            </a:pPr>
            <a:r>
              <a:rPr sz="1500" b="0">
                <a:solidFill>
                  <a:srgbClr val="303E44"/>
                </a:solidFill>
                <a:latin typeface="Aptos"/>
              </a:rPr>
              <a:t>Divide dados com perguntas do tipo “se… então…”. Fácil de explicar.</a:t>
            </a:r>
          </a:p>
        </p:txBody>
      </p:sp>
      <p:sp>
        <p:nvSpPr>
          <p:cNvPr id="12" name="Rounded Rectangle 11"/>
          <p:cNvSpPr/>
          <p:nvPr/>
        </p:nvSpPr>
        <p:spPr>
          <a:xfrm>
            <a:off x="6263640" y="16916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69164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8" y="1856232"/>
            <a:ext cx="4873752" cy="384048"/>
          </a:xfrm>
          <a:prstGeom prst="rect">
            <a:avLst/>
          </a:prstGeom>
          <a:noFill/>
        </p:spPr>
        <p:txBody>
          <a:bodyPr wrap="square">
            <a:spAutoFit/>
          </a:bodyPr>
          <a:lstStyle/>
          <a:p>
            <a:pPr>
              <a:spcAft>
                <a:spcPts val="700"/>
              </a:spcAft>
            </a:pPr>
            <a:r>
              <a:rPr sz="1700" b="1">
                <a:solidFill>
                  <a:srgbClr val="142A38"/>
                </a:solidFill>
                <a:latin typeface="Georgia"/>
              </a:rPr>
              <a:t>Random Forest</a:t>
            </a:r>
          </a:p>
        </p:txBody>
      </p:sp>
      <p:sp>
        <p:nvSpPr>
          <p:cNvPr id="15" name="TextBox 14"/>
          <p:cNvSpPr txBox="1"/>
          <p:nvPr/>
        </p:nvSpPr>
        <p:spPr>
          <a:xfrm>
            <a:off x="6464808" y="2313432"/>
            <a:ext cx="4873752" cy="758952"/>
          </a:xfrm>
          <a:prstGeom prst="rect">
            <a:avLst/>
          </a:prstGeom>
          <a:noFill/>
        </p:spPr>
        <p:txBody>
          <a:bodyPr wrap="square">
            <a:spAutoFit/>
          </a:bodyPr>
          <a:lstStyle/>
          <a:p>
            <a:pPr>
              <a:spcAft>
                <a:spcPts val="700"/>
              </a:spcAft>
            </a:pPr>
            <a:r>
              <a:rPr sz="1500" b="0">
                <a:solidFill>
                  <a:srgbClr val="303E44"/>
                </a:solidFill>
                <a:latin typeface="Aptos"/>
              </a:rPr>
              <a:t>Combina várias árvores e agrega suas previsões; pode capturar relações não lineares.</a:t>
            </a:r>
          </a:p>
        </p:txBody>
      </p:sp>
      <p:sp>
        <p:nvSpPr>
          <p:cNvPr id="16" name="Rounded Rectangle 15"/>
          <p:cNvSpPr/>
          <p:nvPr/>
        </p:nvSpPr>
        <p:spPr>
          <a:xfrm>
            <a:off x="640080" y="35204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352044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685032"/>
            <a:ext cx="4873752" cy="384048"/>
          </a:xfrm>
          <a:prstGeom prst="rect">
            <a:avLst/>
          </a:prstGeom>
          <a:noFill/>
        </p:spPr>
        <p:txBody>
          <a:bodyPr wrap="square">
            <a:spAutoFit/>
          </a:bodyPr>
          <a:lstStyle/>
          <a:p>
            <a:pPr>
              <a:spcAft>
                <a:spcPts val="700"/>
              </a:spcAft>
            </a:pPr>
            <a:r>
              <a:rPr sz="1700" b="1">
                <a:solidFill>
                  <a:srgbClr val="142A38"/>
                </a:solidFill>
                <a:latin typeface="Georgia"/>
              </a:rPr>
              <a:t>Regressão Logística</a:t>
            </a:r>
          </a:p>
        </p:txBody>
      </p:sp>
      <p:sp>
        <p:nvSpPr>
          <p:cNvPr id="19" name="TextBox 18"/>
          <p:cNvSpPr txBox="1"/>
          <p:nvPr/>
        </p:nvSpPr>
        <p:spPr>
          <a:xfrm>
            <a:off x="841247" y="4142232"/>
            <a:ext cx="4873752" cy="758952"/>
          </a:xfrm>
          <a:prstGeom prst="rect">
            <a:avLst/>
          </a:prstGeom>
          <a:noFill/>
        </p:spPr>
        <p:txBody>
          <a:bodyPr wrap="square">
            <a:spAutoFit/>
          </a:bodyPr>
          <a:lstStyle/>
          <a:p>
            <a:pPr>
              <a:spcAft>
                <a:spcPts val="700"/>
              </a:spcAft>
            </a:pPr>
            <a:r>
              <a:rPr sz="1500" b="0">
                <a:solidFill>
                  <a:srgbClr val="303E44"/>
                </a:solidFill>
                <a:latin typeface="Aptos"/>
              </a:rPr>
              <a:t>Estima a probabilidade de uma classe; baseline útil e interpretável.</a:t>
            </a:r>
          </a:p>
        </p:txBody>
      </p:sp>
      <p:sp>
        <p:nvSpPr>
          <p:cNvPr id="20" name="Rounded Rectangle 19"/>
          <p:cNvSpPr/>
          <p:nvPr/>
        </p:nvSpPr>
        <p:spPr>
          <a:xfrm>
            <a:off x="6263640" y="35204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352044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64808" y="3685032"/>
            <a:ext cx="4873752" cy="384048"/>
          </a:xfrm>
          <a:prstGeom prst="rect">
            <a:avLst/>
          </a:prstGeom>
          <a:noFill/>
        </p:spPr>
        <p:txBody>
          <a:bodyPr wrap="square">
            <a:spAutoFit/>
          </a:bodyPr>
          <a:lstStyle/>
          <a:p>
            <a:pPr>
              <a:spcAft>
                <a:spcPts val="700"/>
              </a:spcAft>
            </a:pPr>
            <a:r>
              <a:rPr sz="1700" b="1">
                <a:solidFill>
                  <a:srgbClr val="142A38"/>
                </a:solidFill>
                <a:latin typeface="Georgia"/>
              </a:rPr>
              <a:t>SVM</a:t>
            </a:r>
          </a:p>
        </p:txBody>
      </p:sp>
      <p:sp>
        <p:nvSpPr>
          <p:cNvPr id="23" name="TextBox 22"/>
          <p:cNvSpPr txBox="1"/>
          <p:nvPr/>
        </p:nvSpPr>
        <p:spPr>
          <a:xfrm>
            <a:off x="6464808" y="4142232"/>
            <a:ext cx="4873752" cy="758952"/>
          </a:xfrm>
          <a:prstGeom prst="rect">
            <a:avLst/>
          </a:prstGeom>
          <a:noFill/>
        </p:spPr>
        <p:txBody>
          <a:bodyPr wrap="square">
            <a:spAutoFit/>
          </a:bodyPr>
          <a:lstStyle/>
          <a:p>
            <a:pPr>
              <a:spcAft>
                <a:spcPts val="700"/>
              </a:spcAft>
            </a:pPr>
            <a:r>
              <a:rPr sz="1500" b="0">
                <a:solidFill>
                  <a:srgbClr val="303E44"/>
                </a:solidFill>
                <a:latin typeface="Aptos"/>
              </a:rPr>
              <a:t>Busca uma fronteira de separação; a padronização costuma ser importante.</a:t>
            </a:r>
          </a:p>
        </p:txBody>
      </p:sp>
      <p:sp>
        <p:nvSpPr>
          <p:cNvPr id="24" name="TextBox 23"/>
          <p:cNvSpPr txBox="1"/>
          <p:nvPr/>
        </p:nvSpPr>
        <p:spPr>
          <a:xfrm>
            <a:off x="822960" y="5623560"/>
            <a:ext cx="10424160" cy="365760"/>
          </a:xfrm>
          <a:prstGeom prst="rect">
            <a:avLst/>
          </a:prstGeom>
          <a:noFill/>
        </p:spPr>
        <p:txBody>
          <a:bodyPr wrap="square">
            <a:spAutoFit/>
          </a:bodyPr>
          <a:lstStyle/>
          <a:p>
            <a:pPr>
              <a:spcAft>
                <a:spcPts val="700"/>
              </a:spcAft>
            </a:pPr>
            <a:r>
              <a:rPr sz="1500" b="1">
                <a:solidFill>
                  <a:srgbClr val="142A38"/>
                </a:solidFill>
                <a:latin typeface="Aptos"/>
              </a:rPr>
              <a:t>Não existe um algoritmo melhor para todos os problemas: compare-os com os mesmos dados de teste.</a:t>
            </a:r>
          </a:p>
        </p:txBody>
      </p:sp>
      <p:sp>
        <p:nvSpPr>
          <p:cNvPr id="25" name="Retângulo 24">
            <a:extLst>
              <a:ext uri="{FF2B5EF4-FFF2-40B4-BE49-F238E27FC236}">
                <a16:creationId xmlns:a16="http://schemas.microsoft.com/office/drawing/2014/main" id="{B2B77F09-C67F-4D1B-2913-DD94A4E5AE00}"/>
              </a:ext>
            </a:extLst>
          </p:cNvPr>
          <p:cNvSpPr/>
          <p:nvPr/>
        </p:nvSpPr>
        <p:spPr>
          <a:xfrm>
            <a:off x="414337" y="1618488"/>
            <a:ext cx="5666423" cy="1719072"/>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pt-B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EXEMPLO 2 · ÁRVORE E RANDOM FOREST · COLAB: PARTE A</a:t>
            </a:r>
          </a:p>
        </p:txBody>
      </p:sp>
      <p:sp>
        <p:nvSpPr>
          <p:cNvPr id="4" name="TextBox 3"/>
          <p:cNvSpPr txBox="1"/>
          <p:nvPr/>
        </p:nvSpPr>
        <p:spPr>
          <a:xfrm>
            <a:off x="530352" y="566928"/>
            <a:ext cx="11155680" cy="566928"/>
          </a:xfrm>
          <a:prstGeom prst="rect">
            <a:avLst/>
          </a:prstGeom>
          <a:noFill/>
        </p:spPr>
        <p:txBody>
          <a:bodyPr wrap="square">
            <a:spAutoFit/>
          </a:bodyPr>
          <a:lstStyle/>
          <a:p>
            <a:pPr>
              <a:spcAft>
                <a:spcPts val="700"/>
              </a:spcAft>
            </a:pPr>
            <a:r>
              <a:rPr sz="2700" b="1">
                <a:solidFill>
                  <a:srgbClr val="142A38"/>
                </a:solidFill>
                <a:latin typeface="Georgia"/>
              </a:rPr>
              <a:t>Árvore de Decisão: perguntas que levam a uma saída</a:t>
            </a:r>
          </a:p>
        </p:txBody>
      </p:sp>
      <p:sp>
        <p:nvSpPr>
          <p:cNvPr id="5" name="TextBox 4"/>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Uma árvore transforma padrões em regras que podem ser inspecionadas.</a:t>
            </a:r>
          </a:p>
        </p:txBody>
      </p:sp>
      <p:sp>
        <p:nvSpPr>
          <p:cNvPr id="7" name="TextBox 6"/>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35</a:t>
            </a:r>
          </a:p>
        </p:txBody>
      </p:sp>
      <p:sp>
        <p:nvSpPr>
          <p:cNvPr id="8" name="Rounded Rectangle 7"/>
          <p:cNvSpPr/>
          <p:nvPr/>
        </p:nvSpPr>
        <p:spPr>
          <a:xfrm>
            <a:off x="4572000" y="1691640"/>
            <a:ext cx="3017520" cy="640080"/>
          </a:xfrm>
          <a:prstGeom prst="roundRect">
            <a:avLst/>
          </a:prstGeom>
          <a:solidFill>
            <a:srgbClr val="DAF0EB"/>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A38"/>
                </a:solidFill>
                <a:latin typeface="Aptos"/>
              </a:rPr>
              <a:t>Vibração acima do limite?</a:t>
            </a:r>
          </a:p>
        </p:txBody>
      </p:sp>
      <p:cxnSp>
        <p:nvCxnSpPr>
          <p:cNvPr id="9" name="Connector 8"/>
          <p:cNvCxnSpPr/>
          <p:nvPr/>
        </p:nvCxnSpPr>
        <p:spPr>
          <a:xfrm flipH="1">
            <a:off x="3017520" y="2331720"/>
            <a:ext cx="2057400" cy="640080"/>
          </a:xfrm>
          <a:prstGeom prst="line">
            <a:avLst/>
          </a:prstGeom>
          <a:ln w="25400">
            <a:solidFill>
              <a:srgbClr val="00787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086600" y="2331720"/>
            <a:ext cx="2057400" cy="640080"/>
          </a:xfrm>
          <a:prstGeom prst="line">
            <a:avLst/>
          </a:prstGeom>
          <a:ln w="25400">
            <a:solidFill>
              <a:srgbClr val="007875"/>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246120" y="2423160"/>
            <a:ext cx="640080" cy="228600"/>
          </a:xfrm>
          <a:prstGeom prst="rect">
            <a:avLst/>
          </a:prstGeom>
          <a:noFill/>
        </p:spPr>
        <p:txBody>
          <a:bodyPr wrap="square">
            <a:spAutoFit/>
          </a:bodyPr>
          <a:lstStyle/>
          <a:p>
            <a:pPr>
              <a:spcAft>
                <a:spcPts val="700"/>
              </a:spcAft>
            </a:pPr>
            <a:r>
              <a:rPr sz="1200" b="1">
                <a:solidFill>
                  <a:srgbClr val="007875"/>
                </a:solidFill>
                <a:latin typeface="Aptos"/>
              </a:rPr>
              <a:t>NÃO</a:t>
            </a:r>
          </a:p>
        </p:txBody>
      </p:sp>
      <p:sp>
        <p:nvSpPr>
          <p:cNvPr id="12" name="TextBox 11"/>
          <p:cNvSpPr txBox="1"/>
          <p:nvPr/>
        </p:nvSpPr>
        <p:spPr>
          <a:xfrm>
            <a:off x="8138160" y="2423160"/>
            <a:ext cx="640080" cy="228600"/>
          </a:xfrm>
          <a:prstGeom prst="rect">
            <a:avLst/>
          </a:prstGeom>
          <a:noFill/>
        </p:spPr>
        <p:txBody>
          <a:bodyPr wrap="square">
            <a:spAutoFit/>
          </a:bodyPr>
          <a:lstStyle/>
          <a:p>
            <a:pPr>
              <a:spcAft>
                <a:spcPts val="700"/>
              </a:spcAft>
            </a:pPr>
            <a:r>
              <a:rPr sz="1200" b="1">
                <a:solidFill>
                  <a:srgbClr val="B94C45"/>
                </a:solidFill>
                <a:latin typeface="Aptos"/>
              </a:rPr>
              <a:t>SIM</a:t>
            </a:r>
          </a:p>
        </p:txBody>
      </p:sp>
      <p:sp>
        <p:nvSpPr>
          <p:cNvPr id="13" name="Rounded Rectangle 12"/>
          <p:cNvSpPr/>
          <p:nvPr/>
        </p:nvSpPr>
        <p:spPr>
          <a:xfrm>
            <a:off x="1371600" y="2971800"/>
            <a:ext cx="3383280" cy="731520"/>
          </a:xfrm>
          <a:prstGeom prst="roundRect">
            <a:avLst/>
          </a:prstGeom>
          <a:solidFill>
            <a:srgbClr val="ECF2F1"/>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A38"/>
                </a:solidFill>
                <a:latin typeface="Aptos"/>
              </a:rPr>
              <a:t>Temperatura normal?</a:t>
            </a:r>
          </a:p>
        </p:txBody>
      </p:sp>
      <p:sp>
        <p:nvSpPr>
          <p:cNvPr id="14" name="Rounded Rectangle 13"/>
          <p:cNvSpPr/>
          <p:nvPr/>
        </p:nvSpPr>
        <p:spPr>
          <a:xfrm>
            <a:off x="7498079" y="2971800"/>
            <a:ext cx="3383280" cy="731520"/>
          </a:xfrm>
          <a:prstGeom prst="roundRect">
            <a:avLst/>
          </a:prstGeom>
          <a:solidFill>
            <a:srgbClr val="FAE7DF"/>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A38"/>
                </a:solidFill>
                <a:latin typeface="Aptos"/>
              </a:rPr>
              <a:t>ALERTA / INSPECIONAR</a:t>
            </a:r>
          </a:p>
        </p:txBody>
      </p:sp>
      <p:cxnSp>
        <p:nvCxnSpPr>
          <p:cNvPr id="15" name="Connector 14"/>
          <p:cNvCxnSpPr/>
          <p:nvPr/>
        </p:nvCxnSpPr>
        <p:spPr>
          <a:xfrm flipH="1">
            <a:off x="1737360" y="3703320"/>
            <a:ext cx="411480" cy="640080"/>
          </a:xfrm>
          <a:prstGeom prst="line">
            <a:avLst/>
          </a:prstGeom>
          <a:ln w="25400">
            <a:solidFill>
              <a:srgbClr val="00787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931920" y="3703320"/>
            <a:ext cx="457200" cy="640080"/>
          </a:xfrm>
          <a:prstGeom prst="line">
            <a:avLst/>
          </a:prstGeom>
          <a:ln w="25400">
            <a:solidFill>
              <a:srgbClr val="007875"/>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85800" y="4343400"/>
            <a:ext cx="2286000" cy="685800"/>
          </a:xfrm>
          <a:prstGeom prst="roundRect">
            <a:avLst/>
          </a:prstGeom>
          <a:solidFill>
            <a:srgbClr val="DAF0EB"/>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A38"/>
                </a:solidFill>
                <a:latin typeface="Aptos"/>
              </a:rPr>
              <a:t>Operação normal</a:t>
            </a:r>
          </a:p>
        </p:txBody>
      </p:sp>
      <p:sp>
        <p:nvSpPr>
          <p:cNvPr id="18" name="Rounded Rectangle 17"/>
          <p:cNvSpPr/>
          <p:nvPr/>
        </p:nvSpPr>
        <p:spPr>
          <a:xfrm>
            <a:off x="3337560" y="4343400"/>
            <a:ext cx="2286000" cy="685800"/>
          </a:xfrm>
          <a:prstGeom prst="roundRect">
            <a:avLst/>
          </a:prstGeom>
          <a:solidFill>
            <a:srgbClr val="FAEFDB"/>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42A38"/>
                </a:solidFill>
                <a:latin typeface="Aptos"/>
              </a:rPr>
              <a:t>Verificar processo</a:t>
            </a:r>
          </a:p>
        </p:txBody>
      </p:sp>
      <p:sp>
        <p:nvSpPr>
          <p:cNvPr id="19" name="TextBox 18"/>
          <p:cNvSpPr txBox="1"/>
          <p:nvPr/>
        </p:nvSpPr>
        <p:spPr>
          <a:xfrm>
            <a:off x="6675120" y="4251960"/>
            <a:ext cx="4114800" cy="822960"/>
          </a:xfrm>
          <a:prstGeom prst="rect">
            <a:avLst/>
          </a:prstGeom>
          <a:noFill/>
        </p:spPr>
        <p:txBody>
          <a:bodyPr wrap="square">
            <a:spAutoFit/>
          </a:bodyPr>
          <a:lstStyle/>
          <a:p>
            <a:pPr>
              <a:spcAft>
                <a:spcPts val="700"/>
              </a:spcAft>
            </a:pPr>
            <a:r>
              <a:rPr sz="1500" b="0">
                <a:solidFill>
                  <a:srgbClr val="303E44"/>
                </a:solidFill>
                <a:latin typeface="Aptos"/>
              </a:rPr>
              <a:t>Na prática, os limites são aprendidos dos dados de treino — não definidos por este desenho ilustrativo.</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a:extLst>
            <a:ext uri="{FF2B5EF4-FFF2-40B4-BE49-F238E27FC236}">
              <a16:creationId xmlns:a16="http://schemas.microsoft.com/office/drawing/2014/main" id="{AF9E3336-E29D-F439-18EF-F0361D70915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CAA6706-5450-10C5-34F1-BDE7B8BA9D53}"/>
              </a:ext>
            </a:extLst>
          </p:cNvPr>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F07D4EB2-E41E-B9E8-8032-3E1F5EC47999}"/>
              </a:ext>
            </a:extLst>
          </p:cNvPr>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EXEMPLO 2 · ÁRVORE E RANDOM FOREST · COLAB: PARTE A</a:t>
            </a:r>
          </a:p>
        </p:txBody>
      </p:sp>
      <p:sp>
        <p:nvSpPr>
          <p:cNvPr id="4" name="TextBox 3">
            <a:extLst>
              <a:ext uri="{FF2B5EF4-FFF2-40B4-BE49-F238E27FC236}">
                <a16:creationId xmlns:a16="http://schemas.microsoft.com/office/drawing/2014/main" id="{907D3648-C8E5-19B9-0F80-5E23D856755C}"/>
              </a:ext>
            </a:extLst>
          </p:cNvPr>
          <p:cNvSpPr txBox="1"/>
          <p:nvPr/>
        </p:nvSpPr>
        <p:spPr>
          <a:xfrm>
            <a:off x="530352" y="566928"/>
            <a:ext cx="11155680" cy="566928"/>
          </a:xfrm>
          <a:prstGeom prst="rect">
            <a:avLst/>
          </a:prstGeom>
          <a:noFill/>
        </p:spPr>
        <p:txBody>
          <a:bodyPr wrap="square">
            <a:spAutoFit/>
          </a:bodyPr>
          <a:lstStyle/>
          <a:p>
            <a:pPr>
              <a:spcAft>
                <a:spcPts val="700"/>
              </a:spcAft>
            </a:pPr>
            <a:r>
              <a:rPr sz="2700" b="1">
                <a:solidFill>
                  <a:srgbClr val="142A38"/>
                </a:solidFill>
                <a:latin typeface="Georgia"/>
              </a:rPr>
              <a:t>Classificação supervisionada: prever uma categoria</a:t>
            </a:r>
          </a:p>
        </p:txBody>
      </p:sp>
      <p:sp>
        <p:nvSpPr>
          <p:cNvPr id="5" name="TextBox 4">
            <a:extLst>
              <a:ext uri="{FF2B5EF4-FFF2-40B4-BE49-F238E27FC236}">
                <a16:creationId xmlns:a16="http://schemas.microsoft.com/office/drawing/2014/main" id="{8DFB8ED8-402E-F8F7-301B-71FE51E4315A}"/>
              </a:ext>
            </a:extLst>
          </p:cNvPr>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Exemplo: prever se uma máquina precisa de inspeção a partir de temperatura, vibração e horas de uso.</a:t>
            </a:r>
          </a:p>
        </p:txBody>
      </p:sp>
      <p:sp>
        <p:nvSpPr>
          <p:cNvPr id="7" name="TextBox 6">
            <a:extLst>
              <a:ext uri="{FF2B5EF4-FFF2-40B4-BE49-F238E27FC236}">
                <a16:creationId xmlns:a16="http://schemas.microsoft.com/office/drawing/2014/main" id="{CF1FF0B2-0235-977A-295E-7DF8AFC79640}"/>
              </a:ext>
            </a:extLst>
          </p:cNvPr>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36</a:t>
            </a:r>
          </a:p>
        </p:txBody>
      </p:sp>
      <p:sp>
        <p:nvSpPr>
          <p:cNvPr id="8" name="Rounded Rectangle 7">
            <a:extLst>
              <a:ext uri="{FF2B5EF4-FFF2-40B4-BE49-F238E27FC236}">
                <a16:creationId xmlns:a16="http://schemas.microsoft.com/office/drawing/2014/main" id="{9FB9EDA7-492F-9A10-1765-B0A2602B1C5B}"/>
              </a:ext>
            </a:extLst>
          </p:cNvPr>
          <p:cNvSpPr/>
          <p:nvPr/>
        </p:nvSpPr>
        <p:spPr>
          <a:xfrm>
            <a:off x="640080" y="16916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D81C72D8-D1A2-558E-20F7-68A36ECD947F}"/>
              </a:ext>
            </a:extLst>
          </p:cNvPr>
          <p:cNvSpPr/>
          <p:nvPr/>
        </p:nvSpPr>
        <p:spPr>
          <a:xfrm>
            <a:off x="640080" y="169164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4102B372-529B-32F0-F65B-1F2826578877}"/>
              </a:ext>
            </a:extLst>
          </p:cNvPr>
          <p:cNvSpPr txBox="1"/>
          <p:nvPr/>
        </p:nvSpPr>
        <p:spPr>
          <a:xfrm>
            <a:off x="841247" y="1856232"/>
            <a:ext cx="4873752" cy="384048"/>
          </a:xfrm>
          <a:prstGeom prst="rect">
            <a:avLst/>
          </a:prstGeom>
          <a:noFill/>
        </p:spPr>
        <p:txBody>
          <a:bodyPr wrap="square">
            <a:spAutoFit/>
          </a:bodyPr>
          <a:lstStyle/>
          <a:p>
            <a:pPr>
              <a:spcAft>
                <a:spcPts val="700"/>
              </a:spcAft>
            </a:pPr>
            <a:r>
              <a:rPr sz="1700" b="1">
                <a:solidFill>
                  <a:srgbClr val="142A38"/>
                </a:solidFill>
                <a:latin typeface="Georgia"/>
              </a:rPr>
              <a:t>Árvore de Decisão</a:t>
            </a:r>
          </a:p>
        </p:txBody>
      </p:sp>
      <p:sp>
        <p:nvSpPr>
          <p:cNvPr id="11" name="TextBox 10">
            <a:extLst>
              <a:ext uri="{FF2B5EF4-FFF2-40B4-BE49-F238E27FC236}">
                <a16:creationId xmlns:a16="http://schemas.microsoft.com/office/drawing/2014/main" id="{04EF2F05-6CC7-1399-92D0-E82B5D1AD2E5}"/>
              </a:ext>
            </a:extLst>
          </p:cNvPr>
          <p:cNvSpPr txBox="1"/>
          <p:nvPr/>
        </p:nvSpPr>
        <p:spPr>
          <a:xfrm>
            <a:off x="841247" y="2313432"/>
            <a:ext cx="4873752" cy="758952"/>
          </a:xfrm>
          <a:prstGeom prst="rect">
            <a:avLst/>
          </a:prstGeom>
          <a:noFill/>
        </p:spPr>
        <p:txBody>
          <a:bodyPr wrap="square">
            <a:spAutoFit/>
          </a:bodyPr>
          <a:lstStyle/>
          <a:p>
            <a:pPr>
              <a:spcAft>
                <a:spcPts val="700"/>
              </a:spcAft>
            </a:pPr>
            <a:r>
              <a:rPr sz="1500" b="0">
                <a:solidFill>
                  <a:srgbClr val="303E44"/>
                </a:solidFill>
                <a:latin typeface="Aptos"/>
              </a:rPr>
              <a:t>Divide dados com perguntas do tipo “se… então…”. Fácil de explicar.</a:t>
            </a:r>
          </a:p>
        </p:txBody>
      </p:sp>
      <p:sp>
        <p:nvSpPr>
          <p:cNvPr id="12" name="Rounded Rectangle 11">
            <a:extLst>
              <a:ext uri="{FF2B5EF4-FFF2-40B4-BE49-F238E27FC236}">
                <a16:creationId xmlns:a16="http://schemas.microsoft.com/office/drawing/2014/main" id="{29A19FA6-4853-89AC-C19F-F6C053B57232}"/>
              </a:ext>
            </a:extLst>
          </p:cNvPr>
          <p:cNvSpPr/>
          <p:nvPr/>
        </p:nvSpPr>
        <p:spPr>
          <a:xfrm>
            <a:off x="6263640" y="16916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0FF71AE2-0838-5829-AA7E-B352BA5D22C8}"/>
              </a:ext>
            </a:extLst>
          </p:cNvPr>
          <p:cNvSpPr/>
          <p:nvPr/>
        </p:nvSpPr>
        <p:spPr>
          <a:xfrm>
            <a:off x="6263640" y="169164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70D97ED0-23ED-F2A6-0A3D-D938648FEB87}"/>
              </a:ext>
            </a:extLst>
          </p:cNvPr>
          <p:cNvSpPr txBox="1"/>
          <p:nvPr/>
        </p:nvSpPr>
        <p:spPr>
          <a:xfrm>
            <a:off x="6464808" y="1856232"/>
            <a:ext cx="4873752" cy="384048"/>
          </a:xfrm>
          <a:prstGeom prst="rect">
            <a:avLst/>
          </a:prstGeom>
          <a:noFill/>
        </p:spPr>
        <p:txBody>
          <a:bodyPr wrap="square">
            <a:spAutoFit/>
          </a:bodyPr>
          <a:lstStyle/>
          <a:p>
            <a:pPr>
              <a:spcAft>
                <a:spcPts val="700"/>
              </a:spcAft>
            </a:pPr>
            <a:r>
              <a:rPr sz="1700" b="1">
                <a:solidFill>
                  <a:srgbClr val="142A38"/>
                </a:solidFill>
                <a:latin typeface="Georgia"/>
              </a:rPr>
              <a:t>Random Forest</a:t>
            </a:r>
          </a:p>
        </p:txBody>
      </p:sp>
      <p:sp>
        <p:nvSpPr>
          <p:cNvPr id="15" name="TextBox 14">
            <a:extLst>
              <a:ext uri="{FF2B5EF4-FFF2-40B4-BE49-F238E27FC236}">
                <a16:creationId xmlns:a16="http://schemas.microsoft.com/office/drawing/2014/main" id="{BF81394A-7B33-9321-3D3B-738694FFCF0F}"/>
              </a:ext>
            </a:extLst>
          </p:cNvPr>
          <p:cNvSpPr txBox="1"/>
          <p:nvPr/>
        </p:nvSpPr>
        <p:spPr>
          <a:xfrm>
            <a:off x="6464808" y="2313432"/>
            <a:ext cx="4873752" cy="758952"/>
          </a:xfrm>
          <a:prstGeom prst="rect">
            <a:avLst/>
          </a:prstGeom>
          <a:noFill/>
        </p:spPr>
        <p:txBody>
          <a:bodyPr wrap="square">
            <a:spAutoFit/>
          </a:bodyPr>
          <a:lstStyle/>
          <a:p>
            <a:pPr>
              <a:spcAft>
                <a:spcPts val="700"/>
              </a:spcAft>
            </a:pPr>
            <a:r>
              <a:rPr sz="1500" b="0">
                <a:solidFill>
                  <a:srgbClr val="303E44"/>
                </a:solidFill>
                <a:latin typeface="Aptos"/>
              </a:rPr>
              <a:t>Combina várias árvores e agrega suas previsões; pode capturar relações não lineares.</a:t>
            </a:r>
          </a:p>
        </p:txBody>
      </p:sp>
      <p:sp>
        <p:nvSpPr>
          <p:cNvPr id="16" name="Rounded Rectangle 15">
            <a:extLst>
              <a:ext uri="{FF2B5EF4-FFF2-40B4-BE49-F238E27FC236}">
                <a16:creationId xmlns:a16="http://schemas.microsoft.com/office/drawing/2014/main" id="{412C7DA7-D00A-7AF2-F750-6C49DE014A07}"/>
              </a:ext>
            </a:extLst>
          </p:cNvPr>
          <p:cNvSpPr/>
          <p:nvPr/>
        </p:nvSpPr>
        <p:spPr>
          <a:xfrm>
            <a:off x="640080" y="35204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F0ED924B-CA0D-0EFC-E0C1-A259AF1EC20D}"/>
              </a:ext>
            </a:extLst>
          </p:cNvPr>
          <p:cNvSpPr/>
          <p:nvPr/>
        </p:nvSpPr>
        <p:spPr>
          <a:xfrm>
            <a:off x="640080" y="352044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F9DB5FC8-A90B-66D1-13D4-4C0BD39BECCE}"/>
              </a:ext>
            </a:extLst>
          </p:cNvPr>
          <p:cNvSpPr txBox="1"/>
          <p:nvPr/>
        </p:nvSpPr>
        <p:spPr>
          <a:xfrm>
            <a:off x="841247" y="3685032"/>
            <a:ext cx="4873752" cy="384048"/>
          </a:xfrm>
          <a:prstGeom prst="rect">
            <a:avLst/>
          </a:prstGeom>
          <a:noFill/>
        </p:spPr>
        <p:txBody>
          <a:bodyPr wrap="square">
            <a:spAutoFit/>
          </a:bodyPr>
          <a:lstStyle/>
          <a:p>
            <a:pPr>
              <a:spcAft>
                <a:spcPts val="700"/>
              </a:spcAft>
            </a:pPr>
            <a:r>
              <a:rPr sz="1700" b="1">
                <a:solidFill>
                  <a:srgbClr val="142A38"/>
                </a:solidFill>
                <a:latin typeface="Georgia"/>
              </a:rPr>
              <a:t>Regressão Logística</a:t>
            </a:r>
          </a:p>
        </p:txBody>
      </p:sp>
      <p:sp>
        <p:nvSpPr>
          <p:cNvPr id="19" name="TextBox 18">
            <a:extLst>
              <a:ext uri="{FF2B5EF4-FFF2-40B4-BE49-F238E27FC236}">
                <a16:creationId xmlns:a16="http://schemas.microsoft.com/office/drawing/2014/main" id="{2B94EC99-6D12-2C81-B1C9-F67B5E073A58}"/>
              </a:ext>
            </a:extLst>
          </p:cNvPr>
          <p:cNvSpPr txBox="1"/>
          <p:nvPr/>
        </p:nvSpPr>
        <p:spPr>
          <a:xfrm>
            <a:off x="841247" y="4142232"/>
            <a:ext cx="4873752" cy="758952"/>
          </a:xfrm>
          <a:prstGeom prst="rect">
            <a:avLst/>
          </a:prstGeom>
          <a:noFill/>
        </p:spPr>
        <p:txBody>
          <a:bodyPr wrap="square">
            <a:spAutoFit/>
          </a:bodyPr>
          <a:lstStyle/>
          <a:p>
            <a:pPr>
              <a:spcAft>
                <a:spcPts val="700"/>
              </a:spcAft>
            </a:pPr>
            <a:r>
              <a:rPr sz="1500" b="0">
                <a:solidFill>
                  <a:srgbClr val="303E44"/>
                </a:solidFill>
                <a:latin typeface="Aptos"/>
              </a:rPr>
              <a:t>Estima a probabilidade de uma classe; baseline útil e interpretável.</a:t>
            </a:r>
          </a:p>
        </p:txBody>
      </p:sp>
      <p:sp>
        <p:nvSpPr>
          <p:cNvPr id="20" name="Rounded Rectangle 19">
            <a:extLst>
              <a:ext uri="{FF2B5EF4-FFF2-40B4-BE49-F238E27FC236}">
                <a16:creationId xmlns:a16="http://schemas.microsoft.com/office/drawing/2014/main" id="{2089C74F-D368-A8BE-1737-1AC30D1DB55F}"/>
              </a:ext>
            </a:extLst>
          </p:cNvPr>
          <p:cNvSpPr/>
          <p:nvPr/>
        </p:nvSpPr>
        <p:spPr>
          <a:xfrm>
            <a:off x="6263640" y="35204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C62145EC-E26B-80A5-7C03-92AC9AD5B6A3}"/>
              </a:ext>
            </a:extLst>
          </p:cNvPr>
          <p:cNvSpPr/>
          <p:nvPr/>
        </p:nvSpPr>
        <p:spPr>
          <a:xfrm>
            <a:off x="6263640" y="352044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645F03A9-D7D2-2CD4-4880-600BC5640C4E}"/>
              </a:ext>
            </a:extLst>
          </p:cNvPr>
          <p:cNvSpPr txBox="1"/>
          <p:nvPr/>
        </p:nvSpPr>
        <p:spPr>
          <a:xfrm>
            <a:off x="6464808" y="3685032"/>
            <a:ext cx="4873752" cy="384048"/>
          </a:xfrm>
          <a:prstGeom prst="rect">
            <a:avLst/>
          </a:prstGeom>
          <a:noFill/>
        </p:spPr>
        <p:txBody>
          <a:bodyPr wrap="square">
            <a:spAutoFit/>
          </a:bodyPr>
          <a:lstStyle/>
          <a:p>
            <a:pPr>
              <a:spcAft>
                <a:spcPts val="700"/>
              </a:spcAft>
            </a:pPr>
            <a:r>
              <a:rPr sz="1700" b="1">
                <a:solidFill>
                  <a:srgbClr val="142A38"/>
                </a:solidFill>
                <a:latin typeface="Georgia"/>
              </a:rPr>
              <a:t>SVM</a:t>
            </a:r>
          </a:p>
        </p:txBody>
      </p:sp>
      <p:sp>
        <p:nvSpPr>
          <p:cNvPr id="23" name="TextBox 22">
            <a:extLst>
              <a:ext uri="{FF2B5EF4-FFF2-40B4-BE49-F238E27FC236}">
                <a16:creationId xmlns:a16="http://schemas.microsoft.com/office/drawing/2014/main" id="{4F33FD4C-26E0-B93D-9CFD-D843311E7FD3}"/>
              </a:ext>
            </a:extLst>
          </p:cNvPr>
          <p:cNvSpPr txBox="1"/>
          <p:nvPr/>
        </p:nvSpPr>
        <p:spPr>
          <a:xfrm>
            <a:off x="6464808" y="4142232"/>
            <a:ext cx="4873752" cy="758952"/>
          </a:xfrm>
          <a:prstGeom prst="rect">
            <a:avLst/>
          </a:prstGeom>
          <a:noFill/>
        </p:spPr>
        <p:txBody>
          <a:bodyPr wrap="square">
            <a:spAutoFit/>
          </a:bodyPr>
          <a:lstStyle/>
          <a:p>
            <a:pPr>
              <a:spcAft>
                <a:spcPts val="700"/>
              </a:spcAft>
            </a:pPr>
            <a:r>
              <a:rPr sz="1500" b="0">
                <a:solidFill>
                  <a:srgbClr val="303E44"/>
                </a:solidFill>
                <a:latin typeface="Aptos"/>
              </a:rPr>
              <a:t>Busca uma fronteira de separação; a padronização costuma ser importante.</a:t>
            </a:r>
          </a:p>
        </p:txBody>
      </p:sp>
      <p:sp>
        <p:nvSpPr>
          <p:cNvPr id="24" name="TextBox 23">
            <a:extLst>
              <a:ext uri="{FF2B5EF4-FFF2-40B4-BE49-F238E27FC236}">
                <a16:creationId xmlns:a16="http://schemas.microsoft.com/office/drawing/2014/main" id="{3055D459-CC5A-9F34-2A8F-06B8C60E47FB}"/>
              </a:ext>
            </a:extLst>
          </p:cNvPr>
          <p:cNvSpPr txBox="1"/>
          <p:nvPr/>
        </p:nvSpPr>
        <p:spPr>
          <a:xfrm>
            <a:off x="822960" y="5623560"/>
            <a:ext cx="10424160" cy="365760"/>
          </a:xfrm>
          <a:prstGeom prst="rect">
            <a:avLst/>
          </a:prstGeom>
          <a:noFill/>
        </p:spPr>
        <p:txBody>
          <a:bodyPr wrap="square">
            <a:spAutoFit/>
          </a:bodyPr>
          <a:lstStyle/>
          <a:p>
            <a:pPr>
              <a:spcAft>
                <a:spcPts val="700"/>
              </a:spcAft>
            </a:pPr>
            <a:r>
              <a:rPr sz="1500" b="1">
                <a:solidFill>
                  <a:srgbClr val="142A38"/>
                </a:solidFill>
                <a:latin typeface="Aptos"/>
              </a:rPr>
              <a:t>Não existe um algoritmo melhor para todos os problemas: compare-os com os mesmos dados de teste.</a:t>
            </a:r>
          </a:p>
        </p:txBody>
      </p:sp>
      <p:sp>
        <p:nvSpPr>
          <p:cNvPr id="25" name="Retângulo 24">
            <a:extLst>
              <a:ext uri="{FF2B5EF4-FFF2-40B4-BE49-F238E27FC236}">
                <a16:creationId xmlns:a16="http://schemas.microsoft.com/office/drawing/2014/main" id="{7A045BE8-81EA-95E3-3DF7-A009FF76B94B}"/>
              </a:ext>
            </a:extLst>
          </p:cNvPr>
          <p:cNvSpPr/>
          <p:nvPr/>
        </p:nvSpPr>
        <p:spPr>
          <a:xfrm>
            <a:off x="6108192" y="1632775"/>
            <a:ext cx="5666423" cy="1719072"/>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pt-BR"/>
          </a:p>
        </p:txBody>
      </p:sp>
    </p:spTree>
    <p:extLst>
      <p:ext uri="{BB962C8B-B14F-4D97-AF65-F5344CB8AC3E}">
        <p14:creationId xmlns:p14="http://schemas.microsoft.com/office/powerpoint/2010/main" val="3665292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292608"/>
            <a:ext cx="7315200" cy="274320"/>
          </a:xfrm>
          <a:prstGeom prst="rect">
            <a:avLst/>
          </a:prstGeom>
          <a:noFill/>
        </p:spPr>
        <p:txBody>
          <a:bodyPr wrap="square" lIns="45720" tIns="18288" rIns="45720" bIns="18288" anchor="t">
            <a:spAutoFit/>
          </a:bodyPr>
          <a:lstStyle/>
          <a:p>
            <a:pPr algn="l"/>
            <a:r>
              <a:rPr sz="1100" b="1">
                <a:solidFill>
                  <a:srgbClr val="007A78"/>
                </a:solidFill>
                <a:latin typeface="Arial"/>
              </a:rPr>
              <a:t>EXEMPLO 2 · ÁRVORE E RANDOM FOREST · COLAB: PARTE A</a:t>
            </a:r>
          </a:p>
        </p:txBody>
      </p:sp>
      <p:sp>
        <p:nvSpPr>
          <p:cNvPr id="4" name="TextBox 3"/>
          <p:cNvSpPr txBox="1"/>
          <p:nvPr/>
        </p:nvSpPr>
        <p:spPr>
          <a:xfrm>
            <a:off x="621792" y="603504"/>
            <a:ext cx="11155680" cy="640080"/>
          </a:xfrm>
          <a:prstGeom prst="rect">
            <a:avLst/>
          </a:prstGeom>
          <a:noFill/>
        </p:spPr>
        <p:txBody>
          <a:bodyPr wrap="square" lIns="45720" tIns="18288" rIns="45720" bIns="18288" anchor="t">
            <a:spAutoFit/>
          </a:bodyPr>
          <a:lstStyle/>
          <a:p>
            <a:pPr algn="l"/>
            <a:r>
              <a:rPr sz="2800" b="1">
                <a:solidFill>
                  <a:srgbClr val="14283A"/>
                </a:solidFill>
                <a:latin typeface="Georgia"/>
              </a:rPr>
              <a:t>Random Forest: várias árvores votam juntas</a:t>
            </a:r>
          </a:p>
        </p:txBody>
      </p:sp>
      <p:sp>
        <p:nvSpPr>
          <p:cNvPr id="5" name="TextBox 4"/>
          <p:cNvSpPr txBox="1"/>
          <p:nvPr/>
        </p:nvSpPr>
        <p:spPr>
          <a:xfrm>
            <a:off x="621792" y="1280160"/>
            <a:ext cx="10972800" cy="365760"/>
          </a:xfrm>
          <a:prstGeom prst="rect">
            <a:avLst/>
          </a:prstGeom>
          <a:noFill/>
        </p:spPr>
        <p:txBody>
          <a:bodyPr wrap="square" lIns="45720" tIns="18288" rIns="45720" bIns="18288" anchor="t">
            <a:spAutoFit/>
          </a:bodyPr>
          <a:lstStyle/>
          <a:p>
            <a:pPr algn="l"/>
            <a:r>
              <a:rPr sz="1600" b="0">
                <a:solidFill>
                  <a:srgbClr val="5F6F78"/>
                </a:solidFill>
                <a:latin typeface="Arial"/>
              </a:rPr>
              <a:t>Exemplo: prever se uma máquina precisa de inspeção a partir de temperatura, vibração e horas de uso.</a:t>
            </a:r>
          </a:p>
        </p:txBody>
      </p:sp>
      <p:sp>
        <p:nvSpPr>
          <p:cNvPr id="6" name="Rectangle 5"/>
          <p:cNvSpPr/>
          <p:nvPr/>
        </p:nvSpPr>
        <p:spPr>
          <a:xfrm>
            <a:off x="640080" y="1783080"/>
            <a:ext cx="6675120"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f_cls.png"/>
          <p:cNvPicPr>
            <a:picLocks noChangeAspect="1"/>
          </p:cNvPicPr>
          <p:nvPr/>
        </p:nvPicPr>
        <p:blipFill>
          <a:blip r:embed="rId2"/>
          <a:stretch>
            <a:fillRect/>
          </a:stretch>
        </p:blipFill>
        <p:spPr>
          <a:xfrm>
            <a:off x="640080" y="1783080"/>
            <a:ext cx="6675120" cy="3520440"/>
          </a:xfrm>
          <a:prstGeom prst="rect">
            <a:avLst/>
          </a:prstGeom>
        </p:spPr>
      </p:pic>
      <p:sp>
        <p:nvSpPr>
          <p:cNvPr id="8" name="TextBox 7"/>
          <p:cNvSpPr txBox="1"/>
          <p:nvPr/>
        </p:nvSpPr>
        <p:spPr>
          <a:xfrm>
            <a:off x="640080" y="5321808"/>
            <a:ext cx="6675120" cy="228600"/>
          </a:xfrm>
          <a:prstGeom prst="rect">
            <a:avLst/>
          </a:prstGeom>
          <a:noFill/>
        </p:spPr>
        <p:txBody>
          <a:bodyPr wrap="square" lIns="45720" tIns="18288" rIns="45720" bIns="18288" anchor="t">
            <a:spAutoFit/>
          </a:bodyPr>
          <a:lstStyle/>
          <a:p>
            <a:pPr algn="l"/>
            <a:r>
              <a:rPr sz="900" b="0">
                <a:solidFill>
                  <a:srgbClr val="5F6F78"/>
                </a:solidFill>
                <a:latin typeface="Arial"/>
              </a:rPr>
              <a:t>Dados simulados, com duas entradas (vibração e temperatura) para facilitar a visualização.</a:t>
            </a:r>
          </a:p>
        </p:txBody>
      </p:sp>
      <p:sp>
        <p:nvSpPr>
          <p:cNvPr id="9" name="Rounded Rectangle 8"/>
          <p:cNvSpPr/>
          <p:nvPr/>
        </p:nvSpPr>
        <p:spPr>
          <a:xfrm>
            <a:off x="7589520" y="178308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589520" y="178308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18120" y="183794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ENTRADAS (X)</a:t>
            </a:r>
          </a:p>
        </p:txBody>
      </p:sp>
      <p:sp>
        <p:nvSpPr>
          <p:cNvPr id="12" name="TextBox 11"/>
          <p:cNvSpPr txBox="1"/>
          <p:nvPr/>
        </p:nvSpPr>
        <p:spPr>
          <a:xfrm>
            <a:off x="7818120" y="2185416"/>
            <a:ext cx="3611880" cy="685800"/>
          </a:xfrm>
          <a:prstGeom prst="rect">
            <a:avLst/>
          </a:prstGeom>
          <a:noFill/>
        </p:spPr>
        <p:txBody>
          <a:bodyPr wrap="square" lIns="45720" tIns="18288" rIns="45720" bIns="18288" anchor="t">
            <a:spAutoFit/>
          </a:bodyPr>
          <a:lstStyle/>
          <a:p>
            <a:pPr algn="l"/>
            <a:r>
              <a:rPr sz="1200" b="0">
                <a:solidFill>
                  <a:srgbClr val="14283A"/>
                </a:solidFill>
                <a:latin typeface="Arial"/>
              </a:rPr>
              <a:t>Temperatura, vibração e horas de uso.</a:t>
            </a:r>
          </a:p>
        </p:txBody>
      </p:sp>
      <p:sp>
        <p:nvSpPr>
          <p:cNvPr id="13" name="Rounded Rectangle 12"/>
          <p:cNvSpPr/>
          <p:nvPr/>
        </p:nvSpPr>
        <p:spPr>
          <a:xfrm>
            <a:off x="7589520" y="297180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589520" y="2971800"/>
            <a:ext cx="82296" cy="1097280"/>
          </a:xfrm>
          <a:prstGeom prst="rect">
            <a:avLst/>
          </a:prstGeom>
          <a:solidFill>
            <a:srgbClr val="E09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18120" y="3026664"/>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MODELO</a:t>
            </a:r>
          </a:p>
        </p:txBody>
      </p:sp>
      <p:sp>
        <p:nvSpPr>
          <p:cNvPr id="16" name="TextBox 15"/>
          <p:cNvSpPr txBox="1"/>
          <p:nvPr/>
        </p:nvSpPr>
        <p:spPr>
          <a:xfrm>
            <a:off x="7818120" y="3374136"/>
            <a:ext cx="3611880" cy="685800"/>
          </a:xfrm>
          <a:prstGeom prst="rect">
            <a:avLst/>
          </a:prstGeom>
          <a:noFill/>
        </p:spPr>
        <p:txBody>
          <a:bodyPr wrap="square" lIns="45720" tIns="18288" rIns="45720" bIns="18288" anchor="t">
            <a:spAutoFit/>
          </a:bodyPr>
          <a:lstStyle/>
          <a:p>
            <a:pPr algn="l"/>
            <a:r>
              <a:rPr sz="1200" b="0">
                <a:solidFill>
                  <a:srgbClr val="14283A"/>
                </a:solidFill>
                <a:latin typeface="Arial"/>
              </a:rPr>
              <a:t>Cada árvore treina com uma amostra diferente dos dados. A previsão final é a votação de todas.</a:t>
            </a:r>
          </a:p>
        </p:txBody>
      </p:sp>
      <p:sp>
        <p:nvSpPr>
          <p:cNvPr id="17" name="Rounded Rectangle 16"/>
          <p:cNvSpPr/>
          <p:nvPr/>
        </p:nvSpPr>
        <p:spPr>
          <a:xfrm>
            <a:off x="7589520" y="416052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89520" y="416052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421538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SAÍDA (y)</a:t>
            </a:r>
          </a:p>
        </p:txBody>
      </p:sp>
      <p:sp>
        <p:nvSpPr>
          <p:cNvPr id="20" name="TextBox 19"/>
          <p:cNvSpPr txBox="1"/>
          <p:nvPr/>
        </p:nvSpPr>
        <p:spPr>
          <a:xfrm>
            <a:off x="7818120" y="4562856"/>
            <a:ext cx="3611880" cy="685800"/>
          </a:xfrm>
          <a:prstGeom prst="rect">
            <a:avLst/>
          </a:prstGeom>
          <a:noFill/>
        </p:spPr>
        <p:txBody>
          <a:bodyPr wrap="square" lIns="45720" tIns="18288" rIns="45720" bIns="18288" anchor="t">
            <a:spAutoFit/>
          </a:bodyPr>
          <a:lstStyle/>
          <a:p>
            <a:pPr algn="l"/>
            <a:r>
              <a:rPr sz="1200" b="0">
                <a:solidFill>
                  <a:srgbClr val="14283A"/>
                </a:solidFill>
                <a:latin typeface="Arial"/>
              </a:rPr>
              <a:t>Classe prevista (normal ou inspecionar); a proporção de votos indica a confiança.</a:t>
            </a:r>
          </a:p>
        </p:txBody>
      </p:sp>
      <p:sp>
        <p:nvSpPr>
          <p:cNvPr id="21" name="TextBox 20"/>
          <p:cNvSpPr txBox="1"/>
          <p:nvPr/>
        </p:nvSpPr>
        <p:spPr>
          <a:xfrm>
            <a:off x="621792" y="5623560"/>
            <a:ext cx="10972800" cy="365760"/>
          </a:xfrm>
          <a:prstGeom prst="rect">
            <a:avLst/>
          </a:prstGeom>
          <a:noFill/>
        </p:spPr>
        <p:txBody>
          <a:bodyPr wrap="square" lIns="45720" tIns="18288" rIns="45720" bIns="18288" anchor="t">
            <a:spAutoFit/>
          </a:bodyPr>
          <a:lstStyle/>
          <a:p>
            <a:pPr algn="l"/>
            <a:r>
              <a:rPr sz="1500" b="1">
                <a:solidFill>
                  <a:srgbClr val="14283A"/>
                </a:solidFill>
                <a:latin typeface="Arial"/>
              </a:rPr>
              <a:t>Uma árvore sozinha decora o ruído; a floresta faz a média dos erros e generaliza melhor.</a:t>
            </a:r>
          </a:p>
        </p:txBody>
      </p:sp>
      <p:sp>
        <p:nvSpPr>
          <p:cNvPr id="22" name="TextBox 21"/>
          <p:cNvSpPr txBox="1"/>
          <p:nvPr/>
        </p:nvSpPr>
        <p:spPr>
          <a:xfrm>
            <a:off x="621792" y="5943600"/>
            <a:ext cx="10972800" cy="320040"/>
          </a:xfrm>
          <a:prstGeom prst="rect">
            <a:avLst/>
          </a:prstGeom>
          <a:noFill/>
        </p:spPr>
        <p:txBody>
          <a:bodyPr wrap="square" lIns="45720" tIns="18288" rIns="45720" bIns="18288" anchor="t">
            <a:spAutoFit/>
          </a:bodyPr>
          <a:lstStyle/>
          <a:p>
            <a:pPr algn="l"/>
            <a:r>
              <a:rPr sz="1250" b="0">
                <a:solidFill>
                  <a:srgbClr val="5F6F78"/>
                </a:solidFill>
                <a:latin typeface="Arial"/>
              </a:rPr>
              <a:t>Neste exemplo, no teste: acurácia de uma árvore sozinha ≈ 82% · Random Forest = 86%.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a:extLst>
            <a:ext uri="{FF2B5EF4-FFF2-40B4-BE49-F238E27FC236}">
              <a16:creationId xmlns:a16="http://schemas.microsoft.com/office/drawing/2014/main" id="{F75592E2-FEF7-7943-372D-CCA172411D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340EA06-3896-86CB-C93F-C1E58DE0FA7A}"/>
              </a:ext>
            </a:extLst>
          </p:cNvPr>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DC7870D-D785-DDDD-D805-7C4B603B3EC5}"/>
              </a:ext>
            </a:extLst>
          </p:cNvPr>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EXEMPLO 2 · ÁRVORE E RANDOM FOREST · COLAB: PARTE A</a:t>
            </a:r>
          </a:p>
        </p:txBody>
      </p:sp>
      <p:sp>
        <p:nvSpPr>
          <p:cNvPr id="4" name="TextBox 3">
            <a:extLst>
              <a:ext uri="{FF2B5EF4-FFF2-40B4-BE49-F238E27FC236}">
                <a16:creationId xmlns:a16="http://schemas.microsoft.com/office/drawing/2014/main" id="{5B1234FF-DDFC-2B60-445F-8CB1CE01BA03}"/>
              </a:ext>
            </a:extLst>
          </p:cNvPr>
          <p:cNvSpPr txBox="1"/>
          <p:nvPr/>
        </p:nvSpPr>
        <p:spPr>
          <a:xfrm>
            <a:off x="530352" y="566928"/>
            <a:ext cx="11155680" cy="566928"/>
          </a:xfrm>
          <a:prstGeom prst="rect">
            <a:avLst/>
          </a:prstGeom>
          <a:noFill/>
        </p:spPr>
        <p:txBody>
          <a:bodyPr wrap="square">
            <a:spAutoFit/>
          </a:bodyPr>
          <a:lstStyle/>
          <a:p>
            <a:pPr>
              <a:spcAft>
                <a:spcPts val="700"/>
              </a:spcAft>
            </a:pPr>
            <a:r>
              <a:rPr sz="2700" b="1">
                <a:solidFill>
                  <a:srgbClr val="142A38"/>
                </a:solidFill>
                <a:latin typeface="Georgia"/>
              </a:rPr>
              <a:t>Classificação supervisionada: prever uma categoria</a:t>
            </a:r>
          </a:p>
        </p:txBody>
      </p:sp>
      <p:sp>
        <p:nvSpPr>
          <p:cNvPr id="5" name="TextBox 4">
            <a:extLst>
              <a:ext uri="{FF2B5EF4-FFF2-40B4-BE49-F238E27FC236}">
                <a16:creationId xmlns:a16="http://schemas.microsoft.com/office/drawing/2014/main" id="{8AD9F04E-CE4D-2F91-B1CC-E92CC77DCA98}"/>
              </a:ext>
            </a:extLst>
          </p:cNvPr>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Exemplo: prever se uma máquina precisa de inspeção a partir de temperatura, vibração e horas de uso.</a:t>
            </a:r>
          </a:p>
        </p:txBody>
      </p:sp>
      <p:sp>
        <p:nvSpPr>
          <p:cNvPr id="7" name="TextBox 6">
            <a:extLst>
              <a:ext uri="{FF2B5EF4-FFF2-40B4-BE49-F238E27FC236}">
                <a16:creationId xmlns:a16="http://schemas.microsoft.com/office/drawing/2014/main" id="{F39C36D2-DB41-7DDB-8A47-2B4D3D15EBB7}"/>
              </a:ext>
            </a:extLst>
          </p:cNvPr>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38</a:t>
            </a:r>
          </a:p>
        </p:txBody>
      </p:sp>
      <p:sp>
        <p:nvSpPr>
          <p:cNvPr id="8" name="Rounded Rectangle 7">
            <a:extLst>
              <a:ext uri="{FF2B5EF4-FFF2-40B4-BE49-F238E27FC236}">
                <a16:creationId xmlns:a16="http://schemas.microsoft.com/office/drawing/2014/main" id="{5CFC94F7-3656-2030-2569-83A0CDF229D0}"/>
              </a:ext>
            </a:extLst>
          </p:cNvPr>
          <p:cNvSpPr/>
          <p:nvPr/>
        </p:nvSpPr>
        <p:spPr>
          <a:xfrm>
            <a:off x="640080" y="16916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A5E37313-6145-ABE9-B350-6271534461AB}"/>
              </a:ext>
            </a:extLst>
          </p:cNvPr>
          <p:cNvSpPr/>
          <p:nvPr/>
        </p:nvSpPr>
        <p:spPr>
          <a:xfrm>
            <a:off x="640080" y="169164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BAA6F939-E33F-70D7-336B-D9464089DD7E}"/>
              </a:ext>
            </a:extLst>
          </p:cNvPr>
          <p:cNvSpPr txBox="1"/>
          <p:nvPr/>
        </p:nvSpPr>
        <p:spPr>
          <a:xfrm>
            <a:off x="841247" y="1856232"/>
            <a:ext cx="4873752" cy="384048"/>
          </a:xfrm>
          <a:prstGeom prst="rect">
            <a:avLst/>
          </a:prstGeom>
          <a:noFill/>
        </p:spPr>
        <p:txBody>
          <a:bodyPr wrap="square">
            <a:spAutoFit/>
          </a:bodyPr>
          <a:lstStyle/>
          <a:p>
            <a:pPr>
              <a:spcAft>
                <a:spcPts val="700"/>
              </a:spcAft>
            </a:pPr>
            <a:r>
              <a:rPr sz="1700" b="1">
                <a:solidFill>
                  <a:srgbClr val="142A38"/>
                </a:solidFill>
                <a:latin typeface="Georgia"/>
              </a:rPr>
              <a:t>Árvore de Decisão</a:t>
            </a:r>
          </a:p>
        </p:txBody>
      </p:sp>
      <p:sp>
        <p:nvSpPr>
          <p:cNvPr id="11" name="TextBox 10">
            <a:extLst>
              <a:ext uri="{FF2B5EF4-FFF2-40B4-BE49-F238E27FC236}">
                <a16:creationId xmlns:a16="http://schemas.microsoft.com/office/drawing/2014/main" id="{7ECD807B-1E2F-9976-C6A9-1BF069119852}"/>
              </a:ext>
            </a:extLst>
          </p:cNvPr>
          <p:cNvSpPr txBox="1"/>
          <p:nvPr/>
        </p:nvSpPr>
        <p:spPr>
          <a:xfrm>
            <a:off x="841247" y="2313432"/>
            <a:ext cx="4873752" cy="758952"/>
          </a:xfrm>
          <a:prstGeom prst="rect">
            <a:avLst/>
          </a:prstGeom>
          <a:noFill/>
        </p:spPr>
        <p:txBody>
          <a:bodyPr wrap="square">
            <a:spAutoFit/>
          </a:bodyPr>
          <a:lstStyle/>
          <a:p>
            <a:pPr>
              <a:spcAft>
                <a:spcPts val="700"/>
              </a:spcAft>
            </a:pPr>
            <a:r>
              <a:rPr sz="1500" b="0">
                <a:solidFill>
                  <a:srgbClr val="303E44"/>
                </a:solidFill>
                <a:latin typeface="Aptos"/>
              </a:rPr>
              <a:t>Divide dados com perguntas do tipo “se… então…”. Fácil de explicar.</a:t>
            </a:r>
          </a:p>
        </p:txBody>
      </p:sp>
      <p:sp>
        <p:nvSpPr>
          <p:cNvPr id="12" name="Rounded Rectangle 11">
            <a:extLst>
              <a:ext uri="{FF2B5EF4-FFF2-40B4-BE49-F238E27FC236}">
                <a16:creationId xmlns:a16="http://schemas.microsoft.com/office/drawing/2014/main" id="{5B0F1E9B-EE49-2EB6-9008-6E80E86CB28C}"/>
              </a:ext>
            </a:extLst>
          </p:cNvPr>
          <p:cNvSpPr/>
          <p:nvPr/>
        </p:nvSpPr>
        <p:spPr>
          <a:xfrm>
            <a:off x="6263640" y="16916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CBD954C0-02A9-5413-18E3-1C67A9F0E642}"/>
              </a:ext>
            </a:extLst>
          </p:cNvPr>
          <p:cNvSpPr/>
          <p:nvPr/>
        </p:nvSpPr>
        <p:spPr>
          <a:xfrm>
            <a:off x="6263640" y="169164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617C1DD8-47F2-D170-F3FA-160875536EDC}"/>
              </a:ext>
            </a:extLst>
          </p:cNvPr>
          <p:cNvSpPr txBox="1"/>
          <p:nvPr/>
        </p:nvSpPr>
        <p:spPr>
          <a:xfrm>
            <a:off x="6464808" y="1856232"/>
            <a:ext cx="4873752" cy="384048"/>
          </a:xfrm>
          <a:prstGeom prst="rect">
            <a:avLst/>
          </a:prstGeom>
          <a:noFill/>
        </p:spPr>
        <p:txBody>
          <a:bodyPr wrap="square">
            <a:spAutoFit/>
          </a:bodyPr>
          <a:lstStyle/>
          <a:p>
            <a:pPr>
              <a:spcAft>
                <a:spcPts val="700"/>
              </a:spcAft>
            </a:pPr>
            <a:r>
              <a:rPr sz="1700" b="1">
                <a:solidFill>
                  <a:srgbClr val="142A38"/>
                </a:solidFill>
                <a:latin typeface="Georgia"/>
              </a:rPr>
              <a:t>Random Forest</a:t>
            </a:r>
          </a:p>
        </p:txBody>
      </p:sp>
      <p:sp>
        <p:nvSpPr>
          <p:cNvPr id="15" name="TextBox 14">
            <a:extLst>
              <a:ext uri="{FF2B5EF4-FFF2-40B4-BE49-F238E27FC236}">
                <a16:creationId xmlns:a16="http://schemas.microsoft.com/office/drawing/2014/main" id="{4F974C20-9FE8-77A8-29F7-C24CCF6FA86F}"/>
              </a:ext>
            </a:extLst>
          </p:cNvPr>
          <p:cNvSpPr txBox="1"/>
          <p:nvPr/>
        </p:nvSpPr>
        <p:spPr>
          <a:xfrm>
            <a:off x="6464808" y="2313432"/>
            <a:ext cx="4873752" cy="758952"/>
          </a:xfrm>
          <a:prstGeom prst="rect">
            <a:avLst/>
          </a:prstGeom>
          <a:noFill/>
        </p:spPr>
        <p:txBody>
          <a:bodyPr wrap="square">
            <a:spAutoFit/>
          </a:bodyPr>
          <a:lstStyle/>
          <a:p>
            <a:pPr>
              <a:spcAft>
                <a:spcPts val="700"/>
              </a:spcAft>
            </a:pPr>
            <a:r>
              <a:rPr sz="1500" b="0">
                <a:solidFill>
                  <a:srgbClr val="303E44"/>
                </a:solidFill>
                <a:latin typeface="Aptos"/>
              </a:rPr>
              <a:t>Combina várias árvores e agrega suas previsões; pode capturar relações não lineares.</a:t>
            </a:r>
          </a:p>
        </p:txBody>
      </p:sp>
      <p:sp>
        <p:nvSpPr>
          <p:cNvPr id="16" name="Rounded Rectangle 15">
            <a:extLst>
              <a:ext uri="{FF2B5EF4-FFF2-40B4-BE49-F238E27FC236}">
                <a16:creationId xmlns:a16="http://schemas.microsoft.com/office/drawing/2014/main" id="{306E0402-EFA0-F4E3-531A-F1C3CB1C1782}"/>
              </a:ext>
            </a:extLst>
          </p:cNvPr>
          <p:cNvSpPr/>
          <p:nvPr/>
        </p:nvSpPr>
        <p:spPr>
          <a:xfrm>
            <a:off x="640080" y="35204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FA3DAAC4-5089-C505-F4B1-95827FF7E39B}"/>
              </a:ext>
            </a:extLst>
          </p:cNvPr>
          <p:cNvSpPr/>
          <p:nvPr/>
        </p:nvSpPr>
        <p:spPr>
          <a:xfrm>
            <a:off x="640080" y="352044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88389822-D72B-73D2-5971-31A46C81CAC1}"/>
              </a:ext>
            </a:extLst>
          </p:cNvPr>
          <p:cNvSpPr txBox="1"/>
          <p:nvPr/>
        </p:nvSpPr>
        <p:spPr>
          <a:xfrm>
            <a:off x="841247" y="3685032"/>
            <a:ext cx="4873752" cy="384048"/>
          </a:xfrm>
          <a:prstGeom prst="rect">
            <a:avLst/>
          </a:prstGeom>
          <a:noFill/>
        </p:spPr>
        <p:txBody>
          <a:bodyPr wrap="square">
            <a:spAutoFit/>
          </a:bodyPr>
          <a:lstStyle/>
          <a:p>
            <a:pPr>
              <a:spcAft>
                <a:spcPts val="700"/>
              </a:spcAft>
            </a:pPr>
            <a:r>
              <a:rPr sz="1700" b="1">
                <a:solidFill>
                  <a:srgbClr val="142A38"/>
                </a:solidFill>
                <a:latin typeface="Georgia"/>
              </a:rPr>
              <a:t>Regressão Logística</a:t>
            </a:r>
          </a:p>
        </p:txBody>
      </p:sp>
      <p:sp>
        <p:nvSpPr>
          <p:cNvPr id="19" name="TextBox 18">
            <a:extLst>
              <a:ext uri="{FF2B5EF4-FFF2-40B4-BE49-F238E27FC236}">
                <a16:creationId xmlns:a16="http://schemas.microsoft.com/office/drawing/2014/main" id="{0E451BB3-CA27-4203-9C6E-ED62E87A4B1C}"/>
              </a:ext>
            </a:extLst>
          </p:cNvPr>
          <p:cNvSpPr txBox="1"/>
          <p:nvPr/>
        </p:nvSpPr>
        <p:spPr>
          <a:xfrm>
            <a:off x="841247" y="4142232"/>
            <a:ext cx="4873752" cy="758952"/>
          </a:xfrm>
          <a:prstGeom prst="rect">
            <a:avLst/>
          </a:prstGeom>
          <a:noFill/>
        </p:spPr>
        <p:txBody>
          <a:bodyPr wrap="square">
            <a:spAutoFit/>
          </a:bodyPr>
          <a:lstStyle/>
          <a:p>
            <a:pPr>
              <a:spcAft>
                <a:spcPts val="700"/>
              </a:spcAft>
            </a:pPr>
            <a:r>
              <a:rPr sz="1500" b="0">
                <a:solidFill>
                  <a:srgbClr val="303E44"/>
                </a:solidFill>
                <a:latin typeface="Aptos"/>
              </a:rPr>
              <a:t>Estima a probabilidade de uma classe; baseline útil e interpretável.</a:t>
            </a:r>
          </a:p>
        </p:txBody>
      </p:sp>
      <p:sp>
        <p:nvSpPr>
          <p:cNvPr id="20" name="Rounded Rectangle 19">
            <a:extLst>
              <a:ext uri="{FF2B5EF4-FFF2-40B4-BE49-F238E27FC236}">
                <a16:creationId xmlns:a16="http://schemas.microsoft.com/office/drawing/2014/main" id="{2B7E60EF-9988-3DBC-BE1A-70261854E866}"/>
              </a:ext>
            </a:extLst>
          </p:cNvPr>
          <p:cNvSpPr/>
          <p:nvPr/>
        </p:nvSpPr>
        <p:spPr>
          <a:xfrm>
            <a:off x="6263640" y="35204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CDF53B64-C466-95AF-0329-90928843D9E2}"/>
              </a:ext>
            </a:extLst>
          </p:cNvPr>
          <p:cNvSpPr/>
          <p:nvPr/>
        </p:nvSpPr>
        <p:spPr>
          <a:xfrm>
            <a:off x="6263640" y="352044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37CBFC93-DD04-1D37-7AA9-E2992448F838}"/>
              </a:ext>
            </a:extLst>
          </p:cNvPr>
          <p:cNvSpPr txBox="1"/>
          <p:nvPr/>
        </p:nvSpPr>
        <p:spPr>
          <a:xfrm>
            <a:off x="6464808" y="3685032"/>
            <a:ext cx="4873752" cy="384048"/>
          </a:xfrm>
          <a:prstGeom prst="rect">
            <a:avLst/>
          </a:prstGeom>
          <a:noFill/>
        </p:spPr>
        <p:txBody>
          <a:bodyPr wrap="square">
            <a:spAutoFit/>
          </a:bodyPr>
          <a:lstStyle/>
          <a:p>
            <a:pPr>
              <a:spcAft>
                <a:spcPts val="700"/>
              </a:spcAft>
            </a:pPr>
            <a:r>
              <a:rPr sz="1700" b="1">
                <a:solidFill>
                  <a:srgbClr val="142A38"/>
                </a:solidFill>
                <a:latin typeface="Georgia"/>
              </a:rPr>
              <a:t>SVM</a:t>
            </a:r>
          </a:p>
        </p:txBody>
      </p:sp>
      <p:sp>
        <p:nvSpPr>
          <p:cNvPr id="23" name="TextBox 22">
            <a:extLst>
              <a:ext uri="{FF2B5EF4-FFF2-40B4-BE49-F238E27FC236}">
                <a16:creationId xmlns:a16="http://schemas.microsoft.com/office/drawing/2014/main" id="{3D3414BF-5656-E874-6E8D-C6F60D7278D5}"/>
              </a:ext>
            </a:extLst>
          </p:cNvPr>
          <p:cNvSpPr txBox="1"/>
          <p:nvPr/>
        </p:nvSpPr>
        <p:spPr>
          <a:xfrm>
            <a:off x="6464808" y="4142232"/>
            <a:ext cx="4873752" cy="758952"/>
          </a:xfrm>
          <a:prstGeom prst="rect">
            <a:avLst/>
          </a:prstGeom>
          <a:noFill/>
        </p:spPr>
        <p:txBody>
          <a:bodyPr wrap="square">
            <a:spAutoFit/>
          </a:bodyPr>
          <a:lstStyle/>
          <a:p>
            <a:pPr>
              <a:spcAft>
                <a:spcPts val="700"/>
              </a:spcAft>
            </a:pPr>
            <a:r>
              <a:rPr sz="1500" b="0">
                <a:solidFill>
                  <a:srgbClr val="303E44"/>
                </a:solidFill>
                <a:latin typeface="Aptos"/>
              </a:rPr>
              <a:t>Busca uma fronteira de separação; a padronização costuma ser importante.</a:t>
            </a:r>
          </a:p>
        </p:txBody>
      </p:sp>
      <p:sp>
        <p:nvSpPr>
          <p:cNvPr id="24" name="TextBox 23">
            <a:extLst>
              <a:ext uri="{FF2B5EF4-FFF2-40B4-BE49-F238E27FC236}">
                <a16:creationId xmlns:a16="http://schemas.microsoft.com/office/drawing/2014/main" id="{C1DCC3D4-C4C5-6D66-0100-4A4886512C50}"/>
              </a:ext>
            </a:extLst>
          </p:cNvPr>
          <p:cNvSpPr txBox="1"/>
          <p:nvPr/>
        </p:nvSpPr>
        <p:spPr>
          <a:xfrm>
            <a:off x="822960" y="5623560"/>
            <a:ext cx="10424160" cy="365760"/>
          </a:xfrm>
          <a:prstGeom prst="rect">
            <a:avLst/>
          </a:prstGeom>
          <a:noFill/>
        </p:spPr>
        <p:txBody>
          <a:bodyPr wrap="square">
            <a:spAutoFit/>
          </a:bodyPr>
          <a:lstStyle/>
          <a:p>
            <a:pPr>
              <a:spcAft>
                <a:spcPts val="700"/>
              </a:spcAft>
            </a:pPr>
            <a:r>
              <a:rPr sz="1500" b="1">
                <a:solidFill>
                  <a:srgbClr val="142A38"/>
                </a:solidFill>
                <a:latin typeface="Aptos"/>
              </a:rPr>
              <a:t>Não existe um algoritmo melhor para todos os problemas: compare-os com os mesmos dados de teste.</a:t>
            </a:r>
          </a:p>
        </p:txBody>
      </p:sp>
      <p:sp>
        <p:nvSpPr>
          <p:cNvPr id="25" name="Retângulo 24">
            <a:extLst>
              <a:ext uri="{FF2B5EF4-FFF2-40B4-BE49-F238E27FC236}">
                <a16:creationId xmlns:a16="http://schemas.microsoft.com/office/drawing/2014/main" id="{131F4612-E86F-6B87-3D79-735B1D8C497A}"/>
              </a:ext>
            </a:extLst>
          </p:cNvPr>
          <p:cNvSpPr/>
          <p:nvPr/>
        </p:nvSpPr>
        <p:spPr>
          <a:xfrm>
            <a:off x="414337" y="3447301"/>
            <a:ext cx="5681662" cy="1719072"/>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pt-BR"/>
          </a:p>
        </p:txBody>
      </p:sp>
    </p:spTree>
    <p:extLst>
      <p:ext uri="{BB962C8B-B14F-4D97-AF65-F5344CB8AC3E}">
        <p14:creationId xmlns:p14="http://schemas.microsoft.com/office/powerpoint/2010/main" val="2964488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292608"/>
            <a:ext cx="7315200" cy="274320"/>
          </a:xfrm>
          <a:prstGeom prst="rect">
            <a:avLst/>
          </a:prstGeom>
          <a:noFill/>
        </p:spPr>
        <p:txBody>
          <a:bodyPr wrap="square" lIns="45720" tIns="18288" rIns="45720" bIns="18288" anchor="t">
            <a:spAutoFit/>
          </a:bodyPr>
          <a:lstStyle/>
          <a:p>
            <a:pPr algn="l"/>
            <a:r>
              <a:rPr sz="1100" b="1">
                <a:solidFill>
                  <a:srgbClr val="007A78"/>
                </a:solidFill>
                <a:latin typeface="Arial"/>
              </a:rPr>
              <a:t>EXEMPLO 3 · REGRESSÃO · COLAB: PARTE A</a:t>
            </a:r>
          </a:p>
        </p:txBody>
      </p:sp>
      <p:sp>
        <p:nvSpPr>
          <p:cNvPr id="4" name="TextBox 3"/>
          <p:cNvSpPr txBox="1"/>
          <p:nvPr/>
        </p:nvSpPr>
        <p:spPr>
          <a:xfrm>
            <a:off x="621792" y="603504"/>
            <a:ext cx="11155680" cy="640080"/>
          </a:xfrm>
          <a:prstGeom prst="rect">
            <a:avLst/>
          </a:prstGeom>
          <a:noFill/>
        </p:spPr>
        <p:txBody>
          <a:bodyPr wrap="square" lIns="45720" tIns="18288" rIns="45720" bIns="18288" anchor="t">
            <a:spAutoFit/>
          </a:bodyPr>
          <a:lstStyle/>
          <a:p>
            <a:pPr algn="l"/>
            <a:r>
              <a:rPr sz="2800" b="1">
                <a:solidFill>
                  <a:srgbClr val="14283A"/>
                </a:solidFill>
                <a:latin typeface="Georgia"/>
              </a:rPr>
              <a:t>Regressão: prever um valor numérico</a:t>
            </a:r>
          </a:p>
        </p:txBody>
      </p:sp>
      <p:sp>
        <p:nvSpPr>
          <p:cNvPr id="5" name="TextBox 4"/>
          <p:cNvSpPr txBox="1"/>
          <p:nvPr/>
        </p:nvSpPr>
        <p:spPr>
          <a:xfrm>
            <a:off x="621792" y="1280160"/>
            <a:ext cx="10972800" cy="365760"/>
          </a:xfrm>
          <a:prstGeom prst="rect">
            <a:avLst/>
          </a:prstGeom>
          <a:noFill/>
        </p:spPr>
        <p:txBody>
          <a:bodyPr wrap="square" lIns="45720" tIns="18288" rIns="45720" bIns="18288" anchor="t">
            <a:spAutoFit/>
          </a:bodyPr>
          <a:lstStyle/>
          <a:p>
            <a:pPr algn="l"/>
            <a:r>
              <a:rPr sz="1600" b="0">
                <a:solidFill>
                  <a:srgbClr val="5F6F78"/>
                </a:solidFill>
                <a:latin typeface="Arial"/>
              </a:rPr>
              <a:t>Exemplo: estimar a temperatura de um motor usando rotação, carga, corrente e vibração.</a:t>
            </a:r>
          </a:p>
        </p:txBody>
      </p:sp>
      <p:sp>
        <p:nvSpPr>
          <p:cNvPr id="6" name="Rectangle 5"/>
          <p:cNvSpPr/>
          <p:nvPr/>
        </p:nvSpPr>
        <p:spPr>
          <a:xfrm>
            <a:off x="640080" y="1783080"/>
            <a:ext cx="6675120"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reg_rf.png"/>
          <p:cNvPicPr>
            <a:picLocks noChangeAspect="1"/>
          </p:cNvPicPr>
          <p:nvPr/>
        </p:nvPicPr>
        <p:blipFill>
          <a:blip r:embed="rId3"/>
          <a:stretch>
            <a:fillRect/>
          </a:stretch>
        </p:blipFill>
        <p:spPr>
          <a:xfrm>
            <a:off x="640080" y="1783080"/>
            <a:ext cx="6675120" cy="3520440"/>
          </a:xfrm>
          <a:prstGeom prst="rect">
            <a:avLst/>
          </a:prstGeom>
        </p:spPr>
      </p:pic>
      <p:sp>
        <p:nvSpPr>
          <p:cNvPr id="8" name="TextBox 7"/>
          <p:cNvSpPr txBox="1"/>
          <p:nvPr/>
        </p:nvSpPr>
        <p:spPr>
          <a:xfrm>
            <a:off x="640080" y="5321808"/>
            <a:ext cx="6675120" cy="228600"/>
          </a:xfrm>
          <a:prstGeom prst="rect">
            <a:avLst/>
          </a:prstGeom>
          <a:noFill/>
        </p:spPr>
        <p:txBody>
          <a:bodyPr wrap="square" lIns="45720" tIns="18288" rIns="45720" bIns="18288" anchor="t">
            <a:spAutoFit/>
          </a:bodyPr>
          <a:lstStyle/>
          <a:p>
            <a:pPr algn="l"/>
            <a:r>
              <a:rPr sz="900" b="0">
                <a:solidFill>
                  <a:srgbClr val="5F6F78"/>
                </a:solidFill>
                <a:latin typeface="Arial"/>
              </a:rPr>
              <a:t>Dados simulados, com uma única entrada (corrente) para facilitar a visualização.</a:t>
            </a:r>
          </a:p>
        </p:txBody>
      </p:sp>
      <p:sp>
        <p:nvSpPr>
          <p:cNvPr id="9" name="Rounded Rectangle 8"/>
          <p:cNvSpPr/>
          <p:nvPr/>
        </p:nvSpPr>
        <p:spPr>
          <a:xfrm>
            <a:off x="7589520" y="178308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589520" y="178308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18120" y="183794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ENTRADAS (X)</a:t>
            </a:r>
          </a:p>
        </p:txBody>
      </p:sp>
      <p:sp>
        <p:nvSpPr>
          <p:cNvPr id="12" name="TextBox 11"/>
          <p:cNvSpPr txBox="1"/>
          <p:nvPr/>
        </p:nvSpPr>
        <p:spPr>
          <a:xfrm>
            <a:off x="7818120" y="2185416"/>
            <a:ext cx="3611880" cy="685800"/>
          </a:xfrm>
          <a:prstGeom prst="rect">
            <a:avLst/>
          </a:prstGeom>
          <a:noFill/>
        </p:spPr>
        <p:txBody>
          <a:bodyPr wrap="square" lIns="45720" tIns="18288" rIns="45720" bIns="18288" anchor="t">
            <a:spAutoFit/>
          </a:bodyPr>
          <a:lstStyle/>
          <a:p>
            <a:pPr algn="l"/>
            <a:r>
              <a:rPr sz="1200" b="0">
                <a:solidFill>
                  <a:srgbClr val="14283A"/>
                </a:solidFill>
                <a:latin typeface="Arial"/>
              </a:rPr>
              <a:t>rpm, carga, corrente e vibração.</a:t>
            </a:r>
          </a:p>
        </p:txBody>
      </p:sp>
      <p:sp>
        <p:nvSpPr>
          <p:cNvPr id="13" name="Rounded Rectangle 12"/>
          <p:cNvSpPr/>
          <p:nvPr/>
        </p:nvSpPr>
        <p:spPr>
          <a:xfrm>
            <a:off x="7589520" y="297180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589520" y="2971800"/>
            <a:ext cx="82296" cy="1097280"/>
          </a:xfrm>
          <a:prstGeom prst="rect">
            <a:avLst/>
          </a:prstGeom>
          <a:solidFill>
            <a:srgbClr val="E09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18120" y="3026664"/>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MODELO</a:t>
            </a:r>
          </a:p>
        </p:txBody>
      </p:sp>
      <p:sp>
        <p:nvSpPr>
          <p:cNvPr id="16" name="TextBox 15"/>
          <p:cNvSpPr txBox="1"/>
          <p:nvPr/>
        </p:nvSpPr>
        <p:spPr>
          <a:xfrm>
            <a:off x="7818120" y="3374136"/>
            <a:ext cx="3611880" cy="685800"/>
          </a:xfrm>
          <a:prstGeom prst="rect">
            <a:avLst/>
          </a:prstGeom>
          <a:noFill/>
        </p:spPr>
        <p:txBody>
          <a:bodyPr wrap="square" lIns="45720" tIns="18288" rIns="45720" bIns="18288" anchor="t">
            <a:spAutoFit/>
          </a:bodyPr>
          <a:lstStyle/>
          <a:p>
            <a:pPr algn="l"/>
            <a:r>
              <a:rPr sz="1200" b="0">
                <a:solidFill>
                  <a:srgbClr val="14283A"/>
                </a:solidFill>
                <a:latin typeface="Arial"/>
              </a:rPr>
              <a:t>Aprende a relação entre as variáveis e a temperatura medida. A reta é simples; o Random Forest segue curvas.</a:t>
            </a:r>
          </a:p>
        </p:txBody>
      </p:sp>
      <p:sp>
        <p:nvSpPr>
          <p:cNvPr id="17" name="Rounded Rectangle 16"/>
          <p:cNvSpPr/>
          <p:nvPr/>
        </p:nvSpPr>
        <p:spPr>
          <a:xfrm>
            <a:off x="7589520" y="416052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89520" y="416052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421538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SAÍDA (y)</a:t>
            </a:r>
          </a:p>
        </p:txBody>
      </p:sp>
      <p:sp>
        <p:nvSpPr>
          <p:cNvPr id="20" name="TextBox 19"/>
          <p:cNvSpPr txBox="1"/>
          <p:nvPr/>
        </p:nvSpPr>
        <p:spPr>
          <a:xfrm>
            <a:off x="7818120" y="4562856"/>
            <a:ext cx="3611880" cy="685800"/>
          </a:xfrm>
          <a:prstGeom prst="rect">
            <a:avLst/>
          </a:prstGeom>
          <a:noFill/>
        </p:spPr>
        <p:txBody>
          <a:bodyPr wrap="square" lIns="45720" tIns="18288" rIns="45720" bIns="18288" anchor="t">
            <a:spAutoFit/>
          </a:bodyPr>
          <a:lstStyle/>
          <a:p>
            <a:pPr algn="l"/>
            <a:r>
              <a:rPr sz="1200" b="0">
                <a:solidFill>
                  <a:srgbClr val="14283A"/>
                </a:solidFill>
                <a:latin typeface="Arial"/>
              </a:rPr>
              <a:t>Temperatura prevista em °C, comparada com a medida real.</a:t>
            </a:r>
          </a:p>
        </p:txBody>
      </p:sp>
      <p:sp>
        <p:nvSpPr>
          <p:cNvPr id="21" name="TextBox 20"/>
          <p:cNvSpPr txBox="1"/>
          <p:nvPr/>
        </p:nvSpPr>
        <p:spPr>
          <a:xfrm>
            <a:off x="621792" y="5623560"/>
            <a:ext cx="10972800" cy="365760"/>
          </a:xfrm>
          <a:prstGeom prst="rect">
            <a:avLst/>
          </a:prstGeom>
          <a:noFill/>
        </p:spPr>
        <p:txBody>
          <a:bodyPr wrap="square" lIns="45720" tIns="18288" rIns="45720" bIns="18288" anchor="t">
            <a:spAutoFit/>
          </a:bodyPr>
          <a:lstStyle/>
          <a:p>
            <a:pPr algn="l"/>
            <a:r>
              <a:rPr sz="1500" b="1">
                <a:solidFill>
                  <a:srgbClr val="14283A"/>
                </a:solidFill>
                <a:latin typeface="Arial"/>
              </a:rPr>
              <a:t>Métricas: MAE (erro médio absoluto), RMSE (penaliza erros grandes) e R² (variação explicada).</a:t>
            </a:r>
          </a:p>
        </p:txBody>
      </p:sp>
      <p:sp>
        <p:nvSpPr>
          <p:cNvPr id="22" name="TextBox 21"/>
          <p:cNvSpPr txBox="1"/>
          <p:nvPr/>
        </p:nvSpPr>
        <p:spPr>
          <a:xfrm>
            <a:off x="621792" y="5943600"/>
            <a:ext cx="10972800" cy="320040"/>
          </a:xfrm>
          <a:prstGeom prst="rect">
            <a:avLst/>
          </a:prstGeom>
          <a:noFill/>
        </p:spPr>
        <p:txBody>
          <a:bodyPr wrap="square" lIns="45720" tIns="18288" rIns="45720" bIns="18288" anchor="t">
            <a:spAutoFit/>
          </a:bodyPr>
          <a:lstStyle/>
          <a:p>
            <a:pPr algn="l"/>
            <a:r>
              <a:rPr sz="1250" b="0">
                <a:solidFill>
                  <a:srgbClr val="5F6F78"/>
                </a:solidFill>
                <a:latin typeface="Arial"/>
              </a:rPr>
              <a:t>Neste exemplo, no teste: MAE da reta = 2,9 °C · MAE do Random Forest = 2,0 °C.</a:t>
            </a:r>
          </a:p>
        </p:txBody>
      </p:sp>
      <p:sp>
        <p:nvSpPr>
          <p:cNvPr id="24" name="TextBox 23"/>
          <p:cNvSpPr txBox="1"/>
          <p:nvPr/>
        </p:nvSpPr>
        <p:spPr>
          <a:xfrm>
            <a:off x="10972800" y="6355080"/>
            <a:ext cx="594360" cy="274320"/>
          </a:xfrm>
          <a:prstGeom prst="rect">
            <a:avLst/>
          </a:prstGeom>
          <a:noFill/>
        </p:spPr>
        <p:txBody>
          <a:bodyPr wrap="square" lIns="45720" tIns="18288" rIns="45720" bIns="18288" anchor="t">
            <a:spAutoFit/>
          </a:bodyPr>
          <a:lstStyle/>
          <a:p>
            <a:pPr algn="r"/>
            <a:r>
              <a:rPr sz="1000" b="1">
                <a:solidFill>
                  <a:srgbClr val="5F6F78"/>
                </a:solidFill>
                <a:latin typeface="Arial"/>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a:extLst>
            <a:ext uri="{FF2B5EF4-FFF2-40B4-BE49-F238E27FC236}">
              <a16:creationId xmlns:a16="http://schemas.microsoft.com/office/drawing/2014/main" id="{746063A1-F187-1D71-7A48-F87DA099443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E1BC9CC-A93C-99AA-D785-B61FA94EA00B}"/>
              </a:ext>
            </a:extLst>
          </p:cNvPr>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EC9C14E-8CD0-7827-B683-7F19F49940F9}"/>
              </a:ext>
            </a:extLst>
          </p:cNvPr>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EXEMPLO 3 · REGRESSÃO · COLAB: PARTE A</a:t>
            </a:r>
          </a:p>
        </p:txBody>
      </p:sp>
      <p:sp>
        <p:nvSpPr>
          <p:cNvPr id="4" name="TextBox 3">
            <a:extLst>
              <a:ext uri="{FF2B5EF4-FFF2-40B4-BE49-F238E27FC236}">
                <a16:creationId xmlns:a16="http://schemas.microsoft.com/office/drawing/2014/main" id="{9E5A960A-34E2-C295-D4A0-95192F552FEF}"/>
              </a:ext>
            </a:extLst>
          </p:cNvPr>
          <p:cNvSpPr txBox="1"/>
          <p:nvPr/>
        </p:nvSpPr>
        <p:spPr>
          <a:xfrm>
            <a:off x="530352" y="566928"/>
            <a:ext cx="11155680" cy="566928"/>
          </a:xfrm>
          <a:prstGeom prst="rect">
            <a:avLst/>
          </a:prstGeom>
          <a:noFill/>
        </p:spPr>
        <p:txBody>
          <a:bodyPr wrap="square">
            <a:spAutoFit/>
          </a:bodyPr>
          <a:lstStyle/>
          <a:p>
            <a:pPr>
              <a:spcAft>
                <a:spcPts val="700"/>
              </a:spcAft>
            </a:pPr>
            <a:r>
              <a:rPr sz="2700" b="1">
                <a:solidFill>
                  <a:srgbClr val="142A38"/>
                </a:solidFill>
                <a:latin typeface="Georgia"/>
              </a:rPr>
              <a:t>Classificação supervisionada: prever uma categoria</a:t>
            </a:r>
          </a:p>
        </p:txBody>
      </p:sp>
      <p:sp>
        <p:nvSpPr>
          <p:cNvPr id="5" name="TextBox 4">
            <a:extLst>
              <a:ext uri="{FF2B5EF4-FFF2-40B4-BE49-F238E27FC236}">
                <a16:creationId xmlns:a16="http://schemas.microsoft.com/office/drawing/2014/main" id="{529EF00B-5A85-939A-AF56-16D0A999E16C}"/>
              </a:ext>
            </a:extLst>
          </p:cNvPr>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Exemplo: prever se uma máquina precisa de inspeção a partir de temperatura, vibração e horas de uso.</a:t>
            </a:r>
          </a:p>
        </p:txBody>
      </p:sp>
      <p:sp>
        <p:nvSpPr>
          <p:cNvPr id="7" name="TextBox 6">
            <a:extLst>
              <a:ext uri="{FF2B5EF4-FFF2-40B4-BE49-F238E27FC236}">
                <a16:creationId xmlns:a16="http://schemas.microsoft.com/office/drawing/2014/main" id="{F48FBE24-AC8C-0931-96DA-7E02826AF49D}"/>
              </a:ext>
            </a:extLst>
          </p:cNvPr>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40</a:t>
            </a:r>
          </a:p>
        </p:txBody>
      </p:sp>
      <p:sp>
        <p:nvSpPr>
          <p:cNvPr id="8" name="Rounded Rectangle 7">
            <a:extLst>
              <a:ext uri="{FF2B5EF4-FFF2-40B4-BE49-F238E27FC236}">
                <a16:creationId xmlns:a16="http://schemas.microsoft.com/office/drawing/2014/main" id="{A1476EFD-8E01-AA1D-6A6D-1ECBEC457D20}"/>
              </a:ext>
            </a:extLst>
          </p:cNvPr>
          <p:cNvSpPr/>
          <p:nvPr/>
        </p:nvSpPr>
        <p:spPr>
          <a:xfrm>
            <a:off x="640080" y="16916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7BD58483-A53B-5AD2-9C42-5E3B956E17EB}"/>
              </a:ext>
            </a:extLst>
          </p:cNvPr>
          <p:cNvSpPr/>
          <p:nvPr/>
        </p:nvSpPr>
        <p:spPr>
          <a:xfrm>
            <a:off x="640080" y="169164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3CF419DB-BA3E-53F2-6434-66B819C262D0}"/>
              </a:ext>
            </a:extLst>
          </p:cNvPr>
          <p:cNvSpPr txBox="1"/>
          <p:nvPr/>
        </p:nvSpPr>
        <p:spPr>
          <a:xfrm>
            <a:off x="841247" y="1856232"/>
            <a:ext cx="4873752" cy="384048"/>
          </a:xfrm>
          <a:prstGeom prst="rect">
            <a:avLst/>
          </a:prstGeom>
          <a:noFill/>
        </p:spPr>
        <p:txBody>
          <a:bodyPr wrap="square">
            <a:spAutoFit/>
          </a:bodyPr>
          <a:lstStyle/>
          <a:p>
            <a:pPr>
              <a:spcAft>
                <a:spcPts val="700"/>
              </a:spcAft>
            </a:pPr>
            <a:r>
              <a:rPr sz="1700" b="1">
                <a:solidFill>
                  <a:srgbClr val="142A38"/>
                </a:solidFill>
                <a:latin typeface="Georgia"/>
              </a:rPr>
              <a:t>Árvore de Decisão</a:t>
            </a:r>
          </a:p>
        </p:txBody>
      </p:sp>
      <p:sp>
        <p:nvSpPr>
          <p:cNvPr id="11" name="TextBox 10">
            <a:extLst>
              <a:ext uri="{FF2B5EF4-FFF2-40B4-BE49-F238E27FC236}">
                <a16:creationId xmlns:a16="http://schemas.microsoft.com/office/drawing/2014/main" id="{C3124D3B-726B-0769-D02B-06C8274D6E08}"/>
              </a:ext>
            </a:extLst>
          </p:cNvPr>
          <p:cNvSpPr txBox="1"/>
          <p:nvPr/>
        </p:nvSpPr>
        <p:spPr>
          <a:xfrm>
            <a:off x="841247" y="2313432"/>
            <a:ext cx="4873752" cy="758952"/>
          </a:xfrm>
          <a:prstGeom prst="rect">
            <a:avLst/>
          </a:prstGeom>
          <a:noFill/>
        </p:spPr>
        <p:txBody>
          <a:bodyPr wrap="square">
            <a:spAutoFit/>
          </a:bodyPr>
          <a:lstStyle/>
          <a:p>
            <a:pPr>
              <a:spcAft>
                <a:spcPts val="700"/>
              </a:spcAft>
            </a:pPr>
            <a:r>
              <a:rPr sz="1500" b="0">
                <a:solidFill>
                  <a:srgbClr val="303E44"/>
                </a:solidFill>
                <a:latin typeface="Aptos"/>
              </a:rPr>
              <a:t>Divide dados com perguntas do tipo “se… então…”. Fácil de explicar.</a:t>
            </a:r>
          </a:p>
        </p:txBody>
      </p:sp>
      <p:sp>
        <p:nvSpPr>
          <p:cNvPr id="12" name="Rounded Rectangle 11">
            <a:extLst>
              <a:ext uri="{FF2B5EF4-FFF2-40B4-BE49-F238E27FC236}">
                <a16:creationId xmlns:a16="http://schemas.microsoft.com/office/drawing/2014/main" id="{94A6ACFA-02DC-DBC0-C977-47AEAC94B0BC}"/>
              </a:ext>
            </a:extLst>
          </p:cNvPr>
          <p:cNvSpPr/>
          <p:nvPr/>
        </p:nvSpPr>
        <p:spPr>
          <a:xfrm>
            <a:off x="6263640" y="16916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21A2D939-1EDD-0B2D-FB37-A392E524FD39}"/>
              </a:ext>
            </a:extLst>
          </p:cNvPr>
          <p:cNvSpPr/>
          <p:nvPr/>
        </p:nvSpPr>
        <p:spPr>
          <a:xfrm>
            <a:off x="6263640" y="169164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6E4FED35-F33A-3F77-0782-6232E378B06B}"/>
              </a:ext>
            </a:extLst>
          </p:cNvPr>
          <p:cNvSpPr txBox="1"/>
          <p:nvPr/>
        </p:nvSpPr>
        <p:spPr>
          <a:xfrm>
            <a:off x="6464808" y="1856232"/>
            <a:ext cx="4873752" cy="384048"/>
          </a:xfrm>
          <a:prstGeom prst="rect">
            <a:avLst/>
          </a:prstGeom>
          <a:noFill/>
        </p:spPr>
        <p:txBody>
          <a:bodyPr wrap="square">
            <a:spAutoFit/>
          </a:bodyPr>
          <a:lstStyle/>
          <a:p>
            <a:pPr>
              <a:spcAft>
                <a:spcPts val="700"/>
              </a:spcAft>
            </a:pPr>
            <a:r>
              <a:rPr sz="1700" b="1">
                <a:solidFill>
                  <a:srgbClr val="142A38"/>
                </a:solidFill>
                <a:latin typeface="Georgia"/>
              </a:rPr>
              <a:t>Random Forest</a:t>
            </a:r>
          </a:p>
        </p:txBody>
      </p:sp>
      <p:sp>
        <p:nvSpPr>
          <p:cNvPr id="15" name="TextBox 14">
            <a:extLst>
              <a:ext uri="{FF2B5EF4-FFF2-40B4-BE49-F238E27FC236}">
                <a16:creationId xmlns:a16="http://schemas.microsoft.com/office/drawing/2014/main" id="{7AB0D617-9D16-CBFA-7346-98F51FEB0B83}"/>
              </a:ext>
            </a:extLst>
          </p:cNvPr>
          <p:cNvSpPr txBox="1"/>
          <p:nvPr/>
        </p:nvSpPr>
        <p:spPr>
          <a:xfrm>
            <a:off x="6464808" y="2313432"/>
            <a:ext cx="4873752" cy="758952"/>
          </a:xfrm>
          <a:prstGeom prst="rect">
            <a:avLst/>
          </a:prstGeom>
          <a:noFill/>
        </p:spPr>
        <p:txBody>
          <a:bodyPr wrap="square">
            <a:spAutoFit/>
          </a:bodyPr>
          <a:lstStyle/>
          <a:p>
            <a:pPr>
              <a:spcAft>
                <a:spcPts val="700"/>
              </a:spcAft>
            </a:pPr>
            <a:r>
              <a:rPr sz="1500" b="0">
                <a:solidFill>
                  <a:srgbClr val="303E44"/>
                </a:solidFill>
                <a:latin typeface="Aptos"/>
              </a:rPr>
              <a:t>Combina várias árvores e agrega suas previsões; pode capturar relações não lineares.</a:t>
            </a:r>
          </a:p>
        </p:txBody>
      </p:sp>
      <p:sp>
        <p:nvSpPr>
          <p:cNvPr id="16" name="Rounded Rectangle 15">
            <a:extLst>
              <a:ext uri="{FF2B5EF4-FFF2-40B4-BE49-F238E27FC236}">
                <a16:creationId xmlns:a16="http://schemas.microsoft.com/office/drawing/2014/main" id="{F428B446-EBB7-2B1C-2B38-2E40E9A27643}"/>
              </a:ext>
            </a:extLst>
          </p:cNvPr>
          <p:cNvSpPr/>
          <p:nvPr/>
        </p:nvSpPr>
        <p:spPr>
          <a:xfrm>
            <a:off x="640080" y="35204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DD9E2F00-B965-00E9-0D13-549EB44A5083}"/>
              </a:ext>
            </a:extLst>
          </p:cNvPr>
          <p:cNvSpPr/>
          <p:nvPr/>
        </p:nvSpPr>
        <p:spPr>
          <a:xfrm>
            <a:off x="640080" y="352044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E230D9A6-C975-6739-E72C-D34EBE8E4444}"/>
              </a:ext>
            </a:extLst>
          </p:cNvPr>
          <p:cNvSpPr txBox="1"/>
          <p:nvPr/>
        </p:nvSpPr>
        <p:spPr>
          <a:xfrm>
            <a:off x="841247" y="3685032"/>
            <a:ext cx="4873752" cy="384048"/>
          </a:xfrm>
          <a:prstGeom prst="rect">
            <a:avLst/>
          </a:prstGeom>
          <a:noFill/>
        </p:spPr>
        <p:txBody>
          <a:bodyPr wrap="square">
            <a:spAutoFit/>
          </a:bodyPr>
          <a:lstStyle/>
          <a:p>
            <a:pPr>
              <a:spcAft>
                <a:spcPts val="700"/>
              </a:spcAft>
            </a:pPr>
            <a:r>
              <a:rPr sz="1700" b="1">
                <a:solidFill>
                  <a:srgbClr val="142A38"/>
                </a:solidFill>
                <a:latin typeface="Georgia"/>
              </a:rPr>
              <a:t>Regressão Logística</a:t>
            </a:r>
          </a:p>
        </p:txBody>
      </p:sp>
      <p:sp>
        <p:nvSpPr>
          <p:cNvPr id="19" name="TextBox 18">
            <a:extLst>
              <a:ext uri="{FF2B5EF4-FFF2-40B4-BE49-F238E27FC236}">
                <a16:creationId xmlns:a16="http://schemas.microsoft.com/office/drawing/2014/main" id="{211D719E-8489-F194-C00A-3D7B49C048A9}"/>
              </a:ext>
            </a:extLst>
          </p:cNvPr>
          <p:cNvSpPr txBox="1"/>
          <p:nvPr/>
        </p:nvSpPr>
        <p:spPr>
          <a:xfrm>
            <a:off x="841247" y="4142232"/>
            <a:ext cx="4873752" cy="758952"/>
          </a:xfrm>
          <a:prstGeom prst="rect">
            <a:avLst/>
          </a:prstGeom>
          <a:noFill/>
        </p:spPr>
        <p:txBody>
          <a:bodyPr wrap="square">
            <a:spAutoFit/>
          </a:bodyPr>
          <a:lstStyle/>
          <a:p>
            <a:pPr>
              <a:spcAft>
                <a:spcPts val="700"/>
              </a:spcAft>
            </a:pPr>
            <a:r>
              <a:rPr sz="1500" b="0">
                <a:solidFill>
                  <a:srgbClr val="303E44"/>
                </a:solidFill>
                <a:latin typeface="Aptos"/>
              </a:rPr>
              <a:t>Estima a probabilidade de uma classe; baseline útil e interpretável.</a:t>
            </a:r>
          </a:p>
        </p:txBody>
      </p:sp>
      <p:sp>
        <p:nvSpPr>
          <p:cNvPr id="20" name="Rounded Rectangle 19">
            <a:extLst>
              <a:ext uri="{FF2B5EF4-FFF2-40B4-BE49-F238E27FC236}">
                <a16:creationId xmlns:a16="http://schemas.microsoft.com/office/drawing/2014/main" id="{938F84F9-33FF-9680-3EA1-46BF631A943C}"/>
              </a:ext>
            </a:extLst>
          </p:cNvPr>
          <p:cNvSpPr/>
          <p:nvPr/>
        </p:nvSpPr>
        <p:spPr>
          <a:xfrm>
            <a:off x="6263640" y="35204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5BF0E440-6C39-1787-1F29-A325FF8C05C7}"/>
              </a:ext>
            </a:extLst>
          </p:cNvPr>
          <p:cNvSpPr/>
          <p:nvPr/>
        </p:nvSpPr>
        <p:spPr>
          <a:xfrm>
            <a:off x="6263640" y="352044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5898E5AB-1A63-3BF2-79EF-A29050D49FC4}"/>
              </a:ext>
            </a:extLst>
          </p:cNvPr>
          <p:cNvSpPr txBox="1"/>
          <p:nvPr/>
        </p:nvSpPr>
        <p:spPr>
          <a:xfrm>
            <a:off x="6464808" y="3685032"/>
            <a:ext cx="4873752" cy="384048"/>
          </a:xfrm>
          <a:prstGeom prst="rect">
            <a:avLst/>
          </a:prstGeom>
          <a:noFill/>
        </p:spPr>
        <p:txBody>
          <a:bodyPr wrap="square">
            <a:spAutoFit/>
          </a:bodyPr>
          <a:lstStyle/>
          <a:p>
            <a:pPr>
              <a:spcAft>
                <a:spcPts val="700"/>
              </a:spcAft>
            </a:pPr>
            <a:r>
              <a:rPr sz="1700" b="1">
                <a:solidFill>
                  <a:srgbClr val="142A38"/>
                </a:solidFill>
                <a:latin typeface="Georgia"/>
              </a:rPr>
              <a:t>SVM</a:t>
            </a:r>
          </a:p>
        </p:txBody>
      </p:sp>
      <p:sp>
        <p:nvSpPr>
          <p:cNvPr id="23" name="TextBox 22">
            <a:extLst>
              <a:ext uri="{FF2B5EF4-FFF2-40B4-BE49-F238E27FC236}">
                <a16:creationId xmlns:a16="http://schemas.microsoft.com/office/drawing/2014/main" id="{7E46C93C-636C-19F3-4C70-9C741BCF9C55}"/>
              </a:ext>
            </a:extLst>
          </p:cNvPr>
          <p:cNvSpPr txBox="1"/>
          <p:nvPr/>
        </p:nvSpPr>
        <p:spPr>
          <a:xfrm>
            <a:off x="6464808" y="4142232"/>
            <a:ext cx="4873752" cy="758952"/>
          </a:xfrm>
          <a:prstGeom prst="rect">
            <a:avLst/>
          </a:prstGeom>
          <a:noFill/>
        </p:spPr>
        <p:txBody>
          <a:bodyPr wrap="square">
            <a:spAutoFit/>
          </a:bodyPr>
          <a:lstStyle/>
          <a:p>
            <a:pPr>
              <a:spcAft>
                <a:spcPts val="700"/>
              </a:spcAft>
            </a:pPr>
            <a:r>
              <a:rPr sz="1500" b="0">
                <a:solidFill>
                  <a:srgbClr val="303E44"/>
                </a:solidFill>
                <a:latin typeface="Aptos"/>
              </a:rPr>
              <a:t>Busca uma fronteira de separação; a padronização costuma ser importante.</a:t>
            </a:r>
          </a:p>
        </p:txBody>
      </p:sp>
      <p:sp>
        <p:nvSpPr>
          <p:cNvPr id="24" name="TextBox 23">
            <a:extLst>
              <a:ext uri="{FF2B5EF4-FFF2-40B4-BE49-F238E27FC236}">
                <a16:creationId xmlns:a16="http://schemas.microsoft.com/office/drawing/2014/main" id="{E970E901-940F-07E1-E0AD-3461635D5E91}"/>
              </a:ext>
            </a:extLst>
          </p:cNvPr>
          <p:cNvSpPr txBox="1"/>
          <p:nvPr/>
        </p:nvSpPr>
        <p:spPr>
          <a:xfrm>
            <a:off x="822960" y="5623560"/>
            <a:ext cx="10424160" cy="365760"/>
          </a:xfrm>
          <a:prstGeom prst="rect">
            <a:avLst/>
          </a:prstGeom>
          <a:noFill/>
        </p:spPr>
        <p:txBody>
          <a:bodyPr wrap="square">
            <a:spAutoFit/>
          </a:bodyPr>
          <a:lstStyle/>
          <a:p>
            <a:pPr>
              <a:spcAft>
                <a:spcPts val="700"/>
              </a:spcAft>
            </a:pPr>
            <a:r>
              <a:rPr sz="1500" b="1">
                <a:solidFill>
                  <a:srgbClr val="142A38"/>
                </a:solidFill>
                <a:latin typeface="Aptos"/>
              </a:rPr>
              <a:t>Não existe um algoritmo melhor para todos os problemas: compare-os com os mesmos dados de teste.</a:t>
            </a:r>
          </a:p>
        </p:txBody>
      </p:sp>
      <p:sp>
        <p:nvSpPr>
          <p:cNvPr id="25" name="Retângulo 24">
            <a:extLst>
              <a:ext uri="{FF2B5EF4-FFF2-40B4-BE49-F238E27FC236}">
                <a16:creationId xmlns:a16="http://schemas.microsoft.com/office/drawing/2014/main" id="{C13618E8-1EDC-4FC1-5695-7E29F5CEE05D}"/>
              </a:ext>
            </a:extLst>
          </p:cNvPr>
          <p:cNvSpPr/>
          <p:nvPr/>
        </p:nvSpPr>
        <p:spPr>
          <a:xfrm>
            <a:off x="6025895" y="3399282"/>
            <a:ext cx="5681662" cy="1719072"/>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pt-BR"/>
          </a:p>
        </p:txBody>
      </p:sp>
    </p:spTree>
    <p:extLst>
      <p:ext uri="{BB962C8B-B14F-4D97-AF65-F5344CB8AC3E}">
        <p14:creationId xmlns:p14="http://schemas.microsoft.com/office/powerpoint/2010/main" val="67310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292608"/>
            <a:ext cx="7315200" cy="274320"/>
          </a:xfrm>
          <a:prstGeom prst="rect">
            <a:avLst/>
          </a:prstGeom>
          <a:noFill/>
        </p:spPr>
        <p:txBody>
          <a:bodyPr wrap="square" lIns="45720" tIns="18288" rIns="45720" bIns="18288" anchor="t">
            <a:spAutoFit/>
          </a:bodyPr>
          <a:lstStyle/>
          <a:p>
            <a:pPr algn="l"/>
            <a:r>
              <a:rPr sz="1100" b="1">
                <a:solidFill>
                  <a:srgbClr val="007A78"/>
                </a:solidFill>
                <a:latin typeface="Arial"/>
              </a:rPr>
              <a:t>EXEMPLO 4 · SVM · COLAB: PARTE A</a:t>
            </a:r>
          </a:p>
        </p:txBody>
      </p:sp>
      <p:sp>
        <p:nvSpPr>
          <p:cNvPr id="4" name="TextBox 3"/>
          <p:cNvSpPr txBox="1"/>
          <p:nvPr/>
        </p:nvSpPr>
        <p:spPr>
          <a:xfrm>
            <a:off x="621792" y="603504"/>
            <a:ext cx="11155680" cy="640080"/>
          </a:xfrm>
          <a:prstGeom prst="rect">
            <a:avLst/>
          </a:prstGeom>
          <a:noFill/>
        </p:spPr>
        <p:txBody>
          <a:bodyPr wrap="square" lIns="45720" tIns="18288" rIns="45720" bIns="18288" anchor="t">
            <a:spAutoFit/>
          </a:bodyPr>
          <a:lstStyle/>
          <a:p>
            <a:pPr algn="l"/>
            <a:r>
              <a:rPr sz="2800" b="1">
                <a:solidFill>
                  <a:srgbClr val="14283A"/>
                </a:solidFill>
                <a:latin typeface="Georgia"/>
              </a:rPr>
              <a:t>SVM: a fronteira com a maior margem</a:t>
            </a:r>
          </a:p>
        </p:txBody>
      </p:sp>
      <p:sp>
        <p:nvSpPr>
          <p:cNvPr id="5" name="TextBox 4"/>
          <p:cNvSpPr txBox="1"/>
          <p:nvPr/>
        </p:nvSpPr>
        <p:spPr>
          <a:xfrm>
            <a:off x="621792" y="1280160"/>
            <a:ext cx="10972800" cy="365760"/>
          </a:xfrm>
          <a:prstGeom prst="rect">
            <a:avLst/>
          </a:prstGeom>
          <a:noFill/>
        </p:spPr>
        <p:txBody>
          <a:bodyPr wrap="square" lIns="45720" tIns="18288" rIns="45720" bIns="18288" anchor="t">
            <a:spAutoFit/>
          </a:bodyPr>
          <a:lstStyle/>
          <a:p>
            <a:pPr algn="l"/>
            <a:r>
              <a:rPr sz="1600" b="0">
                <a:solidFill>
                  <a:srgbClr val="5F6F78"/>
                </a:solidFill>
                <a:latin typeface="Arial"/>
              </a:rPr>
              <a:t>Exemplo: separar motores normais de motores com falha, e peças boas de peças defeituosas.</a:t>
            </a:r>
          </a:p>
        </p:txBody>
      </p:sp>
      <p:sp>
        <p:nvSpPr>
          <p:cNvPr id="6" name="Rectangle 5"/>
          <p:cNvSpPr/>
          <p:nvPr/>
        </p:nvSpPr>
        <p:spPr>
          <a:xfrm>
            <a:off x="640080" y="1783080"/>
            <a:ext cx="6675120"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svm_new.png"/>
          <p:cNvPicPr>
            <a:picLocks noChangeAspect="1"/>
          </p:cNvPicPr>
          <p:nvPr/>
        </p:nvPicPr>
        <p:blipFill>
          <a:blip r:embed="rId3"/>
          <a:stretch>
            <a:fillRect/>
          </a:stretch>
        </p:blipFill>
        <p:spPr>
          <a:xfrm>
            <a:off x="640080" y="1783080"/>
            <a:ext cx="6675120" cy="3520440"/>
          </a:xfrm>
          <a:prstGeom prst="rect">
            <a:avLst/>
          </a:prstGeom>
        </p:spPr>
      </p:pic>
      <p:sp>
        <p:nvSpPr>
          <p:cNvPr id="8" name="TextBox 7"/>
          <p:cNvSpPr txBox="1"/>
          <p:nvPr/>
        </p:nvSpPr>
        <p:spPr>
          <a:xfrm>
            <a:off x="640080" y="5321808"/>
            <a:ext cx="6675120" cy="228600"/>
          </a:xfrm>
          <a:prstGeom prst="rect">
            <a:avLst/>
          </a:prstGeom>
          <a:noFill/>
        </p:spPr>
        <p:txBody>
          <a:bodyPr wrap="square" lIns="45720" tIns="18288" rIns="45720" bIns="18288" anchor="t">
            <a:spAutoFit/>
          </a:bodyPr>
          <a:lstStyle/>
          <a:p>
            <a:pPr algn="l"/>
            <a:r>
              <a:rPr sz="900" b="0">
                <a:solidFill>
                  <a:srgbClr val="5F6F78"/>
                </a:solidFill>
                <a:latin typeface="Arial"/>
              </a:rPr>
              <a:t>Dados simulados, para fins didáticos.</a:t>
            </a:r>
          </a:p>
        </p:txBody>
      </p:sp>
      <p:sp>
        <p:nvSpPr>
          <p:cNvPr id="9" name="Rounded Rectangle 8"/>
          <p:cNvSpPr/>
          <p:nvPr/>
        </p:nvSpPr>
        <p:spPr>
          <a:xfrm>
            <a:off x="7589520" y="178308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589520" y="178308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18120" y="183794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MARGEM</a:t>
            </a:r>
          </a:p>
        </p:txBody>
      </p:sp>
      <p:sp>
        <p:nvSpPr>
          <p:cNvPr id="12" name="TextBox 11"/>
          <p:cNvSpPr txBox="1"/>
          <p:nvPr/>
        </p:nvSpPr>
        <p:spPr>
          <a:xfrm>
            <a:off x="7818120" y="2185416"/>
            <a:ext cx="3611880" cy="685800"/>
          </a:xfrm>
          <a:prstGeom prst="rect">
            <a:avLst/>
          </a:prstGeom>
          <a:noFill/>
        </p:spPr>
        <p:txBody>
          <a:bodyPr wrap="square" lIns="45720" tIns="18288" rIns="45720" bIns="18288" anchor="t">
            <a:spAutoFit/>
          </a:bodyPr>
          <a:lstStyle/>
          <a:p>
            <a:pPr algn="l"/>
            <a:r>
              <a:rPr sz="1150" b="0">
                <a:solidFill>
                  <a:srgbClr val="14283A"/>
                </a:solidFill>
                <a:latin typeface="Arial"/>
              </a:rPr>
              <a:t>Folga entre a fronteira e os pontos mais próximos de cada classe. Quanto maior, mais segura a separação.</a:t>
            </a:r>
          </a:p>
        </p:txBody>
      </p:sp>
      <p:sp>
        <p:nvSpPr>
          <p:cNvPr id="13" name="Rounded Rectangle 12"/>
          <p:cNvSpPr/>
          <p:nvPr/>
        </p:nvSpPr>
        <p:spPr>
          <a:xfrm>
            <a:off x="7589520" y="297180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589520" y="2971800"/>
            <a:ext cx="82296" cy="1097280"/>
          </a:xfrm>
          <a:prstGeom prst="rect">
            <a:avLst/>
          </a:prstGeom>
          <a:solidFill>
            <a:srgbClr val="E09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18120" y="3026664"/>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VETORES DE SUPORTE</a:t>
            </a:r>
          </a:p>
        </p:txBody>
      </p:sp>
      <p:sp>
        <p:nvSpPr>
          <p:cNvPr id="16" name="TextBox 15"/>
          <p:cNvSpPr txBox="1"/>
          <p:nvPr/>
        </p:nvSpPr>
        <p:spPr>
          <a:xfrm>
            <a:off x="7818120" y="3374136"/>
            <a:ext cx="3611880" cy="685800"/>
          </a:xfrm>
          <a:prstGeom prst="rect">
            <a:avLst/>
          </a:prstGeom>
          <a:noFill/>
        </p:spPr>
        <p:txBody>
          <a:bodyPr wrap="square" lIns="45720" tIns="18288" rIns="45720" bIns="18288" anchor="t">
            <a:spAutoFit/>
          </a:bodyPr>
          <a:lstStyle/>
          <a:p>
            <a:pPr algn="l"/>
            <a:r>
              <a:rPr sz="1150" b="0">
                <a:solidFill>
                  <a:srgbClr val="14283A"/>
                </a:solidFill>
                <a:latin typeface="Arial"/>
              </a:rPr>
              <a:t>Os pontos circulados (2 de 49 no exemplo dos motores). Só eles definem a linha; o resto não muda o resultado.</a:t>
            </a:r>
          </a:p>
        </p:txBody>
      </p:sp>
      <p:sp>
        <p:nvSpPr>
          <p:cNvPr id="17" name="Rounded Rectangle 16"/>
          <p:cNvSpPr/>
          <p:nvPr/>
        </p:nvSpPr>
        <p:spPr>
          <a:xfrm>
            <a:off x="7589520" y="416052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589520" y="416052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818120" y="421538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KERNEL</a:t>
            </a:r>
          </a:p>
        </p:txBody>
      </p:sp>
      <p:sp>
        <p:nvSpPr>
          <p:cNvPr id="20" name="TextBox 19"/>
          <p:cNvSpPr txBox="1"/>
          <p:nvPr/>
        </p:nvSpPr>
        <p:spPr>
          <a:xfrm>
            <a:off x="7818120" y="4562856"/>
            <a:ext cx="3611880" cy="685800"/>
          </a:xfrm>
          <a:prstGeom prst="rect">
            <a:avLst/>
          </a:prstGeom>
          <a:noFill/>
        </p:spPr>
        <p:txBody>
          <a:bodyPr wrap="square" lIns="45720" tIns="18288" rIns="45720" bIns="18288" anchor="t">
            <a:spAutoFit/>
          </a:bodyPr>
          <a:lstStyle/>
          <a:p>
            <a:pPr algn="l"/>
            <a:r>
              <a:rPr sz="1150" b="0">
                <a:solidFill>
                  <a:srgbClr val="14283A"/>
                </a:solidFill>
                <a:latin typeface="Arial"/>
              </a:rPr>
              <a:t>Peça boa no centro e defeituosa em volta: nenhuma reta separa (acerta 56%). O kernel RBF faz a fronteira curva (100%).</a:t>
            </a:r>
          </a:p>
        </p:txBody>
      </p:sp>
      <p:sp>
        <p:nvSpPr>
          <p:cNvPr id="21" name="TextBox 20"/>
          <p:cNvSpPr txBox="1"/>
          <p:nvPr/>
        </p:nvSpPr>
        <p:spPr>
          <a:xfrm>
            <a:off x="621792" y="5669280"/>
            <a:ext cx="10972800" cy="365760"/>
          </a:xfrm>
          <a:prstGeom prst="rect">
            <a:avLst/>
          </a:prstGeom>
          <a:noFill/>
        </p:spPr>
        <p:txBody>
          <a:bodyPr wrap="square" lIns="45720" tIns="18288" rIns="45720" bIns="18288" anchor="t">
            <a:spAutoFit/>
          </a:bodyPr>
          <a:lstStyle/>
          <a:p>
            <a:pPr algn="l"/>
            <a:r>
              <a:rPr sz="1500" b="1">
                <a:solidFill>
                  <a:srgbClr val="14283A"/>
                </a:solidFill>
                <a:latin typeface="Arial"/>
              </a:rPr>
              <a:t>Padronize as variáveis antes: o SVM usa distâncias, e variáveis de escala maior dominariam.</a:t>
            </a:r>
          </a:p>
        </p:txBody>
      </p:sp>
      <p:sp>
        <p:nvSpPr>
          <p:cNvPr id="23" name="TextBox 22"/>
          <p:cNvSpPr txBox="1"/>
          <p:nvPr/>
        </p:nvSpPr>
        <p:spPr>
          <a:xfrm>
            <a:off x="566928" y="6053328"/>
            <a:ext cx="11064240" cy="457200"/>
          </a:xfrm>
          <a:prstGeom prst="rect">
            <a:avLst/>
          </a:prstGeom>
          <a:noFill/>
        </p:spPr>
        <p:txBody>
          <a:bodyPr wrap="square" lIns="45720" tIns="18288" rIns="45720" bIns="18288" anchor="t">
            <a:spAutoFit/>
          </a:bodyPr>
          <a:lstStyle/>
          <a:p>
            <a:r>
              <a:rPr sz="1050" b="1">
                <a:solidFill>
                  <a:srgbClr val="007A78"/>
                </a:solidFill>
                <a:latin typeface="Arial"/>
              </a:rPr>
              <a:t>Como ler: </a:t>
            </a:r>
            <a:r>
              <a:rPr sz="1050">
                <a:solidFill>
                  <a:srgbClr val="14283A"/>
                </a:solidFill>
                <a:latin typeface="Arial"/>
              </a:rPr>
              <a:t>à esquerda, cada ponto é um motor (horizontal = vibração, vertical = temperatura; verde = normal, laranja = falha; círculos vermelhos = vetores de suporte). À direita, cada ponto é uma peça (temperatura do molde e pressão padronizadas, 0 = ideal; verde = boa, laranja = defeituosa).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292608"/>
            <a:ext cx="8229600" cy="274320"/>
          </a:xfrm>
          <a:prstGeom prst="rect">
            <a:avLst/>
          </a:prstGeom>
          <a:noFill/>
        </p:spPr>
        <p:txBody>
          <a:bodyPr wrap="square" lIns="45720" tIns="18288" rIns="45720" bIns="18288" anchor="t">
            <a:spAutoFit/>
          </a:bodyPr>
          <a:lstStyle/>
          <a:p>
            <a:pPr algn="l"/>
            <a:r>
              <a:rPr sz="1100" b="1">
                <a:solidFill>
                  <a:srgbClr val="007A78"/>
                </a:solidFill>
                <a:latin typeface="Arial"/>
              </a:rPr>
              <a:t>AVALIAÇÃO · MÉTRICAS · COLAB: EXERCÍCIO 2.4</a:t>
            </a:r>
          </a:p>
        </p:txBody>
      </p:sp>
      <p:sp>
        <p:nvSpPr>
          <p:cNvPr id="4" name="TextBox 3"/>
          <p:cNvSpPr txBox="1"/>
          <p:nvPr/>
        </p:nvSpPr>
        <p:spPr>
          <a:xfrm>
            <a:off x="621792" y="603504"/>
            <a:ext cx="11155680" cy="640080"/>
          </a:xfrm>
          <a:prstGeom prst="rect">
            <a:avLst/>
          </a:prstGeom>
          <a:noFill/>
        </p:spPr>
        <p:txBody>
          <a:bodyPr wrap="square" lIns="45720" tIns="18288" rIns="45720" bIns="18288" anchor="t">
            <a:spAutoFit/>
          </a:bodyPr>
          <a:lstStyle/>
          <a:p>
            <a:pPr algn="l"/>
            <a:r>
              <a:rPr sz="2800" b="1">
                <a:solidFill>
                  <a:srgbClr val="14283A"/>
                </a:solidFill>
                <a:latin typeface="Georgia"/>
              </a:rPr>
              <a:t>Como saber se a classificação funciona?</a:t>
            </a:r>
          </a:p>
        </p:txBody>
      </p:sp>
      <p:sp>
        <p:nvSpPr>
          <p:cNvPr id="5" name="TextBox 4"/>
          <p:cNvSpPr txBox="1"/>
          <p:nvPr/>
        </p:nvSpPr>
        <p:spPr>
          <a:xfrm>
            <a:off x="621792" y="1280160"/>
            <a:ext cx="10972800" cy="365760"/>
          </a:xfrm>
          <a:prstGeom prst="rect">
            <a:avLst/>
          </a:prstGeom>
          <a:noFill/>
        </p:spPr>
        <p:txBody>
          <a:bodyPr wrap="square" lIns="45720" tIns="18288" rIns="45720" bIns="18288" anchor="t">
            <a:spAutoFit/>
          </a:bodyPr>
          <a:lstStyle/>
          <a:p>
            <a:pPr algn="l"/>
            <a:r>
              <a:rPr sz="1600" b="0">
                <a:solidFill>
                  <a:srgbClr val="5F6F78"/>
                </a:solidFill>
                <a:latin typeface="Arial"/>
              </a:rPr>
              <a:t>Acurácia não basta, principalmente quando as classes são desbalanceadas.</a:t>
            </a:r>
          </a:p>
        </p:txBody>
      </p:sp>
      <p:sp>
        <p:nvSpPr>
          <p:cNvPr id="7" name="TextBox 6"/>
          <p:cNvSpPr txBox="1"/>
          <p:nvPr/>
        </p:nvSpPr>
        <p:spPr>
          <a:xfrm>
            <a:off x="10972800" y="6355080"/>
            <a:ext cx="594360" cy="274320"/>
          </a:xfrm>
          <a:prstGeom prst="rect">
            <a:avLst/>
          </a:prstGeom>
          <a:noFill/>
        </p:spPr>
        <p:txBody>
          <a:bodyPr wrap="square" lIns="45720" tIns="18288" rIns="45720" bIns="18288" anchor="t">
            <a:spAutoFit/>
          </a:bodyPr>
          <a:lstStyle/>
          <a:p>
            <a:pPr algn="r"/>
            <a:r>
              <a:rPr sz="1000" b="1">
                <a:solidFill>
                  <a:srgbClr val="5F6F78"/>
                </a:solidFill>
                <a:latin typeface="Arial"/>
              </a:rPr>
              <a:t>42</a:t>
            </a:r>
          </a:p>
        </p:txBody>
      </p:sp>
      <p:sp>
        <p:nvSpPr>
          <p:cNvPr id="8" name="Rectangle 7"/>
          <p:cNvSpPr/>
          <p:nvPr/>
        </p:nvSpPr>
        <p:spPr>
          <a:xfrm>
            <a:off x="640080" y="1783080"/>
            <a:ext cx="4937760"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matriz_ann.png"/>
          <p:cNvPicPr>
            <a:picLocks noChangeAspect="1"/>
          </p:cNvPicPr>
          <p:nvPr/>
        </p:nvPicPr>
        <p:blipFill>
          <a:blip r:embed="rId3"/>
          <a:stretch>
            <a:fillRect/>
          </a:stretch>
        </p:blipFill>
        <p:spPr>
          <a:xfrm>
            <a:off x="640080" y="1783080"/>
            <a:ext cx="4937760" cy="3520440"/>
          </a:xfrm>
          <a:prstGeom prst="rect">
            <a:avLst/>
          </a:prstGeom>
        </p:spPr>
      </p:pic>
      <p:sp>
        <p:nvSpPr>
          <p:cNvPr id="10" name="TextBox 9"/>
          <p:cNvSpPr txBox="1"/>
          <p:nvPr/>
        </p:nvSpPr>
        <p:spPr>
          <a:xfrm>
            <a:off x="640080" y="5321808"/>
            <a:ext cx="4937760" cy="228600"/>
          </a:xfrm>
          <a:prstGeom prst="rect">
            <a:avLst/>
          </a:prstGeom>
          <a:noFill/>
        </p:spPr>
        <p:txBody>
          <a:bodyPr wrap="square" lIns="45720" tIns="18288" rIns="45720" bIns="18288" anchor="t">
            <a:spAutoFit/>
          </a:bodyPr>
          <a:lstStyle/>
          <a:p>
            <a:pPr algn="l"/>
            <a:r>
              <a:rPr sz="900" b="0">
                <a:solidFill>
                  <a:srgbClr val="5F6F78"/>
                </a:solidFill>
                <a:latin typeface="Arial"/>
              </a:rPr>
              <a:t>Random Forest no bloco de Produção: 625 peças de teste, 72 defeituosas.</a:t>
            </a:r>
          </a:p>
        </p:txBody>
      </p:sp>
      <p:sp>
        <p:nvSpPr>
          <p:cNvPr id="11" name="Rounded Rectangle 10"/>
          <p:cNvSpPr/>
          <p:nvPr/>
        </p:nvSpPr>
        <p:spPr>
          <a:xfrm>
            <a:off x="5806440" y="1783080"/>
            <a:ext cx="5760720" cy="82296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806440" y="1783080"/>
            <a:ext cx="82296" cy="82296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35040" y="1819656"/>
            <a:ext cx="5440680" cy="274320"/>
          </a:xfrm>
          <a:prstGeom prst="rect">
            <a:avLst/>
          </a:prstGeom>
          <a:noFill/>
        </p:spPr>
        <p:txBody>
          <a:bodyPr wrap="square" lIns="45720" tIns="18288" rIns="45720" bIns="18288" anchor="t">
            <a:spAutoFit/>
          </a:bodyPr>
          <a:lstStyle/>
          <a:p>
            <a:pPr algn="l"/>
            <a:r>
              <a:rPr sz="1250" b="1">
                <a:solidFill>
                  <a:srgbClr val="14283A"/>
                </a:solidFill>
                <a:latin typeface="Georgia"/>
              </a:rPr>
              <a:t>ACURÁCIA  ·  94%</a:t>
            </a:r>
            <a:r>
              <a:rPr sz="1100" b="1">
                <a:solidFill>
                  <a:srgbClr val="007A78"/>
                </a:solidFill>
                <a:latin typeface="Arial"/>
              </a:rPr>
              <a:t>   (VP + VN) ÷ total</a:t>
            </a:r>
          </a:p>
        </p:txBody>
      </p:sp>
      <p:sp>
        <p:nvSpPr>
          <p:cNvPr id="14" name="TextBox 13"/>
          <p:cNvSpPr txBox="1"/>
          <p:nvPr/>
        </p:nvSpPr>
        <p:spPr>
          <a:xfrm>
            <a:off x="6035040" y="2130552"/>
            <a:ext cx="5440680" cy="457200"/>
          </a:xfrm>
          <a:prstGeom prst="rect">
            <a:avLst/>
          </a:prstGeom>
          <a:noFill/>
        </p:spPr>
        <p:txBody>
          <a:bodyPr wrap="square" lIns="45720" tIns="18288" rIns="45720" bIns="18288" anchor="t">
            <a:spAutoFit/>
          </a:bodyPr>
          <a:lstStyle/>
          <a:p>
            <a:pPr algn="l"/>
            <a:r>
              <a:rPr sz="1100" b="0">
                <a:solidFill>
                  <a:srgbClr val="14283A"/>
                </a:solidFill>
                <a:latin typeface="Arial"/>
              </a:rPr>
              <a:t>Acertos em geral. Engana quando uma classe é rara: dizer 'sempre boa' já daria 88%.</a:t>
            </a:r>
          </a:p>
        </p:txBody>
      </p:sp>
      <p:sp>
        <p:nvSpPr>
          <p:cNvPr id="15" name="Rounded Rectangle 14"/>
          <p:cNvSpPr/>
          <p:nvPr/>
        </p:nvSpPr>
        <p:spPr>
          <a:xfrm>
            <a:off x="5806440" y="2679191"/>
            <a:ext cx="5760720" cy="82296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806440" y="2679191"/>
            <a:ext cx="82296" cy="822960"/>
          </a:xfrm>
          <a:prstGeom prst="rect">
            <a:avLst/>
          </a:prstGeom>
          <a:solidFill>
            <a:srgbClr val="E09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035040" y="2715768"/>
            <a:ext cx="5440680" cy="274320"/>
          </a:xfrm>
          <a:prstGeom prst="rect">
            <a:avLst/>
          </a:prstGeom>
          <a:noFill/>
        </p:spPr>
        <p:txBody>
          <a:bodyPr wrap="square" lIns="45720" tIns="18288" rIns="45720" bIns="18288" anchor="t">
            <a:spAutoFit/>
          </a:bodyPr>
          <a:lstStyle/>
          <a:p>
            <a:pPr algn="l"/>
            <a:r>
              <a:rPr sz="1250" b="1">
                <a:solidFill>
                  <a:srgbClr val="14283A"/>
                </a:solidFill>
                <a:latin typeface="Georgia"/>
              </a:rPr>
              <a:t>PRECISÃO  ·  74%</a:t>
            </a:r>
            <a:r>
              <a:rPr sz="1100" b="1">
                <a:solidFill>
                  <a:srgbClr val="E0903A"/>
                </a:solidFill>
                <a:latin typeface="Arial"/>
              </a:rPr>
              <a:t>   VP ÷ (VP + FP)</a:t>
            </a:r>
          </a:p>
        </p:txBody>
      </p:sp>
      <p:sp>
        <p:nvSpPr>
          <p:cNvPr id="18" name="TextBox 17"/>
          <p:cNvSpPr txBox="1"/>
          <p:nvPr/>
        </p:nvSpPr>
        <p:spPr>
          <a:xfrm>
            <a:off x="6035040" y="3026663"/>
            <a:ext cx="5440680" cy="457200"/>
          </a:xfrm>
          <a:prstGeom prst="rect">
            <a:avLst/>
          </a:prstGeom>
          <a:noFill/>
        </p:spPr>
        <p:txBody>
          <a:bodyPr wrap="square" lIns="45720" tIns="18288" rIns="45720" bIns="18288" anchor="t">
            <a:spAutoFit/>
          </a:bodyPr>
          <a:lstStyle/>
          <a:p>
            <a:pPr algn="l"/>
            <a:r>
              <a:rPr sz="1100" b="0">
                <a:solidFill>
                  <a:srgbClr val="14283A"/>
                </a:solidFill>
                <a:latin typeface="Arial"/>
              </a:rPr>
              <a:t>Dos alertas emitidos, quantos eram casos reais. Alta precisão = menos falsos alarmes.</a:t>
            </a:r>
          </a:p>
        </p:txBody>
      </p:sp>
      <p:sp>
        <p:nvSpPr>
          <p:cNvPr id="19" name="Rounded Rectangle 18"/>
          <p:cNvSpPr/>
          <p:nvPr/>
        </p:nvSpPr>
        <p:spPr>
          <a:xfrm>
            <a:off x="5806440" y="3575304"/>
            <a:ext cx="5760720" cy="82296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806440" y="3575304"/>
            <a:ext cx="82296" cy="82296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35040" y="3611880"/>
            <a:ext cx="5440680" cy="274320"/>
          </a:xfrm>
          <a:prstGeom prst="rect">
            <a:avLst/>
          </a:prstGeom>
          <a:noFill/>
        </p:spPr>
        <p:txBody>
          <a:bodyPr wrap="square" lIns="45720" tIns="18288" rIns="45720" bIns="18288" anchor="t">
            <a:spAutoFit/>
          </a:bodyPr>
          <a:lstStyle/>
          <a:p>
            <a:pPr algn="l"/>
            <a:r>
              <a:rPr sz="1250" b="1">
                <a:solidFill>
                  <a:srgbClr val="14283A"/>
                </a:solidFill>
                <a:latin typeface="Georgia"/>
              </a:rPr>
              <a:t>SENSIBILIDADE (RECALL)  ·  74%</a:t>
            </a:r>
            <a:r>
              <a:rPr sz="1100" b="1">
                <a:solidFill>
                  <a:srgbClr val="007A78"/>
                </a:solidFill>
                <a:latin typeface="Arial"/>
              </a:rPr>
              <a:t>   VP ÷ (VP + FN)</a:t>
            </a:r>
          </a:p>
        </p:txBody>
      </p:sp>
      <p:sp>
        <p:nvSpPr>
          <p:cNvPr id="22" name="TextBox 21"/>
          <p:cNvSpPr txBox="1"/>
          <p:nvPr/>
        </p:nvSpPr>
        <p:spPr>
          <a:xfrm>
            <a:off x="6035040" y="3922776"/>
            <a:ext cx="5440680" cy="457200"/>
          </a:xfrm>
          <a:prstGeom prst="rect">
            <a:avLst/>
          </a:prstGeom>
          <a:noFill/>
        </p:spPr>
        <p:txBody>
          <a:bodyPr wrap="square" lIns="45720" tIns="18288" rIns="45720" bIns="18288" anchor="t">
            <a:spAutoFit/>
          </a:bodyPr>
          <a:lstStyle/>
          <a:p>
            <a:pPr algn="l"/>
            <a:r>
              <a:rPr sz="1100" b="0">
                <a:solidFill>
                  <a:srgbClr val="14283A"/>
                </a:solidFill>
                <a:latin typeface="Arial"/>
              </a:rPr>
              <a:t>Dos casos reais, quantos foram detectados. Baixo recall = falsos negativos, casos que passam.</a:t>
            </a:r>
          </a:p>
        </p:txBody>
      </p:sp>
      <p:sp>
        <p:nvSpPr>
          <p:cNvPr id="23" name="Rounded Rectangle 22"/>
          <p:cNvSpPr/>
          <p:nvPr/>
        </p:nvSpPr>
        <p:spPr>
          <a:xfrm>
            <a:off x="5806440" y="4471416"/>
            <a:ext cx="5760720" cy="82296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806440" y="4471416"/>
            <a:ext cx="82296" cy="822960"/>
          </a:xfrm>
          <a:prstGeom prst="rect">
            <a:avLst/>
          </a:prstGeom>
          <a:solidFill>
            <a:srgbClr val="E09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035040" y="4507992"/>
            <a:ext cx="5440680" cy="274320"/>
          </a:xfrm>
          <a:prstGeom prst="rect">
            <a:avLst/>
          </a:prstGeom>
          <a:noFill/>
        </p:spPr>
        <p:txBody>
          <a:bodyPr wrap="square" lIns="45720" tIns="18288" rIns="45720" bIns="18288" anchor="t">
            <a:spAutoFit/>
          </a:bodyPr>
          <a:lstStyle/>
          <a:p>
            <a:pPr algn="l"/>
            <a:r>
              <a:rPr sz="1250" b="1">
                <a:solidFill>
                  <a:srgbClr val="14283A"/>
                </a:solidFill>
                <a:latin typeface="Georgia"/>
              </a:rPr>
              <a:t>ESPECIFICIDADE  ·  97%</a:t>
            </a:r>
            <a:r>
              <a:rPr sz="1100" b="1">
                <a:solidFill>
                  <a:srgbClr val="E0903A"/>
                </a:solidFill>
                <a:latin typeface="Arial"/>
              </a:rPr>
              <a:t>   VN ÷ (VN + FP)</a:t>
            </a:r>
          </a:p>
        </p:txBody>
      </p:sp>
      <p:sp>
        <p:nvSpPr>
          <p:cNvPr id="26" name="TextBox 25"/>
          <p:cNvSpPr txBox="1"/>
          <p:nvPr/>
        </p:nvSpPr>
        <p:spPr>
          <a:xfrm>
            <a:off x="6035040" y="4818888"/>
            <a:ext cx="5440680" cy="457200"/>
          </a:xfrm>
          <a:prstGeom prst="rect">
            <a:avLst/>
          </a:prstGeom>
          <a:noFill/>
        </p:spPr>
        <p:txBody>
          <a:bodyPr wrap="square" lIns="45720" tIns="18288" rIns="45720" bIns="18288" anchor="t">
            <a:spAutoFit/>
          </a:bodyPr>
          <a:lstStyle/>
          <a:p>
            <a:pPr algn="l"/>
            <a:r>
              <a:rPr sz="1100" b="0">
                <a:solidFill>
                  <a:srgbClr val="14283A"/>
                </a:solidFill>
                <a:latin typeface="Arial"/>
              </a:rPr>
              <a:t>Dos casos normais, quantos foram liberados corretamente. Baixa = falsos positivos.</a:t>
            </a:r>
          </a:p>
        </p:txBody>
      </p:sp>
      <p:sp>
        <p:nvSpPr>
          <p:cNvPr id="27" name="TextBox 26"/>
          <p:cNvSpPr txBox="1"/>
          <p:nvPr/>
        </p:nvSpPr>
        <p:spPr>
          <a:xfrm>
            <a:off x="621792" y="5715000"/>
            <a:ext cx="10972800" cy="365760"/>
          </a:xfrm>
          <a:prstGeom prst="rect">
            <a:avLst/>
          </a:prstGeom>
          <a:noFill/>
        </p:spPr>
        <p:txBody>
          <a:bodyPr wrap="square" lIns="45720" tIns="18288" rIns="45720" bIns="18288" anchor="t">
            <a:spAutoFit/>
          </a:bodyPr>
          <a:lstStyle/>
          <a:p>
            <a:pPr algn="l"/>
            <a:r>
              <a:rPr sz="1500" b="1">
                <a:solidFill>
                  <a:srgbClr val="14283A"/>
                </a:solidFill>
                <a:latin typeface="Arial"/>
              </a:rPr>
              <a:t>Em segurança e qualidade, o custo dos erros deve orientar a métrica e o limiar de decisão.</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292608"/>
            <a:ext cx="8229600" cy="274320"/>
          </a:xfrm>
          <a:prstGeom prst="rect">
            <a:avLst/>
          </a:prstGeom>
          <a:noFill/>
        </p:spPr>
        <p:txBody>
          <a:bodyPr wrap="square" lIns="45720" tIns="18288" rIns="45720" bIns="18288" anchor="t">
            <a:spAutoFit/>
          </a:bodyPr>
          <a:lstStyle/>
          <a:p>
            <a:pPr algn="l"/>
            <a:r>
              <a:rPr sz="1100" b="1">
                <a:solidFill>
                  <a:srgbClr val="007A78"/>
                </a:solidFill>
                <a:latin typeface="Arial"/>
              </a:rPr>
              <a:t>AVALIAÇÃO · CURVA ROC · COLAB: EXERCÍCIO 2.5</a:t>
            </a:r>
          </a:p>
        </p:txBody>
      </p:sp>
      <p:sp>
        <p:nvSpPr>
          <p:cNvPr id="4" name="TextBox 3"/>
          <p:cNvSpPr txBox="1"/>
          <p:nvPr/>
        </p:nvSpPr>
        <p:spPr>
          <a:xfrm>
            <a:off x="621792" y="603504"/>
            <a:ext cx="11155680" cy="640080"/>
          </a:xfrm>
          <a:prstGeom prst="rect">
            <a:avLst/>
          </a:prstGeom>
          <a:noFill/>
        </p:spPr>
        <p:txBody>
          <a:bodyPr wrap="square" lIns="45720" tIns="18288" rIns="45720" bIns="18288" anchor="t">
            <a:spAutoFit/>
          </a:bodyPr>
          <a:lstStyle/>
          <a:p>
            <a:pPr algn="l"/>
            <a:r>
              <a:rPr sz="2800" b="1">
                <a:solidFill>
                  <a:srgbClr val="14283A"/>
                </a:solidFill>
                <a:latin typeface="Georgia"/>
              </a:rPr>
              <a:t>Curva ROC: o efeito do limiar de decisão</a:t>
            </a:r>
          </a:p>
        </p:txBody>
      </p:sp>
      <p:sp>
        <p:nvSpPr>
          <p:cNvPr id="5" name="TextBox 4"/>
          <p:cNvSpPr txBox="1"/>
          <p:nvPr/>
        </p:nvSpPr>
        <p:spPr>
          <a:xfrm>
            <a:off x="621792" y="1280160"/>
            <a:ext cx="10972800" cy="365760"/>
          </a:xfrm>
          <a:prstGeom prst="rect">
            <a:avLst/>
          </a:prstGeom>
          <a:noFill/>
        </p:spPr>
        <p:txBody>
          <a:bodyPr wrap="square" lIns="45720" tIns="18288" rIns="45720" bIns="18288" anchor="t">
            <a:spAutoFit/>
          </a:bodyPr>
          <a:lstStyle/>
          <a:p>
            <a:pPr algn="l"/>
            <a:r>
              <a:rPr sz="1600" b="0">
                <a:solidFill>
                  <a:srgbClr val="5F6F78"/>
                </a:solidFill>
                <a:latin typeface="Arial"/>
              </a:rPr>
              <a:t>Cada ponto da curva é um limiar: mais sensibilidade custa mais falsos alarmes.</a:t>
            </a:r>
          </a:p>
        </p:txBody>
      </p:sp>
      <p:sp>
        <p:nvSpPr>
          <p:cNvPr id="7" name="TextBox 6"/>
          <p:cNvSpPr txBox="1"/>
          <p:nvPr/>
        </p:nvSpPr>
        <p:spPr>
          <a:xfrm>
            <a:off x="10972800" y="6355080"/>
            <a:ext cx="594360" cy="274320"/>
          </a:xfrm>
          <a:prstGeom prst="rect">
            <a:avLst/>
          </a:prstGeom>
          <a:noFill/>
        </p:spPr>
        <p:txBody>
          <a:bodyPr wrap="square" lIns="45720" tIns="18288" rIns="45720" bIns="18288" anchor="t">
            <a:spAutoFit/>
          </a:bodyPr>
          <a:lstStyle/>
          <a:p>
            <a:pPr algn="r"/>
            <a:r>
              <a:rPr sz="1000" b="1">
                <a:solidFill>
                  <a:srgbClr val="5F6F78"/>
                </a:solidFill>
                <a:latin typeface="Arial"/>
              </a:rPr>
              <a:t>43</a:t>
            </a:r>
          </a:p>
        </p:txBody>
      </p:sp>
      <p:sp>
        <p:nvSpPr>
          <p:cNvPr id="8" name="Rectangle 7"/>
          <p:cNvSpPr/>
          <p:nvPr/>
        </p:nvSpPr>
        <p:spPr>
          <a:xfrm>
            <a:off x="640080" y="1783080"/>
            <a:ext cx="6675120"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roc.png"/>
          <p:cNvPicPr>
            <a:picLocks noChangeAspect="1"/>
          </p:cNvPicPr>
          <p:nvPr/>
        </p:nvPicPr>
        <p:blipFill>
          <a:blip r:embed="rId3"/>
          <a:stretch>
            <a:fillRect/>
          </a:stretch>
        </p:blipFill>
        <p:spPr>
          <a:xfrm>
            <a:off x="640080" y="1783080"/>
            <a:ext cx="6675120" cy="3520440"/>
          </a:xfrm>
          <a:prstGeom prst="rect">
            <a:avLst/>
          </a:prstGeom>
        </p:spPr>
      </p:pic>
      <p:sp>
        <p:nvSpPr>
          <p:cNvPr id="10" name="TextBox 9"/>
          <p:cNvSpPr txBox="1"/>
          <p:nvPr/>
        </p:nvSpPr>
        <p:spPr>
          <a:xfrm>
            <a:off x="640080" y="5321808"/>
            <a:ext cx="6675120" cy="228600"/>
          </a:xfrm>
          <a:prstGeom prst="rect">
            <a:avLst/>
          </a:prstGeom>
          <a:noFill/>
        </p:spPr>
        <p:txBody>
          <a:bodyPr wrap="square" lIns="45720" tIns="18288" rIns="45720" bIns="18288" anchor="t">
            <a:spAutoFit/>
          </a:bodyPr>
          <a:lstStyle/>
          <a:p>
            <a:pPr algn="l"/>
            <a:r>
              <a:rPr sz="900" b="0">
                <a:solidFill>
                  <a:srgbClr val="5F6F78"/>
                </a:solidFill>
                <a:latin typeface="Arial"/>
              </a:rPr>
              <a:t>Mesmo modelo e dados do slide anterior.</a:t>
            </a:r>
          </a:p>
        </p:txBody>
      </p:sp>
      <p:sp>
        <p:nvSpPr>
          <p:cNvPr id="11" name="Rounded Rectangle 10"/>
          <p:cNvSpPr/>
          <p:nvPr/>
        </p:nvSpPr>
        <p:spPr>
          <a:xfrm>
            <a:off x="7589520" y="178308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589520" y="178308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18120" y="183794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COMO LER</a:t>
            </a:r>
          </a:p>
        </p:txBody>
      </p:sp>
      <p:sp>
        <p:nvSpPr>
          <p:cNvPr id="14" name="TextBox 13"/>
          <p:cNvSpPr txBox="1"/>
          <p:nvPr/>
        </p:nvSpPr>
        <p:spPr>
          <a:xfrm>
            <a:off x="7818120" y="2185416"/>
            <a:ext cx="3611880" cy="685800"/>
          </a:xfrm>
          <a:prstGeom prst="rect">
            <a:avLst/>
          </a:prstGeom>
          <a:noFill/>
        </p:spPr>
        <p:txBody>
          <a:bodyPr wrap="square" lIns="45720" tIns="18288" rIns="45720" bIns="18288" anchor="t">
            <a:spAutoFit/>
          </a:bodyPr>
          <a:lstStyle/>
          <a:p>
            <a:pPr algn="l"/>
            <a:r>
              <a:rPr sz="1150" b="0">
                <a:solidFill>
                  <a:srgbClr val="14283A"/>
                </a:solidFill>
                <a:latin typeface="Arial"/>
              </a:rPr>
              <a:t>Eixo y: sensibilidade. Eixo x: falsos positivos (1 − especificidade). Quanto mais perto do canto superior esquerdo, melhor.</a:t>
            </a:r>
          </a:p>
        </p:txBody>
      </p:sp>
      <p:sp>
        <p:nvSpPr>
          <p:cNvPr id="15" name="Rounded Rectangle 14"/>
          <p:cNvSpPr/>
          <p:nvPr/>
        </p:nvSpPr>
        <p:spPr>
          <a:xfrm>
            <a:off x="7589520" y="297180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589520" y="2971800"/>
            <a:ext cx="82296" cy="1097280"/>
          </a:xfrm>
          <a:prstGeom prst="rect">
            <a:avLst/>
          </a:prstGeom>
          <a:solidFill>
            <a:srgbClr val="E09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18120" y="3026664"/>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AUC</a:t>
            </a:r>
          </a:p>
        </p:txBody>
      </p:sp>
      <p:sp>
        <p:nvSpPr>
          <p:cNvPr id="18" name="TextBox 17"/>
          <p:cNvSpPr txBox="1"/>
          <p:nvPr/>
        </p:nvSpPr>
        <p:spPr>
          <a:xfrm>
            <a:off x="7818120" y="3374136"/>
            <a:ext cx="3611880" cy="685800"/>
          </a:xfrm>
          <a:prstGeom prst="rect">
            <a:avLst/>
          </a:prstGeom>
          <a:noFill/>
        </p:spPr>
        <p:txBody>
          <a:bodyPr wrap="square" lIns="45720" tIns="18288" rIns="45720" bIns="18288" anchor="t">
            <a:spAutoFit/>
          </a:bodyPr>
          <a:lstStyle/>
          <a:p>
            <a:pPr algn="l"/>
            <a:r>
              <a:rPr sz="1150" b="0">
                <a:solidFill>
                  <a:srgbClr val="14283A"/>
                </a:solidFill>
                <a:latin typeface="Arial"/>
              </a:rPr>
              <a:t>Área sob a curva: 0,5 é o acaso e 1,0 é perfeito. Aqui, 0,96.</a:t>
            </a:r>
          </a:p>
        </p:txBody>
      </p:sp>
      <p:sp>
        <p:nvSpPr>
          <p:cNvPr id="19" name="Rounded Rectangle 18"/>
          <p:cNvSpPr/>
          <p:nvPr/>
        </p:nvSpPr>
        <p:spPr>
          <a:xfrm>
            <a:off x="7589520" y="416052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589520" y="416052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818120" y="421538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LIMIAR</a:t>
            </a:r>
          </a:p>
        </p:txBody>
      </p:sp>
      <p:sp>
        <p:nvSpPr>
          <p:cNvPr id="22" name="TextBox 21"/>
          <p:cNvSpPr txBox="1"/>
          <p:nvPr/>
        </p:nvSpPr>
        <p:spPr>
          <a:xfrm>
            <a:off x="7818120" y="4562856"/>
            <a:ext cx="3611880" cy="685800"/>
          </a:xfrm>
          <a:prstGeom prst="rect">
            <a:avLst/>
          </a:prstGeom>
          <a:noFill/>
        </p:spPr>
        <p:txBody>
          <a:bodyPr wrap="square" lIns="45720" tIns="18288" rIns="45720" bIns="18288" anchor="t">
            <a:spAutoFit/>
          </a:bodyPr>
          <a:lstStyle/>
          <a:p>
            <a:pPr algn="l"/>
            <a:r>
              <a:rPr sz="1150" b="0">
                <a:solidFill>
                  <a:srgbClr val="14283A"/>
                </a:solidFill>
                <a:latin typeface="Arial"/>
              </a:rPr>
              <a:t>Com 0,2 o modelo acha 90% dos defeitos, com 9% de falsos alarmes. Com 0,5: 74% e 3%.</a:t>
            </a:r>
          </a:p>
        </p:txBody>
      </p:sp>
      <p:sp>
        <p:nvSpPr>
          <p:cNvPr id="23" name="TextBox 22"/>
          <p:cNvSpPr txBox="1"/>
          <p:nvPr/>
        </p:nvSpPr>
        <p:spPr>
          <a:xfrm>
            <a:off x="621792" y="5715000"/>
            <a:ext cx="10972800" cy="365760"/>
          </a:xfrm>
          <a:prstGeom prst="rect">
            <a:avLst/>
          </a:prstGeom>
          <a:noFill/>
        </p:spPr>
        <p:txBody>
          <a:bodyPr wrap="square" lIns="45720" tIns="18288" rIns="45720" bIns="18288" anchor="t">
            <a:spAutoFit/>
          </a:bodyPr>
          <a:lstStyle/>
          <a:p>
            <a:pPr algn="l"/>
            <a:r>
              <a:rPr sz="1500" b="1">
                <a:solidFill>
                  <a:srgbClr val="14283A"/>
                </a:solidFill>
                <a:latin typeface="Arial"/>
              </a:rPr>
              <a:t>Em peça de segurança, escolha um limiar que priorize a sensibilidade.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292608"/>
            <a:ext cx="8229600" cy="274320"/>
          </a:xfrm>
          <a:prstGeom prst="rect">
            <a:avLst/>
          </a:prstGeom>
          <a:noFill/>
        </p:spPr>
        <p:txBody>
          <a:bodyPr wrap="square" lIns="45720" tIns="18288" rIns="45720" bIns="18288" anchor="t">
            <a:spAutoFit/>
          </a:bodyPr>
          <a:lstStyle/>
          <a:p>
            <a:pPr algn="l"/>
            <a:r>
              <a:rPr sz="1100" b="1">
                <a:solidFill>
                  <a:srgbClr val="007A78"/>
                </a:solidFill>
                <a:latin typeface="Arial"/>
              </a:rPr>
              <a:t>EXEMPLO 5 · OVERFITTING · COLAB: PARTE A</a:t>
            </a:r>
          </a:p>
        </p:txBody>
      </p:sp>
      <p:sp>
        <p:nvSpPr>
          <p:cNvPr id="4" name="TextBox 3"/>
          <p:cNvSpPr txBox="1"/>
          <p:nvPr/>
        </p:nvSpPr>
        <p:spPr>
          <a:xfrm>
            <a:off x="621792" y="603504"/>
            <a:ext cx="11155680" cy="640080"/>
          </a:xfrm>
          <a:prstGeom prst="rect">
            <a:avLst/>
          </a:prstGeom>
          <a:noFill/>
        </p:spPr>
        <p:txBody>
          <a:bodyPr wrap="square" lIns="45720" tIns="18288" rIns="45720" bIns="18288" anchor="t">
            <a:spAutoFit/>
          </a:bodyPr>
          <a:lstStyle/>
          <a:p>
            <a:pPr algn="l"/>
            <a:r>
              <a:rPr sz="2800" b="1">
                <a:solidFill>
                  <a:srgbClr val="14283A"/>
                </a:solidFill>
                <a:latin typeface="Georgia"/>
              </a:rPr>
              <a:t>Overfitting: decorar não é aprender</a:t>
            </a:r>
          </a:p>
        </p:txBody>
      </p:sp>
      <p:sp>
        <p:nvSpPr>
          <p:cNvPr id="5" name="TextBox 4"/>
          <p:cNvSpPr txBox="1"/>
          <p:nvPr/>
        </p:nvSpPr>
        <p:spPr>
          <a:xfrm>
            <a:off x="621792" y="1280160"/>
            <a:ext cx="10972800" cy="365760"/>
          </a:xfrm>
          <a:prstGeom prst="rect">
            <a:avLst/>
          </a:prstGeom>
          <a:noFill/>
        </p:spPr>
        <p:txBody>
          <a:bodyPr wrap="square" lIns="45720" tIns="18288" rIns="45720" bIns="18288" anchor="t">
            <a:spAutoFit/>
          </a:bodyPr>
          <a:lstStyle/>
          <a:p>
            <a:pPr algn="l"/>
            <a:r>
              <a:rPr sz="1600" b="0">
                <a:solidFill>
                  <a:srgbClr val="5F6F78"/>
                </a:solidFill>
                <a:latin typeface="Arial"/>
              </a:rPr>
              <a:t>Exemplo: prever a temperatura do motor a partir da corrente, com poucas medidas (14 de treino e 22 de teste).</a:t>
            </a:r>
          </a:p>
        </p:txBody>
      </p:sp>
      <p:sp>
        <p:nvSpPr>
          <p:cNvPr id="6" name="Rectangle 5"/>
          <p:cNvSpPr/>
          <p:nvPr/>
        </p:nvSpPr>
        <p:spPr>
          <a:xfrm>
            <a:off x="612648" y="1737360"/>
            <a:ext cx="1097280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A5_new.png"/>
          <p:cNvPicPr>
            <a:picLocks noChangeAspect="1"/>
          </p:cNvPicPr>
          <p:nvPr/>
        </p:nvPicPr>
        <p:blipFill>
          <a:blip r:embed="rId3"/>
          <a:stretch>
            <a:fillRect/>
          </a:stretch>
        </p:blipFill>
        <p:spPr>
          <a:xfrm>
            <a:off x="1298448" y="1737360"/>
            <a:ext cx="9601200" cy="2743200"/>
          </a:xfrm>
          <a:prstGeom prst="rect">
            <a:avLst/>
          </a:prstGeom>
        </p:spPr>
      </p:pic>
      <p:sp>
        <p:nvSpPr>
          <p:cNvPr id="8" name="Rounded Rectangle 7"/>
          <p:cNvSpPr/>
          <p:nvPr/>
        </p:nvSpPr>
        <p:spPr>
          <a:xfrm>
            <a:off x="612648" y="4617720"/>
            <a:ext cx="3566160" cy="96012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2648" y="4617720"/>
            <a:ext cx="82296" cy="960120"/>
          </a:xfrm>
          <a:prstGeom prst="rect">
            <a:avLst/>
          </a:prstGeom>
          <a:solidFill>
            <a:srgbClr val="E09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4654296"/>
            <a:ext cx="3246120" cy="320040"/>
          </a:xfrm>
          <a:prstGeom prst="rect">
            <a:avLst/>
          </a:prstGeom>
          <a:noFill/>
        </p:spPr>
        <p:txBody>
          <a:bodyPr wrap="square" lIns="45720" tIns="18288" rIns="45720" bIns="18288" anchor="t">
            <a:spAutoFit/>
          </a:bodyPr>
          <a:lstStyle/>
          <a:p>
            <a:pPr algn="l"/>
            <a:r>
              <a:rPr sz="1400" b="1">
                <a:solidFill>
                  <a:srgbClr val="14283A"/>
                </a:solidFill>
                <a:latin typeface="Georgia"/>
              </a:rPr>
              <a:t>Underfitting</a:t>
            </a:r>
          </a:p>
        </p:txBody>
      </p:sp>
      <p:sp>
        <p:nvSpPr>
          <p:cNvPr id="11" name="TextBox 10"/>
          <p:cNvSpPr txBox="1"/>
          <p:nvPr/>
        </p:nvSpPr>
        <p:spPr>
          <a:xfrm>
            <a:off x="841248" y="4983480"/>
            <a:ext cx="3246120" cy="594360"/>
          </a:xfrm>
          <a:prstGeom prst="rect">
            <a:avLst/>
          </a:prstGeom>
          <a:noFill/>
        </p:spPr>
        <p:txBody>
          <a:bodyPr wrap="square" lIns="45720" tIns="18288" rIns="45720" bIns="18288" anchor="t">
            <a:spAutoFit/>
          </a:bodyPr>
          <a:lstStyle/>
          <a:p>
            <a:pPr algn="l"/>
            <a:r>
              <a:rPr sz="1150" b="0">
                <a:solidFill>
                  <a:srgbClr val="14283A"/>
                </a:solidFill>
                <a:latin typeface="Arial"/>
              </a:rPr>
              <a:t>Reta simples demais para a curva corrente × temperatura: erra 8,3 °C no treino e 8,6 °C no teste.</a:t>
            </a:r>
          </a:p>
        </p:txBody>
      </p:sp>
      <p:sp>
        <p:nvSpPr>
          <p:cNvPr id="12" name="Rounded Rectangle 11"/>
          <p:cNvSpPr/>
          <p:nvPr/>
        </p:nvSpPr>
        <p:spPr>
          <a:xfrm>
            <a:off x="4315968" y="4617720"/>
            <a:ext cx="3566160" cy="96012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15968" y="4617720"/>
            <a:ext cx="82296" cy="96012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44568" y="4654296"/>
            <a:ext cx="3246120" cy="320040"/>
          </a:xfrm>
          <a:prstGeom prst="rect">
            <a:avLst/>
          </a:prstGeom>
          <a:noFill/>
        </p:spPr>
        <p:txBody>
          <a:bodyPr wrap="square" lIns="45720" tIns="18288" rIns="45720" bIns="18288" anchor="t">
            <a:spAutoFit/>
          </a:bodyPr>
          <a:lstStyle/>
          <a:p>
            <a:pPr algn="l"/>
            <a:r>
              <a:rPr sz="1400" b="1">
                <a:solidFill>
                  <a:srgbClr val="14283A"/>
                </a:solidFill>
                <a:latin typeface="Georgia"/>
              </a:rPr>
              <a:t>Equilíbrio</a:t>
            </a:r>
          </a:p>
        </p:txBody>
      </p:sp>
      <p:sp>
        <p:nvSpPr>
          <p:cNvPr id="15" name="TextBox 14"/>
          <p:cNvSpPr txBox="1"/>
          <p:nvPr/>
        </p:nvSpPr>
        <p:spPr>
          <a:xfrm>
            <a:off x="4544568" y="4983480"/>
            <a:ext cx="3246120" cy="594360"/>
          </a:xfrm>
          <a:prstGeom prst="rect">
            <a:avLst/>
          </a:prstGeom>
          <a:noFill/>
        </p:spPr>
        <p:txBody>
          <a:bodyPr wrap="square" lIns="45720" tIns="18288" rIns="45720" bIns="18288" anchor="t">
            <a:spAutoFit/>
          </a:bodyPr>
          <a:lstStyle/>
          <a:p>
            <a:pPr algn="l"/>
            <a:r>
              <a:rPr sz="1150" b="0">
                <a:solidFill>
                  <a:srgbClr val="14283A"/>
                </a:solidFill>
                <a:latin typeface="Arial"/>
              </a:rPr>
              <a:t>Grau 3 acompanha a curva real: erra 1,5 °C no treino e 3,2 °C no teste.</a:t>
            </a:r>
          </a:p>
        </p:txBody>
      </p:sp>
      <p:sp>
        <p:nvSpPr>
          <p:cNvPr id="16" name="Rounded Rectangle 15"/>
          <p:cNvSpPr/>
          <p:nvPr/>
        </p:nvSpPr>
        <p:spPr>
          <a:xfrm>
            <a:off x="8019288" y="4617720"/>
            <a:ext cx="3566160" cy="96012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19288" y="4617720"/>
            <a:ext cx="82296"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47888" y="4654296"/>
            <a:ext cx="3246120" cy="320040"/>
          </a:xfrm>
          <a:prstGeom prst="rect">
            <a:avLst/>
          </a:prstGeom>
          <a:noFill/>
        </p:spPr>
        <p:txBody>
          <a:bodyPr wrap="square" lIns="45720" tIns="18288" rIns="45720" bIns="18288" anchor="t">
            <a:spAutoFit/>
          </a:bodyPr>
          <a:lstStyle/>
          <a:p>
            <a:pPr algn="l"/>
            <a:r>
              <a:rPr sz="1400" b="1">
                <a:solidFill>
                  <a:srgbClr val="14283A"/>
                </a:solidFill>
                <a:latin typeface="Georgia"/>
              </a:rPr>
              <a:t>Overfitting</a:t>
            </a:r>
          </a:p>
        </p:txBody>
      </p:sp>
      <p:sp>
        <p:nvSpPr>
          <p:cNvPr id="19" name="TextBox 18"/>
          <p:cNvSpPr txBox="1"/>
          <p:nvPr/>
        </p:nvSpPr>
        <p:spPr>
          <a:xfrm>
            <a:off x="8247888" y="4983480"/>
            <a:ext cx="3246120" cy="594360"/>
          </a:xfrm>
          <a:prstGeom prst="rect">
            <a:avLst/>
          </a:prstGeom>
          <a:noFill/>
        </p:spPr>
        <p:txBody>
          <a:bodyPr wrap="square" lIns="45720" tIns="18288" rIns="45720" bIns="18288" anchor="t">
            <a:spAutoFit/>
          </a:bodyPr>
          <a:lstStyle/>
          <a:p>
            <a:pPr algn="l"/>
            <a:r>
              <a:rPr sz="1150" b="0">
                <a:solidFill>
                  <a:srgbClr val="14283A"/>
                </a:solidFill>
                <a:latin typeface="Arial"/>
              </a:rPr>
              <a:t>Grau 13 decora o ruído: erra 0,9 °C no treino, mas 24,8 °C no teste, com valores absurdos.</a:t>
            </a:r>
          </a:p>
        </p:txBody>
      </p:sp>
      <p:sp>
        <p:nvSpPr>
          <p:cNvPr id="20" name="Rounded Rectangle 19"/>
          <p:cNvSpPr/>
          <p:nvPr/>
        </p:nvSpPr>
        <p:spPr>
          <a:xfrm>
            <a:off x="612648" y="5715000"/>
            <a:ext cx="2606040" cy="548640"/>
          </a:xfrm>
          <a:prstGeom prst="roundRect">
            <a:avLst>
              <a:gd name="adj" fmla="val 20000"/>
            </a:avLst>
          </a:prstGeom>
          <a:solidFill>
            <a:srgbClr val="14283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50" b="1">
                <a:solidFill>
                  <a:srgbClr val="FFFFFF"/>
                </a:solidFill>
                <a:latin typeface="Arial"/>
              </a:rPr>
              <a:t>SEPARAR  </a:t>
            </a:r>
            <a:r>
              <a:rPr sz="1150" b="0">
                <a:solidFill>
                  <a:srgbClr val="DCE8E8"/>
                </a:solidFill>
                <a:latin typeface="Arial"/>
              </a:rPr>
              <a:t>treino/teste</a:t>
            </a:r>
          </a:p>
        </p:txBody>
      </p:sp>
      <p:sp>
        <p:nvSpPr>
          <p:cNvPr id="21" name="Rounded Rectangle 20"/>
          <p:cNvSpPr/>
          <p:nvPr/>
        </p:nvSpPr>
        <p:spPr>
          <a:xfrm>
            <a:off x="3401568" y="5715000"/>
            <a:ext cx="2606040" cy="548640"/>
          </a:xfrm>
          <a:prstGeom prst="roundRect">
            <a:avLst>
              <a:gd name="adj" fmla="val 20000"/>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50" b="1">
                <a:solidFill>
                  <a:srgbClr val="FFFFFF"/>
                </a:solidFill>
                <a:latin typeface="Arial"/>
              </a:rPr>
              <a:t>TREINAR  </a:t>
            </a:r>
            <a:r>
              <a:rPr sz="1150" b="0">
                <a:solidFill>
                  <a:srgbClr val="DCE8E8"/>
                </a:solidFill>
                <a:latin typeface="Arial"/>
              </a:rPr>
              <a:t>apenas treino</a:t>
            </a:r>
          </a:p>
        </p:txBody>
      </p:sp>
      <p:sp>
        <p:nvSpPr>
          <p:cNvPr id="22" name="Rounded Rectangle 21"/>
          <p:cNvSpPr/>
          <p:nvPr/>
        </p:nvSpPr>
        <p:spPr>
          <a:xfrm>
            <a:off x="6190488" y="5715000"/>
            <a:ext cx="2606040" cy="548640"/>
          </a:xfrm>
          <a:prstGeom prst="roundRect">
            <a:avLst>
              <a:gd name="adj" fmla="val 20000"/>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50" b="1">
                <a:solidFill>
                  <a:srgbClr val="FFFFFF"/>
                </a:solidFill>
                <a:latin typeface="Arial"/>
              </a:rPr>
              <a:t>VALIDAR  </a:t>
            </a:r>
            <a:r>
              <a:rPr sz="1150" b="0">
                <a:solidFill>
                  <a:srgbClr val="DCE8E8"/>
                </a:solidFill>
                <a:latin typeface="Arial"/>
              </a:rPr>
              <a:t>ajustar</a:t>
            </a:r>
          </a:p>
        </p:txBody>
      </p:sp>
      <p:sp>
        <p:nvSpPr>
          <p:cNvPr id="23" name="Rounded Rectangle 22"/>
          <p:cNvSpPr/>
          <p:nvPr/>
        </p:nvSpPr>
        <p:spPr>
          <a:xfrm>
            <a:off x="8979408" y="5715000"/>
            <a:ext cx="2606040" cy="548640"/>
          </a:xfrm>
          <a:prstGeom prst="roundRect">
            <a:avLst>
              <a:gd name="adj" fmla="val 20000"/>
            </a:avLst>
          </a:prstGeom>
          <a:solidFill>
            <a:srgbClr val="14283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50" b="1">
                <a:solidFill>
                  <a:srgbClr val="FFFFFF"/>
                </a:solidFill>
                <a:latin typeface="Arial"/>
              </a:rPr>
              <a:t>TESTAR  </a:t>
            </a:r>
            <a:r>
              <a:rPr sz="1150" b="0">
                <a:solidFill>
                  <a:srgbClr val="DCE8E8"/>
                </a:solidFill>
                <a:latin typeface="Arial"/>
              </a:rPr>
              <a:t>dados novos</a:t>
            </a:r>
          </a:p>
        </p:txBody>
      </p:sp>
      <p:sp>
        <p:nvSpPr>
          <p:cNvPr id="25" name="TextBox 24"/>
          <p:cNvSpPr txBox="1"/>
          <p:nvPr/>
        </p:nvSpPr>
        <p:spPr>
          <a:xfrm>
            <a:off x="10972800" y="6355080"/>
            <a:ext cx="594360" cy="274320"/>
          </a:xfrm>
          <a:prstGeom prst="rect">
            <a:avLst/>
          </a:prstGeom>
          <a:noFill/>
        </p:spPr>
        <p:txBody>
          <a:bodyPr wrap="square" lIns="45720" tIns="18288" rIns="45720" bIns="18288" anchor="t">
            <a:spAutoFit/>
          </a:bodyPr>
          <a:lstStyle/>
          <a:p>
            <a:pPr algn="r"/>
            <a:r>
              <a:rPr sz="1000" b="1">
                <a:solidFill>
                  <a:srgbClr val="5F6F78"/>
                </a:solidFill>
                <a:latin typeface="Arial"/>
              </a:rPr>
              <a:t>44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292608"/>
            <a:ext cx="8229600" cy="274320"/>
          </a:xfrm>
          <a:prstGeom prst="rect">
            <a:avLst/>
          </a:prstGeom>
          <a:noFill/>
        </p:spPr>
        <p:txBody>
          <a:bodyPr wrap="square" lIns="45720" tIns="18288" rIns="45720" bIns="18288" anchor="t">
            <a:spAutoFit/>
          </a:bodyPr>
          <a:lstStyle/>
          <a:p>
            <a:pPr algn="l"/>
            <a:r>
              <a:rPr sz="1100" b="1">
                <a:solidFill>
                  <a:srgbClr val="007A78"/>
                </a:solidFill>
                <a:latin typeface="Arial"/>
              </a:rPr>
              <a:t>NÃO SUPERVISIONADO · COLAB: EXERCÍCIOS 3.3 A 3.5</a:t>
            </a:r>
          </a:p>
        </p:txBody>
      </p:sp>
      <p:sp>
        <p:nvSpPr>
          <p:cNvPr id="4" name="TextBox 3"/>
          <p:cNvSpPr txBox="1"/>
          <p:nvPr/>
        </p:nvSpPr>
        <p:spPr>
          <a:xfrm>
            <a:off x="621792" y="603504"/>
            <a:ext cx="11155680" cy="640080"/>
          </a:xfrm>
          <a:prstGeom prst="rect">
            <a:avLst/>
          </a:prstGeom>
          <a:noFill/>
        </p:spPr>
        <p:txBody>
          <a:bodyPr wrap="square" lIns="45720" tIns="18288" rIns="45720" bIns="18288" anchor="t">
            <a:spAutoFit/>
          </a:bodyPr>
          <a:lstStyle/>
          <a:p>
            <a:pPr algn="l"/>
            <a:r>
              <a:rPr sz="2800" b="1">
                <a:solidFill>
                  <a:srgbClr val="14283A"/>
                </a:solidFill>
                <a:latin typeface="Georgia"/>
              </a:rPr>
              <a:t>Não supervisionado: descobrir padrões sem rótulos</a:t>
            </a:r>
          </a:p>
        </p:txBody>
      </p:sp>
      <p:sp>
        <p:nvSpPr>
          <p:cNvPr id="5" name="TextBox 4"/>
          <p:cNvSpPr txBox="1"/>
          <p:nvPr/>
        </p:nvSpPr>
        <p:spPr>
          <a:xfrm>
            <a:off x="621792" y="1280160"/>
            <a:ext cx="10972800" cy="365760"/>
          </a:xfrm>
          <a:prstGeom prst="rect">
            <a:avLst/>
          </a:prstGeom>
          <a:noFill/>
        </p:spPr>
        <p:txBody>
          <a:bodyPr wrap="square" lIns="45720" tIns="18288" rIns="45720" bIns="18288" anchor="t">
            <a:spAutoFit/>
          </a:bodyPr>
          <a:lstStyle/>
          <a:p>
            <a:pPr algn="l"/>
            <a:r>
              <a:rPr sz="1600" b="0">
                <a:solidFill>
                  <a:srgbClr val="5F6F78"/>
                </a:solidFill>
                <a:latin typeface="Arial"/>
              </a:rPr>
              <a:t>Não informamos ao algoritmo a classe correta; ele procura estrutura nos dados.</a:t>
            </a:r>
          </a:p>
        </p:txBody>
      </p:sp>
      <p:sp>
        <p:nvSpPr>
          <p:cNvPr id="6" name="TextBox 5"/>
          <p:cNvSpPr txBox="1"/>
          <p:nvPr/>
        </p:nvSpPr>
        <p:spPr>
          <a:xfrm>
            <a:off x="621792" y="6355080"/>
            <a:ext cx="7315200" cy="274320"/>
          </a:xfrm>
          <a:prstGeom prst="rect">
            <a:avLst/>
          </a:prstGeom>
          <a:noFill/>
        </p:spPr>
        <p:txBody>
          <a:bodyPr wrap="square" lIns="45720" tIns="18288" rIns="45720" bIns="18288" anchor="t">
            <a:spAutoFit/>
          </a:bodyPr>
          <a:lstStyle/>
          <a:p>
            <a:pPr algn="l"/>
            <a:r>
              <a:rPr sz="1000" b="0">
                <a:solidFill>
                  <a:srgbClr val="5F6F78"/>
                </a:solidFill>
                <a:latin typeface="Arial"/>
              </a:rPr>
              <a:t>Da engenharia à oncologia · IA na solução de problemas reais</a:t>
            </a:r>
          </a:p>
        </p:txBody>
      </p:sp>
      <p:sp>
        <p:nvSpPr>
          <p:cNvPr id="7" name="TextBox 6"/>
          <p:cNvSpPr txBox="1"/>
          <p:nvPr/>
        </p:nvSpPr>
        <p:spPr>
          <a:xfrm>
            <a:off x="10972800" y="6355080"/>
            <a:ext cx="594360" cy="274320"/>
          </a:xfrm>
          <a:prstGeom prst="rect">
            <a:avLst/>
          </a:prstGeom>
          <a:noFill/>
        </p:spPr>
        <p:txBody>
          <a:bodyPr wrap="square" lIns="45720" tIns="18288" rIns="45720" bIns="18288" anchor="t">
            <a:spAutoFit/>
          </a:bodyPr>
          <a:lstStyle/>
          <a:p>
            <a:pPr algn="r"/>
            <a:r>
              <a:rPr sz="1000" b="1">
                <a:solidFill>
                  <a:srgbClr val="5F6F78"/>
                </a:solidFill>
                <a:latin typeface="Arial"/>
              </a:rPr>
              <a:t>45</a:t>
            </a:r>
          </a:p>
        </p:txBody>
      </p:sp>
      <p:sp>
        <p:nvSpPr>
          <p:cNvPr id="8" name="Rectangle 7"/>
          <p:cNvSpPr/>
          <p:nvPr/>
        </p:nvSpPr>
        <p:spPr>
          <a:xfrm>
            <a:off x="612648" y="1737360"/>
            <a:ext cx="10972800" cy="274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ns3.png"/>
          <p:cNvPicPr>
            <a:picLocks noChangeAspect="1"/>
          </p:cNvPicPr>
          <p:nvPr/>
        </p:nvPicPr>
        <p:blipFill>
          <a:blip r:embed="rId3"/>
          <a:stretch>
            <a:fillRect/>
          </a:stretch>
        </p:blipFill>
        <p:spPr>
          <a:xfrm>
            <a:off x="612648" y="1737360"/>
            <a:ext cx="10972800" cy="2743200"/>
          </a:xfrm>
          <a:prstGeom prst="rect">
            <a:avLst/>
          </a:prstGeom>
        </p:spPr>
      </p:pic>
      <p:sp>
        <p:nvSpPr>
          <p:cNvPr id="10" name="Rounded Rectangle 9"/>
          <p:cNvSpPr/>
          <p:nvPr/>
        </p:nvSpPr>
        <p:spPr>
          <a:xfrm>
            <a:off x="612648" y="4590288"/>
            <a:ext cx="3566160"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2648" y="4590288"/>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4626864"/>
            <a:ext cx="3246120" cy="320040"/>
          </a:xfrm>
          <a:prstGeom prst="rect">
            <a:avLst/>
          </a:prstGeom>
          <a:noFill/>
        </p:spPr>
        <p:txBody>
          <a:bodyPr wrap="square" lIns="45720" tIns="18288" rIns="45720" bIns="18288" anchor="t">
            <a:spAutoFit/>
          </a:bodyPr>
          <a:lstStyle/>
          <a:p>
            <a:pPr algn="l"/>
            <a:r>
              <a:rPr sz="1350" b="1">
                <a:solidFill>
                  <a:srgbClr val="14283A"/>
                </a:solidFill>
                <a:latin typeface="Georgia"/>
              </a:rPr>
              <a:t>K-MEANS</a:t>
            </a:r>
          </a:p>
        </p:txBody>
      </p:sp>
      <p:sp>
        <p:nvSpPr>
          <p:cNvPr id="13" name="TextBox 12"/>
          <p:cNvSpPr txBox="1"/>
          <p:nvPr/>
        </p:nvSpPr>
        <p:spPr>
          <a:xfrm>
            <a:off x="841248" y="4956048"/>
            <a:ext cx="3246120" cy="731520"/>
          </a:xfrm>
          <a:prstGeom prst="rect">
            <a:avLst/>
          </a:prstGeom>
          <a:noFill/>
        </p:spPr>
        <p:txBody>
          <a:bodyPr wrap="square" lIns="45720" tIns="18288" rIns="45720" bIns="18288" anchor="t">
            <a:spAutoFit/>
          </a:bodyPr>
          <a:lstStyle/>
          <a:p>
            <a:pPr algn="l"/>
            <a:r>
              <a:rPr sz="1150" b="0">
                <a:solidFill>
                  <a:srgbClr val="14283A"/>
                </a:solidFill>
                <a:latin typeface="Arial"/>
              </a:rPr>
              <a:t>Forma K grupos com base na distância entre observações. Ex.: regimes de carga de motores.</a:t>
            </a:r>
          </a:p>
        </p:txBody>
      </p:sp>
      <p:sp>
        <p:nvSpPr>
          <p:cNvPr id="14" name="Rounded Rectangle 13"/>
          <p:cNvSpPr/>
          <p:nvPr/>
        </p:nvSpPr>
        <p:spPr>
          <a:xfrm>
            <a:off x="4315968" y="4590288"/>
            <a:ext cx="3566160"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15968" y="4590288"/>
            <a:ext cx="82296" cy="1097280"/>
          </a:xfrm>
          <a:prstGeom prst="rect">
            <a:avLst/>
          </a:prstGeom>
          <a:solidFill>
            <a:srgbClr val="E09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44568" y="4626864"/>
            <a:ext cx="3246120" cy="320040"/>
          </a:xfrm>
          <a:prstGeom prst="rect">
            <a:avLst/>
          </a:prstGeom>
          <a:noFill/>
        </p:spPr>
        <p:txBody>
          <a:bodyPr wrap="square" lIns="45720" tIns="18288" rIns="45720" bIns="18288" anchor="t">
            <a:spAutoFit/>
          </a:bodyPr>
          <a:lstStyle/>
          <a:p>
            <a:pPr algn="l"/>
            <a:r>
              <a:rPr sz="1350" b="1">
                <a:solidFill>
                  <a:srgbClr val="14283A"/>
                </a:solidFill>
                <a:latin typeface="Georgia"/>
              </a:rPr>
              <a:t>CLUSTERING HIERÁRQUICO</a:t>
            </a:r>
          </a:p>
        </p:txBody>
      </p:sp>
      <p:sp>
        <p:nvSpPr>
          <p:cNvPr id="17" name="TextBox 16"/>
          <p:cNvSpPr txBox="1"/>
          <p:nvPr/>
        </p:nvSpPr>
        <p:spPr>
          <a:xfrm>
            <a:off x="4544568" y="4956048"/>
            <a:ext cx="3246120" cy="731520"/>
          </a:xfrm>
          <a:prstGeom prst="rect">
            <a:avLst/>
          </a:prstGeom>
          <a:noFill/>
        </p:spPr>
        <p:txBody>
          <a:bodyPr wrap="square" lIns="45720" tIns="18288" rIns="45720" bIns="18288" anchor="t">
            <a:spAutoFit/>
          </a:bodyPr>
          <a:lstStyle/>
          <a:p>
            <a:pPr algn="l"/>
            <a:r>
              <a:rPr sz="1150" b="0">
                <a:solidFill>
                  <a:srgbClr val="14283A"/>
                </a:solidFill>
                <a:latin typeface="Arial"/>
              </a:rPr>
              <a:t>Organiza semelhanças em uma hierarquia de grupos. Ex.: quais motores são mais parecidos.</a:t>
            </a:r>
          </a:p>
        </p:txBody>
      </p:sp>
      <p:sp>
        <p:nvSpPr>
          <p:cNvPr id="18" name="Rounded Rectangle 17"/>
          <p:cNvSpPr/>
          <p:nvPr/>
        </p:nvSpPr>
        <p:spPr>
          <a:xfrm>
            <a:off x="8019288" y="4590288"/>
            <a:ext cx="3566160"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19288" y="4590288"/>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47888" y="4626864"/>
            <a:ext cx="3246120" cy="320040"/>
          </a:xfrm>
          <a:prstGeom prst="rect">
            <a:avLst/>
          </a:prstGeom>
          <a:noFill/>
        </p:spPr>
        <p:txBody>
          <a:bodyPr wrap="square" lIns="45720" tIns="18288" rIns="45720" bIns="18288" anchor="t">
            <a:spAutoFit/>
          </a:bodyPr>
          <a:lstStyle/>
          <a:p>
            <a:pPr algn="l"/>
            <a:r>
              <a:rPr sz="1350" b="1">
                <a:solidFill>
                  <a:srgbClr val="14283A"/>
                </a:solidFill>
                <a:latin typeface="Georgia"/>
              </a:rPr>
              <a:t>ISOLATION FOREST</a:t>
            </a:r>
          </a:p>
        </p:txBody>
      </p:sp>
      <p:sp>
        <p:nvSpPr>
          <p:cNvPr id="21" name="TextBox 20"/>
          <p:cNvSpPr txBox="1"/>
          <p:nvPr/>
        </p:nvSpPr>
        <p:spPr>
          <a:xfrm>
            <a:off x="8247888" y="4956048"/>
            <a:ext cx="3246120" cy="731520"/>
          </a:xfrm>
          <a:prstGeom prst="rect">
            <a:avLst/>
          </a:prstGeom>
          <a:noFill/>
        </p:spPr>
        <p:txBody>
          <a:bodyPr wrap="square" lIns="45720" tIns="18288" rIns="45720" bIns="18288" anchor="t">
            <a:spAutoFit/>
          </a:bodyPr>
          <a:lstStyle/>
          <a:p>
            <a:pPr algn="l"/>
            <a:r>
              <a:rPr sz="1150" b="0">
                <a:solidFill>
                  <a:srgbClr val="14283A"/>
                </a:solidFill>
                <a:latin typeface="Arial"/>
              </a:rPr>
              <a:t>Ajuda a encontrar observações raras ou atípicas. Ex.: picos de vibração fora do padrão.</a:t>
            </a:r>
          </a:p>
        </p:txBody>
      </p:sp>
      <p:sp>
        <p:nvSpPr>
          <p:cNvPr id="22" name="TextBox 21"/>
          <p:cNvSpPr txBox="1"/>
          <p:nvPr/>
        </p:nvSpPr>
        <p:spPr>
          <a:xfrm>
            <a:off x="621792" y="5852160"/>
            <a:ext cx="10972800" cy="365760"/>
          </a:xfrm>
          <a:prstGeom prst="rect">
            <a:avLst/>
          </a:prstGeom>
          <a:noFill/>
        </p:spPr>
        <p:txBody>
          <a:bodyPr wrap="square" lIns="45720" tIns="18288" rIns="45720" bIns="18288" anchor="t">
            <a:spAutoFit/>
          </a:bodyPr>
          <a:lstStyle/>
          <a:p>
            <a:pPr algn="l"/>
            <a:r>
              <a:rPr sz="1500" b="1">
                <a:solidFill>
                  <a:srgbClr val="14283A"/>
                </a:solidFill>
                <a:latin typeface="Arial"/>
              </a:rPr>
              <a:t>Os grupos precisam ser interpretados; cluster não é automaticamente diagnóstico nem causa.</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292608"/>
            <a:ext cx="8229600" cy="274320"/>
          </a:xfrm>
          <a:prstGeom prst="rect">
            <a:avLst/>
          </a:prstGeom>
          <a:noFill/>
        </p:spPr>
        <p:txBody>
          <a:bodyPr wrap="square" lIns="45720" tIns="18288" rIns="45720" bIns="18288" anchor="t">
            <a:spAutoFit/>
          </a:bodyPr>
          <a:lstStyle/>
          <a:p>
            <a:pPr algn="l"/>
            <a:r>
              <a:rPr sz="1100" b="1">
                <a:solidFill>
                  <a:srgbClr val="007A78"/>
                </a:solidFill>
                <a:latin typeface="Arial"/>
              </a:rPr>
              <a:t>REDUÇÃO DE DIMENSIONALIDADE · COLAB: EXERCÍCIOS 4.2 E 5.2</a:t>
            </a:r>
          </a:p>
        </p:txBody>
      </p:sp>
      <p:sp>
        <p:nvSpPr>
          <p:cNvPr id="4" name="TextBox 3"/>
          <p:cNvSpPr txBox="1"/>
          <p:nvPr/>
        </p:nvSpPr>
        <p:spPr>
          <a:xfrm>
            <a:off x="621792" y="603504"/>
            <a:ext cx="11155680" cy="640080"/>
          </a:xfrm>
          <a:prstGeom prst="rect">
            <a:avLst/>
          </a:prstGeom>
          <a:noFill/>
        </p:spPr>
        <p:txBody>
          <a:bodyPr wrap="square" lIns="45720" tIns="18288" rIns="45720" bIns="18288" anchor="t">
            <a:spAutoFit/>
          </a:bodyPr>
          <a:lstStyle/>
          <a:p>
            <a:pPr algn="l"/>
            <a:r>
              <a:rPr sz="2800" b="1">
                <a:solidFill>
                  <a:srgbClr val="14283A"/>
                </a:solidFill>
                <a:latin typeface="Georgia"/>
              </a:rPr>
              <a:t>PCA: resumir muitas variáveis em poucas dimensões</a:t>
            </a:r>
          </a:p>
        </p:txBody>
      </p:sp>
      <p:sp>
        <p:nvSpPr>
          <p:cNvPr id="5" name="TextBox 4"/>
          <p:cNvSpPr txBox="1"/>
          <p:nvPr/>
        </p:nvSpPr>
        <p:spPr>
          <a:xfrm>
            <a:off x="621792" y="1280160"/>
            <a:ext cx="10972800" cy="365760"/>
          </a:xfrm>
          <a:prstGeom prst="rect">
            <a:avLst/>
          </a:prstGeom>
          <a:noFill/>
        </p:spPr>
        <p:txBody>
          <a:bodyPr wrap="square" lIns="45720" tIns="18288" rIns="45720" bIns="18288" anchor="t">
            <a:spAutoFit/>
          </a:bodyPr>
          <a:lstStyle/>
          <a:p>
            <a:pPr algn="l"/>
            <a:r>
              <a:rPr sz="1600" b="0">
                <a:solidFill>
                  <a:srgbClr val="5F6F78"/>
                </a:solidFill>
                <a:latin typeface="Arial"/>
              </a:rPr>
              <a:t>PCA cria componentes que preservam o máximo possível da variância dos dados.</a:t>
            </a:r>
          </a:p>
        </p:txBody>
      </p:sp>
      <p:sp>
        <p:nvSpPr>
          <p:cNvPr id="6" name="TextBox 5"/>
          <p:cNvSpPr txBox="1"/>
          <p:nvPr/>
        </p:nvSpPr>
        <p:spPr>
          <a:xfrm>
            <a:off x="621792" y="6355080"/>
            <a:ext cx="7315200" cy="274320"/>
          </a:xfrm>
          <a:prstGeom prst="rect">
            <a:avLst/>
          </a:prstGeom>
          <a:noFill/>
        </p:spPr>
        <p:txBody>
          <a:bodyPr wrap="square" lIns="45720" tIns="18288" rIns="45720" bIns="18288" anchor="t">
            <a:spAutoFit/>
          </a:bodyPr>
          <a:lstStyle/>
          <a:p>
            <a:pPr algn="l"/>
            <a:r>
              <a:rPr sz="1000" b="0">
                <a:solidFill>
                  <a:srgbClr val="5F6F78"/>
                </a:solidFill>
                <a:latin typeface="Arial"/>
              </a:rPr>
              <a:t>Da engenharia à oncologia · IA na solução de problemas reais</a:t>
            </a:r>
          </a:p>
        </p:txBody>
      </p:sp>
      <p:sp>
        <p:nvSpPr>
          <p:cNvPr id="7" name="TextBox 6"/>
          <p:cNvSpPr txBox="1"/>
          <p:nvPr/>
        </p:nvSpPr>
        <p:spPr>
          <a:xfrm>
            <a:off x="10972800" y="6355080"/>
            <a:ext cx="594360" cy="274320"/>
          </a:xfrm>
          <a:prstGeom prst="rect">
            <a:avLst/>
          </a:prstGeom>
          <a:noFill/>
        </p:spPr>
        <p:txBody>
          <a:bodyPr wrap="square" lIns="45720" tIns="18288" rIns="45720" bIns="18288" anchor="t">
            <a:spAutoFit/>
          </a:bodyPr>
          <a:lstStyle/>
          <a:p>
            <a:pPr algn="r"/>
            <a:r>
              <a:rPr sz="1000" b="1">
                <a:solidFill>
                  <a:srgbClr val="5F6F78"/>
                </a:solidFill>
                <a:latin typeface="Arial"/>
              </a:rPr>
              <a:t>46</a:t>
            </a:r>
          </a:p>
        </p:txBody>
      </p:sp>
      <p:sp>
        <p:nvSpPr>
          <p:cNvPr id="8" name="Rectangle 7"/>
          <p:cNvSpPr/>
          <p:nvPr/>
        </p:nvSpPr>
        <p:spPr>
          <a:xfrm>
            <a:off x="640080" y="1783080"/>
            <a:ext cx="6675120"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pca_fig.png"/>
          <p:cNvPicPr>
            <a:picLocks noChangeAspect="1"/>
          </p:cNvPicPr>
          <p:nvPr/>
        </p:nvPicPr>
        <p:blipFill>
          <a:blip r:embed="rId3"/>
          <a:stretch>
            <a:fillRect/>
          </a:stretch>
        </p:blipFill>
        <p:spPr>
          <a:xfrm>
            <a:off x="640080" y="1783080"/>
            <a:ext cx="6675120" cy="3520440"/>
          </a:xfrm>
          <a:prstGeom prst="rect">
            <a:avLst/>
          </a:prstGeom>
        </p:spPr>
      </p:pic>
      <p:sp>
        <p:nvSpPr>
          <p:cNvPr id="10" name="TextBox 9"/>
          <p:cNvSpPr txBox="1"/>
          <p:nvPr/>
        </p:nvSpPr>
        <p:spPr>
          <a:xfrm>
            <a:off x="640080" y="5321808"/>
            <a:ext cx="6675120" cy="228600"/>
          </a:xfrm>
          <a:prstGeom prst="rect">
            <a:avLst/>
          </a:prstGeom>
          <a:noFill/>
        </p:spPr>
        <p:txBody>
          <a:bodyPr wrap="square" lIns="45720" tIns="18288" rIns="45720" bIns="18288" anchor="t">
            <a:spAutoFit/>
          </a:bodyPr>
          <a:lstStyle/>
          <a:p>
            <a:pPr algn="l"/>
            <a:r>
              <a:rPr sz="900" b="0">
                <a:solidFill>
                  <a:srgbClr val="5F6F78"/>
                </a:solidFill>
                <a:latin typeface="Arial"/>
              </a:rPr>
              <a:t>Rolamentos (dados simulados do notebook): 6 características de vibração.</a:t>
            </a:r>
          </a:p>
        </p:txBody>
      </p:sp>
      <p:sp>
        <p:nvSpPr>
          <p:cNvPr id="11" name="Rounded Rectangle 10"/>
          <p:cNvSpPr/>
          <p:nvPr/>
        </p:nvSpPr>
        <p:spPr>
          <a:xfrm>
            <a:off x="7589520" y="178308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589520" y="178308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18120" y="183794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ANTES</a:t>
            </a:r>
          </a:p>
        </p:txBody>
      </p:sp>
      <p:sp>
        <p:nvSpPr>
          <p:cNvPr id="14" name="TextBox 13"/>
          <p:cNvSpPr txBox="1"/>
          <p:nvPr/>
        </p:nvSpPr>
        <p:spPr>
          <a:xfrm>
            <a:off x="7818120" y="2185416"/>
            <a:ext cx="3611880" cy="685800"/>
          </a:xfrm>
          <a:prstGeom prst="rect">
            <a:avLst/>
          </a:prstGeom>
          <a:noFill/>
        </p:spPr>
        <p:txBody>
          <a:bodyPr wrap="square" lIns="45720" tIns="18288" rIns="45720" bIns="18288" anchor="t">
            <a:spAutoFit/>
          </a:bodyPr>
          <a:lstStyle/>
          <a:p>
            <a:pPr algn="l"/>
            <a:r>
              <a:rPr sz="1200" b="0">
                <a:solidFill>
                  <a:srgbClr val="14283A"/>
                </a:solidFill>
                <a:latin typeface="Arial"/>
              </a:rPr>
              <a:t>Dezenas ou centenas de variáveis: sensores, espectros ou medidas de ensaio. Aqui, 6.</a:t>
            </a:r>
          </a:p>
        </p:txBody>
      </p:sp>
      <p:sp>
        <p:nvSpPr>
          <p:cNvPr id="15" name="Rounded Rectangle 14"/>
          <p:cNvSpPr/>
          <p:nvPr/>
        </p:nvSpPr>
        <p:spPr>
          <a:xfrm>
            <a:off x="7589520" y="297180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589520" y="2971800"/>
            <a:ext cx="82296" cy="1097280"/>
          </a:xfrm>
          <a:prstGeom prst="rect">
            <a:avLst/>
          </a:prstGeom>
          <a:solidFill>
            <a:srgbClr val="E09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18120" y="3026664"/>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TRANSFORMAÇÃO</a:t>
            </a:r>
          </a:p>
        </p:txBody>
      </p:sp>
      <p:sp>
        <p:nvSpPr>
          <p:cNvPr id="18" name="TextBox 17"/>
          <p:cNvSpPr txBox="1"/>
          <p:nvPr/>
        </p:nvSpPr>
        <p:spPr>
          <a:xfrm>
            <a:off x="7818120" y="3374136"/>
            <a:ext cx="3611880" cy="685800"/>
          </a:xfrm>
          <a:prstGeom prst="rect">
            <a:avLst/>
          </a:prstGeom>
          <a:noFill/>
        </p:spPr>
        <p:txBody>
          <a:bodyPr wrap="square" lIns="45720" tIns="18288" rIns="45720" bIns="18288" anchor="t">
            <a:spAutoFit/>
          </a:bodyPr>
          <a:lstStyle/>
          <a:p>
            <a:pPr algn="l"/>
            <a:r>
              <a:rPr sz="1200" b="0">
                <a:solidFill>
                  <a:srgbClr val="14283A"/>
                </a:solidFill>
                <a:latin typeface="Arial"/>
              </a:rPr>
              <a:t>Combina variáveis em eixos novos, ordenados pela variância explicada.</a:t>
            </a:r>
          </a:p>
        </p:txBody>
      </p:sp>
      <p:sp>
        <p:nvSpPr>
          <p:cNvPr id="19" name="Rounded Rectangle 18"/>
          <p:cNvSpPr/>
          <p:nvPr/>
        </p:nvSpPr>
        <p:spPr>
          <a:xfrm>
            <a:off x="7589520" y="4160520"/>
            <a:ext cx="3977639" cy="1097280"/>
          </a:xfrm>
          <a:prstGeom prst="roundRect">
            <a:avLst>
              <a:gd name="adj" fmla="val 10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589520" y="4160520"/>
            <a:ext cx="82296" cy="1097280"/>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818120" y="4215383"/>
            <a:ext cx="3611880" cy="365760"/>
          </a:xfrm>
          <a:prstGeom prst="rect">
            <a:avLst/>
          </a:prstGeom>
          <a:noFill/>
        </p:spPr>
        <p:txBody>
          <a:bodyPr wrap="square" lIns="45720" tIns="18288" rIns="45720" bIns="18288" anchor="t">
            <a:spAutoFit/>
          </a:bodyPr>
          <a:lstStyle/>
          <a:p>
            <a:pPr algn="l"/>
            <a:r>
              <a:rPr sz="1500" b="1">
                <a:solidFill>
                  <a:srgbClr val="14283A"/>
                </a:solidFill>
                <a:latin typeface="Georgia"/>
              </a:rPr>
              <a:t>DEPOIS</a:t>
            </a:r>
          </a:p>
        </p:txBody>
      </p:sp>
      <p:sp>
        <p:nvSpPr>
          <p:cNvPr id="22" name="TextBox 21"/>
          <p:cNvSpPr txBox="1"/>
          <p:nvPr/>
        </p:nvSpPr>
        <p:spPr>
          <a:xfrm>
            <a:off x="7818120" y="4562856"/>
            <a:ext cx="3611880" cy="685800"/>
          </a:xfrm>
          <a:prstGeom prst="rect">
            <a:avLst/>
          </a:prstGeom>
          <a:noFill/>
        </p:spPr>
        <p:txBody>
          <a:bodyPr wrap="square" lIns="45720" tIns="18288" rIns="45720" bIns="18288" anchor="t">
            <a:spAutoFit/>
          </a:bodyPr>
          <a:lstStyle/>
          <a:p>
            <a:pPr algn="l"/>
            <a:r>
              <a:rPr sz="1200" b="0">
                <a:solidFill>
                  <a:srgbClr val="14283A"/>
                </a:solidFill>
                <a:latin typeface="Arial"/>
              </a:rPr>
              <a:t>Visualizar em 2D, explorar estrutura ou reduzir dimensões antes de outro modelo.</a:t>
            </a:r>
          </a:p>
        </p:txBody>
      </p:sp>
      <p:sp>
        <p:nvSpPr>
          <p:cNvPr id="23" name="TextBox 22"/>
          <p:cNvSpPr txBox="1"/>
          <p:nvPr/>
        </p:nvSpPr>
        <p:spPr>
          <a:xfrm>
            <a:off x="621792" y="5669280"/>
            <a:ext cx="10972800" cy="365760"/>
          </a:xfrm>
          <a:prstGeom prst="rect">
            <a:avLst/>
          </a:prstGeom>
          <a:noFill/>
        </p:spPr>
        <p:txBody>
          <a:bodyPr wrap="square" lIns="45720" tIns="18288" rIns="45720" bIns="18288" anchor="t">
            <a:spAutoFit/>
          </a:bodyPr>
          <a:lstStyle/>
          <a:p>
            <a:pPr algn="l"/>
            <a:r>
              <a:rPr sz="1500" b="1">
                <a:solidFill>
                  <a:srgbClr val="14283A"/>
                </a:solidFill>
                <a:latin typeface="Arial"/>
              </a:rPr>
              <a:t>PCA não é, por si só, um classificador nem um algoritmo de agrupamento. Ajuste-o apenas no treino.</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TextBox 1"/>
          <p:cNvSpPr txBox="1"/>
          <p:nvPr/>
        </p:nvSpPr>
        <p:spPr>
          <a:xfrm>
            <a:off x="621792" y="292608"/>
            <a:ext cx="8229600" cy="274320"/>
          </a:xfrm>
          <a:prstGeom prst="rect">
            <a:avLst/>
          </a:prstGeom>
          <a:noFill/>
        </p:spPr>
        <p:txBody>
          <a:bodyPr wrap="square" lIns="45720" tIns="18288" rIns="45720" bIns="18288" anchor="t">
            <a:spAutoFit/>
          </a:bodyPr>
          <a:lstStyle/>
          <a:p>
            <a:pPr algn="l"/>
            <a:r>
              <a:rPr sz="1100" b="1">
                <a:solidFill>
                  <a:srgbClr val="007A78"/>
                </a:solidFill>
                <a:latin typeface="Arial"/>
              </a:rPr>
              <a:t>CURSO · VISUALIZAÇÃO · 1 DE 2</a:t>
            </a:r>
          </a:p>
        </p:txBody>
      </p:sp>
      <p:sp>
        <p:nvSpPr>
          <p:cNvPr id="3" name="TextBox 2"/>
          <p:cNvSpPr txBox="1"/>
          <p:nvPr/>
        </p:nvSpPr>
        <p:spPr>
          <a:xfrm>
            <a:off x="621792" y="603504"/>
            <a:ext cx="11155680" cy="640080"/>
          </a:xfrm>
          <a:prstGeom prst="rect">
            <a:avLst/>
          </a:prstGeom>
          <a:noFill/>
        </p:spPr>
        <p:txBody>
          <a:bodyPr wrap="square" lIns="45720" tIns="18288" rIns="45720" bIns="18288" anchor="t">
            <a:spAutoFit/>
          </a:bodyPr>
          <a:lstStyle/>
          <a:p>
            <a:pPr algn="l"/>
            <a:r>
              <a:rPr sz="2800" b="1">
                <a:solidFill>
                  <a:srgbClr val="14283A"/>
                </a:solidFill>
                <a:latin typeface="Georgia"/>
              </a:rPr>
              <a:t>Visualizar antes de modelar</a:t>
            </a:r>
          </a:p>
        </p:txBody>
      </p:sp>
      <p:sp>
        <p:nvSpPr>
          <p:cNvPr id="4" name="TextBox 3"/>
          <p:cNvSpPr txBox="1"/>
          <p:nvPr/>
        </p:nvSpPr>
        <p:spPr>
          <a:xfrm>
            <a:off x="621792" y="1280160"/>
            <a:ext cx="10972800" cy="365760"/>
          </a:xfrm>
          <a:prstGeom prst="rect">
            <a:avLst/>
          </a:prstGeom>
          <a:noFill/>
        </p:spPr>
        <p:txBody>
          <a:bodyPr wrap="square" lIns="45720" tIns="18288" rIns="45720" bIns="18288" anchor="t">
            <a:spAutoFit/>
          </a:bodyPr>
          <a:lstStyle/>
          <a:p>
            <a:pPr algn="l"/>
            <a:r>
              <a:rPr sz="1600" b="0">
                <a:solidFill>
                  <a:srgbClr val="5F6F78"/>
                </a:solidFill>
                <a:latin typeface="Arial"/>
              </a:rPr>
              <a:t>Parte 1: como os dados se distribuem e como os grupos se comparam.</a:t>
            </a:r>
          </a:p>
        </p:txBody>
      </p:sp>
      <p:sp>
        <p:nvSpPr>
          <p:cNvPr id="5" name="Rounded Rectangle 4"/>
          <p:cNvSpPr/>
          <p:nvPr/>
        </p:nvSpPr>
        <p:spPr>
          <a:xfrm>
            <a:off x="612648" y="1783080"/>
            <a:ext cx="3566160" cy="4343400"/>
          </a:xfrm>
          <a:prstGeom prst="roundRect">
            <a:avLst>
              <a:gd name="adj" fmla="val 4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12648" y="1783080"/>
            <a:ext cx="3566160" cy="6400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920240"/>
            <a:ext cx="3200400" cy="365760"/>
          </a:xfrm>
          <a:prstGeom prst="rect">
            <a:avLst/>
          </a:prstGeom>
          <a:noFill/>
        </p:spPr>
        <p:txBody>
          <a:bodyPr wrap="square" lIns="45720" tIns="18288" rIns="45720" bIns="18288" anchor="t">
            <a:spAutoFit/>
          </a:bodyPr>
          <a:lstStyle/>
          <a:p>
            <a:pPr algn="l"/>
            <a:r>
              <a:rPr sz="1800" b="1">
                <a:solidFill>
                  <a:srgbClr val="14283A"/>
                </a:solidFill>
                <a:latin typeface="Georgia"/>
              </a:rPr>
              <a:t>Histograma</a:t>
            </a:r>
          </a:p>
        </p:txBody>
      </p:sp>
      <p:pic>
        <p:nvPicPr>
          <p:cNvPr id="8" name="Picture 7" descr="v_hist.png"/>
          <p:cNvPicPr>
            <a:picLocks noChangeAspect="1"/>
          </p:cNvPicPr>
          <p:nvPr/>
        </p:nvPicPr>
        <p:blipFill>
          <a:blip r:embed="rId3"/>
          <a:stretch>
            <a:fillRect/>
          </a:stretch>
        </p:blipFill>
        <p:spPr>
          <a:xfrm>
            <a:off x="704088" y="2331720"/>
            <a:ext cx="3383280" cy="2468880"/>
          </a:xfrm>
          <a:prstGeom prst="rect">
            <a:avLst/>
          </a:prstGeom>
        </p:spPr>
      </p:pic>
      <p:sp>
        <p:nvSpPr>
          <p:cNvPr id="9" name="TextBox 8"/>
          <p:cNvSpPr txBox="1"/>
          <p:nvPr/>
        </p:nvSpPr>
        <p:spPr>
          <a:xfrm>
            <a:off x="795528" y="4846320"/>
            <a:ext cx="3200400" cy="502920"/>
          </a:xfrm>
          <a:prstGeom prst="rect">
            <a:avLst/>
          </a:prstGeom>
          <a:noFill/>
        </p:spPr>
        <p:txBody>
          <a:bodyPr wrap="square" lIns="45720" tIns="18288" rIns="45720" bIns="18288" anchor="t">
            <a:spAutoFit/>
          </a:bodyPr>
          <a:lstStyle/>
          <a:p>
            <a:pPr algn="l"/>
            <a:r>
              <a:rPr sz="1150" b="0">
                <a:solidFill>
                  <a:srgbClr val="5F6F78"/>
                </a:solidFill>
                <a:latin typeface="Arial"/>
              </a:rPr>
              <a:t>Distribuição da resistência do concreto.</a:t>
            </a:r>
          </a:p>
        </p:txBody>
      </p:sp>
      <p:sp>
        <p:nvSpPr>
          <p:cNvPr id="10" name="TextBox 9"/>
          <p:cNvSpPr txBox="1"/>
          <p:nvPr/>
        </p:nvSpPr>
        <p:spPr>
          <a:xfrm>
            <a:off x="795528" y="5376672"/>
            <a:ext cx="3200400" cy="685800"/>
          </a:xfrm>
          <a:prstGeom prst="rect">
            <a:avLst/>
          </a:prstGeom>
          <a:noFill/>
        </p:spPr>
        <p:txBody>
          <a:bodyPr wrap="square" lIns="45720" tIns="18288" rIns="45720" bIns="18288" anchor="t">
            <a:spAutoFit/>
          </a:bodyPr>
          <a:lstStyle/>
          <a:p>
            <a:pPr algn="l"/>
            <a:r>
              <a:rPr sz="1150" b="1">
                <a:solidFill>
                  <a:srgbClr val="007A78"/>
                </a:solidFill>
                <a:latin typeface="Arial"/>
              </a:rPr>
              <a:t>O que vemos: </a:t>
            </a:r>
            <a:r>
              <a:rPr sz="1150" b="0">
                <a:solidFill>
                  <a:srgbClr val="14283A"/>
                </a:solidFill>
                <a:latin typeface="Arial"/>
              </a:rPr>
              <a:t>resistências de 8 a 70 MPa, espalhadas: a idade do concreto explica parte disso.</a:t>
            </a:r>
          </a:p>
        </p:txBody>
      </p:sp>
      <p:sp>
        <p:nvSpPr>
          <p:cNvPr id="11" name="Rounded Rectangle 10"/>
          <p:cNvSpPr/>
          <p:nvPr/>
        </p:nvSpPr>
        <p:spPr>
          <a:xfrm>
            <a:off x="4315968" y="1783080"/>
            <a:ext cx="3566160" cy="4343400"/>
          </a:xfrm>
          <a:prstGeom prst="roundRect">
            <a:avLst>
              <a:gd name="adj" fmla="val 4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15968" y="1783080"/>
            <a:ext cx="3566160" cy="64008"/>
          </a:xfrm>
          <a:prstGeom prst="rect">
            <a:avLst/>
          </a:prstGeom>
          <a:solidFill>
            <a:srgbClr val="E09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98848" y="1920240"/>
            <a:ext cx="3200400" cy="365760"/>
          </a:xfrm>
          <a:prstGeom prst="rect">
            <a:avLst/>
          </a:prstGeom>
          <a:noFill/>
        </p:spPr>
        <p:txBody>
          <a:bodyPr wrap="square" lIns="45720" tIns="18288" rIns="45720" bIns="18288" anchor="t">
            <a:spAutoFit/>
          </a:bodyPr>
          <a:lstStyle/>
          <a:p>
            <a:pPr algn="l"/>
            <a:r>
              <a:rPr sz="1800" b="1">
                <a:solidFill>
                  <a:srgbClr val="14283A"/>
                </a:solidFill>
                <a:latin typeface="Georgia"/>
              </a:rPr>
              <a:t>Boxplot</a:t>
            </a:r>
          </a:p>
        </p:txBody>
      </p:sp>
      <p:pic>
        <p:nvPicPr>
          <p:cNvPr id="14" name="Picture 13" descr="v_box.png"/>
          <p:cNvPicPr>
            <a:picLocks noChangeAspect="1"/>
          </p:cNvPicPr>
          <p:nvPr/>
        </p:nvPicPr>
        <p:blipFill>
          <a:blip r:embed="rId4"/>
          <a:stretch>
            <a:fillRect/>
          </a:stretch>
        </p:blipFill>
        <p:spPr>
          <a:xfrm>
            <a:off x="4407407" y="2331720"/>
            <a:ext cx="3383280" cy="2468880"/>
          </a:xfrm>
          <a:prstGeom prst="rect">
            <a:avLst/>
          </a:prstGeom>
        </p:spPr>
      </p:pic>
      <p:sp>
        <p:nvSpPr>
          <p:cNvPr id="15" name="TextBox 14"/>
          <p:cNvSpPr txBox="1"/>
          <p:nvPr/>
        </p:nvSpPr>
        <p:spPr>
          <a:xfrm>
            <a:off x="4498848" y="4846320"/>
            <a:ext cx="3200400" cy="502920"/>
          </a:xfrm>
          <a:prstGeom prst="rect">
            <a:avLst/>
          </a:prstGeom>
          <a:noFill/>
        </p:spPr>
        <p:txBody>
          <a:bodyPr wrap="square" lIns="45720" tIns="18288" rIns="45720" bIns="18288" anchor="t">
            <a:spAutoFit/>
          </a:bodyPr>
          <a:lstStyle/>
          <a:p>
            <a:pPr algn="l"/>
            <a:r>
              <a:rPr sz="1150" b="0">
                <a:solidFill>
                  <a:srgbClr val="5F6F78"/>
                </a:solidFill>
                <a:latin typeface="Arial"/>
              </a:rPr>
              <a:t>Compara grupos: temperatura do molde de peças boas e defeituosas.</a:t>
            </a:r>
          </a:p>
        </p:txBody>
      </p:sp>
      <p:sp>
        <p:nvSpPr>
          <p:cNvPr id="16" name="TextBox 15"/>
          <p:cNvSpPr txBox="1"/>
          <p:nvPr/>
        </p:nvSpPr>
        <p:spPr>
          <a:xfrm>
            <a:off x="4498848" y="5376672"/>
            <a:ext cx="3200400" cy="685800"/>
          </a:xfrm>
          <a:prstGeom prst="rect">
            <a:avLst/>
          </a:prstGeom>
          <a:noFill/>
        </p:spPr>
        <p:txBody>
          <a:bodyPr wrap="square" lIns="45720" tIns="18288" rIns="45720" bIns="18288" anchor="t">
            <a:spAutoFit/>
          </a:bodyPr>
          <a:lstStyle/>
          <a:p>
            <a:pPr algn="l"/>
            <a:r>
              <a:rPr sz="1150" b="1">
                <a:solidFill>
                  <a:srgbClr val="E0903A"/>
                </a:solidFill>
                <a:latin typeface="Arial"/>
              </a:rPr>
              <a:t>O que vemos: </a:t>
            </a:r>
            <a:r>
              <a:rPr sz="1150" b="0">
                <a:solidFill>
                  <a:srgbClr val="14283A"/>
                </a:solidFill>
                <a:latin typeface="Arial"/>
              </a:rPr>
              <a:t>mediana parecida, mas os defeitos variam mais: aparecem nos dois extremos.</a:t>
            </a:r>
          </a:p>
        </p:txBody>
      </p:sp>
      <p:sp>
        <p:nvSpPr>
          <p:cNvPr id="17" name="Rounded Rectangle 16"/>
          <p:cNvSpPr/>
          <p:nvPr/>
        </p:nvSpPr>
        <p:spPr>
          <a:xfrm>
            <a:off x="8019288" y="1783080"/>
            <a:ext cx="3566160" cy="4343400"/>
          </a:xfrm>
          <a:prstGeom prst="roundRect">
            <a:avLst>
              <a:gd name="adj" fmla="val 4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19288" y="1783080"/>
            <a:ext cx="3566160" cy="6400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02167" y="1920240"/>
            <a:ext cx="3200400" cy="365760"/>
          </a:xfrm>
          <a:prstGeom prst="rect">
            <a:avLst/>
          </a:prstGeom>
          <a:noFill/>
        </p:spPr>
        <p:txBody>
          <a:bodyPr wrap="square" lIns="45720" tIns="18288" rIns="45720" bIns="18288" anchor="t">
            <a:spAutoFit/>
          </a:bodyPr>
          <a:lstStyle/>
          <a:p>
            <a:pPr algn="l"/>
            <a:r>
              <a:rPr sz="1800" b="1">
                <a:solidFill>
                  <a:srgbClr val="14283A"/>
                </a:solidFill>
                <a:latin typeface="Georgia"/>
              </a:rPr>
              <a:t>Dispersão</a:t>
            </a:r>
          </a:p>
        </p:txBody>
      </p:sp>
      <p:pic>
        <p:nvPicPr>
          <p:cNvPr id="20" name="Picture 19" descr="v_disp.png"/>
          <p:cNvPicPr>
            <a:picLocks noChangeAspect="1"/>
          </p:cNvPicPr>
          <p:nvPr/>
        </p:nvPicPr>
        <p:blipFill>
          <a:blip r:embed="rId5"/>
          <a:stretch>
            <a:fillRect/>
          </a:stretch>
        </p:blipFill>
        <p:spPr>
          <a:xfrm>
            <a:off x="8110727" y="2331720"/>
            <a:ext cx="3383280" cy="2468880"/>
          </a:xfrm>
          <a:prstGeom prst="rect">
            <a:avLst/>
          </a:prstGeom>
        </p:spPr>
      </p:pic>
      <p:sp>
        <p:nvSpPr>
          <p:cNvPr id="21" name="TextBox 20"/>
          <p:cNvSpPr txBox="1"/>
          <p:nvPr/>
        </p:nvSpPr>
        <p:spPr>
          <a:xfrm>
            <a:off x="8202167" y="4846320"/>
            <a:ext cx="3200400" cy="502920"/>
          </a:xfrm>
          <a:prstGeom prst="rect">
            <a:avLst/>
          </a:prstGeom>
          <a:noFill/>
        </p:spPr>
        <p:txBody>
          <a:bodyPr wrap="square" lIns="45720" tIns="18288" rIns="45720" bIns="18288" anchor="t">
            <a:spAutoFit/>
          </a:bodyPr>
          <a:lstStyle/>
          <a:p>
            <a:pPr algn="l"/>
            <a:r>
              <a:rPr sz="1150" b="0">
                <a:solidFill>
                  <a:srgbClr val="5F6F78"/>
                </a:solidFill>
                <a:latin typeface="Arial"/>
              </a:rPr>
              <a:t>Duas variáveis juntas: relação água/cimento x resistência.</a:t>
            </a:r>
          </a:p>
        </p:txBody>
      </p:sp>
      <p:sp>
        <p:nvSpPr>
          <p:cNvPr id="22" name="TextBox 21"/>
          <p:cNvSpPr txBox="1"/>
          <p:nvPr/>
        </p:nvSpPr>
        <p:spPr>
          <a:xfrm>
            <a:off x="8202167" y="5376672"/>
            <a:ext cx="3200400" cy="685800"/>
          </a:xfrm>
          <a:prstGeom prst="rect">
            <a:avLst/>
          </a:prstGeom>
          <a:noFill/>
        </p:spPr>
        <p:txBody>
          <a:bodyPr wrap="square" lIns="45720" tIns="18288" rIns="45720" bIns="18288" anchor="t">
            <a:spAutoFit/>
          </a:bodyPr>
          <a:lstStyle/>
          <a:p>
            <a:pPr algn="l"/>
            <a:r>
              <a:rPr sz="1150" b="1">
                <a:solidFill>
                  <a:srgbClr val="007A78"/>
                </a:solidFill>
                <a:latin typeface="Arial"/>
              </a:rPr>
              <a:t>O que vemos: </a:t>
            </a:r>
            <a:r>
              <a:rPr sz="1150" b="0">
                <a:solidFill>
                  <a:srgbClr val="14283A"/>
                </a:solidFill>
                <a:latin typeface="Arial"/>
              </a:rPr>
              <a:t>mais água por cimento, menos resistência; a cor mostra o efeito da idade.</a:t>
            </a:r>
          </a:p>
        </p:txBody>
      </p:sp>
      <p:sp>
        <p:nvSpPr>
          <p:cNvPr id="24" name="TextBox 23"/>
          <p:cNvSpPr txBox="1"/>
          <p:nvPr/>
        </p:nvSpPr>
        <p:spPr>
          <a:xfrm>
            <a:off x="10972800" y="6355080"/>
            <a:ext cx="594360" cy="274320"/>
          </a:xfrm>
          <a:prstGeom prst="rect">
            <a:avLst/>
          </a:prstGeom>
          <a:noFill/>
        </p:spPr>
        <p:txBody>
          <a:bodyPr wrap="square" lIns="45720" tIns="18288" rIns="45720" bIns="18288" anchor="t">
            <a:spAutoFit/>
          </a:bodyPr>
          <a:lstStyle/>
          <a:p>
            <a:pPr algn="r"/>
            <a:r>
              <a:rPr sz="1000" b="1">
                <a:solidFill>
                  <a:srgbClr val="5F6F78"/>
                </a:solidFill>
                <a:latin typeface="Arial"/>
              </a:rPr>
              <a:t>47</a:t>
            </a:r>
          </a:p>
        </p:txBody>
      </p:sp>
      <p:sp>
        <p:nvSpPr>
          <p:cNvPr id="25" name="Rectangle 1">
            <a:extLst>
              <a:ext uri="{FF2B5EF4-FFF2-40B4-BE49-F238E27FC236}">
                <a16:creationId xmlns:a16="http://schemas.microsoft.com/office/drawing/2014/main" id="{084EA399-C5E6-3E79-3C5F-3A74341D1C4C}"/>
              </a:ext>
            </a:extLst>
          </p:cNvPr>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9F6F0"/>
        </a:solidFill>
        <a:effectLst/>
      </p:bgPr>
    </p:bg>
    <p:spTree>
      <p:nvGrpSpPr>
        <p:cNvPr id="1" name=""/>
        <p:cNvGrpSpPr/>
        <p:nvPr/>
      </p:nvGrpSpPr>
      <p:grpSpPr>
        <a:xfrm>
          <a:off x="0" y="0"/>
          <a:ext cx="0" cy="0"/>
          <a:chOff x="0" y="0"/>
          <a:chExt cx="0" cy="0"/>
        </a:xfrm>
      </p:grpSpPr>
      <p:sp>
        <p:nvSpPr>
          <p:cNvPr id="2" name="TextBox 1"/>
          <p:cNvSpPr txBox="1"/>
          <p:nvPr/>
        </p:nvSpPr>
        <p:spPr>
          <a:xfrm>
            <a:off x="621792" y="292608"/>
            <a:ext cx="8229600" cy="274320"/>
          </a:xfrm>
          <a:prstGeom prst="rect">
            <a:avLst/>
          </a:prstGeom>
          <a:noFill/>
        </p:spPr>
        <p:txBody>
          <a:bodyPr wrap="square" lIns="45720" tIns="18288" rIns="45720" bIns="18288" anchor="t">
            <a:spAutoFit/>
          </a:bodyPr>
          <a:lstStyle/>
          <a:p>
            <a:pPr algn="l"/>
            <a:r>
              <a:rPr sz="1100" b="1">
                <a:solidFill>
                  <a:srgbClr val="007A78"/>
                </a:solidFill>
                <a:latin typeface="Arial"/>
              </a:rPr>
              <a:t>CURSO · VISUALIZAÇÃO · 2 DE 2</a:t>
            </a:r>
          </a:p>
        </p:txBody>
      </p:sp>
      <p:sp>
        <p:nvSpPr>
          <p:cNvPr id="3" name="TextBox 2"/>
          <p:cNvSpPr txBox="1"/>
          <p:nvPr/>
        </p:nvSpPr>
        <p:spPr>
          <a:xfrm>
            <a:off x="621792" y="603504"/>
            <a:ext cx="11155680" cy="640080"/>
          </a:xfrm>
          <a:prstGeom prst="rect">
            <a:avLst/>
          </a:prstGeom>
          <a:noFill/>
        </p:spPr>
        <p:txBody>
          <a:bodyPr wrap="square" lIns="45720" tIns="18288" rIns="45720" bIns="18288" anchor="t">
            <a:spAutoFit/>
          </a:bodyPr>
          <a:lstStyle/>
          <a:p>
            <a:pPr algn="l"/>
            <a:r>
              <a:rPr sz="2800" b="1">
                <a:solidFill>
                  <a:srgbClr val="14283A"/>
                </a:solidFill>
                <a:latin typeface="Georgia"/>
              </a:rPr>
              <a:t>Visualizar antes de modelar</a:t>
            </a:r>
          </a:p>
        </p:txBody>
      </p:sp>
      <p:sp>
        <p:nvSpPr>
          <p:cNvPr id="4" name="TextBox 3"/>
          <p:cNvSpPr txBox="1"/>
          <p:nvPr/>
        </p:nvSpPr>
        <p:spPr>
          <a:xfrm>
            <a:off x="621792" y="1280160"/>
            <a:ext cx="10972800" cy="365760"/>
          </a:xfrm>
          <a:prstGeom prst="rect">
            <a:avLst/>
          </a:prstGeom>
          <a:noFill/>
        </p:spPr>
        <p:txBody>
          <a:bodyPr wrap="square" lIns="45720" tIns="18288" rIns="45720" bIns="18288" anchor="t">
            <a:spAutoFit/>
          </a:bodyPr>
          <a:lstStyle/>
          <a:p>
            <a:pPr algn="l"/>
            <a:r>
              <a:rPr sz="1600" b="0">
                <a:solidFill>
                  <a:srgbClr val="5F6F78"/>
                </a:solidFill>
                <a:latin typeface="Arial"/>
              </a:rPr>
              <a:t>Parte 2: relações entre variáveis, evolução no tempo e redução de dimensões.</a:t>
            </a:r>
          </a:p>
        </p:txBody>
      </p:sp>
      <p:sp>
        <p:nvSpPr>
          <p:cNvPr id="5" name="Rounded Rectangle 4"/>
          <p:cNvSpPr/>
          <p:nvPr/>
        </p:nvSpPr>
        <p:spPr>
          <a:xfrm>
            <a:off x="612648" y="1783080"/>
            <a:ext cx="3566160" cy="4343400"/>
          </a:xfrm>
          <a:prstGeom prst="roundRect">
            <a:avLst>
              <a:gd name="adj" fmla="val 4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12648" y="1783080"/>
            <a:ext cx="3566160" cy="6400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920240"/>
            <a:ext cx="3200400" cy="365760"/>
          </a:xfrm>
          <a:prstGeom prst="rect">
            <a:avLst/>
          </a:prstGeom>
          <a:noFill/>
        </p:spPr>
        <p:txBody>
          <a:bodyPr wrap="square" lIns="45720" tIns="18288" rIns="45720" bIns="18288" anchor="t">
            <a:spAutoFit/>
          </a:bodyPr>
          <a:lstStyle/>
          <a:p>
            <a:pPr algn="l"/>
            <a:r>
              <a:rPr sz="1800" b="1">
                <a:solidFill>
                  <a:srgbClr val="14283A"/>
                </a:solidFill>
                <a:latin typeface="Georgia"/>
              </a:rPr>
              <a:t>Mapa de calor</a:t>
            </a:r>
          </a:p>
        </p:txBody>
      </p:sp>
      <p:pic>
        <p:nvPicPr>
          <p:cNvPr id="8" name="Picture 7" descr="v_heat.png"/>
          <p:cNvPicPr>
            <a:picLocks noChangeAspect="1"/>
          </p:cNvPicPr>
          <p:nvPr/>
        </p:nvPicPr>
        <p:blipFill>
          <a:blip r:embed="rId3"/>
          <a:stretch>
            <a:fillRect/>
          </a:stretch>
        </p:blipFill>
        <p:spPr>
          <a:xfrm>
            <a:off x="704088" y="2331720"/>
            <a:ext cx="3383280" cy="2468880"/>
          </a:xfrm>
          <a:prstGeom prst="rect">
            <a:avLst/>
          </a:prstGeom>
        </p:spPr>
      </p:pic>
      <p:sp>
        <p:nvSpPr>
          <p:cNvPr id="9" name="TextBox 8"/>
          <p:cNvSpPr txBox="1"/>
          <p:nvPr/>
        </p:nvSpPr>
        <p:spPr>
          <a:xfrm>
            <a:off x="795528" y="4846320"/>
            <a:ext cx="3200400" cy="502920"/>
          </a:xfrm>
          <a:prstGeom prst="rect">
            <a:avLst/>
          </a:prstGeom>
          <a:noFill/>
        </p:spPr>
        <p:txBody>
          <a:bodyPr wrap="square" lIns="45720" tIns="18288" rIns="45720" bIns="18288" anchor="t">
            <a:spAutoFit/>
          </a:bodyPr>
          <a:lstStyle/>
          <a:p>
            <a:pPr algn="l"/>
            <a:r>
              <a:rPr sz="1150" b="0">
                <a:solidFill>
                  <a:srgbClr val="5F6F78"/>
                </a:solidFill>
                <a:latin typeface="Arial"/>
              </a:rPr>
              <a:t>Quais variáveis andam juntas: correlação entre elas.</a:t>
            </a:r>
          </a:p>
        </p:txBody>
      </p:sp>
      <p:sp>
        <p:nvSpPr>
          <p:cNvPr id="10" name="TextBox 9"/>
          <p:cNvSpPr txBox="1"/>
          <p:nvPr/>
        </p:nvSpPr>
        <p:spPr>
          <a:xfrm>
            <a:off x="795528" y="5376672"/>
            <a:ext cx="3200400" cy="685800"/>
          </a:xfrm>
          <a:prstGeom prst="rect">
            <a:avLst/>
          </a:prstGeom>
          <a:noFill/>
        </p:spPr>
        <p:txBody>
          <a:bodyPr wrap="square" lIns="45720" tIns="18288" rIns="45720" bIns="18288" anchor="t">
            <a:spAutoFit/>
          </a:bodyPr>
          <a:lstStyle/>
          <a:p>
            <a:pPr algn="l"/>
            <a:r>
              <a:rPr sz="1150" b="1">
                <a:solidFill>
                  <a:srgbClr val="007A78"/>
                </a:solidFill>
                <a:latin typeface="Arial"/>
              </a:rPr>
              <a:t>O que vemos: </a:t>
            </a:r>
            <a:r>
              <a:rPr sz="1150" b="0">
                <a:solidFill>
                  <a:srgbClr val="14283A"/>
                </a:solidFill>
                <a:latin typeface="Arial"/>
              </a:rPr>
              <a:t>rpm e corrente quase iguais (0,97): variáveis redundantes.</a:t>
            </a:r>
          </a:p>
        </p:txBody>
      </p:sp>
      <p:sp>
        <p:nvSpPr>
          <p:cNvPr id="11" name="Rounded Rectangle 10"/>
          <p:cNvSpPr/>
          <p:nvPr/>
        </p:nvSpPr>
        <p:spPr>
          <a:xfrm>
            <a:off x="4315968" y="1783080"/>
            <a:ext cx="3566160" cy="4343400"/>
          </a:xfrm>
          <a:prstGeom prst="roundRect">
            <a:avLst>
              <a:gd name="adj" fmla="val 4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15968" y="1783080"/>
            <a:ext cx="3566160" cy="64008"/>
          </a:xfrm>
          <a:prstGeom prst="rect">
            <a:avLst/>
          </a:prstGeom>
          <a:solidFill>
            <a:srgbClr val="E09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98848" y="1920240"/>
            <a:ext cx="3200400" cy="365760"/>
          </a:xfrm>
          <a:prstGeom prst="rect">
            <a:avLst/>
          </a:prstGeom>
          <a:noFill/>
        </p:spPr>
        <p:txBody>
          <a:bodyPr wrap="square" lIns="45720" tIns="18288" rIns="45720" bIns="18288" anchor="t">
            <a:spAutoFit/>
          </a:bodyPr>
          <a:lstStyle/>
          <a:p>
            <a:pPr algn="l"/>
            <a:r>
              <a:rPr sz="1800" b="1">
                <a:solidFill>
                  <a:srgbClr val="14283A"/>
                </a:solidFill>
                <a:latin typeface="Georgia"/>
              </a:rPr>
              <a:t>Série temporal</a:t>
            </a:r>
          </a:p>
        </p:txBody>
      </p:sp>
      <p:pic>
        <p:nvPicPr>
          <p:cNvPr id="14" name="Picture 13" descr="v_serie.png"/>
          <p:cNvPicPr>
            <a:picLocks noChangeAspect="1"/>
          </p:cNvPicPr>
          <p:nvPr/>
        </p:nvPicPr>
        <p:blipFill>
          <a:blip r:embed="rId4"/>
          <a:stretch>
            <a:fillRect/>
          </a:stretch>
        </p:blipFill>
        <p:spPr>
          <a:xfrm>
            <a:off x="4407407" y="2331720"/>
            <a:ext cx="3383280" cy="2468880"/>
          </a:xfrm>
          <a:prstGeom prst="rect">
            <a:avLst/>
          </a:prstGeom>
        </p:spPr>
      </p:pic>
      <p:sp>
        <p:nvSpPr>
          <p:cNvPr id="15" name="TextBox 14"/>
          <p:cNvSpPr txBox="1"/>
          <p:nvPr/>
        </p:nvSpPr>
        <p:spPr>
          <a:xfrm>
            <a:off x="4498848" y="4846320"/>
            <a:ext cx="3200400" cy="502920"/>
          </a:xfrm>
          <a:prstGeom prst="rect">
            <a:avLst/>
          </a:prstGeom>
          <a:noFill/>
        </p:spPr>
        <p:txBody>
          <a:bodyPr wrap="square" lIns="45720" tIns="18288" rIns="45720" bIns="18288" anchor="t">
            <a:spAutoFit/>
          </a:bodyPr>
          <a:lstStyle/>
          <a:p>
            <a:pPr algn="l"/>
            <a:r>
              <a:rPr sz="1150" b="0">
                <a:solidFill>
                  <a:srgbClr val="5F6F78"/>
                </a:solidFill>
                <a:latin typeface="Arial"/>
              </a:rPr>
              <a:t>Vibração de um motor ao longo das horas.</a:t>
            </a:r>
          </a:p>
        </p:txBody>
      </p:sp>
      <p:sp>
        <p:nvSpPr>
          <p:cNvPr id="16" name="TextBox 15"/>
          <p:cNvSpPr txBox="1"/>
          <p:nvPr/>
        </p:nvSpPr>
        <p:spPr>
          <a:xfrm>
            <a:off x="4498848" y="5376672"/>
            <a:ext cx="3200400" cy="685800"/>
          </a:xfrm>
          <a:prstGeom prst="rect">
            <a:avLst/>
          </a:prstGeom>
          <a:noFill/>
        </p:spPr>
        <p:txBody>
          <a:bodyPr wrap="square" lIns="45720" tIns="18288" rIns="45720" bIns="18288" anchor="t">
            <a:spAutoFit/>
          </a:bodyPr>
          <a:lstStyle/>
          <a:p>
            <a:pPr algn="l"/>
            <a:r>
              <a:rPr sz="1150" b="1">
                <a:solidFill>
                  <a:srgbClr val="E0903A"/>
                </a:solidFill>
                <a:latin typeface="Arial"/>
              </a:rPr>
              <a:t>O que vemos: </a:t>
            </a:r>
            <a:r>
              <a:rPr sz="1150" b="0">
                <a:solidFill>
                  <a:srgbClr val="14283A"/>
                </a:solidFill>
                <a:latin typeface="Arial"/>
              </a:rPr>
              <a:t>tendência de alta (desgaste) e 3 picos fora do padrão.</a:t>
            </a:r>
          </a:p>
        </p:txBody>
      </p:sp>
      <p:sp>
        <p:nvSpPr>
          <p:cNvPr id="17" name="Rounded Rectangle 16"/>
          <p:cNvSpPr/>
          <p:nvPr/>
        </p:nvSpPr>
        <p:spPr>
          <a:xfrm>
            <a:off x="8019288" y="1783080"/>
            <a:ext cx="3566160" cy="4343400"/>
          </a:xfrm>
          <a:prstGeom prst="roundRect">
            <a:avLst>
              <a:gd name="adj" fmla="val 4000"/>
            </a:avLst>
          </a:prstGeom>
          <a:solidFill>
            <a:srgbClr val="FFFFFF"/>
          </a:solidFill>
          <a:ln w="9525">
            <a:solidFill>
              <a:srgbClr val="E3DE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19288" y="1783080"/>
            <a:ext cx="3566160" cy="64008"/>
          </a:xfrm>
          <a:prstGeom prst="rect">
            <a:avLst/>
          </a:prstGeom>
          <a:solidFill>
            <a:srgbClr val="007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02167" y="1920240"/>
            <a:ext cx="3200400" cy="365760"/>
          </a:xfrm>
          <a:prstGeom prst="rect">
            <a:avLst/>
          </a:prstGeom>
          <a:noFill/>
        </p:spPr>
        <p:txBody>
          <a:bodyPr wrap="square" lIns="45720" tIns="18288" rIns="45720" bIns="18288" anchor="t">
            <a:spAutoFit/>
          </a:bodyPr>
          <a:lstStyle/>
          <a:p>
            <a:pPr algn="l"/>
            <a:r>
              <a:rPr sz="1800" b="1">
                <a:solidFill>
                  <a:srgbClr val="14283A"/>
                </a:solidFill>
                <a:latin typeface="Georgia"/>
              </a:rPr>
              <a:t>PCA</a:t>
            </a:r>
          </a:p>
        </p:txBody>
      </p:sp>
      <p:pic>
        <p:nvPicPr>
          <p:cNvPr id="20" name="Picture 19" descr="v_pca.png"/>
          <p:cNvPicPr>
            <a:picLocks noChangeAspect="1"/>
          </p:cNvPicPr>
          <p:nvPr/>
        </p:nvPicPr>
        <p:blipFill>
          <a:blip r:embed="rId5"/>
          <a:stretch>
            <a:fillRect/>
          </a:stretch>
        </p:blipFill>
        <p:spPr>
          <a:xfrm>
            <a:off x="8110727" y="2331720"/>
            <a:ext cx="3383280" cy="2468880"/>
          </a:xfrm>
          <a:prstGeom prst="rect">
            <a:avLst/>
          </a:prstGeom>
        </p:spPr>
      </p:pic>
      <p:sp>
        <p:nvSpPr>
          <p:cNvPr id="21" name="TextBox 20"/>
          <p:cNvSpPr txBox="1"/>
          <p:nvPr/>
        </p:nvSpPr>
        <p:spPr>
          <a:xfrm>
            <a:off x="8202167" y="4846320"/>
            <a:ext cx="3200400" cy="502920"/>
          </a:xfrm>
          <a:prstGeom prst="rect">
            <a:avLst/>
          </a:prstGeom>
          <a:noFill/>
        </p:spPr>
        <p:txBody>
          <a:bodyPr wrap="square" lIns="45720" tIns="18288" rIns="45720" bIns="18288" anchor="t">
            <a:spAutoFit/>
          </a:bodyPr>
          <a:lstStyle/>
          <a:p>
            <a:pPr algn="l"/>
            <a:r>
              <a:rPr sz="1150" b="0">
                <a:solidFill>
                  <a:srgbClr val="5F6F78"/>
                </a:solidFill>
                <a:latin typeface="Arial"/>
              </a:rPr>
              <a:t>Resume 6 características de vibração em 2 dimensões para enxergar.</a:t>
            </a:r>
          </a:p>
        </p:txBody>
      </p:sp>
      <p:sp>
        <p:nvSpPr>
          <p:cNvPr id="22" name="TextBox 21"/>
          <p:cNvSpPr txBox="1"/>
          <p:nvPr/>
        </p:nvSpPr>
        <p:spPr>
          <a:xfrm>
            <a:off x="8202167" y="5376672"/>
            <a:ext cx="3200400" cy="685800"/>
          </a:xfrm>
          <a:prstGeom prst="rect">
            <a:avLst/>
          </a:prstGeom>
          <a:noFill/>
        </p:spPr>
        <p:txBody>
          <a:bodyPr wrap="square" lIns="45720" tIns="18288" rIns="45720" bIns="18288" anchor="t">
            <a:spAutoFit/>
          </a:bodyPr>
          <a:lstStyle/>
          <a:p>
            <a:pPr algn="l"/>
            <a:r>
              <a:rPr sz="1150" b="1">
                <a:solidFill>
                  <a:srgbClr val="007A78"/>
                </a:solidFill>
                <a:latin typeface="Arial"/>
              </a:rPr>
              <a:t>O que vemos: </a:t>
            </a:r>
            <a:r>
              <a:rPr sz="1150" b="0">
                <a:solidFill>
                  <a:srgbClr val="14283A"/>
                </a:solidFill>
                <a:latin typeface="Arial"/>
              </a:rPr>
              <a:t>o rolamento saudável se separa das falhas; 2 eixos guardam 53% da variância.</a:t>
            </a:r>
          </a:p>
        </p:txBody>
      </p:sp>
      <p:sp>
        <p:nvSpPr>
          <p:cNvPr id="24" name="TextBox 23"/>
          <p:cNvSpPr txBox="1"/>
          <p:nvPr/>
        </p:nvSpPr>
        <p:spPr>
          <a:xfrm>
            <a:off x="10972800" y="6355080"/>
            <a:ext cx="594360" cy="274320"/>
          </a:xfrm>
          <a:prstGeom prst="rect">
            <a:avLst/>
          </a:prstGeom>
          <a:noFill/>
        </p:spPr>
        <p:txBody>
          <a:bodyPr wrap="square" lIns="45720" tIns="18288" rIns="45720" bIns="18288" anchor="t">
            <a:spAutoFit/>
          </a:bodyPr>
          <a:lstStyle/>
          <a:p>
            <a:pPr algn="r"/>
            <a:r>
              <a:rPr sz="1000" b="1">
                <a:solidFill>
                  <a:srgbClr val="5F6F78"/>
                </a:solidFill>
                <a:latin typeface="Arial"/>
              </a:rPr>
              <a:t>48</a:t>
            </a:r>
          </a:p>
        </p:txBody>
      </p:sp>
      <p:sp>
        <p:nvSpPr>
          <p:cNvPr id="25" name="Rectangle 1">
            <a:extLst>
              <a:ext uri="{FF2B5EF4-FFF2-40B4-BE49-F238E27FC236}">
                <a16:creationId xmlns:a16="http://schemas.microsoft.com/office/drawing/2014/main" id="{715C85F2-B1E4-036F-5D1E-A5FAF40720BB}"/>
              </a:ext>
            </a:extLst>
          </p:cNvPr>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12772"/>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17706B"/>
                </a:solidFill>
                <a:latin typeface="DM Sans" pitchFamily="34" charset="0"/>
                <a:ea typeface="DM Sans" pitchFamily="34" charset="-122"/>
                <a:cs typeface="DM Sans" pitchFamily="34" charset="-120"/>
              </a:rPr>
              <a:t>CURSO · COMO FUNCIONAM</a:t>
            </a:r>
            <a:endParaRPr lang="en-US" sz="1200" dirty="0"/>
          </a:p>
        </p:txBody>
      </p:sp>
      <p:sp>
        <p:nvSpPr>
          <p:cNvPr id="3" name="Text 1"/>
          <p:cNvSpPr>
            <a:spLocks noGrp="1"/>
          </p:cNvSpPr>
          <p:nvPr>
            <p:ph type="title"/>
          </p:nvPr>
        </p:nvSpPr>
        <p:spPr>
          <a:xfrm>
            <a:off x="812800" y="927692"/>
            <a:ext cx="10883392" cy="528290"/>
          </a:xfrm>
          <a:prstGeom prst="rect">
            <a:avLst/>
          </a:prstGeom>
          <a:noFill/>
          <a:ln/>
        </p:spPr>
        <p:txBody>
          <a:bodyPr wrap="square" lIns="0" tIns="0" rIns="0" bIns="0" rtlCol="0" anchor="t">
            <a:normAutofit/>
          </a:bodyPr>
          <a:lstStyle/>
          <a:p>
            <a:pPr marL="0" indent="0" algn="l">
              <a:lnSpc>
                <a:spcPts val="3960"/>
              </a:lnSpc>
              <a:buNone/>
            </a:pPr>
            <a:r>
              <a:rPr lang="pt-BR" sz="3600" b="1" i="0" noProof="0" dirty="0">
                <a:solidFill>
                  <a:srgbClr val="10242B"/>
                </a:solidFill>
                <a:latin typeface="EB Garamond" pitchFamily="18" charset="0"/>
                <a:ea typeface="EB Garamond" pitchFamily="18" charset="-122"/>
                <a:cs typeface="EB Garamond" pitchFamily="18" charset="-120"/>
              </a:rPr>
              <a:t>Três algoritmos em uma imagem</a:t>
            </a:r>
            <a:endParaRPr lang="pt-BR" sz="3600" noProof="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5E"/>
                </a:solidFill>
                <a:latin typeface="DM Sans" pitchFamily="34" charset="0"/>
                <a:ea typeface="DM Sans" pitchFamily="34" charset="-122"/>
                <a:cs typeface="DM Sans" pitchFamily="34" charset="-120"/>
              </a:rPr>
              <a:t>49</a:t>
            </a:r>
            <a:endParaRPr lang="en-US" sz="1200" dirty="0"/>
          </a:p>
        </p:txBody>
      </p:sp>
      <p:pic>
        <p:nvPicPr>
          <p:cNvPr id="15" name="Figura f_concept.png" descr="f_concept.png"/>
          <p:cNvPicPr>
            <a:picLocks noChangeAspect="1"/>
          </p:cNvPicPr>
          <p:nvPr/>
        </p:nvPicPr>
        <p:blipFill>
          <a:blip r:embed="rId3"/>
          <a:stretch>
            <a:fillRect/>
          </a:stretch>
        </p:blipFill>
        <p:spPr>
          <a:xfrm>
            <a:off x="1231078" y="1583052"/>
            <a:ext cx="9726794" cy="3429000"/>
          </a:xfrm>
          <a:prstGeom prst="rect">
            <a:avLst/>
          </a:prstGeom>
        </p:spPr>
      </p:pic>
      <p:sp>
        <p:nvSpPr>
          <p:cNvPr id="16" name="Mensagem"/>
          <p:cNvSpPr/>
          <p:nvPr/>
        </p:nvSpPr>
        <p:spPr>
          <a:xfrm>
            <a:off x="813816" y="5149212"/>
            <a:ext cx="10561320" cy="621792"/>
          </a:xfrm>
          <a:prstGeom prst="roundRect">
            <a:avLst>
              <a:gd name="adj" fmla="val 18000"/>
            </a:avLst>
          </a:prstGeom>
          <a:solidFill>
            <a:srgbClr val="10272D"/>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36576" rIns="228600" bIns="36576" rtlCol="0" anchor="ctr"/>
          <a:lstStyle/>
          <a:p>
            <a:pPr algn="ctr"/>
            <a:r>
              <a:rPr sz="1500" b="1">
                <a:solidFill>
                  <a:srgbClr val="E8C27A"/>
                </a:solidFill>
                <a:latin typeface="DM Sans"/>
              </a:rPr>
              <a:t>Mesmos motores, três ideias: </a:t>
            </a:r>
            <a:r>
              <a:rPr sz="1500" b="1">
                <a:solidFill>
                  <a:srgbClr val="FAF7EF"/>
                </a:solidFill>
                <a:latin typeface="DM Sans"/>
              </a:rPr>
              <a:t>a regressão logística estima probabilidades, a floresta recorta regiões e o agrupamento encontra centros.</a:t>
            </a:r>
          </a:p>
        </p:txBody>
      </p:sp>
      <p:sp>
        <p:nvSpPr>
          <p:cNvPr id="17" name="Fonte dos dados"/>
          <p:cNvSpPr txBox="1"/>
          <p:nvPr/>
        </p:nvSpPr>
        <p:spPr>
          <a:xfrm>
            <a:off x="813816" y="6007608"/>
            <a:ext cx="10561320" cy="237744"/>
          </a:xfrm>
          <a:prstGeom prst="rect">
            <a:avLst/>
          </a:prstGeom>
          <a:noFill/>
        </p:spPr>
        <p:txBody>
          <a:bodyPr wrap="none" lIns="0" tIns="0" rIns="0" bIns="0">
            <a:spAutoFit/>
          </a:bodyPr>
          <a:lstStyle/>
          <a:p>
            <a:pPr algn="l"/>
            <a:r>
              <a:rPr sz="1100" i="1">
                <a:solidFill>
                  <a:srgbClr val="3B4A4F"/>
                </a:solidFill>
                <a:latin typeface="DM Sans"/>
              </a:rPr>
              <a:t>Dados simulados de sensores de motores, para fins didáticos. Notebook, seções 3 e 4.</a:t>
            </a:r>
          </a:p>
        </p:txBody>
      </p:sp>
      <p:sp>
        <p:nvSpPr>
          <p:cNvPr id="4" name="Rectangle 1">
            <a:extLst>
              <a:ext uri="{FF2B5EF4-FFF2-40B4-BE49-F238E27FC236}">
                <a16:creationId xmlns:a16="http://schemas.microsoft.com/office/drawing/2014/main" id="{15D2479A-BECD-8CC1-0ADE-DD6A14BCA89C}"/>
              </a:ext>
            </a:extLst>
          </p:cNvPr>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PRÁTICA</a:t>
            </a:r>
          </a:p>
        </p:txBody>
      </p:sp>
      <p:sp>
        <p:nvSpPr>
          <p:cNvPr id="4" name="TextBox 3"/>
          <p:cNvSpPr txBox="1"/>
          <p:nvPr/>
        </p:nvSpPr>
        <p:spPr>
          <a:xfrm>
            <a:off x="530352" y="566928"/>
            <a:ext cx="11155680" cy="566928"/>
          </a:xfrm>
          <a:prstGeom prst="rect">
            <a:avLst/>
          </a:prstGeom>
          <a:noFill/>
        </p:spPr>
        <p:txBody>
          <a:bodyPr wrap="square">
            <a:spAutoFit/>
          </a:bodyPr>
          <a:lstStyle/>
          <a:p>
            <a:pPr>
              <a:spcAft>
                <a:spcPts val="700"/>
              </a:spcAft>
            </a:pPr>
            <a:r>
              <a:rPr sz="2700" b="1">
                <a:solidFill>
                  <a:srgbClr val="142A38"/>
                </a:solidFill>
                <a:latin typeface="Georgia"/>
              </a:rPr>
              <a:t>Parte prática · Google Colab</a:t>
            </a:r>
          </a:p>
        </p:txBody>
      </p:sp>
      <p:sp>
        <p:nvSpPr>
          <p:cNvPr id="5" name="TextBox 4"/>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Abra o notebook, salve uma cópia no Drive e execute as células em ordem.</a:t>
            </a:r>
          </a:p>
        </p:txBody>
      </p:sp>
      <p:sp>
        <p:nvSpPr>
          <p:cNvPr id="6" name="TextBox 5"/>
          <p:cNvSpPr txBox="1"/>
          <p:nvPr/>
        </p:nvSpPr>
        <p:spPr>
          <a:xfrm>
            <a:off x="530352" y="6519672"/>
            <a:ext cx="9144000" cy="182880"/>
          </a:xfrm>
          <a:prstGeom prst="rect">
            <a:avLst/>
          </a:prstGeom>
          <a:noFill/>
        </p:spPr>
        <p:txBody>
          <a:bodyPr wrap="square">
            <a:spAutoFit/>
          </a:bodyPr>
          <a:lstStyle/>
          <a:p>
            <a:pPr>
              <a:spcAft>
                <a:spcPts val="700"/>
              </a:spcAft>
            </a:pPr>
            <a:r>
              <a:rPr sz="900" b="0">
                <a:solidFill>
                  <a:srgbClr val="637478"/>
                </a:solidFill>
                <a:latin typeface="Aptos"/>
              </a:rPr>
              <a:t>Da engenharia à oncologia · IA na solução de problemas reais</a:t>
            </a:r>
          </a:p>
        </p:txBody>
      </p:sp>
      <p:sp>
        <p:nvSpPr>
          <p:cNvPr id="7" name="TextBox 6"/>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50</a:t>
            </a:r>
          </a:p>
        </p:txBody>
      </p:sp>
      <p:sp>
        <p:nvSpPr>
          <p:cNvPr id="8" name="Rounded Rectangle 7"/>
          <p:cNvSpPr/>
          <p:nvPr/>
        </p:nvSpPr>
        <p:spPr>
          <a:xfrm>
            <a:off x="685800" y="1737360"/>
            <a:ext cx="5257800" cy="338328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5800" y="1737360"/>
            <a:ext cx="73152" cy="338328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1901952"/>
            <a:ext cx="4873752" cy="384048"/>
          </a:xfrm>
          <a:prstGeom prst="rect">
            <a:avLst/>
          </a:prstGeom>
          <a:noFill/>
        </p:spPr>
        <p:txBody>
          <a:bodyPr wrap="square">
            <a:spAutoFit/>
          </a:bodyPr>
          <a:lstStyle/>
          <a:p>
            <a:pPr>
              <a:spcAft>
                <a:spcPts val="700"/>
              </a:spcAft>
            </a:pPr>
            <a:r>
              <a:rPr sz="1700" b="1">
                <a:solidFill>
                  <a:srgbClr val="142A38"/>
                </a:solidFill>
                <a:latin typeface="Georgia"/>
              </a:rPr>
              <a:t>COMO COMEÇAR</a:t>
            </a:r>
          </a:p>
        </p:txBody>
      </p:sp>
      <p:sp>
        <p:nvSpPr>
          <p:cNvPr id="11" name="TextBox 10"/>
          <p:cNvSpPr txBox="1"/>
          <p:nvPr/>
        </p:nvSpPr>
        <p:spPr>
          <a:xfrm>
            <a:off x="886968" y="2359152"/>
            <a:ext cx="4873752" cy="2633472"/>
          </a:xfrm>
          <a:prstGeom prst="rect">
            <a:avLst/>
          </a:prstGeom>
          <a:noFill/>
        </p:spPr>
        <p:txBody>
          <a:bodyPr wrap="square">
            <a:spAutoFit/>
          </a:bodyPr>
          <a:lstStyle/>
          <a:p>
            <a:pPr>
              <a:spcAft>
                <a:spcPts val="700"/>
              </a:spcAft>
            </a:pPr>
            <a:r>
              <a:rPr sz="1700" b="0">
                <a:solidFill>
                  <a:srgbClr val="303E44"/>
                </a:solidFill>
                <a:latin typeface="Aptos"/>
              </a:rPr>
              <a:t>1. Abra o notebook .ipynb no Google Colab.</a:t>
            </a:r>
          </a:p>
          <a:p>
            <a:pPr>
              <a:spcAft>
                <a:spcPts val="700"/>
              </a:spcAft>
            </a:pPr>
            <a:r>
              <a:rPr sz="1700" b="0">
                <a:solidFill>
                  <a:srgbClr val="303E44"/>
                </a:solidFill>
                <a:latin typeface="Aptos"/>
              </a:rPr>
              <a:t>2. Clique em “Salvar uma cópia no Drive”.</a:t>
            </a:r>
          </a:p>
          <a:p>
            <a:pPr>
              <a:spcAft>
                <a:spcPts val="700"/>
              </a:spcAft>
            </a:pPr>
            <a:r>
              <a:rPr sz="1700" b="0">
                <a:solidFill>
                  <a:srgbClr val="303E44"/>
                </a:solidFill>
                <a:latin typeface="Aptos"/>
              </a:rPr>
              <a:t>3. Execute cada célula com Shift + Enter.</a:t>
            </a:r>
          </a:p>
          <a:p>
            <a:pPr>
              <a:spcAft>
                <a:spcPts val="700"/>
              </a:spcAft>
            </a:pPr>
            <a:r>
              <a:rPr sz="1700" b="0">
                <a:solidFill>
                  <a:srgbClr val="303E44"/>
                </a:solidFill>
                <a:latin typeface="Aptos"/>
              </a:rPr>
              <a:t>4. Leia as saídas e responda às perguntas.</a:t>
            </a:r>
          </a:p>
          <a:p>
            <a:pPr>
              <a:spcAft>
                <a:spcPts val="700"/>
              </a:spcAft>
            </a:pPr>
            <a:r>
              <a:rPr sz="1700" b="0">
                <a:solidFill>
                  <a:srgbClr val="303E44"/>
                </a:solidFill>
                <a:latin typeface="Aptos"/>
              </a:rPr>
              <a:t>5. Altere uma variável por vez e compare.</a:t>
            </a:r>
          </a:p>
        </p:txBody>
      </p:sp>
      <p:sp>
        <p:nvSpPr>
          <p:cNvPr id="12" name="Rounded Rectangle 11"/>
          <p:cNvSpPr/>
          <p:nvPr/>
        </p:nvSpPr>
        <p:spPr>
          <a:xfrm>
            <a:off x="6217920" y="1737360"/>
            <a:ext cx="5257800" cy="338328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737360"/>
            <a:ext cx="73152" cy="338328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19088" y="1901952"/>
            <a:ext cx="4873752" cy="384048"/>
          </a:xfrm>
          <a:prstGeom prst="rect">
            <a:avLst/>
          </a:prstGeom>
          <a:noFill/>
        </p:spPr>
        <p:txBody>
          <a:bodyPr wrap="square">
            <a:spAutoFit/>
          </a:bodyPr>
          <a:lstStyle/>
          <a:p>
            <a:pPr>
              <a:spcAft>
                <a:spcPts val="700"/>
              </a:spcAft>
            </a:pPr>
            <a:r>
              <a:rPr sz="1700" b="1">
                <a:solidFill>
                  <a:srgbClr val="142A38"/>
                </a:solidFill>
                <a:latin typeface="Georgia"/>
              </a:rPr>
              <a:t>O QUE VAMOS FAZER</a:t>
            </a:r>
          </a:p>
        </p:txBody>
      </p:sp>
      <p:sp>
        <p:nvSpPr>
          <p:cNvPr id="15" name="TextBox 14"/>
          <p:cNvSpPr txBox="1"/>
          <p:nvPr/>
        </p:nvSpPr>
        <p:spPr>
          <a:xfrm>
            <a:off x="6419088" y="2359152"/>
            <a:ext cx="4873752" cy="2633472"/>
          </a:xfrm>
          <a:prstGeom prst="rect">
            <a:avLst/>
          </a:prstGeom>
          <a:noFill/>
        </p:spPr>
        <p:txBody>
          <a:bodyPr wrap="square">
            <a:spAutoFit/>
          </a:bodyPr>
          <a:lstStyle/>
          <a:p>
            <a:pPr>
              <a:spcAft>
                <a:spcPts val="700"/>
              </a:spcAft>
            </a:pPr>
            <a:r>
              <a:rPr sz="1700" b="0">
                <a:solidFill>
                  <a:srgbClr val="303E44"/>
                </a:solidFill>
                <a:latin typeface="Aptos"/>
              </a:rPr>
              <a:t>• Civil: regressão e visualização.</a:t>
            </a:r>
          </a:p>
          <a:p>
            <a:pPr>
              <a:spcAft>
                <a:spcPts val="700"/>
              </a:spcAft>
            </a:pPr>
            <a:r>
              <a:rPr sz="1700" b="0">
                <a:solidFill>
                  <a:srgbClr val="303E44"/>
                </a:solidFill>
                <a:latin typeface="Aptos"/>
              </a:rPr>
              <a:t>• Produção: classificação com classes raras.</a:t>
            </a:r>
          </a:p>
          <a:p>
            <a:pPr>
              <a:spcAft>
                <a:spcPts val="700"/>
              </a:spcAft>
            </a:pPr>
            <a:r>
              <a:rPr sz="1700" b="0">
                <a:solidFill>
                  <a:srgbClr val="303E44"/>
                </a:solidFill>
                <a:latin typeface="Aptos"/>
              </a:rPr>
              <a:t>• Elétrica: k-means e Isolation Forest.</a:t>
            </a:r>
          </a:p>
          <a:p>
            <a:pPr>
              <a:spcAft>
                <a:spcPts val="700"/>
              </a:spcAft>
            </a:pPr>
            <a:r>
              <a:rPr sz="1700" b="0">
                <a:solidFill>
                  <a:srgbClr val="303E44"/>
                </a:solidFill>
                <a:latin typeface="Aptos"/>
              </a:rPr>
              <a:t>• Mecânica: PCA e SVM.</a:t>
            </a:r>
          </a:p>
          <a:p>
            <a:pPr>
              <a:spcAft>
                <a:spcPts val="700"/>
              </a:spcAft>
            </a:pPr>
            <a:r>
              <a:rPr sz="1700" b="0">
                <a:solidFill>
                  <a:srgbClr val="303E44"/>
                </a:solidFill>
                <a:latin typeface="Aptos"/>
              </a:rPr>
              <a:t>• Química: PCA e regressão.</a:t>
            </a:r>
          </a:p>
        </p:txBody>
      </p:sp>
      <p:sp>
        <p:nvSpPr>
          <p:cNvPr id="16" name="TextBox 15"/>
          <p:cNvSpPr txBox="1"/>
          <p:nvPr/>
        </p:nvSpPr>
        <p:spPr>
          <a:xfrm>
            <a:off x="822960" y="5623560"/>
            <a:ext cx="10515600" cy="320040"/>
          </a:xfrm>
          <a:prstGeom prst="rect">
            <a:avLst/>
          </a:prstGeom>
          <a:noFill/>
        </p:spPr>
        <p:txBody>
          <a:bodyPr wrap="square">
            <a:spAutoFit/>
          </a:bodyPr>
          <a:lstStyle/>
          <a:p>
            <a:pPr>
              <a:spcAft>
                <a:spcPts val="700"/>
              </a:spcAft>
            </a:pPr>
            <a:r>
              <a:rPr sz="1500" b="1">
                <a:solidFill>
                  <a:srgbClr val="142A38"/>
                </a:solidFill>
                <a:latin typeface="Aptos"/>
              </a:rPr>
              <a:t>Notebook: Colab_IA_nas_Engenharias.ipynb (no repositório do curso). Dados simulados: não é preciso baixar nada.</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BLOCO 1 · CIVIL · ONDE IMPLEMENTAR</a:t>
            </a:r>
          </a:p>
        </p:txBody>
      </p:sp>
      <p:sp>
        <p:nvSpPr>
          <p:cNvPr id="4" name="TextBox 3"/>
          <p:cNvSpPr txBox="1"/>
          <p:nvPr/>
        </p:nvSpPr>
        <p:spPr>
          <a:xfrm>
            <a:off x="530352" y="566928"/>
            <a:ext cx="11155680" cy="566928"/>
          </a:xfrm>
          <a:prstGeom prst="rect">
            <a:avLst/>
          </a:prstGeom>
          <a:noFill/>
        </p:spPr>
        <p:txBody>
          <a:bodyPr wrap="square">
            <a:spAutoFit/>
          </a:bodyPr>
          <a:lstStyle/>
          <a:p>
            <a:pPr>
              <a:spcAft>
                <a:spcPts val="700"/>
              </a:spcAft>
            </a:pPr>
            <a:r>
              <a:rPr sz="2700" b="1" dirty="0">
                <a:solidFill>
                  <a:srgbClr val="142A38"/>
                </a:solidFill>
                <a:latin typeface="Georgia"/>
              </a:rPr>
              <a:t>Civil: </a:t>
            </a:r>
            <a:r>
              <a:rPr sz="2700" b="1" dirty="0" err="1">
                <a:solidFill>
                  <a:srgbClr val="142A38"/>
                </a:solidFill>
                <a:latin typeface="Georgia"/>
              </a:rPr>
              <a:t>prever</a:t>
            </a:r>
            <a:r>
              <a:rPr sz="2700" b="1" dirty="0">
                <a:solidFill>
                  <a:srgbClr val="142A38"/>
                </a:solidFill>
                <a:latin typeface="Georgia"/>
              </a:rPr>
              <a:t> a </a:t>
            </a:r>
            <a:r>
              <a:rPr sz="2700" b="1" dirty="0" err="1">
                <a:solidFill>
                  <a:srgbClr val="142A38"/>
                </a:solidFill>
                <a:latin typeface="Georgia"/>
              </a:rPr>
              <a:t>resistência</a:t>
            </a:r>
            <a:r>
              <a:rPr sz="2700" b="1" dirty="0">
                <a:solidFill>
                  <a:srgbClr val="142A38"/>
                </a:solidFill>
                <a:latin typeface="Georgia"/>
              </a:rPr>
              <a:t> do </a:t>
            </a:r>
            <a:r>
              <a:rPr sz="2700" b="1" dirty="0" err="1">
                <a:solidFill>
                  <a:srgbClr val="142A38"/>
                </a:solidFill>
                <a:latin typeface="Georgia"/>
              </a:rPr>
              <a:t>concreto</a:t>
            </a:r>
            <a:endParaRPr sz="2700" b="1" dirty="0">
              <a:solidFill>
                <a:srgbClr val="142A38"/>
              </a:solidFill>
              <a:latin typeface="Georgia"/>
            </a:endParaRPr>
          </a:p>
        </p:txBody>
      </p:sp>
      <p:sp>
        <p:nvSpPr>
          <p:cNvPr id="5" name="TextBox 4"/>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Usina de concreto e canteiro de obras: decidir mais cedo e ensaiar menos.</a:t>
            </a:r>
          </a:p>
        </p:txBody>
      </p:sp>
      <p:sp>
        <p:nvSpPr>
          <p:cNvPr id="6" name="TextBox 5"/>
          <p:cNvSpPr txBox="1"/>
          <p:nvPr/>
        </p:nvSpPr>
        <p:spPr>
          <a:xfrm>
            <a:off x="530352" y="6519672"/>
            <a:ext cx="9144000" cy="182880"/>
          </a:xfrm>
          <a:prstGeom prst="rect">
            <a:avLst/>
          </a:prstGeom>
          <a:noFill/>
        </p:spPr>
        <p:txBody>
          <a:bodyPr wrap="square">
            <a:spAutoFit/>
          </a:bodyPr>
          <a:lstStyle/>
          <a:p>
            <a:pPr>
              <a:spcAft>
                <a:spcPts val="700"/>
              </a:spcAft>
            </a:pPr>
            <a:r>
              <a:rPr sz="900" b="0">
                <a:solidFill>
                  <a:srgbClr val="637478"/>
                </a:solidFill>
                <a:latin typeface="Aptos"/>
              </a:rPr>
              <a:t>Da engenharia à oncologia · IA na solução de problemas reais</a:t>
            </a:r>
          </a:p>
        </p:txBody>
      </p:sp>
      <p:sp>
        <p:nvSpPr>
          <p:cNvPr id="7" name="TextBox 6"/>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51</a:t>
            </a:r>
          </a:p>
        </p:txBody>
      </p:sp>
      <p:sp>
        <p:nvSpPr>
          <p:cNvPr id="8" name="Rounded Rectangle 7"/>
          <p:cNvSpPr/>
          <p:nvPr/>
        </p:nvSpPr>
        <p:spPr>
          <a:xfrm>
            <a:off x="640080" y="16916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9164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856232"/>
            <a:ext cx="4873752" cy="384048"/>
          </a:xfrm>
          <a:prstGeom prst="rect">
            <a:avLst/>
          </a:prstGeom>
          <a:noFill/>
        </p:spPr>
        <p:txBody>
          <a:bodyPr wrap="square">
            <a:spAutoFit/>
          </a:bodyPr>
          <a:lstStyle/>
          <a:p>
            <a:pPr>
              <a:spcAft>
                <a:spcPts val="700"/>
              </a:spcAft>
            </a:pPr>
            <a:r>
              <a:rPr sz="1700" b="1">
                <a:solidFill>
                  <a:srgbClr val="142A38"/>
                </a:solidFill>
                <a:latin typeface="Georgia"/>
              </a:rPr>
              <a:t>Problema</a:t>
            </a:r>
          </a:p>
        </p:txBody>
      </p:sp>
      <p:sp>
        <p:nvSpPr>
          <p:cNvPr id="11" name="TextBox 10"/>
          <p:cNvSpPr txBox="1"/>
          <p:nvPr/>
        </p:nvSpPr>
        <p:spPr>
          <a:xfrm>
            <a:off x="841247" y="2313432"/>
            <a:ext cx="4873752" cy="758952"/>
          </a:xfrm>
          <a:prstGeom prst="rect">
            <a:avLst/>
          </a:prstGeom>
          <a:noFill/>
        </p:spPr>
        <p:txBody>
          <a:bodyPr wrap="square">
            <a:spAutoFit/>
          </a:bodyPr>
          <a:lstStyle/>
          <a:p>
            <a:pPr>
              <a:spcAft>
                <a:spcPts val="700"/>
              </a:spcAft>
            </a:pPr>
            <a:r>
              <a:rPr sz="1500" b="0">
                <a:solidFill>
                  <a:srgbClr val="303E44"/>
                </a:solidFill>
                <a:latin typeface="Aptos"/>
              </a:rPr>
              <a:t>O ensaio aos 28 dias demora quase um mês; o traço só é validado depois.</a:t>
            </a:r>
          </a:p>
        </p:txBody>
      </p:sp>
      <p:sp>
        <p:nvSpPr>
          <p:cNvPr id="12" name="Rounded Rectangle 11"/>
          <p:cNvSpPr/>
          <p:nvPr/>
        </p:nvSpPr>
        <p:spPr>
          <a:xfrm>
            <a:off x="6263640" y="16916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69164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8" y="1856232"/>
            <a:ext cx="4873752" cy="384048"/>
          </a:xfrm>
          <a:prstGeom prst="rect">
            <a:avLst/>
          </a:prstGeom>
          <a:noFill/>
        </p:spPr>
        <p:txBody>
          <a:bodyPr wrap="square">
            <a:spAutoFit/>
          </a:bodyPr>
          <a:lstStyle/>
          <a:p>
            <a:pPr>
              <a:spcAft>
                <a:spcPts val="700"/>
              </a:spcAft>
            </a:pPr>
            <a:r>
              <a:rPr sz="1700" b="1">
                <a:solidFill>
                  <a:srgbClr val="142A38"/>
                </a:solidFill>
                <a:latin typeface="Georgia"/>
              </a:rPr>
              <a:t>Dados</a:t>
            </a:r>
          </a:p>
        </p:txBody>
      </p:sp>
      <p:sp>
        <p:nvSpPr>
          <p:cNvPr id="15" name="TextBox 14"/>
          <p:cNvSpPr txBox="1"/>
          <p:nvPr/>
        </p:nvSpPr>
        <p:spPr>
          <a:xfrm>
            <a:off x="6464808" y="2313432"/>
            <a:ext cx="4873752" cy="758952"/>
          </a:xfrm>
          <a:prstGeom prst="rect">
            <a:avLst/>
          </a:prstGeom>
          <a:noFill/>
        </p:spPr>
        <p:txBody>
          <a:bodyPr wrap="square">
            <a:spAutoFit/>
          </a:bodyPr>
          <a:lstStyle/>
          <a:p>
            <a:pPr>
              <a:spcAft>
                <a:spcPts val="700"/>
              </a:spcAft>
            </a:pPr>
            <a:r>
              <a:rPr sz="1500" b="0">
                <a:solidFill>
                  <a:srgbClr val="303E44"/>
                </a:solidFill>
                <a:latin typeface="Aptos"/>
              </a:rPr>
              <a:t>Traço (cimento, água, aditivo), idade e resistência de ensaios anteriores.</a:t>
            </a:r>
          </a:p>
        </p:txBody>
      </p:sp>
      <p:sp>
        <p:nvSpPr>
          <p:cNvPr id="16" name="Rounded Rectangle 15"/>
          <p:cNvSpPr/>
          <p:nvPr/>
        </p:nvSpPr>
        <p:spPr>
          <a:xfrm>
            <a:off x="640080" y="35204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352044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685032"/>
            <a:ext cx="4873752" cy="384048"/>
          </a:xfrm>
          <a:prstGeom prst="rect">
            <a:avLst/>
          </a:prstGeom>
          <a:noFill/>
        </p:spPr>
        <p:txBody>
          <a:bodyPr wrap="square">
            <a:spAutoFit/>
          </a:bodyPr>
          <a:lstStyle/>
          <a:p>
            <a:pPr>
              <a:spcAft>
                <a:spcPts val="700"/>
              </a:spcAft>
            </a:pPr>
            <a:r>
              <a:rPr sz="1700" b="1">
                <a:solidFill>
                  <a:srgbClr val="142A38"/>
                </a:solidFill>
                <a:latin typeface="Georgia"/>
              </a:rPr>
              <a:t>Técnica</a:t>
            </a:r>
          </a:p>
        </p:txBody>
      </p:sp>
      <p:sp>
        <p:nvSpPr>
          <p:cNvPr id="19" name="TextBox 18"/>
          <p:cNvSpPr txBox="1"/>
          <p:nvPr/>
        </p:nvSpPr>
        <p:spPr>
          <a:xfrm>
            <a:off x="841247" y="4142232"/>
            <a:ext cx="4873752" cy="758952"/>
          </a:xfrm>
          <a:prstGeom prst="rect">
            <a:avLst/>
          </a:prstGeom>
          <a:noFill/>
        </p:spPr>
        <p:txBody>
          <a:bodyPr wrap="square">
            <a:spAutoFit/>
          </a:bodyPr>
          <a:lstStyle/>
          <a:p>
            <a:pPr>
              <a:spcAft>
                <a:spcPts val="700"/>
              </a:spcAft>
            </a:pPr>
            <a:r>
              <a:rPr sz="1500" b="0">
                <a:solidFill>
                  <a:srgbClr val="303E44"/>
                </a:solidFill>
                <a:latin typeface="Aptos"/>
              </a:rPr>
              <a:t>Regressão: linear e Random Forest, com visualização da relação água/cimento.</a:t>
            </a:r>
          </a:p>
        </p:txBody>
      </p:sp>
      <p:sp>
        <p:nvSpPr>
          <p:cNvPr id="20" name="Rounded Rectangle 19"/>
          <p:cNvSpPr/>
          <p:nvPr/>
        </p:nvSpPr>
        <p:spPr>
          <a:xfrm>
            <a:off x="6263640" y="35204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352044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64808" y="3685032"/>
            <a:ext cx="4873752" cy="384048"/>
          </a:xfrm>
          <a:prstGeom prst="rect">
            <a:avLst/>
          </a:prstGeom>
          <a:noFill/>
        </p:spPr>
        <p:txBody>
          <a:bodyPr wrap="square">
            <a:spAutoFit/>
          </a:bodyPr>
          <a:lstStyle/>
          <a:p>
            <a:pPr>
              <a:spcAft>
                <a:spcPts val="700"/>
              </a:spcAft>
            </a:pPr>
            <a:r>
              <a:rPr sz="1700" b="1">
                <a:solidFill>
                  <a:srgbClr val="142A38"/>
                </a:solidFill>
                <a:latin typeface="Georgia"/>
              </a:rPr>
              <a:t>Ganho</a:t>
            </a:r>
          </a:p>
        </p:txBody>
      </p:sp>
      <p:sp>
        <p:nvSpPr>
          <p:cNvPr id="23" name="TextBox 22"/>
          <p:cNvSpPr txBox="1"/>
          <p:nvPr/>
        </p:nvSpPr>
        <p:spPr>
          <a:xfrm>
            <a:off x="6464808" y="4142232"/>
            <a:ext cx="4873752" cy="758952"/>
          </a:xfrm>
          <a:prstGeom prst="rect">
            <a:avLst/>
          </a:prstGeom>
          <a:noFill/>
        </p:spPr>
        <p:txBody>
          <a:bodyPr wrap="square">
            <a:spAutoFit/>
          </a:bodyPr>
          <a:lstStyle/>
          <a:p>
            <a:pPr>
              <a:spcAft>
                <a:spcPts val="700"/>
              </a:spcAft>
            </a:pPr>
            <a:r>
              <a:rPr sz="1500" b="0">
                <a:solidFill>
                  <a:srgbClr val="303E44"/>
                </a:solidFill>
                <a:latin typeface="Aptos"/>
              </a:rPr>
              <a:t>Ajustar o traço antes, decidir a desforma e reduzir ensaios e desperdício.</a:t>
            </a:r>
          </a:p>
        </p:txBody>
      </p:sp>
      <p:sp>
        <p:nvSpPr>
          <p:cNvPr id="24" name="TextBox 23"/>
          <p:cNvSpPr txBox="1"/>
          <p:nvPr/>
        </p:nvSpPr>
        <p:spPr>
          <a:xfrm>
            <a:off x="822960" y="5623560"/>
            <a:ext cx="10424160" cy="365760"/>
          </a:xfrm>
          <a:prstGeom prst="rect">
            <a:avLst/>
          </a:prstGeom>
          <a:noFill/>
        </p:spPr>
        <p:txBody>
          <a:bodyPr wrap="square">
            <a:spAutoFit/>
          </a:bodyPr>
          <a:lstStyle/>
          <a:p>
            <a:pPr>
              <a:spcAft>
                <a:spcPts val="700"/>
              </a:spcAft>
            </a:pPr>
            <a:r>
              <a:rPr sz="1500" b="1">
                <a:solidFill>
                  <a:srgbClr val="142A38"/>
                </a:solidFill>
                <a:latin typeface="Aptos"/>
              </a:rPr>
              <a:t>Prática no Colab: seção 1. Dados simulados a partir da Lei de Abrams.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BLOCO 1 · CIVIL · COLAB: EXERCÍCIOS 1.1 A 1.4</a:t>
            </a:r>
          </a:p>
        </p:txBody>
      </p:sp>
      <p:sp>
        <p:nvSpPr>
          <p:cNvPr id="4" name="TextBox 3"/>
          <p:cNvSpPr txBox="1"/>
          <p:nvPr/>
        </p:nvSpPr>
        <p:spPr>
          <a:xfrm>
            <a:off x="530352" y="566928"/>
            <a:ext cx="11155680" cy="566928"/>
          </a:xfrm>
          <a:prstGeom prst="rect">
            <a:avLst/>
          </a:prstGeom>
          <a:noFill/>
        </p:spPr>
        <p:txBody>
          <a:bodyPr wrap="square">
            <a:spAutoFit/>
          </a:bodyPr>
          <a:lstStyle/>
          <a:p>
            <a:pPr>
              <a:spcAft>
                <a:spcPts val="700"/>
              </a:spcAft>
            </a:pPr>
            <a:r>
              <a:rPr sz="2700" b="1">
                <a:solidFill>
                  <a:srgbClr val="142A38"/>
                </a:solidFill>
                <a:latin typeface="Georgia"/>
              </a:rPr>
              <a:t>Regressão: resistência do concreto</a:t>
            </a:r>
          </a:p>
        </p:txBody>
      </p:sp>
      <p:sp>
        <p:nvSpPr>
          <p:cNvPr id="5" name="TextBox 4"/>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Pergunta: qual a resistência (MPa) a partir do traço e da idade?</a:t>
            </a:r>
          </a:p>
        </p:txBody>
      </p:sp>
      <p:sp>
        <p:nvSpPr>
          <p:cNvPr id="6" name="TextBox 5"/>
          <p:cNvSpPr txBox="1"/>
          <p:nvPr/>
        </p:nvSpPr>
        <p:spPr>
          <a:xfrm>
            <a:off x="530352" y="6519672"/>
            <a:ext cx="9144000" cy="182880"/>
          </a:xfrm>
          <a:prstGeom prst="rect">
            <a:avLst/>
          </a:prstGeom>
          <a:noFill/>
        </p:spPr>
        <p:txBody>
          <a:bodyPr wrap="square">
            <a:spAutoFit/>
          </a:bodyPr>
          <a:lstStyle/>
          <a:p>
            <a:pPr>
              <a:spcAft>
                <a:spcPts val="700"/>
              </a:spcAft>
            </a:pPr>
            <a:r>
              <a:rPr sz="900" b="0">
                <a:solidFill>
                  <a:srgbClr val="637478"/>
                </a:solidFill>
                <a:latin typeface="Aptos"/>
              </a:rPr>
              <a:t>Da engenharia à oncologia · IA na solução de problemas reais</a:t>
            </a:r>
          </a:p>
        </p:txBody>
      </p:sp>
      <p:sp>
        <p:nvSpPr>
          <p:cNvPr id="7" name="TextBox 6"/>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52</a:t>
            </a:r>
          </a:p>
        </p:txBody>
      </p:sp>
      <p:pic>
        <p:nvPicPr>
          <p:cNvPr id="8" name="Figura g_civil.png" descr="g_civil.png"/>
          <p:cNvPicPr>
            <a:picLocks noChangeAspect="1"/>
          </p:cNvPicPr>
          <p:nvPr/>
        </p:nvPicPr>
        <p:blipFill>
          <a:blip r:embed="rId3"/>
          <a:stretch>
            <a:fillRect/>
          </a:stretch>
        </p:blipFill>
        <p:spPr>
          <a:xfrm>
            <a:off x="1067428" y="1737360"/>
            <a:ext cx="10056837" cy="3154680"/>
          </a:xfrm>
          <a:prstGeom prst="rect">
            <a:avLst/>
          </a:prstGeom>
        </p:spPr>
      </p:pic>
      <p:sp>
        <p:nvSpPr>
          <p:cNvPr id="9" name="Mensagem"/>
          <p:cNvSpPr/>
          <p:nvPr/>
        </p:nvSpPr>
        <p:spPr>
          <a:xfrm>
            <a:off x="566928" y="5093207"/>
            <a:ext cx="11064240" cy="731520"/>
          </a:xfrm>
          <a:prstGeom prst="roundRect">
            <a:avLst>
              <a:gd name="adj" fmla="val 18000"/>
            </a:avLst>
          </a:prstGeom>
          <a:solidFill>
            <a:srgbClr val="10272D"/>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36576" rIns="228600" bIns="36576" rtlCol="0" anchor="ctr"/>
          <a:lstStyle/>
          <a:p>
            <a:pPr algn="ctr"/>
            <a:r>
              <a:rPr sz="1500" b="1">
                <a:solidFill>
                  <a:srgbClr val="E8C27A"/>
                </a:solidFill>
                <a:latin typeface="Aptos"/>
              </a:rPr>
              <a:t>No teste: </a:t>
            </a:r>
            <a:r>
              <a:rPr sz="1500" b="1">
                <a:solidFill>
                  <a:srgbClr val="FAF7EF"/>
                </a:solidFill>
                <a:latin typeface="Aptos"/>
              </a:rPr>
              <a:t>Random Forest com MAE de 2,16 MPa e R² de 0,96. A regressão linear erra 5,53 MPa e, com a relação água/cimento, cai para 3,10 MPa.</a:t>
            </a:r>
          </a:p>
        </p:txBody>
      </p:sp>
      <p:sp>
        <p:nvSpPr>
          <p:cNvPr id="10" name="Fonte dos dados"/>
          <p:cNvSpPr txBox="1"/>
          <p:nvPr/>
        </p:nvSpPr>
        <p:spPr>
          <a:xfrm>
            <a:off x="566928" y="5916168"/>
            <a:ext cx="11064240" cy="274320"/>
          </a:xfrm>
          <a:prstGeom prst="rect">
            <a:avLst/>
          </a:prstGeom>
          <a:noFill/>
        </p:spPr>
        <p:txBody>
          <a:bodyPr wrap="none" lIns="0" tIns="0" rIns="0" bIns="0">
            <a:spAutoFit/>
          </a:bodyPr>
          <a:lstStyle/>
          <a:p>
            <a:r>
              <a:rPr sz="1100" i="1">
                <a:solidFill>
                  <a:srgbClr val="3B4A4F"/>
                </a:solidFill>
                <a:latin typeface="Aptos"/>
              </a:rPr>
              <a:t>Dados simulados, para fins didáticos. Notebook, seção 1.</a:t>
            </a:r>
          </a:p>
        </p:txBody>
      </p:sp>
      <p:sp>
        <p:nvSpPr>
          <p:cNvPr id="11" name="TextBox 10"/>
          <p:cNvSpPr txBox="1"/>
          <p:nvPr/>
        </p:nvSpPr>
        <p:spPr>
          <a:xfrm>
            <a:off x="566928" y="6181344"/>
            <a:ext cx="11064240" cy="329184"/>
          </a:xfrm>
          <a:prstGeom prst="rect">
            <a:avLst/>
          </a:prstGeom>
          <a:noFill/>
        </p:spPr>
        <p:txBody>
          <a:bodyPr wrap="square" lIns="45720" tIns="18288" rIns="45720" bIns="18288" anchor="t">
            <a:spAutoFit/>
          </a:bodyPr>
          <a:lstStyle/>
          <a:p>
            <a:r>
              <a:rPr sz="950" b="1">
                <a:solidFill>
                  <a:srgbClr val="007A78"/>
                </a:solidFill>
                <a:latin typeface="Aptos"/>
              </a:rPr>
              <a:t>Como ler: </a:t>
            </a:r>
            <a:r>
              <a:rPr sz="950">
                <a:solidFill>
                  <a:srgbClr val="14283A"/>
                </a:solidFill>
                <a:latin typeface="Aptos"/>
              </a:rPr>
              <a:t>(A) cada ponto é uma amostra de concreto: mais água por cimento, menos resistência, e a cor mostra a idade. (B) real × previsto no teste: quanto mais perto da diagonal, melhor. (C) a idade e o cimento são as variáveis mais usadas pelo modelo.</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BLOCO 2 · PRODUÇÃO · ONDE IMPLEMENTAR</a:t>
            </a:r>
          </a:p>
        </p:txBody>
      </p:sp>
      <p:sp>
        <p:nvSpPr>
          <p:cNvPr id="4" name="TextBox 3"/>
          <p:cNvSpPr txBox="1"/>
          <p:nvPr/>
        </p:nvSpPr>
        <p:spPr>
          <a:xfrm>
            <a:off x="530352" y="566928"/>
            <a:ext cx="11155680" cy="566928"/>
          </a:xfrm>
          <a:prstGeom prst="rect">
            <a:avLst/>
          </a:prstGeom>
          <a:noFill/>
        </p:spPr>
        <p:txBody>
          <a:bodyPr wrap="square">
            <a:spAutoFit/>
          </a:bodyPr>
          <a:lstStyle/>
          <a:p>
            <a:pPr>
              <a:spcAft>
                <a:spcPts val="700"/>
              </a:spcAft>
            </a:pPr>
            <a:r>
              <a:rPr sz="2700" b="1" dirty="0" err="1">
                <a:solidFill>
                  <a:srgbClr val="142A38"/>
                </a:solidFill>
                <a:latin typeface="Georgia"/>
              </a:rPr>
              <a:t>Produção</a:t>
            </a:r>
            <a:r>
              <a:rPr sz="2700" b="1" dirty="0">
                <a:solidFill>
                  <a:srgbClr val="142A38"/>
                </a:solidFill>
                <a:latin typeface="Georgia"/>
              </a:rPr>
              <a:t>: </a:t>
            </a:r>
            <a:r>
              <a:rPr sz="2700" b="1" dirty="0" err="1">
                <a:solidFill>
                  <a:srgbClr val="142A38"/>
                </a:solidFill>
                <a:latin typeface="Georgia"/>
              </a:rPr>
              <a:t>qualidade</a:t>
            </a:r>
            <a:r>
              <a:rPr sz="2700" b="1" dirty="0">
                <a:solidFill>
                  <a:srgbClr val="142A38"/>
                </a:solidFill>
                <a:latin typeface="Georgia"/>
              </a:rPr>
              <a:t> da </a:t>
            </a:r>
            <a:r>
              <a:rPr sz="2700" b="1" dirty="0" err="1">
                <a:solidFill>
                  <a:srgbClr val="142A38"/>
                </a:solidFill>
                <a:latin typeface="Georgia"/>
              </a:rPr>
              <a:t>peça</a:t>
            </a:r>
            <a:r>
              <a:rPr sz="2700" b="1" dirty="0">
                <a:solidFill>
                  <a:srgbClr val="142A38"/>
                </a:solidFill>
                <a:latin typeface="Georgia"/>
              </a:rPr>
              <a:t> </a:t>
            </a:r>
            <a:r>
              <a:rPr sz="2700" b="1" dirty="0" err="1">
                <a:solidFill>
                  <a:srgbClr val="142A38"/>
                </a:solidFill>
                <a:latin typeface="Georgia"/>
              </a:rPr>
              <a:t>na</a:t>
            </a:r>
            <a:r>
              <a:rPr sz="2700" b="1" dirty="0">
                <a:solidFill>
                  <a:srgbClr val="142A38"/>
                </a:solidFill>
                <a:latin typeface="Georgia"/>
              </a:rPr>
              <a:t> </a:t>
            </a:r>
            <a:r>
              <a:rPr sz="2700" b="1" dirty="0" err="1">
                <a:solidFill>
                  <a:srgbClr val="142A38"/>
                </a:solidFill>
                <a:latin typeface="Georgia"/>
              </a:rPr>
              <a:t>linha</a:t>
            </a:r>
            <a:endParaRPr sz="2700" b="1" dirty="0">
              <a:solidFill>
                <a:srgbClr val="142A38"/>
              </a:solidFill>
              <a:latin typeface="Georgia"/>
            </a:endParaRPr>
          </a:p>
        </p:txBody>
      </p:sp>
      <p:sp>
        <p:nvSpPr>
          <p:cNvPr id="5" name="TextBox 4"/>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Injeção, usinagem e montagem: achar o defeito antes da inspeção final.</a:t>
            </a:r>
          </a:p>
        </p:txBody>
      </p:sp>
      <p:sp>
        <p:nvSpPr>
          <p:cNvPr id="6" name="TextBox 5"/>
          <p:cNvSpPr txBox="1"/>
          <p:nvPr/>
        </p:nvSpPr>
        <p:spPr>
          <a:xfrm>
            <a:off x="530352" y="6519672"/>
            <a:ext cx="9144000" cy="182880"/>
          </a:xfrm>
          <a:prstGeom prst="rect">
            <a:avLst/>
          </a:prstGeom>
          <a:noFill/>
        </p:spPr>
        <p:txBody>
          <a:bodyPr wrap="square">
            <a:spAutoFit/>
          </a:bodyPr>
          <a:lstStyle/>
          <a:p>
            <a:pPr>
              <a:spcAft>
                <a:spcPts val="700"/>
              </a:spcAft>
            </a:pPr>
            <a:r>
              <a:rPr sz="900" b="0">
                <a:solidFill>
                  <a:srgbClr val="637478"/>
                </a:solidFill>
                <a:latin typeface="Aptos"/>
              </a:rPr>
              <a:t>Da engenharia à oncologia · IA na solução de problemas reais</a:t>
            </a:r>
          </a:p>
        </p:txBody>
      </p:sp>
      <p:sp>
        <p:nvSpPr>
          <p:cNvPr id="7" name="TextBox 6"/>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53</a:t>
            </a:r>
          </a:p>
        </p:txBody>
      </p:sp>
      <p:sp>
        <p:nvSpPr>
          <p:cNvPr id="8" name="Rounded Rectangle 7"/>
          <p:cNvSpPr/>
          <p:nvPr/>
        </p:nvSpPr>
        <p:spPr>
          <a:xfrm>
            <a:off x="640080" y="16916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9164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856232"/>
            <a:ext cx="4873752" cy="384048"/>
          </a:xfrm>
          <a:prstGeom prst="rect">
            <a:avLst/>
          </a:prstGeom>
          <a:noFill/>
        </p:spPr>
        <p:txBody>
          <a:bodyPr wrap="square">
            <a:spAutoFit/>
          </a:bodyPr>
          <a:lstStyle/>
          <a:p>
            <a:pPr>
              <a:spcAft>
                <a:spcPts val="700"/>
              </a:spcAft>
            </a:pPr>
            <a:r>
              <a:rPr sz="1700" b="1">
                <a:solidFill>
                  <a:srgbClr val="142A38"/>
                </a:solidFill>
                <a:latin typeface="Georgia"/>
              </a:rPr>
              <a:t>Problema</a:t>
            </a:r>
          </a:p>
        </p:txBody>
      </p:sp>
      <p:sp>
        <p:nvSpPr>
          <p:cNvPr id="11" name="TextBox 10"/>
          <p:cNvSpPr txBox="1"/>
          <p:nvPr/>
        </p:nvSpPr>
        <p:spPr>
          <a:xfrm>
            <a:off x="841247" y="2313432"/>
            <a:ext cx="4873752" cy="758952"/>
          </a:xfrm>
          <a:prstGeom prst="rect">
            <a:avLst/>
          </a:prstGeom>
          <a:noFill/>
        </p:spPr>
        <p:txBody>
          <a:bodyPr wrap="square">
            <a:spAutoFit/>
          </a:bodyPr>
          <a:lstStyle/>
          <a:p>
            <a:pPr>
              <a:spcAft>
                <a:spcPts val="700"/>
              </a:spcAft>
            </a:pPr>
            <a:r>
              <a:rPr sz="1500" b="0">
                <a:solidFill>
                  <a:srgbClr val="303E44"/>
                </a:solidFill>
                <a:latin typeface="Aptos"/>
              </a:rPr>
              <a:t>Defeitos são raros (cerca de 10%); inspecionar tudo é caro e lento.</a:t>
            </a:r>
          </a:p>
        </p:txBody>
      </p:sp>
      <p:sp>
        <p:nvSpPr>
          <p:cNvPr id="12" name="Rounded Rectangle 11"/>
          <p:cNvSpPr/>
          <p:nvPr/>
        </p:nvSpPr>
        <p:spPr>
          <a:xfrm>
            <a:off x="6263640" y="16916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69164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8" y="1856232"/>
            <a:ext cx="4873752" cy="384048"/>
          </a:xfrm>
          <a:prstGeom prst="rect">
            <a:avLst/>
          </a:prstGeom>
          <a:noFill/>
        </p:spPr>
        <p:txBody>
          <a:bodyPr wrap="square">
            <a:spAutoFit/>
          </a:bodyPr>
          <a:lstStyle/>
          <a:p>
            <a:pPr>
              <a:spcAft>
                <a:spcPts val="700"/>
              </a:spcAft>
            </a:pPr>
            <a:r>
              <a:rPr sz="1700" b="1">
                <a:solidFill>
                  <a:srgbClr val="142A38"/>
                </a:solidFill>
                <a:latin typeface="Georgia"/>
              </a:rPr>
              <a:t>Dados</a:t>
            </a:r>
          </a:p>
        </p:txBody>
      </p:sp>
      <p:sp>
        <p:nvSpPr>
          <p:cNvPr id="15" name="TextBox 14"/>
          <p:cNvSpPr txBox="1"/>
          <p:nvPr/>
        </p:nvSpPr>
        <p:spPr>
          <a:xfrm>
            <a:off x="6464808" y="2313432"/>
            <a:ext cx="4873752" cy="758952"/>
          </a:xfrm>
          <a:prstGeom prst="rect">
            <a:avLst/>
          </a:prstGeom>
          <a:noFill/>
        </p:spPr>
        <p:txBody>
          <a:bodyPr wrap="square">
            <a:spAutoFit/>
          </a:bodyPr>
          <a:lstStyle/>
          <a:p>
            <a:pPr>
              <a:spcAft>
                <a:spcPts val="700"/>
              </a:spcAft>
            </a:pPr>
            <a:r>
              <a:rPr sz="1500" b="0">
                <a:solidFill>
                  <a:srgbClr val="303E44"/>
                </a:solidFill>
                <a:latin typeface="Aptos"/>
              </a:rPr>
              <a:t>Temperatura, pressão, velocidade, umidade e desgaste da ferramenta.</a:t>
            </a:r>
          </a:p>
        </p:txBody>
      </p:sp>
      <p:sp>
        <p:nvSpPr>
          <p:cNvPr id="16" name="Rounded Rectangle 15"/>
          <p:cNvSpPr/>
          <p:nvPr/>
        </p:nvSpPr>
        <p:spPr>
          <a:xfrm>
            <a:off x="640080" y="35204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352044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685032"/>
            <a:ext cx="4873752" cy="384048"/>
          </a:xfrm>
          <a:prstGeom prst="rect">
            <a:avLst/>
          </a:prstGeom>
          <a:noFill/>
        </p:spPr>
        <p:txBody>
          <a:bodyPr wrap="square">
            <a:spAutoFit/>
          </a:bodyPr>
          <a:lstStyle/>
          <a:p>
            <a:pPr>
              <a:spcAft>
                <a:spcPts val="700"/>
              </a:spcAft>
            </a:pPr>
            <a:r>
              <a:rPr sz="1700" b="1">
                <a:solidFill>
                  <a:srgbClr val="142A38"/>
                </a:solidFill>
                <a:latin typeface="Georgia"/>
              </a:rPr>
              <a:t>Técnica</a:t>
            </a:r>
          </a:p>
        </p:txBody>
      </p:sp>
      <p:sp>
        <p:nvSpPr>
          <p:cNvPr id="19" name="TextBox 18"/>
          <p:cNvSpPr txBox="1"/>
          <p:nvPr/>
        </p:nvSpPr>
        <p:spPr>
          <a:xfrm>
            <a:off x="841247" y="4142232"/>
            <a:ext cx="4873752" cy="758952"/>
          </a:xfrm>
          <a:prstGeom prst="rect">
            <a:avLst/>
          </a:prstGeom>
          <a:noFill/>
        </p:spPr>
        <p:txBody>
          <a:bodyPr wrap="square">
            <a:spAutoFit/>
          </a:bodyPr>
          <a:lstStyle/>
          <a:p>
            <a:pPr>
              <a:spcAft>
                <a:spcPts val="700"/>
              </a:spcAft>
            </a:pPr>
            <a:r>
              <a:rPr sz="1500" b="0">
                <a:solidFill>
                  <a:srgbClr val="303E44"/>
                </a:solidFill>
                <a:latin typeface="Aptos"/>
              </a:rPr>
              <a:t>Classificação: regressão logística, árvore e Random Forest; recall e precisão.</a:t>
            </a:r>
          </a:p>
        </p:txBody>
      </p:sp>
      <p:sp>
        <p:nvSpPr>
          <p:cNvPr id="20" name="Rounded Rectangle 19"/>
          <p:cNvSpPr/>
          <p:nvPr/>
        </p:nvSpPr>
        <p:spPr>
          <a:xfrm>
            <a:off x="6263640" y="35204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352044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64808" y="3685032"/>
            <a:ext cx="4873752" cy="384048"/>
          </a:xfrm>
          <a:prstGeom prst="rect">
            <a:avLst/>
          </a:prstGeom>
          <a:noFill/>
        </p:spPr>
        <p:txBody>
          <a:bodyPr wrap="square">
            <a:spAutoFit/>
          </a:bodyPr>
          <a:lstStyle/>
          <a:p>
            <a:pPr>
              <a:spcAft>
                <a:spcPts val="700"/>
              </a:spcAft>
            </a:pPr>
            <a:r>
              <a:rPr sz="1700" b="1">
                <a:solidFill>
                  <a:srgbClr val="142A38"/>
                </a:solidFill>
                <a:latin typeface="Georgia"/>
              </a:rPr>
              <a:t>Ganho</a:t>
            </a:r>
          </a:p>
        </p:txBody>
      </p:sp>
      <p:sp>
        <p:nvSpPr>
          <p:cNvPr id="23" name="TextBox 22"/>
          <p:cNvSpPr txBox="1"/>
          <p:nvPr/>
        </p:nvSpPr>
        <p:spPr>
          <a:xfrm>
            <a:off x="6464808" y="4142232"/>
            <a:ext cx="4873752" cy="758952"/>
          </a:xfrm>
          <a:prstGeom prst="rect">
            <a:avLst/>
          </a:prstGeom>
          <a:noFill/>
        </p:spPr>
        <p:txBody>
          <a:bodyPr wrap="square">
            <a:spAutoFit/>
          </a:bodyPr>
          <a:lstStyle/>
          <a:p>
            <a:pPr>
              <a:spcAft>
                <a:spcPts val="700"/>
              </a:spcAft>
            </a:pPr>
            <a:r>
              <a:rPr sz="1500" b="0">
                <a:solidFill>
                  <a:srgbClr val="303E44"/>
                </a:solidFill>
                <a:latin typeface="Aptos"/>
              </a:rPr>
              <a:t>Menos refugo e retrabalho; inspeção direcionada às peças de risco.</a:t>
            </a:r>
          </a:p>
        </p:txBody>
      </p:sp>
      <p:sp>
        <p:nvSpPr>
          <p:cNvPr id="24" name="TextBox 23"/>
          <p:cNvSpPr txBox="1"/>
          <p:nvPr/>
        </p:nvSpPr>
        <p:spPr>
          <a:xfrm>
            <a:off x="822960" y="5623560"/>
            <a:ext cx="10424160" cy="365760"/>
          </a:xfrm>
          <a:prstGeom prst="rect">
            <a:avLst/>
          </a:prstGeom>
          <a:noFill/>
        </p:spPr>
        <p:txBody>
          <a:bodyPr wrap="square">
            <a:spAutoFit/>
          </a:bodyPr>
          <a:lstStyle/>
          <a:p>
            <a:pPr>
              <a:spcAft>
                <a:spcPts val="700"/>
              </a:spcAft>
            </a:pPr>
            <a:r>
              <a:rPr sz="1500" b="1">
                <a:solidFill>
                  <a:srgbClr val="142A38"/>
                </a:solidFill>
                <a:latin typeface="Aptos"/>
              </a:rPr>
              <a:t>Cuidado: dizer 'sempre boa' acerta 88%. Por isso olhamos recall e precisão.</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BLOCO 2 · PRODUÇÃO · COLAB: EXERCÍCIOS 2.1 A 2.5</a:t>
            </a:r>
          </a:p>
        </p:txBody>
      </p:sp>
      <p:sp>
        <p:nvSpPr>
          <p:cNvPr id="4" name="TextBox 3"/>
          <p:cNvSpPr txBox="1"/>
          <p:nvPr/>
        </p:nvSpPr>
        <p:spPr>
          <a:xfrm>
            <a:off x="530352" y="566928"/>
            <a:ext cx="11155680" cy="566928"/>
          </a:xfrm>
          <a:prstGeom prst="rect">
            <a:avLst/>
          </a:prstGeom>
          <a:noFill/>
        </p:spPr>
        <p:txBody>
          <a:bodyPr wrap="square">
            <a:spAutoFit/>
          </a:bodyPr>
          <a:lstStyle/>
          <a:p>
            <a:pPr>
              <a:spcAft>
                <a:spcPts val="700"/>
              </a:spcAft>
            </a:pPr>
            <a:r>
              <a:rPr sz="2700" b="1">
                <a:solidFill>
                  <a:srgbClr val="142A38"/>
                </a:solidFill>
                <a:latin typeface="Georgia"/>
              </a:rPr>
              <a:t>Classificação: peça boa ou defeituosa</a:t>
            </a:r>
          </a:p>
        </p:txBody>
      </p:sp>
      <p:sp>
        <p:nvSpPr>
          <p:cNvPr id="5" name="TextBox 4"/>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Pergunta: a peça terá defeito, dados os parâmetros do processo?</a:t>
            </a:r>
          </a:p>
        </p:txBody>
      </p:sp>
      <p:sp>
        <p:nvSpPr>
          <p:cNvPr id="6" name="TextBox 5"/>
          <p:cNvSpPr txBox="1"/>
          <p:nvPr/>
        </p:nvSpPr>
        <p:spPr>
          <a:xfrm>
            <a:off x="530352" y="6519672"/>
            <a:ext cx="9144000" cy="182880"/>
          </a:xfrm>
          <a:prstGeom prst="rect">
            <a:avLst/>
          </a:prstGeom>
          <a:noFill/>
        </p:spPr>
        <p:txBody>
          <a:bodyPr wrap="square">
            <a:spAutoFit/>
          </a:bodyPr>
          <a:lstStyle/>
          <a:p>
            <a:pPr>
              <a:spcAft>
                <a:spcPts val="700"/>
              </a:spcAft>
            </a:pPr>
            <a:r>
              <a:rPr sz="900" b="0">
                <a:solidFill>
                  <a:srgbClr val="637478"/>
                </a:solidFill>
                <a:latin typeface="Aptos"/>
              </a:rPr>
              <a:t>Da engenharia à oncologia · IA na solução de problemas reais</a:t>
            </a:r>
          </a:p>
        </p:txBody>
      </p:sp>
      <p:sp>
        <p:nvSpPr>
          <p:cNvPr id="7" name="TextBox 6"/>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54</a:t>
            </a:r>
          </a:p>
        </p:txBody>
      </p:sp>
      <p:pic>
        <p:nvPicPr>
          <p:cNvPr id="8" name="Figura g_producao.png" descr="g_producao.png"/>
          <p:cNvPicPr>
            <a:picLocks noChangeAspect="1"/>
          </p:cNvPicPr>
          <p:nvPr/>
        </p:nvPicPr>
        <p:blipFill>
          <a:blip r:embed="rId3"/>
          <a:stretch>
            <a:fillRect/>
          </a:stretch>
        </p:blipFill>
        <p:spPr>
          <a:xfrm>
            <a:off x="1065355" y="1737360"/>
            <a:ext cx="10060983" cy="3154679"/>
          </a:xfrm>
          <a:prstGeom prst="rect">
            <a:avLst/>
          </a:prstGeom>
        </p:spPr>
      </p:pic>
      <p:sp>
        <p:nvSpPr>
          <p:cNvPr id="9" name="Mensagem"/>
          <p:cNvSpPr/>
          <p:nvPr/>
        </p:nvSpPr>
        <p:spPr>
          <a:xfrm>
            <a:off x="566928" y="5093207"/>
            <a:ext cx="11064240" cy="731520"/>
          </a:xfrm>
          <a:prstGeom prst="roundRect">
            <a:avLst>
              <a:gd name="adj" fmla="val 18000"/>
            </a:avLst>
          </a:prstGeom>
          <a:solidFill>
            <a:srgbClr val="10272D"/>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36576" rIns="228600" bIns="36576" rtlCol="0" anchor="ctr"/>
          <a:lstStyle/>
          <a:p>
            <a:pPr algn="ctr"/>
            <a:r>
              <a:rPr sz="1500" b="1">
                <a:solidFill>
                  <a:srgbClr val="E8C27A"/>
                </a:solidFill>
                <a:latin typeface="Aptos"/>
              </a:rPr>
              <a:t>Defeitos raros (11,6%): </a:t>
            </a:r>
            <a:r>
              <a:rPr sz="1500" b="1">
                <a:solidFill>
                  <a:srgbClr val="FAF7EF"/>
                </a:solidFill>
                <a:latin typeface="Aptos"/>
              </a:rPr>
              <a:t>dizer 'sempre boa' acerta 88,5% e não acha nenhum defeito; o Random Forest acha 74% dos defeitos, com 74% de precisão.</a:t>
            </a:r>
          </a:p>
        </p:txBody>
      </p:sp>
      <p:sp>
        <p:nvSpPr>
          <p:cNvPr id="10" name="Fonte dos dados"/>
          <p:cNvSpPr txBox="1"/>
          <p:nvPr/>
        </p:nvSpPr>
        <p:spPr>
          <a:xfrm>
            <a:off x="566928" y="5916168"/>
            <a:ext cx="11064240" cy="274320"/>
          </a:xfrm>
          <a:prstGeom prst="rect">
            <a:avLst/>
          </a:prstGeom>
          <a:noFill/>
        </p:spPr>
        <p:txBody>
          <a:bodyPr wrap="none" lIns="0" tIns="0" rIns="0" bIns="0">
            <a:spAutoFit/>
          </a:bodyPr>
          <a:lstStyle/>
          <a:p>
            <a:r>
              <a:rPr sz="1100" i="1">
                <a:solidFill>
                  <a:srgbClr val="3B4A4F"/>
                </a:solidFill>
                <a:latin typeface="Aptos"/>
              </a:rPr>
              <a:t>Dados simulados, para fins didáticos. Notebook, seção 2.</a:t>
            </a:r>
          </a:p>
        </p:txBody>
      </p:sp>
      <p:sp>
        <p:nvSpPr>
          <p:cNvPr id="11" name="TextBox 10"/>
          <p:cNvSpPr txBox="1"/>
          <p:nvPr/>
        </p:nvSpPr>
        <p:spPr>
          <a:xfrm>
            <a:off x="566928" y="6181344"/>
            <a:ext cx="11064240" cy="329184"/>
          </a:xfrm>
          <a:prstGeom prst="rect">
            <a:avLst/>
          </a:prstGeom>
          <a:noFill/>
        </p:spPr>
        <p:txBody>
          <a:bodyPr wrap="square" lIns="45720" tIns="18288" rIns="45720" bIns="18288" anchor="t">
            <a:spAutoFit/>
          </a:bodyPr>
          <a:lstStyle/>
          <a:p>
            <a:r>
              <a:rPr sz="950" b="1">
                <a:solidFill>
                  <a:srgbClr val="007A78"/>
                </a:solidFill>
                <a:latin typeface="Aptos"/>
              </a:rPr>
              <a:t>Como ler: </a:t>
            </a:r>
            <a:r>
              <a:rPr sz="950">
                <a:solidFill>
                  <a:srgbClr val="14283A"/>
                </a:solidFill>
                <a:latin typeface="Aptos"/>
              </a:rPr>
              <a:t>(A) cada ponto é uma peça (temperatura do molde × pressão): os defeitos (laranja) ficam nas bordas da faixa ideal. (B e C) matrizes de confusão no teste: linhas = real, colunas = previsto; a regressão logística acha 0 dos 72 defeitos, o Random Forest acha 53.</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BLOCO 3 · ELÉTRICA · ONDE IMPLEMENTAR</a:t>
            </a:r>
          </a:p>
        </p:txBody>
      </p:sp>
      <p:sp>
        <p:nvSpPr>
          <p:cNvPr id="4" name="TextBox 3"/>
          <p:cNvSpPr txBox="1"/>
          <p:nvPr/>
        </p:nvSpPr>
        <p:spPr>
          <a:xfrm>
            <a:off x="530352" y="566928"/>
            <a:ext cx="11155680" cy="566928"/>
          </a:xfrm>
          <a:prstGeom prst="rect">
            <a:avLst/>
          </a:prstGeom>
          <a:noFill/>
        </p:spPr>
        <p:txBody>
          <a:bodyPr wrap="square">
            <a:spAutoFit/>
          </a:bodyPr>
          <a:lstStyle/>
          <a:p>
            <a:pPr>
              <a:spcAft>
                <a:spcPts val="700"/>
              </a:spcAft>
            </a:pPr>
            <a:r>
              <a:rPr sz="2700" b="1">
                <a:solidFill>
                  <a:srgbClr val="142A38"/>
                </a:solidFill>
                <a:latin typeface="Georgia"/>
              </a:rPr>
              <a:t>Elétrica: perfis e anomalias em motores</a:t>
            </a:r>
          </a:p>
        </p:txBody>
      </p:sp>
      <p:sp>
        <p:nvSpPr>
          <p:cNvPr id="5" name="TextBox 4"/>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Motores, transformadores e painéis com sensores de corrente, vibração e temperatura.</a:t>
            </a:r>
          </a:p>
        </p:txBody>
      </p:sp>
      <p:sp>
        <p:nvSpPr>
          <p:cNvPr id="6" name="TextBox 5"/>
          <p:cNvSpPr txBox="1"/>
          <p:nvPr/>
        </p:nvSpPr>
        <p:spPr>
          <a:xfrm>
            <a:off x="530352" y="6519672"/>
            <a:ext cx="9144000" cy="182880"/>
          </a:xfrm>
          <a:prstGeom prst="rect">
            <a:avLst/>
          </a:prstGeom>
          <a:noFill/>
        </p:spPr>
        <p:txBody>
          <a:bodyPr wrap="square">
            <a:spAutoFit/>
          </a:bodyPr>
          <a:lstStyle/>
          <a:p>
            <a:pPr>
              <a:spcAft>
                <a:spcPts val="700"/>
              </a:spcAft>
            </a:pPr>
            <a:r>
              <a:rPr sz="900" b="0">
                <a:solidFill>
                  <a:srgbClr val="637478"/>
                </a:solidFill>
                <a:latin typeface="Aptos"/>
              </a:rPr>
              <a:t>Da engenharia à oncologia · IA na solução de problemas reais</a:t>
            </a:r>
          </a:p>
        </p:txBody>
      </p:sp>
      <p:sp>
        <p:nvSpPr>
          <p:cNvPr id="7" name="TextBox 6"/>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55</a:t>
            </a:r>
          </a:p>
        </p:txBody>
      </p:sp>
      <p:sp>
        <p:nvSpPr>
          <p:cNvPr id="8" name="Rounded Rectangle 7"/>
          <p:cNvSpPr/>
          <p:nvPr/>
        </p:nvSpPr>
        <p:spPr>
          <a:xfrm>
            <a:off x="640080" y="16916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9164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856232"/>
            <a:ext cx="4873752" cy="384048"/>
          </a:xfrm>
          <a:prstGeom prst="rect">
            <a:avLst/>
          </a:prstGeom>
          <a:noFill/>
        </p:spPr>
        <p:txBody>
          <a:bodyPr wrap="square">
            <a:spAutoFit/>
          </a:bodyPr>
          <a:lstStyle/>
          <a:p>
            <a:pPr>
              <a:spcAft>
                <a:spcPts val="700"/>
              </a:spcAft>
            </a:pPr>
            <a:r>
              <a:rPr sz="1700" b="1">
                <a:solidFill>
                  <a:srgbClr val="142A38"/>
                </a:solidFill>
                <a:latin typeface="Georgia"/>
              </a:rPr>
              <a:t>Problema</a:t>
            </a:r>
          </a:p>
        </p:txBody>
      </p:sp>
      <p:sp>
        <p:nvSpPr>
          <p:cNvPr id="11" name="TextBox 10"/>
          <p:cNvSpPr txBox="1"/>
          <p:nvPr/>
        </p:nvSpPr>
        <p:spPr>
          <a:xfrm>
            <a:off x="841247" y="2313432"/>
            <a:ext cx="4873752" cy="758952"/>
          </a:xfrm>
          <a:prstGeom prst="rect">
            <a:avLst/>
          </a:prstGeom>
          <a:noFill/>
        </p:spPr>
        <p:txBody>
          <a:bodyPr wrap="square">
            <a:spAutoFit/>
          </a:bodyPr>
          <a:lstStyle/>
          <a:p>
            <a:pPr>
              <a:spcAft>
                <a:spcPts val="700"/>
              </a:spcAft>
            </a:pPr>
            <a:r>
              <a:rPr sz="1500" b="0">
                <a:solidFill>
                  <a:srgbClr val="303E44"/>
                </a:solidFill>
                <a:latin typeface="Aptos"/>
              </a:rPr>
              <a:t>Quase não há falhas rotuladas; como saber o que é normal e o que é anormal?</a:t>
            </a:r>
          </a:p>
        </p:txBody>
      </p:sp>
      <p:sp>
        <p:nvSpPr>
          <p:cNvPr id="12" name="Rounded Rectangle 11"/>
          <p:cNvSpPr/>
          <p:nvPr/>
        </p:nvSpPr>
        <p:spPr>
          <a:xfrm>
            <a:off x="6263640" y="16916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69164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8" y="1856232"/>
            <a:ext cx="4873752" cy="384048"/>
          </a:xfrm>
          <a:prstGeom prst="rect">
            <a:avLst/>
          </a:prstGeom>
          <a:noFill/>
        </p:spPr>
        <p:txBody>
          <a:bodyPr wrap="square">
            <a:spAutoFit/>
          </a:bodyPr>
          <a:lstStyle/>
          <a:p>
            <a:pPr>
              <a:spcAft>
                <a:spcPts val="700"/>
              </a:spcAft>
            </a:pPr>
            <a:r>
              <a:rPr sz="1700" b="1">
                <a:solidFill>
                  <a:srgbClr val="142A38"/>
                </a:solidFill>
                <a:latin typeface="Georgia"/>
              </a:rPr>
              <a:t>Dados</a:t>
            </a:r>
          </a:p>
        </p:txBody>
      </p:sp>
      <p:sp>
        <p:nvSpPr>
          <p:cNvPr id="15" name="TextBox 14"/>
          <p:cNvSpPr txBox="1"/>
          <p:nvPr/>
        </p:nvSpPr>
        <p:spPr>
          <a:xfrm>
            <a:off x="6464808" y="2313432"/>
            <a:ext cx="4873752" cy="758952"/>
          </a:xfrm>
          <a:prstGeom prst="rect">
            <a:avLst/>
          </a:prstGeom>
          <a:noFill/>
        </p:spPr>
        <p:txBody>
          <a:bodyPr wrap="square">
            <a:spAutoFit/>
          </a:bodyPr>
          <a:lstStyle/>
          <a:p>
            <a:pPr>
              <a:spcAft>
                <a:spcPts val="700"/>
              </a:spcAft>
            </a:pPr>
            <a:r>
              <a:rPr sz="1500" b="0">
                <a:solidFill>
                  <a:srgbClr val="303E44"/>
                </a:solidFill>
                <a:latin typeface="Aptos"/>
              </a:rPr>
              <a:t>Rotação, corrente, vibração e temperatura lidas continuamente.</a:t>
            </a:r>
          </a:p>
        </p:txBody>
      </p:sp>
      <p:sp>
        <p:nvSpPr>
          <p:cNvPr id="16" name="Rounded Rectangle 15"/>
          <p:cNvSpPr/>
          <p:nvPr/>
        </p:nvSpPr>
        <p:spPr>
          <a:xfrm>
            <a:off x="640080" y="35204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352044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685032"/>
            <a:ext cx="4873752" cy="384048"/>
          </a:xfrm>
          <a:prstGeom prst="rect">
            <a:avLst/>
          </a:prstGeom>
          <a:noFill/>
        </p:spPr>
        <p:txBody>
          <a:bodyPr wrap="square">
            <a:spAutoFit/>
          </a:bodyPr>
          <a:lstStyle/>
          <a:p>
            <a:pPr>
              <a:spcAft>
                <a:spcPts val="700"/>
              </a:spcAft>
            </a:pPr>
            <a:r>
              <a:rPr sz="1700" b="1">
                <a:solidFill>
                  <a:srgbClr val="142A38"/>
                </a:solidFill>
                <a:latin typeface="Georgia"/>
              </a:rPr>
              <a:t>Técnica</a:t>
            </a:r>
          </a:p>
        </p:txBody>
      </p:sp>
      <p:sp>
        <p:nvSpPr>
          <p:cNvPr id="19" name="TextBox 18"/>
          <p:cNvSpPr txBox="1"/>
          <p:nvPr/>
        </p:nvSpPr>
        <p:spPr>
          <a:xfrm>
            <a:off x="841247" y="4142232"/>
            <a:ext cx="4873752" cy="758952"/>
          </a:xfrm>
          <a:prstGeom prst="rect">
            <a:avLst/>
          </a:prstGeom>
          <a:noFill/>
        </p:spPr>
        <p:txBody>
          <a:bodyPr wrap="square">
            <a:spAutoFit/>
          </a:bodyPr>
          <a:lstStyle/>
          <a:p>
            <a:pPr>
              <a:spcAft>
                <a:spcPts val="700"/>
              </a:spcAft>
            </a:pPr>
            <a:r>
              <a:rPr sz="1500" b="0">
                <a:solidFill>
                  <a:srgbClr val="303E44"/>
                </a:solidFill>
                <a:latin typeface="Aptos"/>
              </a:rPr>
              <a:t>Não supervisionado: k-means (perfis de operação) e Isolation Forest (anomalias).</a:t>
            </a:r>
          </a:p>
        </p:txBody>
      </p:sp>
      <p:sp>
        <p:nvSpPr>
          <p:cNvPr id="20" name="Rounded Rectangle 19"/>
          <p:cNvSpPr/>
          <p:nvPr/>
        </p:nvSpPr>
        <p:spPr>
          <a:xfrm>
            <a:off x="6263640" y="35204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352044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64808" y="3685032"/>
            <a:ext cx="4873752" cy="384048"/>
          </a:xfrm>
          <a:prstGeom prst="rect">
            <a:avLst/>
          </a:prstGeom>
          <a:noFill/>
        </p:spPr>
        <p:txBody>
          <a:bodyPr wrap="square">
            <a:spAutoFit/>
          </a:bodyPr>
          <a:lstStyle/>
          <a:p>
            <a:pPr>
              <a:spcAft>
                <a:spcPts val="700"/>
              </a:spcAft>
            </a:pPr>
            <a:r>
              <a:rPr sz="1700" b="1">
                <a:solidFill>
                  <a:srgbClr val="142A38"/>
                </a:solidFill>
                <a:latin typeface="Georgia"/>
              </a:rPr>
              <a:t>Ganho</a:t>
            </a:r>
          </a:p>
        </p:txBody>
      </p:sp>
      <p:sp>
        <p:nvSpPr>
          <p:cNvPr id="23" name="TextBox 22"/>
          <p:cNvSpPr txBox="1"/>
          <p:nvPr/>
        </p:nvSpPr>
        <p:spPr>
          <a:xfrm>
            <a:off x="6464808" y="4142232"/>
            <a:ext cx="4873752" cy="758952"/>
          </a:xfrm>
          <a:prstGeom prst="rect">
            <a:avLst/>
          </a:prstGeom>
          <a:noFill/>
        </p:spPr>
        <p:txBody>
          <a:bodyPr wrap="square">
            <a:spAutoFit/>
          </a:bodyPr>
          <a:lstStyle/>
          <a:p>
            <a:pPr>
              <a:spcAft>
                <a:spcPts val="700"/>
              </a:spcAft>
            </a:pPr>
            <a:r>
              <a:rPr sz="1500" b="0">
                <a:solidFill>
                  <a:srgbClr val="303E44"/>
                </a:solidFill>
                <a:latin typeface="Aptos"/>
              </a:rPr>
              <a:t>Alerta antes da falha, menos paradas e manutenção planejada (com n8n).</a:t>
            </a:r>
          </a:p>
        </p:txBody>
      </p:sp>
      <p:sp>
        <p:nvSpPr>
          <p:cNvPr id="24" name="TextBox 23"/>
          <p:cNvSpPr txBox="1"/>
          <p:nvPr/>
        </p:nvSpPr>
        <p:spPr>
          <a:xfrm>
            <a:off x="822960" y="5623560"/>
            <a:ext cx="10424160" cy="365760"/>
          </a:xfrm>
          <a:prstGeom prst="rect">
            <a:avLst/>
          </a:prstGeom>
          <a:noFill/>
        </p:spPr>
        <p:txBody>
          <a:bodyPr wrap="square">
            <a:spAutoFit/>
          </a:bodyPr>
          <a:lstStyle/>
          <a:p>
            <a:pPr>
              <a:spcAft>
                <a:spcPts val="700"/>
              </a:spcAft>
            </a:pPr>
            <a:r>
              <a:rPr sz="1500" b="1">
                <a:solidFill>
                  <a:srgbClr val="142A38"/>
                </a:solidFill>
                <a:latin typeface="Aptos"/>
              </a:rPr>
              <a:t>Sem rótulos, o algoritmo sinaliza e a pessoa decide.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BLOCO 3 · ELÉTRICA · COLAB: EXERCÍCIOS 3.1 A 3.6</a:t>
            </a:r>
          </a:p>
        </p:txBody>
      </p:sp>
      <p:sp>
        <p:nvSpPr>
          <p:cNvPr id="4" name="TextBox 3"/>
          <p:cNvSpPr txBox="1"/>
          <p:nvPr/>
        </p:nvSpPr>
        <p:spPr>
          <a:xfrm>
            <a:off x="530352" y="566928"/>
            <a:ext cx="11155680" cy="566928"/>
          </a:xfrm>
          <a:prstGeom prst="rect">
            <a:avLst/>
          </a:prstGeom>
          <a:noFill/>
        </p:spPr>
        <p:txBody>
          <a:bodyPr wrap="square">
            <a:spAutoFit/>
          </a:bodyPr>
          <a:lstStyle/>
          <a:p>
            <a:pPr>
              <a:spcAft>
                <a:spcPts val="700"/>
              </a:spcAft>
            </a:pPr>
            <a:r>
              <a:rPr sz="2700" b="1">
                <a:solidFill>
                  <a:srgbClr val="142A38"/>
                </a:solidFill>
                <a:latin typeface="Georgia"/>
              </a:rPr>
              <a:t>Não supervisionado: regimes e anomalias</a:t>
            </a:r>
          </a:p>
        </p:txBody>
      </p:sp>
      <p:sp>
        <p:nvSpPr>
          <p:cNvPr id="5" name="TextBox 4"/>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Pergunta: quantos regimes de operação existem e o que foge do padrão?</a:t>
            </a:r>
          </a:p>
        </p:txBody>
      </p:sp>
      <p:sp>
        <p:nvSpPr>
          <p:cNvPr id="6" name="TextBox 5"/>
          <p:cNvSpPr txBox="1"/>
          <p:nvPr/>
        </p:nvSpPr>
        <p:spPr>
          <a:xfrm>
            <a:off x="530352" y="6519672"/>
            <a:ext cx="9144000" cy="182880"/>
          </a:xfrm>
          <a:prstGeom prst="rect">
            <a:avLst/>
          </a:prstGeom>
          <a:noFill/>
        </p:spPr>
        <p:txBody>
          <a:bodyPr wrap="square">
            <a:spAutoFit/>
          </a:bodyPr>
          <a:lstStyle/>
          <a:p>
            <a:pPr>
              <a:spcAft>
                <a:spcPts val="700"/>
              </a:spcAft>
            </a:pPr>
            <a:r>
              <a:rPr sz="900" b="0">
                <a:solidFill>
                  <a:srgbClr val="637478"/>
                </a:solidFill>
                <a:latin typeface="Aptos"/>
              </a:rPr>
              <a:t>Da engenharia à oncologia · IA na solução de problemas reais</a:t>
            </a:r>
          </a:p>
        </p:txBody>
      </p:sp>
      <p:sp>
        <p:nvSpPr>
          <p:cNvPr id="7" name="TextBox 6"/>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56</a:t>
            </a:r>
          </a:p>
        </p:txBody>
      </p:sp>
      <p:pic>
        <p:nvPicPr>
          <p:cNvPr id="8" name="Figura g_eletrica.png" descr="g_eletrica.png"/>
          <p:cNvPicPr>
            <a:picLocks noChangeAspect="1"/>
          </p:cNvPicPr>
          <p:nvPr/>
        </p:nvPicPr>
        <p:blipFill>
          <a:blip r:embed="rId3"/>
          <a:stretch>
            <a:fillRect/>
          </a:stretch>
        </p:blipFill>
        <p:spPr>
          <a:xfrm>
            <a:off x="1065355" y="1737360"/>
            <a:ext cx="10060983" cy="3154679"/>
          </a:xfrm>
          <a:prstGeom prst="rect">
            <a:avLst/>
          </a:prstGeom>
        </p:spPr>
      </p:pic>
      <p:sp>
        <p:nvSpPr>
          <p:cNvPr id="9" name="Mensagem"/>
          <p:cNvSpPr/>
          <p:nvPr/>
        </p:nvSpPr>
        <p:spPr>
          <a:xfrm>
            <a:off x="566928" y="5093207"/>
            <a:ext cx="11064240" cy="731520"/>
          </a:xfrm>
          <a:prstGeom prst="roundRect">
            <a:avLst>
              <a:gd name="adj" fmla="val 18000"/>
            </a:avLst>
          </a:prstGeom>
          <a:solidFill>
            <a:srgbClr val="10272D"/>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36576" rIns="228600" bIns="36576" rtlCol="0" anchor="ctr"/>
          <a:lstStyle/>
          <a:p>
            <a:pPr algn="ctr"/>
            <a:r>
              <a:rPr sz="1500" b="1">
                <a:solidFill>
                  <a:srgbClr val="E8C27A"/>
                </a:solidFill>
                <a:latin typeface="Aptos"/>
              </a:rPr>
              <a:t>Sem nenhum rótulo: </a:t>
            </a:r>
            <a:r>
              <a:rPr sz="1500" b="1">
                <a:solidFill>
                  <a:srgbClr val="FAF7EF"/>
                </a:solidFill>
                <a:latin typeface="Aptos"/>
              </a:rPr>
              <a:t>o k-means recuperou os 3 regimes de carga (Rand ajustado 0,79) e o Isolation Forest achou 3 de 3 anomalias, com 6 alertas no total.</a:t>
            </a:r>
          </a:p>
        </p:txBody>
      </p:sp>
      <p:sp>
        <p:nvSpPr>
          <p:cNvPr id="10" name="Fonte dos dados"/>
          <p:cNvSpPr txBox="1"/>
          <p:nvPr/>
        </p:nvSpPr>
        <p:spPr>
          <a:xfrm>
            <a:off x="566928" y="5916168"/>
            <a:ext cx="11064240" cy="274320"/>
          </a:xfrm>
          <a:prstGeom prst="rect">
            <a:avLst/>
          </a:prstGeom>
          <a:noFill/>
        </p:spPr>
        <p:txBody>
          <a:bodyPr wrap="none" lIns="0" tIns="0" rIns="0" bIns="0">
            <a:spAutoFit/>
          </a:bodyPr>
          <a:lstStyle/>
          <a:p>
            <a:r>
              <a:rPr sz="1100" i="1">
                <a:solidFill>
                  <a:srgbClr val="3B4A4F"/>
                </a:solidFill>
                <a:latin typeface="Aptos"/>
              </a:rPr>
              <a:t>Dados simulados, para fins didáticos. Cores = grupos encontrados. Notebook, seção 3.</a:t>
            </a:r>
          </a:p>
        </p:txBody>
      </p:sp>
      <p:sp>
        <p:nvSpPr>
          <p:cNvPr id="11" name="TextBox 10"/>
          <p:cNvSpPr txBox="1"/>
          <p:nvPr/>
        </p:nvSpPr>
        <p:spPr>
          <a:xfrm>
            <a:off x="566928" y="6181344"/>
            <a:ext cx="11064240" cy="329184"/>
          </a:xfrm>
          <a:prstGeom prst="rect">
            <a:avLst/>
          </a:prstGeom>
          <a:noFill/>
        </p:spPr>
        <p:txBody>
          <a:bodyPr wrap="square" lIns="45720" tIns="18288" rIns="45720" bIns="18288" anchor="t">
            <a:spAutoFit/>
          </a:bodyPr>
          <a:lstStyle/>
          <a:p>
            <a:r>
              <a:rPr sz="950" b="1">
                <a:solidFill>
                  <a:srgbClr val="007A78"/>
                </a:solidFill>
                <a:latin typeface="Aptos"/>
              </a:rPr>
              <a:t>Como ler: </a:t>
            </a:r>
            <a:r>
              <a:rPr sz="950">
                <a:solidFill>
                  <a:srgbClr val="14283A"/>
                </a:solidFill>
                <a:latin typeface="Aptos"/>
              </a:rPr>
              <a:t>(A) leituras do motor em 2 eixos, coloridas pelo grupo do k-means (3 regimes). (B) cotovelo: a inércia cai devagar depois de k = 3. (C) vibração no tempo: pontos vermelhos são leituras fora do padrão (os 3 picos reais e 3 falsos alarmes).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BLOCO 4 · MECÂNICA · ONDE IMPLEMENTAR</a:t>
            </a:r>
          </a:p>
        </p:txBody>
      </p:sp>
      <p:sp>
        <p:nvSpPr>
          <p:cNvPr id="4" name="TextBox 3"/>
          <p:cNvSpPr txBox="1"/>
          <p:nvPr/>
        </p:nvSpPr>
        <p:spPr>
          <a:xfrm>
            <a:off x="530352" y="566928"/>
            <a:ext cx="11155680" cy="566928"/>
          </a:xfrm>
          <a:prstGeom prst="rect">
            <a:avLst/>
          </a:prstGeom>
          <a:noFill/>
        </p:spPr>
        <p:txBody>
          <a:bodyPr wrap="square">
            <a:spAutoFit/>
          </a:bodyPr>
          <a:lstStyle/>
          <a:p>
            <a:pPr>
              <a:spcAft>
                <a:spcPts val="700"/>
              </a:spcAft>
            </a:pPr>
            <a:r>
              <a:rPr sz="2700" b="1">
                <a:solidFill>
                  <a:srgbClr val="142A38"/>
                </a:solidFill>
                <a:latin typeface="Georgia"/>
              </a:rPr>
              <a:t>Mecânica: diagnóstico de rolamentos</a:t>
            </a:r>
          </a:p>
        </p:txBody>
      </p:sp>
      <p:sp>
        <p:nvSpPr>
          <p:cNvPr id="5" name="TextBox 4"/>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Bombas, ventiladores e redutores: o acelerômetro diz muito sobre a saúde da máquina.</a:t>
            </a:r>
          </a:p>
        </p:txBody>
      </p:sp>
      <p:sp>
        <p:nvSpPr>
          <p:cNvPr id="6" name="TextBox 5"/>
          <p:cNvSpPr txBox="1"/>
          <p:nvPr/>
        </p:nvSpPr>
        <p:spPr>
          <a:xfrm>
            <a:off x="530352" y="6519672"/>
            <a:ext cx="9144000" cy="182880"/>
          </a:xfrm>
          <a:prstGeom prst="rect">
            <a:avLst/>
          </a:prstGeom>
          <a:noFill/>
        </p:spPr>
        <p:txBody>
          <a:bodyPr wrap="square">
            <a:spAutoFit/>
          </a:bodyPr>
          <a:lstStyle/>
          <a:p>
            <a:pPr>
              <a:spcAft>
                <a:spcPts val="700"/>
              </a:spcAft>
            </a:pPr>
            <a:r>
              <a:rPr sz="900" b="0">
                <a:solidFill>
                  <a:srgbClr val="637478"/>
                </a:solidFill>
                <a:latin typeface="Aptos"/>
              </a:rPr>
              <a:t>Da engenharia à oncologia · IA na solução de problemas reais</a:t>
            </a:r>
          </a:p>
        </p:txBody>
      </p:sp>
      <p:sp>
        <p:nvSpPr>
          <p:cNvPr id="7" name="TextBox 6"/>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57</a:t>
            </a:r>
          </a:p>
        </p:txBody>
      </p:sp>
      <p:sp>
        <p:nvSpPr>
          <p:cNvPr id="8" name="Rounded Rectangle 7"/>
          <p:cNvSpPr/>
          <p:nvPr/>
        </p:nvSpPr>
        <p:spPr>
          <a:xfrm>
            <a:off x="640080" y="16916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9164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856232"/>
            <a:ext cx="4873752" cy="384048"/>
          </a:xfrm>
          <a:prstGeom prst="rect">
            <a:avLst/>
          </a:prstGeom>
          <a:noFill/>
        </p:spPr>
        <p:txBody>
          <a:bodyPr wrap="square">
            <a:spAutoFit/>
          </a:bodyPr>
          <a:lstStyle/>
          <a:p>
            <a:pPr>
              <a:spcAft>
                <a:spcPts val="700"/>
              </a:spcAft>
            </a:pPr>
            <a:r>
              <a:rPr sz="1700" b="1">
                <a:solidFill>
                  <a:srgbClr val="142A38"/>
                </a:solidFill>
                <a:latin typeface="Georgia"/>
              </a:rPr>
              <a:t>Problema</a:t>
            </a:r>
          </a:p>
        </p:txBody>
      </p:sp>
      <p:sp>
        <p:nvSpPr>
          <p:cNvPr id="11" name="TextBox 10"/>
          <p:cNvSpPr txBox="1"/>
          <p:nvPr/>
        </p:nvSpPr>
        <p:spPr>
          <a:xfrm>
            <a:off x="841247" y="2313432"/>
            <a:ext cx="4873752" cy="758952"/>
          </a:xfrm>
          <a:prstGeom prst="rect">
            <a:avLst/>
          </a:prstGeom>
          <a:noFill/>
        </p:spPr>
        <p:txBody>
          <a:bodyPr wrap="square">
            <a:spAutoFit/>
          </a:bodyPr>
          <a:lstStyle/>
          <a:p>
            <a:pPr>
              <a:spcAft>
                <a:spcPts val="700"/>
              </a:spcAft>
            </a:pPr>
            <a:r>
              <a:rPr sz="1500" b="0">
                <a:solidFill>
                  <a:srgbClr val="303E44"/>
                </a:solidFill>
                <a:latin typeface="Aptos"/>
              </a:rPr>
              <a:t>Saber se o rolamento está saudável ou com falha, e em qual pista.</a:t>
            </a:r>
          </a:p>
        </p:txBody>
      </p:sp>
      <p:sp>
        <p:nvSpPr>
          <p:cNvPr id="12" name="Rounded Rectangle 11"/>
          <p:cNvSpPr/>
          <p:nvPr/>
        </p:nvSpPr>
        <p:spPr>
          <a:xfrm>
            <a:off x="6263640" y="16916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69164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8" y="1856232"/>
            <a:ext cx="4873752" cy="384048"/>
          </a:xfrm>
          <a:prstGeom prst="rect">
            <a:avLst/>
          </a:prstGeom>
          <a:noFill/>
        </p:spPr>
        <p:txBody>
          <a:bodyPr wrap="square">
            <a:spAutoFit/>
          </a:bodyPr>
          <a:lstStyle/>
          <a:p>
            <a:pPr>
              <a:spcAft>
                <a:spcPts val="700"/>
              </a:spcAft>
            </a:pPr>
            <a:r>
              <a:rPr sz="1700" b="1">
                <a:solidFill>
                  <a:srgbClr val="142A38"/>
                </a:solidFill>
                <a:latin typeface="Georgia"/>
              </a:rPr>
              <a:t>Dados</a:t>
            </a:r>
          </a:p>
        </p:txBody>
      </p:sp>
      <p:sp>
        <p:nvSpPr>
          <p:cNvPr id="15" name="TextBox 14"/>
          <p:cNvSpPr txBox="1"/>
          <p:nvPr/>
        </p:nvSpPr>
        <p:spPr>
          <a:xfrm>
            <a:off x="6464808" y="2313432"/>
            <a:ext cx="4873752" cy="758952"/>
          </a:xfrm>
          <a:prstGeom prst="rect">
            <a:avLst/>
          </a:prstGeom>
          <a:noFill/>
        </p:spPr>
        <p:txBody>
          <a:bodyPr wrap="square">
            <a:spAutoFit/>
          </a:bodyPr>
          <a:lstStyle/>
          <a:p>
            <a:pPr>
              <a:spcAft>
                <a:spcPts val="700"/>
              </a:spcAft>
            </a:pPr>
            <a:r>
              <a:rPr sz="1500" b="0">
                <a:solidFill>
                  <a:srgbClr val="303E44"/>
                </a:solidFill>
                <a:latin typeface="Aptos"/>
              </a:rPr>
              <a:t>RMS, curtose, fator de crista, energias nas frequências de falha e temperatura.</a:t>
            </a:r>
          </a:p>
        </p:txBody>
      </p:sp>
      <p:sp>
        <p:nvSpPr>
          <p:cNvPr id="16" name="Rounded Rectangle 15"/>
          <p:cNvSpPr/>
          <p:nvPr/>
        </p:nvSpPr>
        <p:spPr>
          <a:xfrm>
            <a:off x="640080" y="35204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352044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685032"/>
            <a:ext cx="4873752" cy="384048"/>
          </a:xfrm>
          <a:prstGeom prst="rect">
            <a:avLst/>
          </a:prstGeom>
          <a:noFill/>
        </p:spPr>
        <p:txBody>
          <a:bodyPr wrap="square">
            <a:spAutoFit/>
          </a:bodyPr>
          <a:lstStyle/>
          <a:p>
            <a:pPr>
              <a:spcAft>
                <a:spcPts val="700"/>
              </a:spcAft>
            </a:pPr>
            <a:r>
              <a:rPr sz="1700" b="1">
                <a:solidFill>
                  <a:srgbClr val="142A38"/>
                </a:solidFill>
                <a:latin typeface="Georgia"/>
              </a:rPr>
              <a:t>Técnica</a:t>
            </a:r>
          </a:p>
        </p:txBody>
      </p:sp>
      <p:sp>
        <p:nvSpPr>
          <p:cNvPr id="19" name="TextBox 18"/>
          <p:cNvSpPr txBox="1"/>
          <p:nvPr/>
        </p:nvSpPr>
        <p:spPr>
          <a:xfrm>
            <a:off x="841247" y="4142232"/>
            <a:ext cx="4873752" cy="758952"/>
          </a:xfrm>
          <a:prstGeom prst="rect">
            <a:avLst/>
          </a:prstGeom>
          <a:noFill/>
        </p:spPr>
        <p:txBody>
          <a:bodyPr wrap="square">
            <a:spAutoFit/>
          </a:bodyPr>
          <a:lstStyle/>
          <a:p>
            <a:pPr>
              <a:spcAft>
                <a:spcPts val="700"/>
              </a:spcAft>
            </a:pPr>
            <a:r>
              <a:rPr sz="1500" b="0">
                <a:solidFill>
                  <a:srgbClr val="303E44"/>
                </a:solidFill>
                <a:latin typeface="Aptos"/>
              </a:rPr>
              <a:t>PCA para visualizar 6 variáveis em 2 eixos e SVM para classificar.</a:t>
            </a:r>
          </a:p>
        </p:txBody>
      </p:sp>
      <p:sp>
        <p:nvSpPr>
          <p:cNvPr id="20" name="Rounded Rectangle 19"/>
          <p:cNvSpPr/>
          <p:nvPr/>
        </p:nvSpPr>
        <p:spPr>
          <a:xfrm>
            <a:off x="6263640" y="35204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352044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64808" y="3685032"/>
            <a:ext cx="4873752" cy="384048"/>
          </a:xfrm>
          <a:prstGeom prst="rect">
            <a:avLst/>
          </a:prstGeom>
          <a:noFill/>
        </p:spPr>
        <p:txBody>
          <a:bodyPr wrap="square">
            <a:spAutoFit/>
          </a:bodyPr>
          <a:lstStyle/>
          <a:p>
            <a:pPr>
              <a:spcAft>
                <a:spcPts val="700"/>
              </a:spcAft>
            </a:pPr>
            <a:r>
              <a:rPr sz="1700" b="1">
                <a:solidFill>
                  <a:srgbClr val="142A38"/>
                </a:solidFill>
                <a:latin typeface="Georgia"/>
              </a:rPr>
              <a:t>Ganho</a:t>
            </a:r>
          </a:p>
        </p:txBody>
      </p:sp>
      <p:sp>
        <p:nvSpPr>
          <p:cNvPr id="23" name="TextBox 22"/>
          <p:cNvSpPr txBox="1"/>
          <p:nvPr/>
        </p:nvSpPr>
        <p:spPr>
          <a:xfrm>
            <a:off x="6464808" y="4142232"/>
            <a:ext cx="4873752" cy="758952"/>
          </a:xfrm>
          <a:prstGeom prst="rect">
            <a:avLst/>
          </a:prstGeom>
          <a:noFill/>
        </p:spPr>
        <p:txBody>
          <a:bodyPr wrap="square">
            <a:spAutoFit/>
          </a:bodyPr>
          <a:lstStyle/>
          <a:p>
            <a:pPr>
              <a:spcAft>
                <a:spcPts val="700"/>
              </a:spcAft>
            </a:pPr>
            <a:r>
              <a:rPr sz="1500" b="0">
                <a:solidFill>
                  <a:srgbClr val="303E44"/>
                </a:solidFill>
                <a:latin typeface="Aptos"/>
              </a:rPr>
              <a:t>Trocar no momento certo, sem parada surpresa e sem troca antecipada.</a:t>
            </a:r>
          </a:p>
        </p:txBody>
      </p:sp>
      <p:sp>
        <p:nvSpPr>
          <p:cNvPr id="24" name="TextBox 23"/>
          <p:cNvSpPr txBox="1"/>
          <p:nvPr/>
        </p:nvSpPr>
        <p:spPr>
          <a:xfrm>
            <a:off x="822960" y="5623560"/>
            <a:ext cx="10424160" cy="365760"/>
          </a:xfrm>
          <a:prstGeom prst="rect">
            <a:avLst/>
          </a:prstGeom>
          <a:noFill/>
        </p:spPr>
        <p:txBody>
          <a:bodyPr wrap="square">
            <a:spAutoFit/>
          </a:bodyPr>
          <a:lstStyle/>
          <a:p>
            <a:pPr>
              <a:spcAft>
                <a:spcPts val="700"/>
              </a:spcAft>
            </a:pPr>
            <a:r>
              <a:rPr sz="1500" b="1">
                <a:solidFill>
                  <a:srgbClr val="142A38"/>
                </a:solidFill>
                <a:latin typeface="Aptos"/>
              </a:rPr>
              <a:t>O PCA ajuda a enxergar; o classificador decide. Ajuste o PCA só com o treino.</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BLOCO 4 · MECÂNICA · COLAB: EXERCÍCIOS 4.1 A 4.3</a:t>
            </a:r>
          </a:p>
        </p:txBody>
      </p:sp>
      <p:sp>
        <p:nvSpPr>
          <p:cNvPr id="4" name="TextBox 3"/>
          <p:cNvSpPr txBox="1"/>
          <p:nvPr/>
        </p:nvSpPr>
        <p:spPr>
          <a:xfrm>
            <a:off x="530352" y="566928"/>
            <a:ext cx="11155680" cy="566928"/>
          </a:xfrm>
          <a:prstGeom prst="rect">
            <a:avLst/>
          </a:prstGeom>
          <a:noFill/>
        </p:spPr>
        <p:txBody>
          <a:bodyPr wrap="square">
            <a:spAutoFit/>
          </a:bodyPr>
          <a:lstStyle/>
          <a:p>
            <a:pPr>
              <a:spcAft>
                <a:spcPts val="700"/>
              </a:spcAft>
            </a:pPr>
            <a:r>
              <a:rPr sz="2700" b="1">
                <a:solidFill>
                  <a:srgbClr val="142A38"/>
                </a:solidFill>
                <a:latin typeface="Georgia"/>
              </a:rPr>
              <a:t>PCA e SVM: condição do rolamento</a:t>
            </a:r>
          </a:p>
        </p:txBody>
      </p:sp>
      <p:sp>
        <p:nvSpPr>
          <p:cNvPr id="5" name="TextBox 4"/>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Pergunta: qual a condição do rolamento, dadas 6 características da vibração?</a:t>
            </a:r>
          </a:p>
        </p:txBody>
      </p:sp>
      <p:sp>
        <p:nvSpPr>
          <p:cNvPr id="6" name="TextBox 5"/>
          <p:cNvSpPr txBox="1"/>
          <p:nvPr/>
        </p:nvSpPr>
        <p:spPr>
          <a:xfrm>
            <a:off x="530352" y="6519672"/>
            <a:ext cx="9144000" cy="182880"/>
          </a:xfrm>
          <a:prstGeom prst="rect">
            <a:avLst/>
          </a:prstGeom>
          <a:noFill/>
        </p:spPr>
        <p:txBody>
          <a:bodyPr wrap="square">
            <a:spAutoFit/>
          </a:bodyPr>
          <a:lstStyle/>
          <a:p>
            <a:pPr>
              <a:spcAft>
                <a:spcPts val="700"/>
              </a:spcAft>
            </a:pPr>
            <a:r>
              <a:rPr sz="900" b="0">
                <a:solidFill>
                  <a:srgbClr val="637478"/>
                </a:solidFill>
                <a:latin typeface="Aptos"/>
              </a:rPr>
              <a:t>Da engenharia à oncologia · IA na solução de problemas reais</a:t>
            </a:r>
          </a:p>
        </p:txBody>
      </p:sp>
      <p:sp>
        <p:nvSpPr>
          <p:cNvPr id="7" name="TextBox 6"/>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58</a:t>
            </a:r>
          </a:p>
        </p:txBody>
      </p:sp>
      <p:pic>
        <p:nvPicPr>
          <p:cNvPr id="8" name="Figura g_mecanica.png" descr="g_mecanica.png"/>
          <p:cNvPicPr>
            <a:picLocks noChangeAspect="1"/>
          </p:cNvPicPr>
          <p:nvPr/>
        </p:nvPicPr>
        <p:blipFill>
          <a:blip r:embed="rId3"/>
          <a:stretch>
            <a:fillRect/>
          </a:stretch>
        </p:blipFill>
        <p:spPr>
          <a:xfrm>
            <a:off x="1065355" y="1737360"/>
            <a:ext cx="10060983" cy="3154679"/>
          </a:xfrm>
          <a:prstGeom prst="rect">
            <a:avLst/>
          </a:prstGeom>
        </p:spPr>
      </p:pic>
      <p:sp>
        <p:nvSpPr>
          <p:cNvPr id="9" name="Mensagem"/>
          <p:cNvSpPr/>
          <p:nvPr/>
        </p:nvSpPr>
        <p:spPr>
          <a:xfrm>
            <a:off x="566928" y="5093207"/>
            <a:ext cx="11064240" cy="731520"/>
          </a:xfrm>
          <a:prstGeom prst="roundRect">
            <a:avLst>
              <a:gd name="adj" fmla="val 18000"/>
            </a:avLst>
          </a:prstGeom>
          <a:solidFill>
            <a:srgbClr val="10272D"/>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36576" rIns="228600" bIns="36576" rtlCol="0" anchor="ctr"/>
          <a:lstStyle/>
          <a:p>
            <a:pPr algn="ctr"/>
            <a:r>
              <a:rPr sz="1500" b="1">
                <a:solidFill>
                  <a:srgbClr val="E8C27A"/>
                </a:solidFill>
                <a:latin typeface="Aptos"/>
              </a:rPr>
              <a:t>6 variáveis, 3 condições: </a:t>
            </a:r>
            <a:r>
              <a:rPr sz="1500" b="1">
                <a:solidFill>
                  <a:srgbClr val="FAF7EF"/>
                </a:solidFill>
                <a:latin typeface="Aptos"/>
              </a:rPr>
              <a:t>o SVM acerta 92,4% no teste. Reduzir para 2 componentes do PCA cai para 86,7%; com 3 componentes, 90,7%.</a:t>
            </a:r>
          </a:p>
        </p:txBody>
      </p:sp>
      <p:sp>
        <p:nvSpPr>
          <p:cNvPr id="10" name="Fonte dos dados"/>
          <p:cNvSpPr txBox="1"/>
          <p:nvPr/>
        </p:nvSpPr>
        <p:spPr>
          <a:xfrm>
            <a:off x="566928" y="5916168"/>
            <a:ext cx="11064240" cy="274320"/>
          </a:xfrm>
          <a:prstGeom prst="rect">
            <a:avLst/>
          </a:prstGeom>
          <a:noFill/>
        </p:spPr>
        <p:txBody>
          <a:bodyPr wrap="none" lIns="0" tIns="0" rIns="0" bIns="0">
            <a:spAutoFit/>
          </a:bodyPr>
          <a:lstStyle/>
          <a:p>
            <a:r>
              <a:rPr sz="1100" i="1">
                <a:solidFill>
                  <a:srgbClr val="3B4A4F"/>
                </a:solidFill>
                <a:latin typeface="Aptos"/>
              </a:rPr>
              <a:t>Dados simulados, para fins didáticos. Notebook, seção 4.</a:t>
            </a:r>
          </a:p>
        </p:txBody>
      </p:sp>
      <p:sp>
        <p:nvSpPr>
          <p:cNvPr id="11" name="TextBox 10"/>
          <p:cNvSpPr txBox="1"/>
          <p:nvPr/>
        </p:nvSpPr>
        <p:spPr>
          <a:xfrm>
            <a:off x="566928" y="6181344"/>
            <a:ext cx="11064240" cy="329184"/>
          </a:xfrm>
          <a:prstGeom prst="rect">
            <a:avLst/>
          </a:prstGeom>
          <a:noFill/>
        </p:spPr>
        <p:txBody>
          <a:bodyPr wrap="square" lIns="45720" tIns="18288" rIns="45720" bIns="18288" anchor="t">
            <a:spAutoFit/>
          </a:bodyPr>
          <a:lstStyle/>
          <a:p>
            <a:r>
              <a:rPr sz="950" b="1">
                <a:solidFill>
                  <a:srgbClr val="007A78"/>
                </a:solidFill>
                <a:latin typeface="Aptos"/>
              </a:rPr>
              <a:t>Como ler: </a:t>
            </a:r>
            <a:r>
              <a:rPr sz="950">
                <a:solidFill>
                  <a:srgbClr val="14283A"/>
                </a:solidFill>
                <a:latin typeface="Aptos"/>
              </a:rPr>
              <a:t>(A) cada ponto é um rolamento em 2 eixos: o saudável (verde) se separa das falhas, que se sobrepõem um pouco. (B) barras = informação de cada componente, linha = acumulado (2 componentes guardam cerca de 53%). (C) matriz do SVM no teste: diagonal = acertos; os erros ficam entre pista externa e interna.</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BLOCO 5 · QUÍMICA · ONDE IMPLEMENTAR</a:t>
            </a:r>
          </a:p>
        </p:txBody>
      </p:sp>
      <p:sp>
        <p:nvSpPr>
          <p:cNvPr id="4" name="TextBox 3"/>
          <p:cNvSpPr txBox="1"/>
          <p:nvPr/>
        </p:nvSpPr>
        <p:spPr>
          <a:xfrm>
            <a:off x="530352" y="566928"/>
            <a:ext cx="11155680" cy="566928"/>
          </a:xfrm>
          <a:prstGeom prst="rect">
            <a:avLst/>
          </a:prstGeom>
          <a:noFill/>
        </p:spPr>
        <p:txBody>
          <a:bodyPr wrap="square">
            <a:spAutoFit/>
          </a:bodyPr>
          <a:lstStyle/>
          <a:p>
            <a:pPr>
              <a:spcAft>
                <a:spcPts val="700"/>
              </a:spcAft>
            </a:pPr>
            <a:r>
              <a:rPr sz="2700" b="1">
                <a:solidFill>
                  <a:srgbClr val="142A38"/>
                </a:solidFill>
                <a:latin typeface="Georgia"/>
              </a:rPr>
              <a:t>Química: sensor virtual com espectros</a:t>
            </a:r>
          </a:p>
        </p:txBody>
      </p:sp>
      <p:sp>
        <p:nvSpPr>
          <p:cNvPr id="5" name="TextBox 4"/>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Reatores e linhas de processo com espectroscopia NIR: medir sem esperar o laboratório.</a:t>
            </a:r>
          </a:p>
        </p:txBody>
      </p:sp>
      <p:sp>
        <p:nvSpPr>
          <p:cNvPr id="6" name="TextBox 5"/>
          <p:cNvSpPr txBox="1"/>
          <p:nvPr/>
        </p:nvSpPr>
        <p:spPr>
          <a:xfrm>
            <a:off x="530352" y="6519672"/>
            <a:ext cx="9144000" cy="182880"/>
          </a:xfrm>
          <a:prstGeom prst="rect">
            <a:avLst/>
          </a:prstGeom>
          <a:noFill/>
        </p:spPr>
        <p:txBody>
          <a:bodyPr wrap="square">
            <a:spAutoFit/>
          </a:bodyPr>
          <a:lstStyle/>
          <a:p>
            <a:pPr>
              <a:spcAft>
                <a:spcPts val="700"/>
              </a:spcAft>
            </a:pPr>
            <a:r>
              <a:rPr sz="900" b="0">
                <a:solidFill>
                  <a:srgbClr val="637478"/>
                </a:solidFill>
                <a:latin typeface="Aptos"/>
              </a:rPr>
              <a:t>Da engenharia à oncologia · IA na solução de problemas reais</a:t>
            </a:r>
          </a:p>
        </p:txBody>
      </p:sp>
      <p:sp>
        <p:nvSpPr>
          <p:cNvPr id="7" name="TextBox 6"/>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59</a:t>
            </a:r>
          </a:p>
        </p:txBody>
      </p:sp>
      <p:sp>
        <p:nvSpPr>
          <p:cNvPr id="8" name="Rounded Rectangle 7"/>
          <p:cNvSpPr/>
          <p:nvPr/>
        </p:nvSpPr>
        <p:spPr>
          <a:xfrm>
            <a:off x="640080" y="16916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9164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1856232"/>
            <a:ext cx="4873752" cy="384048"/>
          </a:xfrm>
          <a:prstGeom prst="rect">
            <a:avLst/>
          </a:prstGeom>
          <a:noFill/>
        </p:spPr>
        <p:txBody>
          <a:bodyPr wrap="square">
            <a:spAutoFit/>
          </a:bodyPr>
          <a:lstStyle/>
          <a:p>
            <a:pPr>
              <a:spcAft>
                <a:spcPts val="700"/>
              </a:spcAft>
            </a:pPr>
            <a:r>
              <a:rPr sz="1700" b="1">
                <a:solidFill>
                  <a:srgbClr val="142A38"/>
                </a:solidFill>
                <a:latin typeface="Georgia"/>
              </a:rPr>
              <a:t>Problema</a:t>
            </a:r>
          </a:p>
        </p:txBody>
      </p:sp>
      <p:sp>
        <p:nvSpPr>
          <p:cNvPr id="11" name="TextBox 10"/>
          <p:cNvSpPr txBox="1"/>
          <p:nvPr/>
        </p:nvSpPr>
        <p:spPr>
          <a:xfrm>
            <a:off x="841247" y="2313432"/>
            <a:ext cx="4873752" cy="758952"/>
          </a:xfrm>
          <a:prstGeom prst="rect">
            <a:avLst/>
          </a:prstGeom>
          <a:noFill/>
        </p:spPr>
        <p:txBody>
          <a:bodyPr wrap="square">
            <a:spAutoFit/>
          </a:bodyPr>
          <a:lstStyle/>
          <a:p>
            <a:pPr>
              <a:spcAft>
                <a:spcPts val="700"/>
              </a:spcAft>
            </a:pPr>
            <a:r>
              <a:rPr sz="1500" b="0">
                <a:solidFill>
                  <a:srgbClr val="303E44"/>
                </a:solidFill>
                <a:latin typeface="Aptos"/>
              </a:rPr>
              <a:t>A análise de laboratório é lenta e os picos das substâncias se sobrepõem.</a:t>
            </a:r>
          </a:p>
        </p:txBody>
      </p:sp>
      <p:sp>
        <p:nvSpPr>
          <p:cNvPr id="12" name="Rounded Rectangle 11"/>
          <p:cNvSpPr/>
          <p:nvPr/>
        </p:nvSpPr>
        <p:spPr>
          <a:xfrm>
            <a:off x="6263640" y="16916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69164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808" y="1856232"/>
            <a:ext cx="4873752" cy="384048"/>
          </a:xfrm>
          <a:prstGeom prst="rect">
            <a:avLst/>
          </a:prstGeom>
          <a:noFill/>
        </p:spPr>
        <p:txBody>
          <a:bodyPr wrap="square">
            <a:spAutoFit/>
          </a:bodyPr>
          <a:lstStyle/>
          <a:p>
            <a:pPr>
              <a:spcAft>
                <a:spcPts val="700"/>
              </a:spcAft>
            </a:pPr>
            <a:r>
              <a:rPr sz="1700" b="1">
                <a:solidFill>
                  <a:srgbClr val="142A38"/>
                </a:solidFill>
                <a:latin typeface="Georgia"/>
              </a:rPr>
              <a:t>Dados</a:t>
            </a:r>
          </a:p>
        </p:txBody>
      </p:sp>
      <p:sp>
        <p:nvSpPr>
          <p:cNvPr id="15" name="TextBox 14"/>
          <p:cNvSpPr txBox="1"/>
          <p:nvPr/>
        </p:nvSpPr>
        <p:spPr>
          <a:xfrm>
            <a:off x="6464808" y="2313432"/>
            <a:ext cx="4873752" cy="758952"/>
          </a:xfrm>
          <a:prstGeom prst="rect">
            <a:avLst/>
          </a:prstGeom>
          <a:noFill/>
        </p:spPr>
        <p:txBody>
          <a:bodyPr wrap="square">
            <a:spAutoFit/>
          </a:bodyPr>
          <a:lstStyle/>
          <a:p>
            <a:pPr>
              <a:spcAft>
                <a:spcPts val="700"/>
              </a:spcAft>
            </a:pPr>
            <a:r>
              <a:rPr sz="1500" b="0">
                <a:solidFill>
                  <a:srgbClr val="303E44"/>
                </a:solidFill>
                <a:latin typeface="Aptos"/>
              </a:rPr>
              <a:t>Espectros com 120 comprimentos de onda e a concentração medida no laboratório.</a:t>
            </a:r>
          </a:p>
        </p:txBody>
      </p:sp>
      <p:sp>
        <p:nvSpPr>
          <p:cNvPr id="16" name="Rounded Rectangle 15"/>
          <p:cNvSpPr/>
          <p:nvPr/>
        </p:nvSpPr>
        <p:spPr>
          <a:xfrm>
            <a:off x="640080" y="35204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352044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3685032"/>
            <a:ext cx="4873752" cy="384048"/>
          </a:xfrm>
          <a:prstGeom prst="rect">
            <a:avLst/>
          </a:prstGeom>
          <a:noFill/>
        </p:spPr>
        <p:txBody>
          <a:bodyPr wrap="square">
            <a:spAutoFit/>
          </a:bodyPr>
          <a:lstStyle/>
          <a:p>
            <a:pPr>
              <a:spcAft>
                <a:spcPts val="700"/>
              </a:spcAft>
            </a:pPr>
            <a:r>
              <a:rPr sz="1700" b="1">
                <a:solidFill>
                  <a:srgbClr val="142A38"/>
                </a:solidFill>
                <a:latin typeface="Georgia"/>
              </a:rPr>
              <a:t>Técnica</a:t>
            </a:r>
          </a:p>
        </p:txBody>
      </p:sp>
      <p:sp>
        <p:nvSpPr>
          <p:cNvPr id="19" name="TextBox 18"/>
          <p:cNvSpPr txBox="1"/>
          <p:nvPr/>
        </p:nvSpPr>
        <p:spPr>
          <a:xfrm>
            <a:off x="841247" y="4142232"/>
            <a:ext cx="4873752" cy="758952"/>
          </a:xfrm>
          <a:prstGeom prst="rect">
            <a:avLst/>
          </a:prstGeom>
          <a:noFill/>
        </p:spPr>
        <p:txBody>
          <a:bodyPr wrap="square">
            <a:spAutoFit/>
          </a:bodyPr>
          <a:lstStyle/>
          <a:p>
            <a:pPr>
              <a:spcAft>
                <a:spcPts val="700"/>
              </a:spcAft>
            </a:pPr>
            <a:r>
              <a:rPr sz="1500" b="0">
                <a:solidFill>
                  <a:srgbClr val="303E44"/>
                </a:solidFill>
                <a:latin typeface="Aptos"/>
              </a:rPr>
              <a:t>PCA para resumir 120 variáveis e regressão sobre os componentes.</a:t>
            </a:r>
          </a:p>
        </p:txBody>
      </p:sp>
      <p:sp>
        <p:nvSpPr>
          <p:cNvPr id="20" name="Rounded Rectangle 19"/>
          <p:cNvSpPr/>
          <p:nvPr/>
        </p:nvSpPr>
        <p:spPr>
          <a:xfrm>
            <a:off x="6263640" y="3520440"/>
            <a:ext cx="5257800"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352044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64808" y="3685032"/>
            <a:ext cx="4873752" cy="384048"/>
          </a:xfrm>
          <a:prstGeom prst="rect">
            <a:avLst/>
          </a:prstGeom>
          <a:noFill/>
        </p:spPr>
        <p:txBody>
          <a:bodyPr wrap="square">
            <a:spAutoFit/>
          </a:bodyPr>
          <a:lstStyle/>
          <a:p>
            <a:pPr>
              <a:spcAft>
                <a:spcPts val="700"/>
              </a:spcAft>
            </a:pPr>
            <a:r>
              <a:rPr sz="1700" b="1">
                <a:solidFill>
                  <a:srgbClr val="142A38"/>
                </a:solidFill>
                <a:latin typeface="Georgia"/>
              </a:rPr>
              <a:t>Ganho</a:t>
            </a:r>
          </a:p>
        </p:txBody>
      </p:sp>
      <p:sp>
        <p:nvSpPr>
          <p:cNvPr id="23" name="TextBox 22"/>
          <p:cNvSpPr txBox="1"/>
          <p:nvPr/>
        </p:nvSpPr>
        <p:spPr>
          <a:xfrm>
            <a:off x="6464808" y="4142232"/>
            <a:ext cx="4873752" cy="758952"/>
          </a:xfrm>
          <a:prstGeom prst="rect">
            <a:avLst/>
          </a:prstGeom>
          <a:noFill/>
        </p:spPr>
        <p:txBody>
          <a:bodyPr wrap="square">
            <a:spAutoFit/>
          </a:bodyPr>
          <a:lstStyle/>
          <a:p>
            <a:pPr>
              <a:spcAft>
                <a:spcPts val="700"/>
              </a:spcAft>
            </a:pPr>
            <a:r>
              <a:rPr sz="1500" b="0">
                <a:solidFill>
                  <a:srgbClr val="303E44"/>
                </a:solidFill>
                <a:latin typeface="Aptos"/>
              </a:rPr>
              <a:t>Concentração em segundos, controle em tempo real e menos amostras de laboratório.</a:t>
            </a:r>
          </a:p>
        </p:txBody>
      </p:sp>
      <p:sp>
        <p:nvSpPr>
          <p:cNvPr id="24" name="TextBox 23"/>
          <p:cNvSpPr txBox="1"/>
          <p:nvPr/>
        </p:nvSpPr>
        <p:spPr>
          <a:xfrm>
            <a:off x="822960" y="5623560"/>
            <a:ext cx="10424160" cy="365760"/>
          </a:xfrm>
          <a:prstGeom prst="rect">
            <a:avLst/>
          </a:prstGeom>
          <a:noFill/>
        </p:spPr>
        <p:txBody>
          <a:bodyPr wrap="square">
            <a:spAutoFit/>
          </a:bodyPr>
          <a:lstStyle/>
          <a:p>
            <a:pPr>
              <a:spcAft>
                <a:spcPts val="700"/>
              </a:spcAft>
            </a:pPr>
            <a:r>
              <a:rPr sz="1500" b="1">
                <a:solidFill>
                  <a:srgbClr val="142A38"/>
                </a:solidFill>
                <a:latin typeface="Aptos"/>
              </a:rPr>
              <a:t>Mais variáveis do que amostras: reduzir antes de regredir evita o sobreajuste.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BLOCO 5 · QUÍMICA · COLAB: EXERCÍCIOS 5.1 A 5.3</a:t>
            </a:r>
          </a:p>
        </p:txBody>
      </p:sp>
      <p:sp>
        <p:nvSpPr>
          <p:cNvPr id="4" name="TextBox 3"/>
          <p:cNvSpPr txBox="1"/>
          <p:nvPr/>
        </p:nvSpPr>
        <p:spPr>
          <a:xfrm>
            <a:off x="530352" y="566928"/>
            <a:ext cx="11155680" cy="566928"/>
          </a:xfrm>
          <a:prstGeom prst="rect">
            <a:avLst/>
          </a:prstGeom>
          <a:noFill/>
        </p:spPr>
        <p:txBody>
          <a:bodyPr wrap="square">
            <a:spAutoFit/>
          </a:bodyPr>
          <a:lstStyle/>
          <a:p>
            <a:pPr>
              <a:spcAft>
                <a:spcPts val="700"/>
              </a:spcAft>
            </a:pPr>
            <a:r>
              <a:rPr sz="2700" b="1">
                <a:solidFill>
                  <a:srgbClr val="142A38"/>
                </a:solidFill>
                <a:latin typeface="Georgia"/>
              </a:rPr>
              <a:t>PCA + regressão: concentração por espectro</a:t>
            </a:r>
          </a:p>
        </p:txBody>
      </p:sp>
      <p:sp>
        <p:nvSpPr>
          <p:cNvPr id="5" name="TextBox 4"/>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Pergunta: qual a concentração do analito A (%), dado o espectro?</a:t>
            </a:r>
          </a:p>
        </p:txBody>
      </p:sp>
      <p:sp>
        <p:nvSpPr>
          <p:cNvPr id="6" name="TextBox 5"/>
          <p:cNvSpPr txBox="1"/>
          <p:nvPr/>
        </p:nvSpPr>
        <p:spPr>
          <a:xfrm>
            <a:off x="530352" y="6519672"/>
            <a:ext cx="9144000" cy="182880"/>
          </a:xfrm>
          <a:prstGeom prst="rect">
            <a:avLst/>
          </a:prstGeom>
          <a:noFill/>
        </p:spPr>
        <p:txBody>
          <a:bodyPr wrap="square">
            <a:spAutoFit/>
          </a:bodyPr>
          <a:lstStyle/>
          <a:p>
            <a:pPr>
              <a:spcAft>
                <a:spcPts val="700"/>
              </a:spcAft>
            </a:pPr>
            <a:r>
              <a:rPr sz="900" b="0">
                <a:solidFill>
                  <a:srgbClr val="637478"/>
                </a:solidFill>
                <a:latin typeface="Aptos"/>
              </a:rPr>
              <a:t>Da engenharia à oncologia · IA na solução de problemas reais</a:t>
            </a:r>
          </a:p>
        </p:txBody>
      </p:sp>
      <p:sp>
        <p:nvSpPr>
          <p:cNvPr id="7" name="TextBox 6"/>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60</a:t>
            </a:r>
          </a:p>
        </p:txBody>
      </p:sp>
      <p:pic>
        <p:nvPicPr>
          <p:cNvPr id="8" name="Figura g_quimica.png" descr="g_quimica.png"/>
          <p:cNvPicPr>
            <a:picLocks noChangeAspect="1"/>
          </p:cNvPicPr>
          <p:nvPr/>
        </p:nvPicPr>
        <p:blipFill>
          <a:blip r:embed="rId3"/>
          <a:stretch>
            <a:fillRect/>
          </a:stretch>
        </p:blipFill>
        <p:spPr>
          <a:xfrm>
            <a:off x="1088155" y="1737360"/>
            <a:ext cx="10015383" cy="3154680"/>
          </a:xfrm>
          <a:prstGeom prst="rect">
            <a:avLst/>
          </a:prstGeom>
        </p:spPr>
      </p:pic>
      <p:sp>
        <p:nvSpPr>
          <p:cNvPr id="9" name="Mensagem"/>
          <p:cNvSpPr/>
          <p:nvPr/>
        </p:nvSpPr>
        <p:spPr>
          <a:xfrm>
            <a:off x="566928" y="5093207"/>
            <a:ext cx="11064240" cy="731520"/>
          </a:xfrm>
          <a:prstGeom prst="roundRect">
            <a:avLst>
              <a:gd name="adj" fmla="val 18000"/>
            </a:avLst>
          </a:prstGeom>
          <a:solidFill>
            <a:srgbClr val="10272D"/>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36576" rIns="228600" bIns="36576" rtlCol="0" anchor="ctr"/>
          <a:lstStyle/>
          <a:p>
            <a:pPr algn="ctr"/>
            <a:r>
              <a:rPr sz="1500" b="1">
                <a:solidFill>
                  <a:srgbClr val="E8C27A"/>
                </a:solidFill>
                <a:latin typeface="Aptos"/>
              </a:rPr>
              <a:t>120 comprimentos de onda: </a:t>
            </a:r>
            <a:r>
              <a:rPr sz="1500" b="1">
                <a:solidFill>
                  <a:srgbClr val="FAF7EF"/>
                </a:solidFill>
                <a:latin typeface="Aptos"/>
              </a:rPr>
              <a:t>PCA com 5 componentes dá MAE de 0,12% e R² de 0,997. Com 4 componentes o erro sobe para 1,78%; o Random Forest erra 0,55%.</a:t>
            </a:r>
          </a:p>
        </p:txBody>
      </p:sp>
      <p:sp>
        <p:nvSpPr>
          <p:cNvPr id="10" name="Fonte dos dados"/>
          <p:cNvSpPr txBox="1"/>
          <p:nvPr/>
        </p:nvSpPr>
        <p:spPr>
          <a:xfrm>
            <a:off x="566928" y="5916168"/>
            <a:ext cx="11064240" cy="274320"/>
          </a:xfrm>
          <a:prstGeom prst="rect">
            <a:avLst/>
          </a:prstGeom>
          <a:noFill/>
        </p:spPr>
        <p:txBody>
          <a:bodyPr wrap="none" lIns="0" tIns="0" rIns="0" bIns="0">
            <a:spAutoFit/>
          </a:bodyPr>
          <a:lstStyle/>
          <a:p>
            <a:r>
              <a:rPr sz="1100" i="1">
                <a:solidFill>
                  <a:srgbClr val="3B4A4F"/>
                </a:solidFill>
                <a:latin typeface="Aptos"/>
              </a:rPr>
              <a:t>Dados simulados, para fins didáticos. Notebook, seção 5.</a:t>
            </a:r>
          </a:p>
        </p:txBody>
      </p:sp>
      <p:sp>
        <p:nvSpPr>
          <p:cNvPr id="11" name="TextBox 10"/>
          <p:cNvSpPr txBox="1"/>
          <p:nvPr/>
        </p:nvSpPr>
        <p:spPr>
          <a:xfrm>
            <a:off x="566928" y="6181344"/>
            <a:ext cx="11064240" cy="329184"/>
          </a:xfrm>
          <a:prstGeom prst="rect">
            <a:avLst/>
          </a:prstGeom>
          <a:noFill/>
        </p:spPr>
        <p:txBody>
          <a:bodyPr wrap="square" lIns="45720" tIns="18288" rIns="45720" bIns="18288" anchor="t">
            <a:spAutoFit/>
          </a:bodyPr>
          <a:lstStyle/>
          <a:p>
            <a:r>
              <a:rPr sz="950" b="1">
                <a:solidFill>
                  <a:srgbClr val="007A78"/>
                </a:solidFill>
                <a:latin typeface="Aptos"/>
              </a:rPr>
              <a:t>Como ler: </a:t>
            </a:r>
            <a:r>
              <a:rPr sz="950">
                <a:solidFill>
                  <a:srgbClr val="14283A"/>
                </a:solidFill>
                <a:latin typeface="Aptos"/>
              </a:rPr>
              <a:t>(A) cada linha é o espectro de uma amostra; a cor é a concentração de A e picos mais altos indicam mais A. (B) variância acumulada: 4 componentes passam de 95% e 5 chegam a 97,8%. (C) concentração real × prevista com 5 componentes: pontos sobre a diagonal = previsão quase perfeita.</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RESPONSABILIDADE</a:t>
            </a:r>
          </a:p>
        </p:txBody>
      </p:sp>
      <p:sp>
        <p:nvSpPr>
          <p:cNvPr id="4" name="TextBox 3"/>
          <p:cNvSpPr txBox="1"/>
          <p:nvPr/>
        </p:nvSpPr>
        <p:spPr>
          <a:xfrm>
            <a:off x="530352" y="566928"/>
            <a:ext cx="11155680" cy="566928"/>
          </a:xfrm>
          <a:prstGeom prst="rect">
            <a:avLst/>
          </a:prstGeom>
          <a:noFill/>
        </p:spPr>
        <p:txBody>
          <a:bodyPr wrap="square">
            <a:spAutoFit/>
          </a:bodyPr>
          <a:lstStyle/>
          <a:p>
            <a:pPr>
              <a:spcAft>
                <a:spcPts val="700"/>
              </a:spcAft>
            </a:pPr>
            <a:r>
              <a:rPr sz="2700" b="1">
                <a:solidFill>
                  <a:srgbClr val="142A38"/>
                </a:solidFill>
                <a:latin typeface="Georgia"/>
              </a:rPr>
              <a:t>Cuidados antes de levar a IA para o mundo real</a:t>
            </a:r>
          </a:p>
        </p:txBody>
      </p:sp>
      <p:sp>
        <p:nvSpPr>
          <p:cNvPr id="5" name="TextBox 4"/>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O desempenho do modelo não resolve sozinho os problemas de dados, processo e governança.</a:t>
            </a:r>
          </a:p>
        </p:txBody>
      </p:sp>
      <p:sp>
        <p:nvSpPr>
          <p:cNvPr id="6" name="TextBox 5"/>
          <p:cNvSpPr txBox="1"/>
          <p:nvPr/>
        </p:nvSpPr>
        <p:spPr>
          <a:xfrm>
            <a:off x="530352" y="6519672"/>
            <a:ext cx="9144000" cy="182880"/>
          </a:xfrm>
          <a:prstGeom prst="rect">
            <a:avLst/>
          </a:prstGeom>
          <a:noFill/>
        </p:spPr>
        <p:txBody>
          <a:bodyPr wrap="square">
            <a:spAutoFit/>
          </a:bodyPr>
          <a:lstStyle/>
          <a:p>
            <a:pPr>
              <a:spcAft>
                <a:spcPts val="700"/>
              </a:spcAft>
            </a:pPr>
            <a:r>
              <a:rPr sz="900" b="0">
                <a:solidFill>
                  <a:srgbClr val="637478"/>
                </a:solidFill>
                <a:latin typeface="Aptos"/>
              </a:rPr>
              <a:t>Da engenharia à oncologia · IA na solução de problemas reais</a:t>
            </a:r>
          </a:p>
        </p:txBody>
      </p:sp>
      <p:sp>
        <p:nvSpPr>
          <p:cNvPr id="7" name="TextBox 6"/>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61</a:t>
            </a:r>
          </a:p>
        </p:txBody>
      </p:sp>
      <p:sp>
        <p:nvSpPr>
          <p:cNvPr id="8" name="Rounded Rectangle 7"/>
          <p:cNvSpPr/>
          <p:nvPr/>
        </p:nvSpPr>
        <p:spPr>
          <a:xfrm>
            <a:off x="594360" y="1645920"/>
            <a:ext cx="3584448"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64592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8" y="1810512"/>
            <a:ext cx="3200400" cy="384048"/>
          </a:xfrm>
          <a:prstGeom prst="rect">
            <a:avLst/>
          </a:prstGeom>
          <a:noFill/>
        </p:spPr>
        <p:txBody>
          <a:bodyPr wrap="square">
            <a:spAutoFit/>
          </a:bodyPr>
          <a:lstStyle/>
          <a:p>
            <a:pPr>
              <a:spcAft>
                <a:spcPts val="700"/>
              </a:spcAft>
            </a:pPr>
            <a:r>
              <a:rPr sz="1700" b="1">
                <a:solidFill>
                  <a:srgbClr val="142A38"/>
                </a:solidFill>
                <a:latin typeface="Georgia"/>
              </a:rPr>
              <a:t>Qualidade</a:t>
            </a:r>
          </a:p>
        </p:txBody>
      </p:sp>
      <p:sp>
        <p:nvSpPr>
          <p:cNvPr id="11" name="TextBox 10"/>
          <p:cNvSpPr txBox="1"/>
          <p:nvPr/>
        </p:nvSpPr>
        <p:spPr>
          <a:xfrm>
            <a:off x="795528" y="2267712"/>
            <a:ext cx="3200400" cy="758952"/>
          </a:xfrm>
          <a:prstGeom prst="rect">
            <a:avLst/>
          </a:prstGeom>
          <a:noFill/>
        </p:spPr>
        <p:txBody>
          <a:bodyPr wrap="square">
            <a:spAutoFit/>
          </a:bodyPr>
          <a:lstStyle/>
          <a:p>
            <a:pPr>
              <a:spcAft>
                <a:spcPts val="700"/>
              </a:spcAft>
            </a:pPr>
            <a:r>
              <a:rPr sz="1400" b="0">
                <a:solidFill>
                  <a:srgbClr val="303E44"/>
                </a:solidFill>
                <a:latin typeface="Aptos"/>
              </a:rPr>
              <a:t>Dados ausentes, erros de sensor, rótulos incorretos e formatos incompatíveis.</a:t>
            </a:r>
          </a:p>
        </p:txBody>
      </p:sp>
      <p:sp>
        <p:nvSpPr>
          <p:cNvPr id="12" name="Rounded Rectangle 11"/>
          <p:cNvSpPr/>
          <p:nvPr/>
        </p:nvSpPr>
        <p:spPr>
          <a:xfrm>
            <a:off x="4453128" y="1645920"/>
            <a:ext cx="3584448"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53128" y="1645920"/>
            <a:ext cx="73152" cy="1508760"/>
          </a:xfrm>
          <a:prstGeom prst="rect">
            <a:avLst/>
          </a:prstGeom>
          <a:solidFill>
            <a:srgbClr val="B94C45"/>
          </a:solidFill>
          <a:ln>
            <a:solidFill>
              <a:srgbClr val="B94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54296" y="1810512"/>
            <a:ext cx="3200400" cy="384048"/>
          </a:xfrm>
          <a:prstGeom prst="rect">
            <a:avLst/>
          </a:prstGeom>
          <a:noFill/>
        </p:spPr>
        <p:txBody>
          <a:bodyPr wrap="square">
            <a:spAutoFit/>
          </a:bodyPr>
          <a:lstStyle/>
          <a:p>
            <a:pPr>
              <a:spcAft>
                <a:spcPts val="700"/>
              </a:spcAft>
            </a:pPr>
            <a:r>
              <a:rPr sz="1700" b="1">
                <a:solidFill>
                  <a:srgbClr val="142A38"/>
                </a:solidFill>
                <a:latin typeface="Georgia"/>
              </a:rPr>
              <a:t>Vazamento</a:t>
            </a:r>
          </a:p>
        </p:txBody>
      </p:sp>
      <p:sp>
        <p:nvSpPr>
          <p:cNvPr id="15" name="TextBox 14"/>
          <p:cNvSpPr txBox="1"/>
          <p:nvPr/>
        </p:nvSpPr>
        <p:spPr>
          <a:xfrm>
            <a:off x="4654296" y="2267712"/>
            <a:ext cx="3200400" cy="758952"/>
          </a:xfrm>
          <a:prstGeom prst="rect">
            <a:avLst/>
          </a:prstGeom>
          <a:noFill/>
        </p:spPr>
        <p:txBody>
          <a:bodyPr wrap="square">
            <a:spAutoFit/>
          </a:bodyPr>
          <a:lstStyle/>
          <a:p>
            <a:pPr>
              <a:spcAft>
                <a:spcPts val="700"/>
              </a:spcAft>
            </a:pPr>
            <a:r>
              <a:rPr sz="1400" b="0">
                <a:solidFill>
                  <a:srgbClr val="303E44"/>
                </a:solidFill>
                <a:latin typeface="Aptos"/>
              </a:rPr>
              <a:t>Informações do teste ou do futuro não podem participar do treino.</a:t>
            </a:r>
          </a:p>
        </p:txBody>
      </p:sp>
      <p:sp>
        <p:nvSpPr>
          <p:cNvPr id="16" name="Rounded Rectangle 15"/>
          <p:cNvSpPr/>
          <p:nvPr/>
        </p:nvSpPr>
        <p:spPr>
          <a:xfrm>
            <a:off x="8311896" y="1645920"/>
            <a:ext cx="3584448"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311896" y="164592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13064" y="1810512"/>
            <a:ext cx="3200400" cy="384048"/>
          </a:xfrm>
          <a:prstGeom prst="rect">
            <a:avLst/>
          </a:prstGeom>
          <a:noFill/>
        </p:spPr>
        <p:txBody>
          <a:bodyPr wrap="square">
            <a:spAutoFit/>
          </a:bodyPr>
          <a:lstStyle/>
          <a:p>
            <a:pPr>
              <a:spcAft>
                <a:spcPts val="700"/>
              </a:spcAft>
            </a:pPr>
            <a:r>
              <a:rPr sz="1700" b="1">
                <a:solidFill>
                  <a:srgbClr val="142A38"/>
                </a:solidFill>
                <a:latin typeface="Georgia"/>
              </a:rPr>
              <a:t>Viés</a:t>
            </a:r>
          </a:p>
        </p:txBody>
      </p:sp>
      <p:sp>
        <p:nvSpPr>
          <p:cNvPr id="19" name="TextBox 18"/>
          <p:cNvSpPr txBox="1"/>
          <p:nvPr/>
        </p:nvSpPr>
        <p:spPr>
          <a:xfrm>
            <a:off x="8513064" y="2267712"/>
            <a:ext cx="3200400" cy="758952"/>
          </a:xfrm>
          <a:prstGeom prst="rect">
            <a:avLst/>
          </a:prstGeom>
          <a:noFill/>
        </p:spPr>
        <p:txBody>
          <a:bodyPr wrap="square">
            <a:spAutoFit/>
          </a:bodyPr>
          <a:lstStyle/>
          <a:p>
            <a:pPr>
              <a:spcAft>
                <a:spcPts val="700"/>
              </a:spcAft>
            </a:pPr>
            <a:r>
              <a:rPr sz="1400" b="0">
                <a:solidFill>
                  <a:srgbClr val="303E44"/>
                </a:solidFill>
                <a:latin typeface="Aptos"/>
              </a:rPr>
              <a:t>A população, as máquinas ou as condições reais podem diferir dos dados usados.</a:t>
            </a:r>
          </a:p>
        </p:txBody>
      </p:sp>
      <p:sp>
        <p:nvSpPr>
          <p:cNvPr id="20" name="Rounded Rectangle 19"/>
          <p:cNvSpPr/>
          <p:nvPr/>
        </p:nvSpPr>
        <p:spPr>
          <a:xfrm>
            <a:off x="594360" y="3474720"/>
            <a:ext cx="3584448"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94360" y="3474720"/>
            <a:ext cx="73152" cy="1508760"/>
          </a:xfrm>
          <a:prstGeom prst="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95528" y="3639312"/>
            <a:ext cx="3200400" cy="384048"/>
          </a:xfrm>
          <a:prstGeom prst="rect">
            <a:avLst/>
          </a:prstGeom>
          <a:noFill/>
        </p:spPr>
        <p:txBody>
          <a:bodyPr wrap="square">
            <a:spAutoFit/>
          </a:bodyPr>
          <a:lstStyle/>
          <a:p>
            <a:pPr>
              <a:spcAft>
                <a:spcPts val="700"/>
              </a:spcAft>
            </a:pPr>
            <a:r>
              <a:rPr sz="1700" b="1">
                <a:solidFill>
                  <a:srgbClr val="142A38"/>
                </a:solidFill>
                <a:latin typeface="Georgia"/>
              </a:rPr>
              <a:t>Validação</a:t>
            </a:r>
          </a:p>
        </p:txBody>
      </p:sp>
      <p:sp>
        <p:nvSpPr>
          <p:cNvPr id="23" name="TextBox 22"/>
          <p:cNvSpPr txBox="1"/>
          <p:nvPr/>
        </p:nvSpPr>
        <p:spPr>
          <a:xfrm>
            <a:off x="795528" y="4096511"/>
            <a:ext cx="3200400" cy="758952"/>
          </a:xfrm>
          <a:prstGeom prst="rect">
            <a:avLst/>
          </a:prstGeom>
          <a:noFill/>
        </p:spPr>
        <p:txBody>
          <a:bodyPr wrap="square">
            <a:spAutoFit/>
          </a:bodyPr>
          <a:lstStyle/>
          <a:p>
            <a:pPr>
              <a:spcAft>
                <a:spcPts val="700"/>
              </a:spcAft>
            </a:pPr>
            <a:r>
              <a:rPr sz="1400" b="0">
                <a:solidFill>
                  <a:srgbClr val="303E44"/>
                </a:solidFill>
                <a:latin typeface="Aptos"/>
              </a:rPr>
              <a:t>Testar em dados independentes e monitorar mudanças ao longo do tempo.</a:t>
            </a:r>
          </a:p>
        </p:txBody>
      </p:sp>
      <p:sp>
        <p:nvSpPr>
          <p:cNvPr id="24" name="Rounded Rectangle 23"/>
          <p:cNvSpPr/>
          <p:nvPr/>
        </p:nvSpPr>
        <p:spPr>
          <a:xfrm>
            <a:off x="4453128" y="3474720"/>
            <a:ext cx="3584448"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453128" y="3474720"/>
            <a:ext cx="73152" cy="1508760"/>
          </a:xfrm>
          <a:prstGeom prst="rect">
            <a:avLst/>
          </a:prstGeom>
          <a:solidFill>
            <a:srgbClr val="B94C45"/>
          </a:solidFill>
          <a:ln>
            <a:solidFill>
              <a:srgbClr val="B94C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54296" y="3639312"/>
            <a:ext cx="3200400" cy="384048"/>
          </a:xfrm>
          <a:prstGeom prst="rect">
            <a:avLst/>
          </a:prstGeom>
          <a:noFill/>
        </p:spPr>
        <p:txBody>
          <a:bodyPr wrap="square">
            <a:spAutoFit/>
          </a:bodyPr>
          <a:lstStyle/>
          <a:p>
            <a:pPr>
              <a:spcAft>
                <a:spcPts val="700"/>
              </a:spcAft>
            </a:pPr>
            <a:r>
              <a:rPr sz="1700" b="1">
                <a:solidFill>
                  <a:srgbClr val="142A38"/>
                </a:solidFill>
                <a:latin typeface="Georgia"/>
              </a:rPr>
              <a:t>Privacidade</a:t>
            </a:r>
          </a:p>
        </p:txBody>
      </p:sp>
      <p:sp>
        <p:nvSpPr>
          <p:cNvPr id="27" name="TextBox 26"/>
          <p:cNvSpPr txBox="1"/>
          <p:nvPr/>
        </p:nvSpPr>
        <p:spPr>
          <a:xfrm>
            <a:off x="4654296" y="4096511"/>
            <a:ext cx="3200400" cy="758952"/>
          </a:xfrm>
          <a:prstGeom prst="rect">
            <a:avLst/>
          </a:prstGeom>
          <a:noFill/>
        </p:spPr>
        <p:txBody>
          <a:bodyPr wrap="square">
            <a:spAutoFit/>
          </a:bodyPr>
          <a:lstStyle/>
          <a:p>
            <a:pPr>
              <a:spcAft>
                <a:spcPts val="700"/>
              </a:spcAft>
            </a:pPr>
            <a:r>
              <a:rPr sz="1400" b="0">
                <a:solidFill>
                  <a:srgbClr val="303E44"/>
                </a:solidFill>
                <a:latin typeface="Aptos"/>
              </a:rPr>
              <a:t>Minimizar dados pessoais, proteger acessos e respeitar regras aplicáveis.</a:t>
            </a:r>
          </a:p>
        </p:txBody>
      </p:sp>
      <p:sp>
        <p:nvSpPr>
          <p:cNvPr id="28" name="Rounded Rectangle 27"/>
          <p:cNvSpPr/>
          <p:nvPr/>
        </p:nvSpPr>
        <p:spPr>
          <a:xfrm>
            <a:off x="8311896" y="3474720"/>
            <a:ext cx="3584448" cy="1508760"/>
          </a:xfrm>
          <a:prstGeom prst="roundRect">
            <a:avLst/>
          </a:prstGeom>
          <a:solidFill>
            <a:srgbClr val="FFFFFF"/>
          </a:solidFill>
          <a:ln>
            <a:solidFill>
              <a:srgbClr val="D7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311896" y="3474720"/>
            <a:ext cx="73152" cy="1508760"/>
          </a:xfrm>
          <a:prstGeom prst="rect">
            <a:avLst/>
          </a:prstGeom>
          <a:solidFill>
            <a:srgbClr val="E0913E"/>
          </a:solidFill>
          <a:ln>
            <a:solidFill>
              <a:srgbClr val="E091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13064" y="3639312"/>
            <a:ext cx="3200400" cy="384048"/>
          </a:xfrm>
          <a:prstGeom prst="rect">
            <a:avLst/>
          </a:prstGeom>
          <a:noFill/>
        </p:spPr>
        <p:txBody>
          <a:bodyPr wrap="square">
            <a:spAutoFit/>
          </a:bodyPr>
          <a:lstStyle/>
          <a:p>
            <a:pPr>
              <a:spcAft>
                <a:spcPts val="700"/>
              </a:spcAft>
            </a:pPr>
            <a:r>
              <a:rPr sz="1700" b="1">
                <a:solidFill>
                  <a:srgbClr val="142A38"/>
                </a:solidFill>
                <a:latin typeface="Georgia"/>
              </a:rPr>
              <a:t>Supervisão</a:t>
            </a:r>
          </a:p>
        </p:txBody>
      </p:sp>
      <p:sp>
        <p:nvSpPr>
          <p:cNvPr id="31" name="TextBox 30"/>
          <p:cNvSpPr txBox="1"/>
          <p:nvPr/>
        </p:nvSpPr>
        <p:spPr>
          <a:xfrm>
            <a:off x="8513064" y="4096511"/>
            <a:ext cx="3200400" cy="758952"/>
          </a:xfrm>
          <a:prstGeom prst="rect">
            <a:avLst/>
          </a:prstGeom>
          <a:noFill/>
        </p:spPr>
        <p:txBody>
          <a:bodyPr wrap="square">
            <a:spAutoFit/>
          </a:bodyPr>
          <a:lstStyle/>
          <a:p>
            <a:pPr>
              <a:spcAft>
                <a:spcPts val="700"/>
              </a:spcAft>
            </a:pPr>
            <a:r>
              <a:rPr sz="1400" b="0">
                <a:solidFill>
                  <a:srgbClr val="303E44"/>
                </a:solidFill>
                <a:latin typeface="Aptos"/>
              </a:rPr>
              <a:t>Definir quem interpreta, decide e responde pelos resultados.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7FD6CB"/>
                </a:solidFill>
                <a:latin typeface="DM Sans" pitchFamily="34" charset="0"/>
                <a:ea typeface="DM Sans" pitchFamily="34" charset="-122"/>
                <a:cs typeface="DM Sans" pitchFamily="34" charset="-120"/>
              </a:rPr>
              <a:t>DESAFIOS · NA MINHA PRÁTICA</a:t>
            </a:r>
            <a:endParaRPr lang="en-US" sz="1200" dirty="0"/>
          </a:p>
        </p:txBody>
      </p:sp>
      <p:sp>
        <p:nvSpPr>
          <p:cNvPr id="3"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3EC"/>
                </a:solidFill>
                <a:latin typeface="EB Garamond" pitchFamily="18" charset="0"/>
                <a:ea typeface="EB Garamond" pitchFamily="18" charset="-122"/>
                <a:cs typeface="EB Garamond" pitchFamily="18" charset="-120"/>
              </a:rPr>
              <a:t>O que aprendi ao implementar</a:t>
            </a:r>
            <a:endParaRPr lang="en-US" sz="3600" dirty="0"/>
          </a:p>
        </p:txBody>
      </p:sp>
      <p:sp>
        <p:nvSpPr>
          <p:cNvPr id="4" name="Shape 2"/>
          <p:cNvSpPr/>
          <p:nvPr/>
        </p:nvSpPr>
        <p:spPr>
          <a:xfrm>
            <a:off x="812800" y="1935411"/>
            <a:ext cx="5181600" cy="1437580"/>
          </a:xfrm>
          <a:prstGeom prst="roundRect">
            <a:avLst>
              <a:gd name="adj" fmla="val 7067"/>
            </a:avLst>
          </a:prstGeom>
          <a:solidFill>
            <a:srgbClr val="17333B"/>
          </a:solidFill>
          <a:ln/>
        </p:spPr>
        <p:txBody>
          <a:bodyPr/>
          <a:lstStyle/>
          <a:p>
            <a:endParaRPr lang="pt-BR"/>
          </a:p>
        </p:txBody>
      </p:sp>
      <p:sp>
        <p:nvSpPr>
          <p:cNvPr id="5" name="Text 3"/>
          <p:cNvSpPr/>
          <p:nvPr/>
        </p:nvSpPr>
        <p:spPr>
          <a:xfrm>
            <a:off x="1066800" y="2164011"/>
            <a:ext cx="4813808"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3A63B"/>
                </a:solidFill>
                <a:latin typeface="EB Garamond" pitchFamily="18" charset="0"/>
                <a:ea typeface="EB Garamond" pitchFamily="18" charset="-122"/>
                <a:cs typeface="EB Garamond" pitchFamily="18" charset="-120"/>
              </a:rPr>
              <a:t>Dados mandam no cronograma</a:t>
            </a:r>
            <a:endParaRPr lang="en-US" sz="2200" dirty="0"/>
          </a:p>
        </p:txBody>
      </p:sp>
      <p:sp>
        <p:nvSpPr>
          <p:cNvPr id="6" name="Text 4"/>
          <p:cNvSpPr/>
          <p:nvPr/>
        </p:nvSpPr>
        <p:spPr>
          <a:xfrm>
            <a:off x="1066800" y="2575471"/>
            <a:ext cx="4813808"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9D6"/>
                </a:solidFill>
                <a:latin typeface="DM Sans" pitchFamily="34" charset="0"/>
                <a:ea typeface="DM Sans" pitchFamily="34" charset="-122"/>
                <a:cs typeface="DM Sans" pitchFamily="34" charset="-120"/>
              </a:rPr>
              <a:t>Arquivos grandes, nomes conflitantes e formatos diferentes tomam tempo de qualquer modelo.</a:t>
            </a:r>
            <a:endParaRPr lang="en-US" sz="1600" dirty="0"/>
          </a:p>
        </p:txBody>
      </p:sp>
      <p:sp>
        <p:nvSpPr>
          <p:cNvPr id="7" name="Shape 5"/>
          <p:cNvSpPr/>
          <p:nvPr/>
        </p:nvSpPr>
        <p:spPr>
          <a:xfrm>
            <a:off x="6197600" y="1935411"/>
            <a:ext cx="5181600" cy="1437580"/>
          </a:xfrm>
          <a:prstGeom prst="roundRect">
            <a:avLst>
              <a:gd name="adj" fmla="val 7067"/>
            </a:avLst>
          </a:prstGeom>
          <a:solidFill>
            <a:srgbClr val="17333B"/>
          </a:solidFill>
          <a:ln/>
        </p:spPr>
        <p:txBody>
          <a:bodyPr/>
          <a:lstStyle/>
          <a:p>
            <a:endParaRPr lang="pt-BR"/>
          </a:p>
        </p:txBody>
      </p:sp>
      <p:sp>
        <p:nvSpPr>
          <p:cNvPr id="8" name="Text 6"/>
          <p:cNvSpPr/>
          <p:nvPr/>
        </p:nvSpPr>
        <p:spPr>
          <a:xfrm>
            <a:off x="6451600" y="2164011"/>
            <a:ext cx="4813808"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3A63B"/>
                </a:solidFill>
                <a:latin typeface="EB Garamond" pitchFamily="18" charset="0"/>
                <a:ea typeface="EB Garamond" pitchFamily="18" charset="-122"/>
                <a:cs typeface="EB Garamond" pitchFamily="18" charset="-120"/>
              </a:rPr>
              <a:t>Validar antes de prometer</a:t>
            </a:r>
            <a:endParaRPr lang="en-US" sz="2200" dirty="0"/>
          </a:p>
        </p:txBody>
      </p:sp>
      <p:sp>
        <p:nvSpPr>
          <p:cNvPr id="9" name="Text 7"/>
          <p:cNvSpPr/>
          <p:nvPr/>
        </p:nvSpPr>
        <p:spPr>
          <a:xfrm>
            <a:off x="6451600" y="2575471"/>
            <a:ext cx="4813808"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9D6"/>
                </a:solidFill>
                <a:latin typeface="DM Sans" pitchFamily="34" charset="0"/>
                <a:ea typeface="DM Sans" pitchFamily="34" charset="-122"/>
                <a:cs typeface="DM Sans" pitchFamily="34" charset="-120"/>
              </a:rPr>
              <a:t>Coortes externas mostram o que o modelo aprendeu de verdade.</a:t>
            </a:r>
            <a:endParaRPr lang="en-US" sz="1600" dirty="0"/>
          </a:p>
        </p:txBody>
      </p:sp>
      <p:sp>
        <p:nvSpPr>
          <p:cNvPr id="10" name="Shape 8"/>
          <p:cNvSpPr/>
          <p:nvPr/>
        </p:nvSpPr>
        <p:spPr>
          <a:xfrm>
            <a:off x="812800" y="3576191"/>
            <a:ext cx="5181600" cy="1437580"/>
          </a:xfrm>
          <a:prstGeom prst="roundRect">
            <a:avLst>
              <a:gd name="adj" fmla="val 7067"/>
            </a:avLst>
          </a:prstGeom>
          <a:solidFill>
            <a:srgbClr val="17333B"/>
          </a:solidFill>
          <a:ln/>
        </p:spPr>
        <p:txBody>
          <a:bodyPr/>
          <a:lstStyle/>
          <a:p>
            <a:endParaRPr lang="pt-BR"/>
          </a:p>
        </p:txBody>
      </p:sp>
      <p:sp>
        <p:nvSpPr>
          <p:cNvPr id="11" name="Text 9"/>
          <p:cNvSpPr/>
          <p:nvPr/>
        </p:nvSpPr>
        <p:spPr>
          <a:xfrm>
            <a:off x="1066800" y="3804791"/>
            <a:ext cx="4813808"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3A63B"/>
                </a:solidFill>
                <a:latin typeface="EB Garamond" pitchFamily="18" charset="0"/>
                <a:ea typeface="EB Garamond" pitchFamily="18" charset="-122"/>
                <a:cs typeface="EB Garamond" pitchFamily="18" charset="-120"/>
              </a:rPr>
              <a:t>Pipeline reproduzível</a:t>
            </a:r>
            <a:endParaRPr lang="en-US" sz="2200" dirty="0"/>
          </a:p>
        </p:txBody>
      </p:sp>
      <p:sp>
        <p:nvSpPr>
          <p:cNvPr id="12" name="Text 10"/>
          <p:cNvSpPr/>
          <p:nvPr/>
        </p:nvSpPr>
        <p:spPr>
          <a:xfrm>
            <a:off x="1066800" y="4216251"/>
            <a:ext cx="4813808"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9D6"/>
                </a:solidFill>
                <a:latin typeface="DM Sans" pitchFamily="34" charset="0"/>
                <a:ea typeface="DM Sans" pitchFamily="34" charset="-122"/>
                <a:cs typeface="DM Sans" pitchFamily="34" charset="-120"/>
              </a:rPr>
              <a:t>Scripts em sequência e documentação permitem que outra pessoa repita o resultado.</a:t>
            </a:r>
            <a:endParaRPr lang="en-US" sz="1600" dirty="0"/>
          </a:p>
        </p:txBody>
      </p:sp>
      <p:sp>
        <p:nvSpPr>
          <p:cNvPr id="13" name="Shape 11"/>
          <p:cNvSpPr/>
          <p:nvPr/>
        </p:nvSpPr>
        <p:spPr>
          <a:xfrm>
            <a:off x="6197600" y="3576191"/>
            <a:ext cx="5181600" cy="1437580"/>
          </a:xfrm>
          <a:prstGeom prst="roundRect">
            <a:avLst>
              <a:gd name="adj" fmla="val 7067"/>
            </a:avLst>
          </a:prstGeom>
          <a:solidFill>
            <a:srgbClr val="17333B"/>
          </a:solidFill>
          <a:ln/>
        </p:spPr>
        <p:txBody>
          <a:bodyPr/>
          <a:lstStyle/>
          <a:p>
            <a:endParaRPr lang="pt-BR"/>
          </a:p>
        </p:txBody>
      </p:sp>
      <p:sp>
        <p:nvSpPr>
          <p:cNvPr id="14" name="Text 12"/>
          <p:cNvSpPr/>
          <p:nvPr/>
        </p:nvSpPr>
        <p:spPr>
          <a:xfrm>
            <a:off x="6451600" y="3804791"/>
            <a:ext cx="4813808"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E3A63B"/>
                </a:solidFill>
                <a:latin typeface="EB Garamond" pitchFamily="18" charset="0"/>
                <a:ea typeface="EB Garamond" pitchFamily="18" charset="-122"/>
                <a:cs typeface="EB Garamond" pitchFamily="18" charset="-120"/>
              </a:rPr>
              <a:t>Privacidade desde o início</a:t>
            </a:r>
            <a:endParaRPr lang="en-US" sz="2200" dirty="0"/>
          </a:p>
        </p:txBody>
      </p:sp>
      <p:sp>
        <p:nvSpPr>
          <p:cNvPr id="15" name="Text 13"/>
          <p:cNvSpPr/>
          <p:nvPr/>
        </p:nvSpPr>
        <p:spPr>
          <a:xfrm>
            <a:off x="6451600" y="4216251"/>
            <a:ext cx="4813808"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9D6"/>
                </a:solidFill>
                <a:latin typeface="DM Sans" pitchFamily="34" charset="0"/>
                <a:ea typeface="DM Sans" pitchFamily="34" charset="-122"/>
                <a:cs typeface="DM Sans" pitchFamily="34" charset="-120"/>
              </a:rPr>
              <a:t>De-identificar na entrada é mais barato e mais seguro do que corrigir depois.</a:t>
            </a:r>
            <a:endParaRPr lang="en-US" sz="1600" dirty="0"/>
          </a:p>
        </p:txBody>
      </p:sp>
      <p:sp>
        <p:nvSpPr>
          <p:cNvPr id="16" name="Text 14"/>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4B1"/>
                </a:solidFill>
                <a:latin typeface="DM Sans" pitchFamily="34" charset="0"/>
                <a:ea typeface="DM Sans" pitchFamily="34" charset="-122"/>
                <a:cs typeface="DM Sans" pitchFamily="34" charset="-120"/>
              </a:rPr>
              <a:t>Da engenharia à oncologia: IA na solução de problemas reais</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4B1"/>
                </a:solidFill>
                <a:latin typeface="DM Sans" pitchFamily="34" charset="0"/>
                <a:ea typeface="DM Sans" pitchFamily="34" charset="-122"/>
                <a:cs typeface="DM Sans" pitchFamily="34" charset="-120"/>
              </a:rPr>
              <a:t>62</a:t>
            </a:r>
            <a:endParaRPr lang="en-US" sz="1200" dirty="0"/>
          </a:p>
        </p:txBody>
      </p:sp>
    </p:spTree>
    <p:extLst>
      <p:ext uri="{BB962C8B-B14F-4D97-AF65-F5344CB8AC3E}">
        <p14:creationId xmlns:p14="http://schemas.microsoft.com/office/powerpoint/2010/main" val="39769782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CONCLUSÃO</a:t>
            </a:r>
          </a:p>
        </p:txBody>
      </p:sp>
      <p:sp>
        <p:nvSpPr>
          <p:cNvPr id="4" name="TextBox 3"/>
          <p:cNvSpPr txBox="1"/>
          <p:nvPr/>
        </p:nvSpPr>
        <p:spPr>
          <a:xfrm>
            <a:off x="530352" y="566928"/>
            <a:ext cx="11155680" cy="566928"/>
          </a:xfrm>
          <a:prstGeom prst="rect">
            <a:avLst/>
          </a:prstGeom>
          <a:noFill/>
        </p:spPr>
        <p:txBody>
          <a:bodyPr wrap="square">
            <a:spAutoFit/>
          </a:bodyPr>
          <a:lstStyle/>
          <a:p>
            <a:pPr>
              <a:spcAft>
                <a:spcPts val="700"/>
              </a:spcAft>
            </a:pPr>
            <a:r>
              <a:rPr sz="2700" b="1">
                <a:solidFill>
                  <a:srgbClr val="142A38"/>
                </a:solidFill>
                <a:latin typeface="Georgia"/>
              </a:rPr>
              <a:t>Fechamento: o algoritmo é só uma parte da solução</a:t>
            </a:r>
          </a:p>
        </p:txBody>
      </p:sp>
      <p:sp>
        <p:nvSpPr>
          <p:cNvPr id="5" name="TextBox 4"/>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O valor vem de combinar conhecimento do domínio, dados de qualidade, avaliação e implementação.</a:t>
            </a:r>
          </a:p>
        </p:txBody>
      </p:sp>
      <p:sp>
        <p:nvSpPr>
          <p:cNvPr id="6" name="TextBox 5"/>
          <p:cNvSpPr txBox="1"/>
          <p:nvPr/>
        </p:nvSpPr>
        <p:spPr>
          <a:xfrm>
            <a:off x="530352" y="6519672"/>
            <a:ext cx="9144000" cy="182880"/>
          </a:xfrm>
          <a:prstGeom prst="rect">
            <a:avLst/>
          </a:prstGeom>
          <a:noFill/>
        </p:spPr>
        <p:txBody>
          <a:bodyPr wrap="square">
            <a:spAutoFit/>
          </a:bodyPr>
          <a:lstStyle/>
          <a:p>
            <a:pPr>
              <a:spcAft>
                <a:spcPts val="700"/>
              </a:spcAft>
            </a:pPr>
            <a:r>
              <a:rPr sz="900" b="0">
                <a:solidFill>
                  <a:srgbClr val="637478"/>
                </a:solidFill>
                <a:latin typeface="Aptos"/>
              </a:rPr>
              <a:t>Da engenharia à oncologia · IA na solução de problemas reais</a:t>
            </a:r>
          </a:p>
        </p:txBody>
      </p:sp>
      <p:sp>
        <p:nvSpPr>
          <p:cNvPr id="7" name="TextBox 6"/>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63</a:t>
            </a:r>
          </a:p>
        </p:txBody>
      </p:sp>
      <p:sp>
        <p:nvSpPr>
          <p:cNvPr id="8" name="Rounded Rectangle 7"/>
          <p:cNvSpPr/>
          <p:nvPr/>
        </p:nvSpPr>
        <p:spPr>
          <a:xfrm>
            <a:off x="594360" y="1965960"/>
            <a:ext cx="2086660" cy="822960"/>
          </a:xfrm>
          <a:prstGeom prst="roundRect">
            <a:avLst/>
          </a:prstGeom>
          <a:solidFill>
            <a:srgbClr val="142A38"/>
          </a:solidFill>
          <a:ln>
            <a:solidFill>
              <a:srgbClr val="1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075688"/>
            <a:ext cx="1995220" cy="256032"/>
          </a:xfrm>
          <a:prstGeom prst="rect">
            <a:avLst/>
          </a:prstGeom>
          <a:noFill/>
        </p:spPr>
        <p:txBody>
          <a:bodyPr wrap="square">
            <a:spAutoFit/>
          </a:bodyPr>
          <a:lstStyle/>
          <a:p>
            <a:pPr algn="ctr">
              <a:spcAft>
                <a:spcPts val="700"/>
              </a:spcAft>
            </a:pPr>
            <a:r>
              <a:rPr sz="1300" b="1">
                <a:solidFill>
                  <a:srgbClr val="FFFFFF"/>
                </a:solidFill>
                <a:latin typeface="Aptos"/>
              </a:rPr>
              <a:t>PROBLEMA</a:t>
            </a:r>
          </a:p>
        </p:txBody>
      </p:sp>
      <p:sp>
        <p:nvSpPr>
          <p:cNvPr id="10" name="TextBox 9"/>
          <p:cNvSpPr txBox="1"/>
          <p:nvPr/>
        </p:nvSpPr>
        <p:spPr>
          <a:xfrm>
            <a:off x="667512" y="2395728"/>
            <a:ext cx="1940356" cy="246888"/>
          </a:xfrm>
          <a:prstGeom prst="rect">
            <a:avLst/>
          </a:prstGeom>
          <a:noFill/>
        </p:spPr>
        <p:txBody>
          <a:bodyPr wrap="square">
            <a:spAutoFit/>
          </a:bodyPr>
          <a:lstStyle/>
          <a:p>
            <a:pPr algn="ctr">
              <a:spcAft>
                <a:spcPts val="700"/>
              </a:spcAft>
            </a:pPr>
            <a:r>
              <a:rPr sz="1000" b="0">
                <a:solidFill>
                  <a:srgbClr val="FFFFFF"/>
                </a:solidFill>
                <a:latin typeface="Aptos"/>
              </a:rPr>
              <a:t>relevante</a:t>
            </a:r>
          </a:p>
        </p:txBody>
      </p:sp>
      <p:sp>
        <p:nvSpPr>
          <p:cNvPr id="11" name="Rounded Rectangle 10"/>
          <p:cNvSpPr/>
          <p:nvPr/>
        </p:nvSpPr>
        <p:spPr>
          <a:xfrm>
            <a:off x="2827324" y="1965960"/>
            <a:ext cx="2086660" cy="822960"/>
          </a:xfrm>
          <a:prstGeom prst="round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73044" y="2075688"/>
            <a:ext cx="1995220" cy="256032"/>
          </a:xfrm>
          <a:prstGeom prst="rect">
            <a:avLst/>
          </a:prstGeom>
          <a:noFill/>
        </p:spPr>
        <p:txBody>
          <a:bodyPr wrap="square">
            <a:spAutoFit/>
          </a:bodyPr>
          <a:lstStyle/>
          <a:p>
            <a:pPr algn="ctr">
              <a:spcAft>
                <a:spcPts val="700"/>
              </a:spcAft>
            </a:pPr>
            <a:r>
              <a:rPr sz="1300" b="1">
                <a:solidFill>
                  <a:srgbClr val="FFFFFF"/>
                </a:solidFill>
                <a:latin typeface="Aptos"/>
              </a:rPr>
              <a:t>DADOS</a:t>
            </a:r>
          </a:p>
        </p:txBody>
      </p:sp>
      <p:sp>
        <p:nvSpPr>
          <p:cNvPr id="13" name="TextBox 12"/>
          <p:cNvSpPr txBox="1"/>
          <p:nvPr/>
        </p:nvSpPr>
        <p:spPr>
          <a:xfrm>
            <a:off x="2900476" y="2395728"/>
            <a:ext cx="1940356" cy="246888"/>
          </a:xfrm>
          <a:prstGeom prst="rect">
            <a:avLst/>
          </a:prstGeom>
          <a:noFill/>
        </p:spPr>
        <p:txBody>
          <a:bodyPr wrap="square">
            <a:spAutoFit/>
          </a:bodyPr>
          <a:lstStyle/>
          <a:p>
            <a:pPr algn="ctr">
              <a:spcAft>
                <a:spcPts val="700"/>
              </a:spcAft>
            </a:pPr>
            <a:r>
              <a:rPr sz="1000" b="0">
                <a:solidFill>
                  <a:srgbClr val="FFFFFF"/>
                </a:solidFill>
                <a:latin typeface="Aptos"/>
              </a:rPr>
              <a:t>confiáveis</a:t>
            </a:r>
          </a:p>
        </p:txBody>
      </p:sp>
      <p:sp>
        <p:nvSpPr>
          <p:cNvPr id="14" name="Rounded Rectangle 13"/>
          <p:cNvSpPr/>
          <p:nvPr/>
        </p:nvSpPr>
        <p:spPr>
          <a:xfrm>
            <a:off x="5060289" y="1965960"/>
            <a:ext cx="2086660" cy="822960"/>
          </a:xfrm>
          <a:prstGeom prst="round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06009" y="2075688"/>
            <a:ext cx="1995220" cy="256032"/>
          </a:xfrm>
          <a:prstGeom prst="rect">
            <a:avLst/>
          </a:prstGeom>
          <a:noFill/>
        </p:spPr>
        <p:txBody>
          <a:bodyPr wrap="square">
            <a:spAutoFit/>
          </a:bodyPr>
          <a:lstStyle/>
          <a:p>
            <a:pPr algn="ctr">
              <a:spcAft>
                <a:spcPts val="700"/>
              </a:spcAft>
            </a:pPr>
            <a:r>
              <a:rPr sz="1300" b="1">
                <a:solidFill>
                  <a:srgbClr val="FFFFFF"/>
                </a:solidFill>
                <a:latin typeface="Aptos"/>
              </a:rPr>
              <a:t>MODELO</a:t>
            </a:r>
          </a:p>
        </p:txBody>
      </p:sp>
      <p:sp>
        <p:nvSpPr>
          <p:cNvPr id="16" name="TextBox 15"/>
          <p:cNvSpPr txBox="1"/>
          <p:nvPr/>
        </p:nvSpPr>
        <p:spPr>
          <a:xfrm>
            <a:off x="5133441" y="2395728"/>
            <a:ext cx="1940356" cy="246888"/>
          </a:xfrm>
          <a:prstGeom prst="rect">
            <a:avLst/>
          </a:prstGeom>
          <a:noFill/>
        </p:spPr>
        <p:txBody>
          <a:bodyPr wrap="square">
            <a:spAutoFit/>
          </a:bodyPr>
          <a:lstStyle/>
          <a:p>
            <a:pPr algn="ctr">
              <a:spcAft>
                <a:spcPts val="700"/>
              </a:spcAft>
            </a:pPr>
            <a:r>
              <a:rPr sz="1000" b="0">
                <a:solidFill>
                  <a:srgbClr val="FFFFFF"/>
                </a:solidFill>
                <a:latin typeface="Aptos"/>
              </a:rPr>
              <a:t>adequado</a:t>
            </a:r>
          </a:p>
        </p:txBody>
      </p:sp>
      <p:sp>
        <p:nvSpPr>
          <p:cNvPr id="17" name="Rounded Rectangle 16"/>
          <p:cNvSpPr/>
          <p:nvPr/>
        </p:nvSpPr>
        <p:spPr>
          <a:xfrm>
            <a:off x="7293254" y="1965960"/>
            <a:ext cx="2086660" cy="822960"/>
          </a:xfrm>
          <a:prstGeom prst="roundRect">
            <a:avLst/>
          </a:prstGeom>
          <a:solidFill>
            <a:srgbClr val="007875"/>
          </a:solidFill>
          <a:ln>
            <a:solidFill>
              <a:srgbClr val="0078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38974" y="2075688"/>
            <a:ext cx="1995220" cy="256032"/>
          </a:xfrm>
          <a:prstGeom prst="rect">
            <a:avLst/>
          </a:prstGeom>
          <a:noFill/>
        </p:spPr>
        <p:txBody>
          <a:bodyPr wrap="square">
            <a:spAutoFit/>
          </a:bodyPr>
          <a:lstStyle/>
          <a:p>
            <a:pPr algn="ctr">
              <a:spcAft>
                <a:spcPts val="700"/>
              </a:spcAft>
            </a:pPr>
            <a:r>
              <a:rPr sz="1300" b="1">
                <a:solidFill>
                  <a:srgbClr val="FFFFFF"/>
                </a:solidFill>
                <a:latin typeface="Aptos"/>
              </a:rPr>
              <a:t>VALIDAÇÃO</a:t>
            </a:r>
          </a:p>
        </p:txBody>
      </p:sp>
      <p:sp>
        <p:nvSpPr>
          <p:cNvPr id="19" name="TextBox 18"/>
          <p:cNvSpPr txBox="1"/>
          <p:nvPr/>
        </p:nvSpPr>
        <p:spPr>
          <a:xfrm>
            <a:off x="7366406" y="2395728"/>
            <a:ext cx="1940356" cy="246888"/>
          </a:xfrm>
          <a:prstGeom prst="rect">
            <a:avLst/>
          </a:prstGeom>
          <a:noFill/>
        </p:spPr>
        <p:txBody>
          <a:bodyPr wrap="square">
            <a:spAutoFit/>
          </a:bodyPr>
          <a:lstStyle/>
          <a:p>
            <a:pPr algn="ctr">
              <a:spcAft>
                <a:spcPts val="700"/>
              </a:spcAft>
            </a:pPr>
            <a:r>
              <a:rPr sz="1000" b="0">
                <a:solidFill>
                  <a:srgbClr val="FFFFFF"/>
                </a:solidFill>
                <a:latin typeface="Aptos"/>
              </a:rPr>
              <a:t>independente</a:t>
            </a:r>
          </a:p>
        </p:txBody>
      </p:sp>
      <p:sp>
        <p:nvSpPr>
          <p:cNvPr id="20" name="Rounded Rectangle 19"/>
          <p:cNvSpPr/>
          <p:nvPr/>
        </p:nvSpPr>
        <p:spPr>
          <a:xfrm>
            <a:off x="9526219" y="1965960"/>
            <a:ext cx="2086660" cy="822960"/>
          </a:xfrm>
          <a:prstGeom prst="roundRect">
            <a:avLst/>
          </a:prstGeom>
          <a:solidFill>
            <a:srgbClr val="142A38"/>
          </a:solidFill>
          <a:ln>
            <a:solidFill>
              <a:srgbClr val="142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571939" y="2075688"/>
            <a:ext cx="1995220" cy="256032"/>
          </a:xfrm>
          <a:prstGeom prst="rect">
            <a:avLst/>
          </a:prstGeom>
          <a:noFill/>
        </p:spPr>
        <p:txBody>
          <a:bodyPr wrap="square">
            <a:spAutoFit/>
          </a:bodyPr>
          <a:lstStyle/>
          <a:p>
            <a:pPr algn="ctr">
              <a:spcAft>
                <a:spcPts val="700"/>
              </a:spcAft>
            </a:pPr>
            <a:r>
              <a:rPr sz="1300" b="1">
                <a:solidFill>
                  <a:srgbClr val="FFFFFF"/>
                </a:solidFill>
                <a:latin typeface="Aptos"/>
              </a:rPr>
              <a:t>IMPACTO</a:t>
            </a:r>
          </a:p>
        </p:txBody>
      </p:sp>
      <p:sp>
        <p:nvSpPr>
          <p:cNvPr id="22" name="TextBox 21"/>
          <p:cNvSpPr txBox="1"/>
          <p:nvPr/>
        </p:nvSpPr>
        <p:spPr>
          <a:xfrm>
            <a:off x="9599371" y="2395728"/>
            <a:ext cx="1940356" cy="246888"/>
          </a:xfrm>
          <a:prstGeom prst="rect">
            <a:avLst/>
          </a:prstGeom>
          <a:noFill/>
        </p:spPr>
        <p:txBody>
          <a:bodyPr wrap="square">
            <a:spAutoFit/>
          </a:bodyPr>
          <a:lstStyle/>
          <a:p>
            <a:pPr algn="ctr">
              <a:spcAft>
                <a:spcPts val="700"/>
              </a:spcAft>
            </a:pPr>
            <a:r>
              <a:rPr sz="1000" b="0">
                <a:solidFill>
                  <a:srgbClr val="FFFFFF"/>
                </a:solidFill>
                <a:latin typeface="Aptos"/>
              </a:rPr>
              <a:t>medido</a:t>
            </a:r>
          </a:p>
        </p:txBody>
      </p:sp>
      <p:sp>
        <p:nvSpPr>
          <p:cNvPr id="23" name="TextBox 22"/>
          <p:cNvSpPr txBox="1"/>
          <p:nvPr/>
        </p:nvSpPr>
        <p:spPr>
          <a:xfrm>
            <a:off x="914400" y="3429000"/>
            <a:ext cx="10332720" cy="822960"/>
          </a:xfrm>
          <a:prstGeom prst="rect">
            <a:avLst/>
          </a:prstGeom>
          <a:noFill/>
        </p:spPr>
        <p:txBody>
          <a:bodyPr wrap="square">
            <a:spAutoFit/>
          </a:bodyPr>
          <a:lstStyle/>
          <a:p>
            <a:pPr algn="ctr">
              <a:spcAft>
                <a:spcPts val="700"/>
              </a:spcAft>
            </a:pPr>
            <a:r>
              <a:rPr sz="2100" b="1">
                <a:solidFill>
                  <a:srgbClr val="142A38"/>
                </a:solidFill>
                <a:latin typeface="Georgia"/>
              </a:rPr>
              <a:t>“A engenharia me ensinou a resolver problemas. A inteligência artificial ampliou as possibilidades. E a oncologia me mostrou como essas ferramentas podem contribuir para a vida das pessoas.”</a:t>
            </a:r>
          </a:p>
        </p:txBody>
      </p:sp>
      <p:sp>
        <p:nvSpPr>
          <p:cNvPr id="24" name="TextBox 23"/>
          <p:cNvSpPr txBox="1"/>
          <p:nvPr/>
        </p:nvSpPr>
        <p:spPr>
          <a:xfrm>
            <a:off x="1005840" y="4892040"/>
            <a:ext cx="10149840" cy="411480"/>
          </a:xfrm>
          <a:prstGeom prst="rect">
            <a:avLst/>
          </a:prstGeom>
          <a:noFill/>
        </p:spPr>
        <p:txBody>
          <a:bodyPr wrap="square">
            <a:spAutoFit/>
          </a:bodyPr>
          <a:lstStyle/>
          <a:p>
            <a:pPr algn="ctr">
              <a:spcAft>
                <a:spcPts val="700"/>
              </a:spcAft>
            </a:pPr>
            <a:r>
              <a:rPr sz="1700" b="1">
                <a:solidFill>
                  <a:srgbClr val="007875"/>
                </a:solidFill>
                <a:latin typeface="Aptos"/>
              </a:rPr>
              <a:t>Perguntas e discussão</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4B1"/>
                </a:solidFill>
                <a:latin typeface="DM Sans" pitchFamily="34" charset="0"/>
                <a:ea typeface="DM Sans" pitchFamily="34" charset="-122"/>
                <a:cs typeface="DM Sans" pitchFamily="34" charset="-120"/>
              </a:rPr>
              <a:t>Da engenharia à oncologia: IA na solução de problemas reais</a:t>
            </a:r>
            <a:endParaRPr lang="en-US" sz="1200" dirty="0"/>
          </a:p>
        </p:txBody>
      </p:sp>
      <p:sp>
        <p:nvSpPr>
          <p:cNvPr id="7" name="Text 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4B1"/>
                </a:solidFill>
                <a:latin typeface="DM Sans" pitchFamily="34" charset="0"/>
                <a:ea typeface="DM Sans" pitchFamily="34" charset="-122"/>
                <a:cs typeface="DM Sans" pitchFamily="34" charset="-120"/>
              </a:rPr>
              <a:t>64</a:t>
            </a:r>
            <a:endParaRPr lang="en-US" sz="1200" dirty="0"/>
          </a:p>
        </p:txBody>
      </p:sp>
      <p:sp>
        <p:nvSpPr>
          <p:cNvPr id="10" name="TextBox 1">
            <a:extLst>
              <a:ext uri="{FF2B5EF4-FFF2-40B4-BE49-F238E27FC236}">
                <a16:creationId xmlns:a16="http://schemas.microsoft.com/office/drawing/2014/main" id="{D19F53A4-9FCD-98DF-CDC3-DAC4547DD200}"/>
              </a:ext>
            </a:extLst>
          </p:cNvPr>
          <p:cNvSpPr txBox="1"/>
          <p:nvPr/>
        </p:nvSpPr>
        <p:spPr>
          <a:xfrm>
            <a:off x="786384" y="438912"/>
            <a:ext cx="4572000" cy="292608"/>
          </a:xfrm>
          <a:prstGeom prst="rect">
            <a:avLst/>
          </a:prstGeom>
          <a:noFill/>
        </p:spPr>
        <p:txBody>
          <a:bodyPr wrap="square" lIns="36576" tIns="18288" rIns="36576" bIns="18288" anchor="ctr">
            <a:spAutoFit/>
          </a:bodyPr>
          <a:lstStyle/>
          <a:p>
            <a:pPr algn="l">
              <a:spcAft>
                <a:spcPts val="0"/>
              </a:spcAft>
            </a:pPr>
            <a:r>
              <a:rPr sz="1200" b="1">
                <a:solidFill>
                  <a:srgbClr val="77DACD"/>
                </a:solidFill>
                <a:latin typeface="Aptos"/>
              </a:rPr>
              <a:t>CONCLUSÃO</a:t>
            </a:r>
          </a:p>
        </p:txBody>
      </p:sp>
      <p:sp>
        <p:nvSpPr>
          <p:cNvPr id="11" name="TextBox 2">
            <a:extLst>
              <a:ext uri="{FF2B5EF4-FFF2-40B4-BE49-F238E27FC236}">
                <a16:creationId xmlns:a16="http://schemas.microsoft.com/office/drawing/2014/main" id="{896ABF7E-C7BC-1C08-1B0D-92CD3F1A8EFF}"/>
              </a:ext>
            </a:extLst>
          </p:cNvPr>
          <p:cNvSpPr txBox="1"/>
          <p:nvPr/>
        </p:nvSpPr>
        <p:spPr>
          <a:xfrm>
            <a:off x="786384" y="841248"/>
            <a:ext cx="10698480" cy="713232"/>
          </a:xfrm>
          <a:prstGeom prst="rect">
            <a:avLst/>
          </a:prstGeom>
          <a:noFill/>
        </p:spPr>
        <p:txBody>
          <a:bodyPr wrap="square" lIns="36576" tIns="18288" rIns="36576" bIns="18288" anchor="ctr">
            <a:spAutoFit/>
          </a:bodyPr>
          <a:lstStyle/>
          <a:p>
            <a:pPr algn="l">
              <a:spcAft>
                <a:spcPts val="0"/>
              </a:spcAft>
            </a:pPr>
            <a:r>
              <a:rPr sz="3100" b="1">
                <a:solidFill>
                  <a:srgbClr val="FAF7EF"/>
                </a:solidFill>
                <a:latin typeface="Georgia"/>
              </a:rPr>
              <a:t>A IA amplia o conhecimento humano.</a:t>
            </a:r>
          </a:p>
        </p:txBody>
      </p:sp>
      <p:sp>
        <p:nvSpPr>
          <p:cNvPr id="12" name="TextBox 3">
            <a:extLst>
              <a:ext uri="{FF2B5EF4-FFF2-40B4-BE49-F238E27FC236}">
                <a16:creationId xmlns:a16="http://schemas.microsoft.com/office/drawing/2014/main" id="{BF06DC16-E78C-AF17-3E17-3750359FC49D}"/>
              </a:ext>
            </a:extLst>
          </p:cNvPr>
          <p:cNvSpPr txBox="1"/>
          <p:nvPr/>
        </p:nvSpPr>
        <p:spPr>
          <a:xfrm>
            <a:off x="813816" y="1627632"/>
            <a:ext cx="10241280" cy="438912"/>
          </a:xfrm>
          <a:prstGeom prst="rect">
            <a:avLst/>
          </a:prstGeom>
          <a:noFill/>
        </p:spPr>
        <p:txBody>
          <a:bodyPr wrap="square" lIns="36576" tIns="18288" rIns="36576" bIns="18288" anchor="ctr">
            <a:spAutoFit/>
          </a:bodyPr>
          <a:lstStyle/>
          <a:p>
            <a:pPr algn="l">
              <a:spcAft>
                <a:spcPts val="0"/>
              </a:spcAft>
            </a:pPr>
            <a:r>
              <a:rPr sz="1600" b="0">
                <a:solidFill>
                  <a:srgbClr val="BECFCC"/>
                </a:solidFill>
                <a:latin typeface="Aptos"/>
              </a:rPr>
              <a:t>Em qualquer engenharia, três coisas sustentam um projeto de IA:</a:t>
            </a:r>
          </a:p>
        </p:txBody>
      </p:sp>
      <p:sp>
        <p:nvSpPr>
          <p:cNvPr id="13" name="Rounded Rectangle 4">
            <a:extLst>
              <a:ext uri="{FF2B5EF4-FFF2-40B4-BE49-F238E27FC236}">
                <a16:creationId xmlns:a16="http://schemas.microsoft.com/office/drawing/2014/main" id="{AD8FA988-7BA9-5226-0C9D-23758121497E}"/>
              </a:ext>
            </a:extLst>
          </p:cNvPr>
          <p:cNvSpPr/>
          <p:nvPr/>
        </p:nvSpPr>
        <p:spPr>
          <a:xfrm>
            <a:off x="786384" y="2359152"/>
            <a:ext cx="3502152" cy="1856230"/>
          </a:xfrm>
          <a:prstGeom prst="roundRect">
            <a:avLst/>
          </a:prstGeom>
          <a:solidFill>
            <a:srgbClr val="163D42"/>
          </a:solidFill>
          <a:ln w="15240">
            <a:solidFill>
              <a:srgbClr val="4C85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a:extLst>
              <a:ext uri="{FF2B5EF4-FFF2-40B4-BE49-F238E27FC236}">
                <a16:creationId xmlns:a16="http://schemas.microsoft.com/office/drawing/2014/main" id="{97B74612-9FBE-803E-3525-C7A9257CD4CD}"/>
              </a:ext>
            </a:extLst>
          </p:cNvPr>
          <p:cNvSpPr/>
          <p:nvPr/>
        </p:nvSpPr>
        <p:spPr>
          <a:xfrm>
            <a:off x="987552" y="2596896"/>
            <a:ext cx="493776" cy="493776"/>
          </a:xfrm>
          <a:prstGeom prst="ellipse">
            <a:avLst/>
          </a:prstGeom>
          <a:solidFill>
            <a:srgbClr val="77DACD"/>
          </a:solidFill>
          <a:ln>
            <a:solidFill>
              <a:srgbClr val="77DA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6">
            <a:extLst>
              <a:ext uri="{FF2B5EF4-FFF2-40B4-BE49-F238E27FC236}">
                <a16:creationId xmlns:a16="http://schemas.microsoft.com/office/drawing/2014/main" id="{751FED93-FFDD-D7E8-9671-8BA90A94FF4F}"/>
              </a:ext>
            </a:extLst>
          </p:cNvPr>
          <p:cNvSpPr txBox="1"/>
          <p:nvPr/>
        </p:nvSpPr>
        <p:spPr>
          <a:xfrm>
            <a:off x="987552" y="2596896"/>
            <a:ext cx="493776" cy="493776"/>
          </a:xfrm>
          <a:prstGeom prst="rect">
            <a:avLst/>
          </a:prstGeom>
          <a:noFill/>
        </p:spPr>
        <p:txBody>
          <a:bodyPr wrap="square" lIns="36576" tIns="18288" rIns="36576" bIns="18288" anchor="ctr">
            <a:spAutoFit/>
          </a:bodyPr>
          <a:lstStyle/>
          <a:p>
            <a:pPr algn="ctr">
              <a:spcAft>
                <a:spcPts val="0"/>
              </a:spcAft>
            </a:pPr>
            <a:r>
              <a:rPr sz="1400" b="1">
                <a:solidFill>
                  <a:srgbClr val="123035"/>
                </a:solidFill>
                <a:latin typeface="Aptos"/>
              </a:rPr>
              <a:t>1</a:t>
            </a:r>
          </a:p>
        </p:txBody>
      </p:sp>
      <p:sp>
        <p:nvSpPr>
          <p:cNvPr id="16" name="TextBox 7">
            <a:extLst>
              <a:ext uri="{FF2B5EF4-FFF2-40B4-BE49-F238E27FC236}">
                <a16:creationId xmlns:a16="http://schemas.microsoft.com/office/drawing/2014/main" id="{5FAA2B6C-B8DA-116D-B03F-026DE7304E25}"/>
              </a:ext>
            </a:extLst>
          </p:cNvPr>
          <p:cNvSpPr txBox="1"/>
          <p:nvPr/>
        </p:nvSpPr>
        <p:spPr>
          <a:xfrm>
            <a:off x="1609344" y="2505456"/>
            <a:ext cx="2514600" cy="438912"/>
          </a:xfrm>
          <a:prstGeom prst="rect">
            <a:avLst/>
          </a:prstGeom>
          <a:noFill/>
        </p:spPr>
        <p:txBody>
          <a:bodyPr wrap="square" lIns="36576" tIns="18288" rIns="36576" bIns="18288" anchor="ctr">
            <a:spAutoFit/>
          </a:bodyPr>
          <a:lstStyle/>
          <a:p>
            <a:pPr algn="l">
              <a:spcAft>
                <a:spcPts val="0"/>
              </a:spcAft>
            </a:pPr>
            <a:r>
              <a:rPr sz="1800" b="1">
                <a:solidFill>
                  <a:srgbClr val="F6AB37"/>
                </a:solidFill>
                <a:latin typeface="Aptos"/>
              </a:rPr>
              <a:t>Dados bem preparados</a:t>
            </a:r>
          </a:p>
        </p:txBody>
      </p:sp>
      <p:sp>
        <p:nvSpPr>
          <p:cNvPr id="17" name="TextBox 8">
            <a:extLst>
              <a:ext uri="{FF2B5EF4-FFF2-40B4-BE49-F238E27FC236}">
                <a16:creationId xmlns:a16="http://schemas.microsoft.com/office/drawing/2014/main" id="{74DB0A76-6C0B-2719-F578-8DAEFA1ED507}"/>
              </a:ext>
            </a:extLst>
          </p:cNvPr>
          <p:cNvSpPr txBox="1"/>
          <p:nvPr/>
        </p:nvSpPr>
        <p:spPr>
          <a:xfrm>
            <a:off x="1609344" y="3024253"/>
            <a:ext cx="2514600" cy="498598"/>
          </a:xfrm>
          <a:prstGeom prst="rect">
            <a:avLst/>
          </a:prstGeom>
          <a:noFill/>
        </p:spPr>
        <p:txBody>
          <a:bodyPr wrap="square" lIns="36576" tIns="18288" rIns="36576" bIns="18288" anchor="ctr">
            <a:spAutoFit/>
          </a:bodyPr>
          <a:lstStyle/>
          <a:p>
            <a:pPr algn="l">
              <a:spcAft>
                <a:spcPts val="0"/>
              </a:spcAft>
            </a:pPr>
            <a:r>
              <a:rPr sz="1500" b="0" dirty="0">
                <a:solidFill>
                  <a:srgbClr val="FAF7EF"/>
                </a:solidFill>
                <a:latin typeface="Aptos"/>
              </a:rPr>
              <a:t>Sem bons dados, </a:t>
            </a:r>
            <a:r>
              <a:rPr sz="1500" b="0" dirty="0" err="1">
                <a:solidFill>
                  <a:srgbClr val="FAF7EF"/>
                </a:solidFill>
                <a:latin typeface="Aptos"/>
              </a:rPr>
              <a:t>nenhum</a:t>
            </a:r>
            <a:r>
              <a:rPr sz="1500" b="0" dirty="0">
                <a:solidFill>
                  <a:srgbClr val="FAF7EF"/>
                </a:solidFill>
                <a:latin typeface="Aptos"/>
              </a:rPr>
              <a:t> </a:t>
            </a:r>
            <a:r>
              <a:rPr sz="1500" b="0" dirty="0" err="1">
                <a:solidFill>
                  <a:srgbClr val="FAF7EF"/>
                </a:solidFill>
                <a:latin typeface="Aptos"/>
              </a:rPr>
              <a:t>modelo</a:t>
            </a:r>
            <a:r>
              <a:rPr sz="1500" b="0" dirty="0">
                <a:solidFill>
                  <a:srgbClr val="FAF7EF"/>
                </a:solidFill>
                <a:latin typeface="Aptos"/>
              </a:rPr>
              <a:t> se </a:t>
            </a:r>
            <a:r>
              <a:rPr sz="1500" b="0" dirty="0" err="1">
                <a:solidFill>
                  <a:srgbClr val="FAF7EF"/>
                </a:solidFill>
                <a:latin typeface="Aptos"/>
              </a:rPr>
              <a:t>sustenta</a:t>
            </a:r>
            <a:r>
              <a:rPr sz="1500" b="0" dirty="0">
                <a:solidFill>
                  <a:srgbClr val="FAF7EF"/>
                </a:solidFill>
                <a:latin typeface="Aptos"/>
              </a:rPr>
              <a:t>.</a:t>
            </a:r>
          </a:p>
        </p:txBody>
      </p:sp>
      <p:sp>
        <p:nvSpPr>
          <p:cNvPr id="18" name="Rounded Rectangle 9">
            <a:extLst>
              <a:ext uri="{FF2B5EF4-FFF2-40B4-BE49-F238E27FC236}">
                <a16:creationId xmlns:a16="http://schemas.microsoft.com/office/drawing/2014/main" id="{BF10D054-3241-4067-5627-F7B9E606AB0C}"/>
              </a:ext>
            </a:extLst>
          </p:cNvPr>
          <p:cNvSpPr/>
          <p:nvPr/>
        </p:nvSpPr>
        <p:spPr>
          <a:xfrm>
            <a:off x="4544568" y="2359151"/>
            <a:ext cx="3502152" cy="1856231"/>
          </a:xfrm>
          <a:prstGeom prst="roundRect">
            <a:avLst/>
          </a:prstGeom>
          <a:solidFill>
            <a:srgbClr val="163D42"/>
          </a:solidFill>
          <a:ln w="15240">
            <a:solidFill>
              <a:srgbClr val="4C85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a:extLst>
              <a:ext uri="{FF2B5EF4-FFF2-40B4-BE49-F238E27FC236}">
                <a16:creationId xmlns:a16="http://schemas.microsoft.com/office/drawing/2014/main" id="{01971EEA-D35B-5F34-8DE1-775F6B86CCDD}"/>
              </a:ext>
            </a:extLst>
          </p:cNvPr>
          <p:cNvSpPr/>
          <p:nvPr/>
        </p:nvSpPr>
        <p:spPr>
          <a:xfrm>
            <a:off x="4745736" y="2596896"/>
            <a:ext cx="493776" cy="493776"/>
          </a:xfrm>
          <a:prstGeom prst="ellipse">
            <a:avLst/>
          </a:prstGeom>
          <a:solidFill>
            <a:srgbClr val="77DACD"/>
          </a:solidFill>
          <a:ln>
            <a:solidFill>
              <a:srgbClr val="77DA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1">
            <a:extLst>
              <a:ext uri="{FF2B5EF4-FFF2-40B4-BE49-F238E27FC236}">
                <a16:creationId xmlns:a16="http://schemas.microsoft.com/office/drawing/2014/main" id="{6B68B63E-59DA-FADC-8702-264987603FBE}"/>
              </a:ext>
            </a:extLst>
          </p:cNvPr>
          <p:cNvSpPr txBox="1"/>
          <p:nvPr/>
        </p:nvSpPr>
        <p:spPr>
          <a:xfrm>
            <a:off x="4745736" y="2596896"/>
            <a:ext cx="493776" cy="493776"/>
          </a:xfrm>
          <a:prstGeom prst="rect">
            <a:avLst/>
          </a:prstGeom>
          <a:noFill/>
        </p:spPr>
        <p:txBody>
          <a:bodyPr wrap="square" lIns="36576" tIns="18288" rIns="36576" bIns="18288" anchor="ctr">
            <a:spAutoFit/>
          </a:bodyPr>
          <a:lstStyle/>
          <a:p>
            <a:pPr algn="ctr">
              <a:spcAft>
                <a:spcPts val="0"/>
              </a:spcAft>
            </a:pPr>
            <a:r>
              <a:rPr sz="1400" b="1">
                <a:solidFill>
                  <a:srgbClr val="123035"/>
                </a:solidFill>
                <a:latin typeface="Aptos"/>
              </a:rPr>
              <a:t>2</a:t>
            </a:r>
          </a:p>
        </p:txBody>
      </p:sp>
      <p:sp>
        <p:nvSpPr>
          <p:cNvPr id="21" name="TextBox 12">
            <a:extLst>
              <a:ext uri="{FF2B5EF4-FFF2-40B4-BE49-F238E27FC236}">
                <a16:creationId xmlns:a16="http://schemas.microsoft.com/office/drawing/2014/main" id="{E06A6F4A-24F9-530D-2E7B-98195DDA4256}"/>
              </a:ext>
            </a:extLst>
          </p:cNvPr>
          <p:cNvSpPr txBox="1"/>
          <p:nvPr/>
        </p:nvSpPr>
        <p:spPr>
          <a:xfrm>
            <a:off x="5367528" y="2505456"/>
            <a:ext cx="2514600" cy="438912"/>
          </a:xfrm>
          <a:prstGeom prst="rect">
            <a:avLst/>
          </a:prstGeom>
          <a:noFill/>
        </p:spPr>
        <p:txBody>
          <a:bodyPr wrap="square" lIns="36576" tIns="18288" rIns="36576" bIns="18288" anchor="ctr">
            <a:spAutoFit/>
          </a:bodyPr>
          <a:lstStyle/>
          <a:p>
            <a:pPr algn="l">
              <a:spcAft>
                <a:spcPts val="0"/>
              </a:spcAft>
            </a:pPr>
            <a:r>
              <a:rPr sz="1800" b="1">
                <a:solidFill>
                  <a:srgbClr val="F6AB37"/>
                </a:solidFill>
                <a:latin typeface="Aptos"/>
              </a:rPr>
              <a:t>Validação rigorosa</a:t>
            </a:r>
          </a:p>
        </p:txBody>
      </p:sp>
      <p:sp>
        <p:nvSpPr>
          <p:cNvPr id="22" name="TextBox 13">
            <a:extLst>
              <a:ext uri="{FF2B5EF4-FFF2-40B4-BE49-F238E27FC236}">
                <a16:creationId xmlns:a16="http://schemas.microsoft.com/office/drawing/2014/main" id="{85C42AFA-92C0-90A7-4D61-FF17404314A7}"/>
              </a:ext>
            </a:extLst>
          </p:cNvPr>
          <p:cNvSpPr txBox="1"/>
          <p:nvPr/>
        </p:nvSpPr>
        <p:spPr>
          <a:xfrm>
            <a:off x="5367528" y="3024253"/>
            <a:ext cx="2514600" cy="498598"/>
          </a:xfrm>
          <a:prstGeom prst="rect">
            <a:avLst/>
          </a:prstGeom>
          <a:noFill/>
        </p:spPr>
        <p:txBody>
          <a:bodyPr wrap="square" lIns="36576" tIns="18288" rIns="36576" bIns="18288" anchor="ctr">
            <a:spAutoFit/>
          </a:bodyPr>
          <a:lstStyle/>
          <a:p>
            <a:pPr algn="l">
              <a:spcAft>
                <a:spcPts val="0"/>
              </a:spcAft>
            </a:pPr>
            <a:r>
              <a:rPr sz="1500" b="0" dirty="0">
                <a:solidFill>
                  <a:srgbClr val="FAF7EF"/>
                </a:solidFill>
                <a:latin typeface="Aptos"/>
              </a:rPr>
              <a:t>Testar e </a:t>
            </a:r>
            <a:r>
              <a:rPr sz="1500" b="0" dirty="0" err="1">
                <a:solidFill>
                  <a:srgbClr val="FAF7EF"/>
                </a:solidFill>
                <a:latin typeface="Aptos"/>
              </a:rPr>
              <a:t>confirmar</a:t>
            </a:r>
            <a:r>
              <a:rPr sz="1500" b="0" dirty="0">
                <a:solidFill>
                  <a:srgbClr val="FAF7EF"/>
                </a:solidFill>
                <a:latin typeface="Aptos"/>
              </a:rPr>
              <a:t> </a:t>
            </a:r>
            <a:r>
              <a:rPr sz="1500" b="0" dirty="0" err="1">
                <a:solidFill>
                  <a:srgbClr val="FAF7EF"/>
                </a:solidFill>
                <a:latin typeface="Aptos"/>
              </a:rPr>
              <a:t>em</a:t>
            </a:r>
            <a:r>
              <a:rPr sz="1500" b="0" dirty="0">
                <a:solidFill>
                  <a:srgbClr val="FAF7EF"/>
                </a:solidFill>
                <a:latin typeface="Aptos"/>
              </a:rPr>
              <a:t> dados </a:t>
            </a:r>
            <a:r>
              <a:rPr sz="1500" b="0" dirty="0" err="1">
                <a:solidFill>
                  <a:srgbClr val="FAF7EF"/>
                </a:solidFill>
                <a:latin typeface="Aptos"/>
              </a:rPr>
              <a:t>externos</a:t>
            </a:r>
            <a:r>
              <a:rPr sz="1500" b="0" dirty="0">
                <a:solidFill>
                  <a:srgbClr val="FAF7EF"/>
                </a:solidFill>
                <a:latin typeface="Aptos"/>
              </a:rPr>
              <a:t> antes de </a:t>
            </a:r>
            <a:r>
              <a:rPr sz="1500" b="0" dirty="0" err="1">
                <a:solidFill>
                  <a:srgbClr val="FAF7EF"/>
                </a:solidFill>
                <a:latin typeface="Aptos"/>
              </a:rPr>
              <a:t>confiar</a:t>
            </a:r>
            <a:r>
              <a:rPr sz="1500" b="0" dirty="0">
                <a:solidFill>
                  <a:srgbClr val="FAF7EF"/>
                </a:solidFill>
                <a:latin typeface="Aptos"/>
              </a:rPr>
              <a:t>.</a:t>
            </a:r>
          </a:p>
        </p:txBody>
      </p:sp>
      <p:sp>
        <p:nvSpPr>
          <p:cNvPr id="23" name="Rounded Rectangle 14">
            <a:extLst>
              <a:ext uri="{FF2B5EF4-FFF2-40B4-BE49-F238E27FC236}">
                <a16:creationId xmlns:a16="http://schemas.microsoft.com/office/drawing/2014/main" id="{667E0869-9F30-89CD-14AD-76383290CCA0}"/>
              </a:ext>
            </a:extLst>
          </p:cNvPr>
          <p:cNvSpPr/>
          <p:nvPr/>
        </p:nvSpPr>
        <p:spPr>
          <a:xfrm>
            <a:off x="8302752" y="2359152"/>
            <a:ext cx="3502152" cy="1856232"/>
          </a:xfrm>
          <a:prstGeom prst="roundRect">
            <a:avLst/>
          </a:prstGeom>
          <a:solidFill>
            <a:srgbClr val="163D42"/>
          </a:solidFill>
          <a:ln w="15240">
            <a:solidFill>
              <a:srgbClr val="4C85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a:extLst>
              <a:ext uri="{FF2B5EF4-FFF2-40B4-BE49-F238E27FC236}">
                <a16:creationId xmlns:a16="http://schemas.microsoft.com/office/drawing/2014/main" id="{1C8FA0C8-CC4A-514E-ED82-5ED24219F471}"/>
              </a:ext>
            </a:extLst>
          </p:cNvPr>
          <p:cNvSpPr/>
          <p:nvPr/>
        </p:nvSpPr>
        <p:spPr>
          <a:xfrm>
            <a:off x="8503920" y="2596896"/>
            <a:ext cx="493776" cy="493776"/>
          </a:xfrm>
          <a:prstGeom prst="ellipse">
            <a:avLst/>
          </a:prstGeom>
          <a:solidFill>
            <a:srgbClr val="77DACD"/>
          </a:solidFill>
          <a:ln>
            <a:solidFill>
              <a:srgbClr val="77DA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16">
            <a:extLst>
              <a:ext uri="{FF2B5EF4-FFF2-40B4-BE49-F238E27FC236}">
                <a16:creationId xmlns:a16="http://schemas.microsoft.com/office/drawing/2014/main" id="{E8AF9B4A-40D3-6D70-0236-F84B95C7F144}"/>
              </a:ext>
            </a:extLst>
          </p:cNvPr>
          <p:cNvSpPr txBox="1"/>
          <p:nvPr/>
        </p:nvSpPr>
        <p:spPr>
          <a:xfrm>
            <a:off x="8503920" y="2596896"/>
            <a:ext cx="493776" cy="493776"/>
          </a:xfrm>
          <a:prstGeom prst="rect">
            <a:avLst/>
          </a:prstGeom>
          <a:noFill/>
        </p:spPr>
        <p:txBody>
          <a:bodyPr wrap="square" lIns="36576" tIns="18288" rIns="36576" bIns="18288" anchor="ctr">
            <a:spAutoFit/>
          </a:bodyPr>
          <a:lstStyle/>
          <a:p>
            <a:pPr algn="ctr">
              <a:spcAft>
                <a:spcPts val="0"/>
              </a:spcAft>
            </a:pPr>
            <a:r>
              <a:rPr sz="1400" b="1">
                <a:solidFill>
                  <a:srgbClr val="123035"/>
                </a:solidFill>
                <a:latin typeface="Aptos"/>
              </a:rPr>
              <a:t>3</a:t>
            </a:r>
          </a:p>
        </p:txBody>
      </p:sp>
      <p:sp>
        <p:nvSpPr>
          <p:cNvPr id="26" name="TextBox 17">
            <a:extLst>
              <a:ext uri="{FF2B5EF4-FFF2-40B4-BE49-F238E27FC236}">
                <a16:creationId xmlns:a16="http://schemas.microsoft.com/office/drawing/2014/main" id="{B5AFD41E-4D40-DD33-1CF9-AB8428164850}"/>
              </a:ext>
            </a:extLst>
          </p:cNvPr>
          <p:cNvSpPr txBox="1"/>
          <p:nvPr/>
        </p:nvSpPr>
        <p:spPr>
          <a:xfrm>
            <a:off x="9125712" y="2505456"/>
            <a:ext cx="2514600" cy="438912"/>
          </a:xfrm>
          <a:prstGeom prst="rect">
            <a:avLst/>
          </a:prstGeom>
          <a:noFill/>
        </p:spPr>
        <p:txBody>
          <a:bodyPr wrap="square" lIns="36576" tIns="18288" rIns="36576" bIns="18288" anchor="ctr">
            <a:spAutoFit/>
          </a:bodyPr>
          <a:lstStyle/>
          <a:p>
            <a:pPr algn="l">
              <a:spcAft>
                <a:spcPts val="0"/>
              </a:spcAft>
            </a:pPr>
            <a:r>
              <a:rPr sz="1800" b="1">
                <a:solidFill>
                  <a:srgbClr val="F6AB37"/>
                </a:solidFill>
                <a:latin typeface="Aptos"/>
              </a:rPr>
              <a:t>Pessoas no centro</a:t>
            </a:r>
          </a:p>
        </p:txBody>
      </p:sp>
      <p:sp>
        <p:nvSpPr>
          <p:cNvPr id="27" name="TextBox 18">
            <a:extLst>
              <a:ext uri="{FF2B5EF4-FFF2-40B4-BE49-F238E27FC236}">
                <a16:creationId xmlns:a16="http://schemas.microsoft.com/office/drawing/2014/main" id="{D082D30E-1FA5-01E9-DCC6-BAFB49C37736}"/>
              </a:ext>
            </a:extLst>
          </p:cNvPr>
          <p:cNvSpPr txBox="1"/>
          <p:nvPr/>
        </p:nvSpPr>
        <p:spPr>
          <a:xfrm>
            <a:off x="9125712" y="2985925"/>
            <a:ext cx="2514600" cy="960263"/>
          </a:xfrm>
          <a:prstGeom prst="rect">
            <a:avLst/>
          </a:prstGeom>
          <a:noFill/>
        </p:spPr>
        <p:txBody>
          <a:bodyPr wrap="square" lIns="36576" tIns="18288" rIns="36576" bIns="18288" anchor="ctr">
            <a:spAutoFit/>
          </a:bodyPr>
          <a:lstStyle/>
          <a:p>
            <a:pPr algn="l">
              <a:spcAft>
                <a:spcPts val="0"/>
              </a:spcAft>
            </a:pPr>
            <a:r>
              <a:rPr sz="1500" b="0" dirty="0">
                <a:solidFill>
                  <a:srgbClr val="FAF7EF"/>
                </a:solidFill>
                <a:latin typeface="Aptos"/>
              </a:rPr>
              <a:t>A decisão final é de quem conhece o problema: engenheiro, técnico e usuário.</a:t>
            </a:r>
          </a:p>
        </p:txBody>
      </p:sp>
      <p:sp>
        <p:nvSpPr>
          <p:cNvPr id="28" name="Rounded Rectangle 19">
            <a:extLst>
              <a:ext uri="{FF2B5EF4-FFF2-40B4-BE49-F238E27FC236}">
                <a16:creationId xmlns:a16="http://schemas.microsoft.com/office/drawing/2014/main" id="{0B1F6F5E-9B43-8663-8FCA-D077E8CF12D6}"/>
              </a:ext>
            </a:extLst>
          </p:cNvPr>
          <p:cNvSpPr/>
          <p:nvPr/>
        </p:nvSpPr>
        <p:spPr>
          <a:xfrm>
            <a:off x="786384" y="4370832"/>
            <a:ext cx="10954512" cy="969264"/>
          </a:xfrm>
          <a:prstGeom prst="roundRect">
            <a:avLst/>
          </a:prstGeom>
          <a:solidFill>
            <a:srgbClr val="0B252A"/>
          </a:solidFill>
          <a:ln>
            <a:solidFill>
              <a:srgbClr val="0B2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0">
            <a:extLst>
              <a:ext uri="{FF2B5EF4-FFF2-40B4-BE49-F238E27FC236}">
                <a16:creationId xmlns:a16="http://schemas.microsoft.com/office/drawing/2014/main" id="{CE0DFDCE-3187-A585-3506-3777A4B79894}"/>
              </a:ext>
            </a:extLst>
          </p:cNvPr>
          <p:cNvSpPr txBox="1"/>
          <p:nvPr/>
        </p:nvSpPr>
        <p:spPr>
          <a:xfrm>
            <a:off x="1078992" y="4489704"/>
            <a:ext cx="10351008" cy="694944"/>
          </a:xfrm>
          <a:prstGeom prst="rect">
            <a:avLst/>
          </a:prstGeom>
          <a:noFill/>
        </p:spPr>
        <p:txBody>
          <a:bodyPr wrap="square" lIns="36576" tIns="18288" rIns="36576" bIns="18288" anchor="ctr">
            <a:spAutoFit/>
          </a:bodyPr>
          <a:lstStyle/>
          <a:p>
            <a:pPr algn="ctr">
              <a:spcAft>
                <a:spcPts val="0"/>
              </a:spcAft>
            </a:pPr>
            <a:r>
              <a:rPr sz="2000" b="1">
                <a:solidFill>
                  <a:srgbClr val="FAF7EF"/>
                </a:solidFill>
                <a:latin typeface="Aptos"/>
              </a:rPr>
              <a:t>A IA não substitui o profissional.</a:t>
            </a:r>
            <a:br/>
            <a:r>
              <a:rPr sz="2000" b="1">
                <a:solidFill>
                  <a:srgbClr val="FAF7EF"/>
                </a:solidFill>
                <a:latin typeface="Aptos"/>
              </a:rPr>
              <a:t>Ela amplia quem sabe aplicá-la com método e responsabilidade.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92608"/>
            <a:ext cx="10972800" cy="256032"/>
          </a:xfrm>
          <a:prstGeom prst="rect">
            <a:avLst/>
          </a:prstGeom>
          <a:noFill/>
        </p:spPr>
        <p:txBody>
          <a:bodyPr wrap="square" lIns="45720" rIns="45720" anchor="t">
            <a:spAutoFit/>
          </a:bodyPr>
          <a:lstStyle/>
          <a:p>
            <a:pPr algn="l">
              <a:spcAft>
                <a:spcPts val="0"/>
              </a:spcAft>
            </a:pPr>
            <a:r>
              <a:rPr sz="1100" b="1">
                <a:solidFill>
                  <a:srgbClr val="177770"/>
                </a:solidFill>
                <a:latin typeface="Aptos"/>
              </a:rPr>
              <a:t>PRÓXIMOS PASSOS</a:t>
            </a:r>
          </a:p>
        </p:txBody>
      </p:sp>
      <p:sp>
        <p:nvSpPr>
          <p:cNvPr id="3" name="TextBox 2"/>
          <p:cNvSpPr txBox="1"/>
          <p:nvPr/>
        </p:nvSpPr>
        <p:spPr>
          <a:xfrm>
            <a:off x="594360" y="566928"/>
            <a:ext cx="11064240" cy="594360"/>
          </a:xfrm>
          <a:prstGeom prst="rect">
            <a:avLst/>
          </a:prstGeom>
          <a:noFill/>
        </p:spPr>
        <p:txBody>
          <a:bodyPr wrap="square" lIns="45720" rIns="45720" anchor="t">
            <a:spAutoFit/>
          </a:bodyPr>
          <a:lstStyle/>
          <a:p>
            <a:pPr algn="l">
              <a:spcAft>
                <a:spcPts val="0"/>
              </a:spcAft>
            </a:pPr>
            <a:r>
              <a:rPr sz="2700" b="1">
                <a:solidFill>
                  <a:srgbClr val="10272D"/>
                </a:solidFill>
                <a:latin typeface="Georgia"/>
              </a:rPr>
              <a:t>Como continuar depois do curso</a:t>
            </a:r>
          </a:p>
        </p:txBody>
      </p:sp>
      <p:sp>
        <p:nvSpPr>
          <p:cNvPr id="4" name="TextBox 3"/>
          <p:cNvSpPr txBox="1"/>
          <p:nvPr/>
        </p:nvSpPr>
        <p:spPr>
          <a:xfrm>
            <a:off x="640080" y="1426687"/>
            <a:ext cx="10972800" cy="384048"/>
          </a:xfrm>
          <a:prstGeom prst="rect">
            <a:avLst/>
          </a:prstGeom>
          <a:noFill/>
        </p:spPr>
        <p:txBody>
          <a:bodyPr wrap="square" lIns="45720" rIns="45720" anchor="t">
            <a:spAutoFit/>
          </a:bodyPr>
          <a:lstStyle/>
          <a:p>
            <a:pPr algn="ctr">
              <a:spcAft>
                <a:spcPts val="0"/>
              </a:spcAft>
            </a:pPr>
            <a:r>
              <a:rPr lang="pt-BR" b="0" noProof="0" dirty="0">
                <a:solidFill>
                  <a:srgbClr val="3A4B51"/>
                </a:solidFill>
                <a:latin typeface="Aptos"/>
              </a:rPr>
              <a:t>Quatro hábitos para quem quer entrar na pesquisa com IA.</a:t>
            </a:r>
          </a:p>
        </p:txBody>
      </p:sp>
      <p:sp>
        <p:nvSpPr>
          <p:cNvPr id="5" name="Rounded Rectangle 4"/>
          <p:cNvSpPr/>
          <p:nvPr/>
        </p:nvSpPr>
        <p:spPr>
          <a:xfrm>
            <a:off x="685800" y="2257545"/>
            <a:ext cx="2240280" cy="1508760"/>
          </a:xfrm>
          <a:prstGeom prst="roundRect">
            <a:avLst/>
          </a:prstGeom>
          <a:solidFill>
            <a:srgbClr val="E7F1ED"/>
          </a:solidFill>
          <a:ln w="13970">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22960" y="2412993"/>
            <a:ext cx="384048" cy="384048"/>
          </a:xfrm>
          <a:prstGeom prst="ellipse">
            <a:avLst/>
          </a:prstGeom>
          <a:solidFill>
            <a:srgbClr val="177770"/>
          </a:solidFill>
          <a:ln>
            <a:solidFill>
              <a:srgbClr val="177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440425"/>
            <a:ext cx="384048" cy="256032"/>
          </a:xfrm>
          <a:prstGeom prst="rect">
            <a:avLst/>
          </a:prstGeom>
          <a:noFill/>
        </p:spPr>
        <p:txBody>
          <a:bodyPr wrap="square" lIns="45720" rIns="45720" anchor="t">
            <a:spAutoFit/>
          </a:bodyPr>
          <a:lstStyle/>
          <a:p>
            <a:pPr algn="ctr">
              <a:spcAft>
                <a:spcPts val="0"/>
              </a:spcAft>
            </a:pPr>
            <a:r>
              <a:rPr sz="1400" b="1">
                <a:solidFill>
                  <a:srgbClr val="FFFFFF"/>
                </a:solidFill>
                <a:latin typeface="Aptos"/>
              </a:rPr>
              <a:t>1</a:t>
            </a:r>
          </a:p>
        </p:txBody>
      </p:sp>
      <p:sp>
        <p:nvSpPr>
          <p:cNvPr id="8" name="TextBox 7"/>
          <p:cNvSpPr txBox="1"/>
          <p:nvPr/>
        </p:nvSpPr>
        <p:spPr>
          <a:xfrm>
            <a:off x="1307592" y="2422136"/>
            <a:ext cx="1444752" cy="329184"/>
          </a:xfrm>
          <a:prstGeom prst="rect">
            <a:avLst/>
          </a:prstGeom>
          <a:noFill/>
        </p:spPr>
        <p:txBody>
          <a:bodyPr wrap="square" lIns="45720" rIns="45720" anchor="t">
            <a:spAutoFit/>
          </a:bodyPr>
          <a:lstStyle/>
          <a:p>
            <a:pPr algn="l">
              <a:spcAft>
                <a:spcPts val="0"/>
              </a:spcAft>
            </a:pPr>
            <a:r>
              <a:rPr sz="1300" b="1">
                <a:solidFill>
                  <a:srgbClr val="10272D"/>
                </a:solidFill>
                <a:latin typeface="Aptos"/>
              </a:rPr>
              <a:t>APRENDER</a:t>
            </a:r>
          </a:p>
        </p:txBody>
      </p:sp>
      <p:sp>
        <p:nvSpPr>
          <p:cNvPr id="9" name="TextBox 8"/>
          <p:cNvSpPr txBox="1"/>
          <p:nvPr/>
        </p:nvSpPr>
        <p:spPr>
          <a:xfrm>
            <a:off x="850392" y="2989065"/>
            <a:ext cx="1901952" cy="566928"/>
          </a:xfrm>
          <a:prstGeom prst="rect">
            <a:avLst/>
          </a:prstGeom>
          <a:noFill/>
        </p:spPr>
        <p:txBody>
          <a:bodyPr wrap="square" lIns="45720" rIns="45720" anchor="t">
            <a:spAutoFit/>
          </a:bodyPr>
          <a:lstStyle/>
          <a:p>
            <a:pPr algn="ctr">
              <a:spcAft>
                <a:spcPts val="0"/>
              </a:spcAft>
            </a:pPr>
            <a:r>
              <a:rPr sz="1400" b="0">
                <a:solidFill>
                  <a:srgbClr val="3A4B51"/>
                </a:solidFill>
                <a:latin typeface="Aptos"/>
              </a:rPr>
              <a:t>Python e scikit-learn</a:t>
            </a:r>
          </a:p>
        </p:txBody>
      </p:sp>
      <p:cxnSp>
        <p:nvCxnSpPr>
          <p:cNvPr id="10" name="Connector 9"/>
          <p:cNvCxnSpPr/>
          <p:nvPr/>
        </p:nvCxnSpPr>
        <p:spPr>
          <a:xfrm>
            <a:off x="2971800" y="3007353"/>
            <a:ext cx="475488" cy="0"/>
          </a:xfrm>
          <a:prstGeom prst="line">
            <a:avLst/>
          </a:prstGeom>
          <a:ln w="31750">
            <a:solidFill>
              <a:srgbClr val="177770"/>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520440" y="2257545"/>
            <a:ext cx="2240280" cy="1508760"/>
          </a:xfrm>
          <a:prstGeom prst="roundRect">
            <a:avLst/>
          </a:prstGeom>
          <a:solidFill>
            <a:srgbClr val="E7EFF8"/>
          </a:solidFill>
          <a:ln w="13970">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657600" y="2412993"/>
            <a:ext cx="384048" cy="384048"/>
          </a:xfrm>
          <a:prstGeom prst="ellipse">
            <a:avLst/>
          </a:prstGeom>
          <a:solidFill>
            <a:srgbClr val="177770"/>
          </a:solidFill>
          <a:ln>
            <a:solidFill>
              <a:srgbClr val="177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0" y="2440425"/>
            <a:ext cx="384048" cy="256032"/>
          </a:xfrm>
          <a:prstGeom prst="rect">
            <a:avLst/>
          </a:prstGeom>
          <a:noFill/>
        </p:spPr>
        <p:txBody>
          <a:bodyPr wrap="square" lIns="45720" rIns="45720" anchor="t">
            <a:spAutoFit/>
          </a:bodyPr>
          <a:lstStyle/>
          <a:p>
            <a:pPr algn="ctr">
              <a:spcAft>
                <a:spcPts val="0"/>
              </a:spcAft>
            </a:pPr>
            <a:r>
              <a:rPr sz="1400" b="1">
                <a:solidFill>
                  <a:srgbClr val="FFFFFF"/>
                </a:solidFill>
                <a:latin typeface="Aptos"/>
              </a:rPr>
              <a:t>2</a:t>
            </a:r>
          </a:p>
        </p:txBody>
      </p:sp>
      <p:sp>
        <p:nvSpPr>
          <p:cNvPr id="14" name="TextBox 13"/>
          <p:cNvSpPr txBox="1"/>
          <p:nvPr/>
        </p:nvSpPr>
        <p:spPr>
          <a:xfrm>
            <a:off x="4142232" y="2422136"/>
            <a:ext cx="1444752" cy="329184"/>
          </a:xfrm>
          <a:prstGeom prst="rect">
            <a:avLst/>
          </a:prstGeom>
          <a:noFill/>
        </p:spPr>
        <p:txBody>
          <a:bodyPr wrap="square" lIns="45720" rIns="45720" anchor="t">
            <a:spAutoFit/>
          </a:bodyPr>
          <a:lstStyle/>
          <a:p>
            <a:pPr algn="l">
              <a:spcAft>
                <a:spcPts val="0"/>
              </a:spcAft>
            </a:pPr>
            <a:r>
              <a:rPr sz="1300" b="1">
                <a:solidFill>
                  <a:srgbClr val="10272D"/>
                </a:solidFill>
                <a:latin typeface="Aptos"/>
              </a:rPr>
              <a:t>PRATICAR</a:t>
            </a:r>
          </a:p>
        </p:txBody>
      </p:sp>
      <p:sp>
        <p:nvSpPr>
          <p:cNvPr id="15" name="TextBox 14"/>
          <p:cNvSpPr txBox="1"/>
          <p:nvPr/>
        </p:nvSpPr>
        <p:spPr>
          <a:xfrm>
            <a:off x="3685032" y="2989065"/>
            <a:ext cx="1901952" cy="566928"/>
          </a:xfrm>
          <a:prstGeom prst="rect">
            <a:avLst/>
          </a:prstGeom>
          <a:noFill/>
        </p:spPr>
        <p:txBody>
          <a:bodyPr wrap="square" lIns="45720" rIns="45720" anchor="t">
            <a:spAutoFit/>
          </a:bodyPr>
          <a:lstStyle/>
          <a:p>
            <a:pPr algn="ctr">
              <a:spcAft>
                <a:spcPts val="0"/>
              </a:spcAft>
            </a:pPr>
            <a:r>
              <a:rPr sz="1400" b="0">
                <a:solidFill>
                  <a:srgbClr val="3A4B51"/>
                </a:solidFill>
                <a:latin typeface="Aptos"/>
              </a:rPr>
              <a:t>Dados públicos e projetos pequenos</a:t>
            </a:r>
          </a:p>
        </p:txBody>
      </p:sp>
      <p:cxnSp>
        <p:nvCxnSpPr>
          <p:cNvPr id="16" name="Connector 15"/>
          <p:cNvCxnSpPr/>
          <p:nvPr/>
        </p:nvCxnSpPr>
        <p:spPr>
          <a:xfrm>
            <a:off x="5806440" y="3007353"/>
            <a:ext cx="475488" cy="0"/>
          </a:xfrm>
          <a:prstGeom prst="line">
            <a:avLst/>
          </a:prstGeom>
          <a:ln w="31750">
            <a:solidFill>
              <a:srgbClr val="17777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355080" y="2257545"/>
            <a:ext cx="2240280" cy="1508760"/>
          </a:xfrm>
          <a:prstGeom prst="roundRect">
            <a:avLst/>
          </a:prstGeom>
          <a:solidFill>
            <a:srgbClr val="FAEED8"/>
          </a:solidFill>
          <a:ln w="13970">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492240" y="2412993"/>
            <a:ext cx="384048" cy="384048"/>
          </a:xfrm>
          <a:prstGeom prst="ellipse">
            <a:avLst/>
          </a:prstGeom>
          <a:solidFill>
            <a:srgbClr val="177770"/>
          </a:solidFill>
          <a:ln>
            <a:solidFill>
              <a:srgbClr val="1777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92240" y="2440425"/>
            <a:ext cx="384048" cy="256032"/>
          </a:xfrm>
          <a:prstGeom prst="rect">
            <a:avLst/>
          </a:prstGeom>
          <a:noFill/>
        </p:spPr>
        <p:txBody>
          <a:bodyPr wrap="square" lIns="45720" rIns="45720" anchor="t">
            <a:spAutoFit/>
          </a:bodyPr>
          <a:lstStyle/>
          <a:p>
            <a:pPr algn="ctr">
              <a:spcAft>
                <a:spcPts val="0"/>
              </a:spcAft>
            </a:pPr>
            <a:r>
              <a:rPr sz="1400" b="1">
                <a:solidFill>
                  <a:srgbClr val="FFFFFF"/>
                </a:solidFill>
                <a:latin typeface="Aptos"/>
              </a:rPr>
              <a:t>3</a:t>
            </a:r>
          </a:p>
        </p:txBody>
      </p:sp>
      <p:sp>
        <p:nvSpPr>
          <p:cNvPr id="20" name="TextBox 19"/>
          <p:cNvSpPr txBox="1"/>
          <p:nvPr/>
        </p:nvSpPr>
        <p:spPr>
          <a:xfrm>
            <a:off x="6976872" y="2422136"/>
            <a:ext cx="1444752" cy="329184"/>
          </a:xfrm>
          <a:prstGeom prst="rect">
            <a:avLst/>
          </a:prstGeom>
          <a:noFill/>
        </p:spPr>
        <p:txBody>
          <a:bodyPr wrap="square" lIns="45720" rIns="45720" anchor="t">
            <a:spAutoFit/>
          </a:bodyPr>
          <a:lstStyle/>
          <a:p>
            <a:pPr algn="l">
              <a:spcAft>
                <a:spcPts val="0"/>
              </a:spcAft>
            </a:pPr>
            <a:r>
              <a:rPr sz="1300" b="1">
                <a:solidFill>
                  <a:srgbClr val="10272D"/>
                </a:solidFill>
                <a:latin typeface="Aptos"/>
              </a:rPr>
              <a:t>CONECTAR</a:t>
            </a:r>
          </a:p>
        </p:txBody>
      </p:sp>
      <p:sp>
        <p:nvSpPr>
          <p:cNvPr id="21" name="TextBox 20"/>
          <p:cNvSpPr txBox="1"/>
          <p:nvPr/>
        </p:nvSpPr>
        <p:spPr>
          <a:xfrm>
            <a:off x="6519672" y="2989065"/>
            <a:ext cx="1901952" cy="566928"/>
          </a:xfrm>
          <a:prstGeom prst="rect">
            <a:avLst/>
          </a:prstGeom>
          <a:noFill/>
        </p:spPr>
        <p:txBody>
          <a:bodyPr wrap="square" lIns="45720" rIns="45720" anchor="t">
            <a:spAutoFit/>
          </a:bodyPr>
          <a:lstStyle/>
          <a:p>
            <a:pPr algn="ctr">
              <a:spcAft>
                <a:spcPts val="0"/>
              </a:spcAft>
            </a:pPr>
            <a:r>
              <a:rPr sz="1400" b="0">
                <a:solidFill>
                  <a:srgbClr val="3A4B51"/>
                </a:solidFill>
                <a:latin typeface="Aptos"/>
              </a:rPr>
              <a:t>Colegas de outras áreas</a:t>
            </a:r>
          </a:p>
        </p:txBody>
      </p:sp>
      <p:cxnSp>
        <p:nvCxnSpPr>
          <p:cNvPr id="22" name="Connector 21"/>
          <p:cNvCxnSpPr/>
          <p:nvPr/>
        </p:nvCxnSpPr>
        <p:spPr>
          <a:xfrm>
            <a:off x="8641080" y="3007353"/>
            <a:ext cx="475488" cy="0"/>
          </a:xfrm>
          <a:prstGeom prst="line">
            <a:avLst/>
          </a:prstGeom>
          <a:ln w="31750">
            <a:solidFill>
              <a:srgbClr val="17777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189720" y="2257545"/>
            <a:ext cx="2240280" cy="1508760"/>
          </a:xfrm>
          <a:prstGeom prst="roundRect">
            <a:avLst/>
          </a:prstGeom>
          <a:solidFill>
            <a:srgbClr val="EFE7F5"/>
          </a:solidFill>
          <a:ln w="13970">
            <a:solidFill>
              <a:srgbClr val="DED6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326880" y="2412993"/>
            <a:ext cx="384048" cy="384048"/>
          </a:xfrm>
          <a:prstGeom prst="ellipse">
            <a:avLst/>
          </a:prstGeom>
          <a:solidFill>
            <a:srgbClr val="10272D"/>
          </a:solidFill>
          <a:ln>
            <a:solidFill>
              <a:srgbClr val="102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26880" y="2440425"/>
            <a:ext cx="384048" cy="256032"/>
          </a:xfrm>
          <a:prstGeom prst="rect">
            <a:avLst/>
          </a:prstGeom>
          <a:noFill/>
        </p:spPr>
        <p:txBody>
          <a:bodyPr wrap="square" lIns="45720" rIns="45720" anchor="t">
            <a:spAutoFit/>
          </a:bodyPr>
          <a:lstStyle/>
          <a:p>
            <a:pPr algn="ctr">
              <a:spcAft>
                <a:spcPts val="0"/>
              </a:spcAft>
            </a:pPr>
            <a:r>
              <a:rPr sz="1400" b="1">
                <a:solidFill>
                  <a:srgbClr val="FFFFFF"/>
                </a:solidFill>
                <a:latin typeface="Aptos"/>
              </a:rPr>
              <a:t>4</a:t>
            </a:r>
          </a:p>
        </p:txBody>
      </p:sp>
      <p:sp>
        <p:nvSpPr>
          <p:cNvPr id="26" name="TextBox 25"/>
          <p:cNvSpPr txBox="1"/>
          <p:nvPr/>
        </p:nvSpPr>
        <p:spPr>
          <a:xfrm>
            <a:off x="9811512" y="2422136"/>
            <a:ext cx="1444752" cy="329184"/>
          </a:xfrm>
          <a:prstGeom prst="rect">
            <a:avLst/>
          </a:prstGeom>
          <a:noFill/>
        </p:spPr>
        <p:txBody>
          <a:bodyPr wrap="square" lIns="45720" rIns="45720" anchor="t">
            <a:spAutoFit/>
          </a:bodyPr>
          <a:lstStyle/>
          <a:p>
            <a:pPr algn="l">
              <a:spcAft>
                <a:spcPts val="0"/>
              </a:spcAft>
            </a:pPr>
            <a:r>
              <a:rPr sz="1300" b="1">
                <a:solidFill>
                  <a:srgbClr val="10272D"/>
                </a:solidFill>
                <a:latin typeface="Aptos"/>
              </a:rPr>
              <a:t>PESQUISAR</a:t>
            </a:r>
          </a:p>
        </p:txBody>
      </p:sp>
      <p:sp>
        <p:nvSpPr>
          <p:cNvPr id="27" name="TextBox 26"/>
          <p:cNvSpPr txBox="1"/>
          <p:nvPr/>
        </p:nvSpPr>
        <p:spPr>
          <a:xfrm>
            <a:off x="9354312" y="2989065"/>
            <a:ext cx="1901952" cy="566928"/>
          </a:xfrm>
          <a:prstGeom prst="rect">
            <a:avLst/>
          </a:prstGeom>
          <a:noFill/>
        </p:spPr>
        <p:txBody>
          <a:bodyPr wrap="square" lIns="45720" rIns="45720" anchor="t">
            <a:spAutoFit/>
          </a:bodyPr>
          <a:lstStyle/>
          <a:p>
            <a:pPr algn="ctr">
              <a:spcAft>
                <a:spcPts val="0"/>
              </a:spcAft>
            </a:pPr>
            <a:r>
              <a:rPr sz="1400" b="0">
                <a:solidFill>
                  <a:srgbClr val="3A4B51"/>
                </a:solidFill>
                <a:latin typeface="Aptos"/>
              </a:rPr>
              <a:t>Iniciação científica e pós-graduação</a:t>
            </a:r>
          </a:p>
        </p:txBody>
      </p:sp>
      <p:sp>
        <p:nvSpPr>
          <p:cNvPr id="28" name="Rounded Rectangle 27"/>
          <p:cNvSpPr/>
          <p:nvPr/>
        </p:nvSpPr>
        <p:spPr>
          <a:xfrm>
            <a:off x="960120" y="4223505"/>
            <a:ext cx="10241280" cy="960120"/>
          </a:xfrm>
          <a:prstGeom prst="roundRect">
            <a:avLst/>
          </a:prstGeom>
          <a:solidFill>
            <a:srgbClr val="10272D"/>
          </a:solidFill>
          <a:ln w="13970">
            <a:solidFill>
              <a:srgbClr val="102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234440" y="4508305"/>
            <a:ext cx="9692640" cy="353943"/>
          </a:xfrm>
          <a:prstGeom prst="rect">
            <a:avLst/>
          </a:prstGeom>
          <a:noFill/>
        </p:spPr>
        <p:txBody>
          <a:bodyPr wrap="square" lIns="45720" rIns="45720" anchor="ctr">
            <a:spAutoFit/>
          </a:bodyPr>
          <a:lstStyle/>
          <a:p>
            <a:pPr algn="ctr">
              <a:spcAft>
                <a:spcPts val="0"/>
              </a:spcAft>
            </a:pPr>
            <a:r>
              <a:rPr lang="pt-BR" sz="1700" b="1" noProof="0" dirty="0">
                <a:solidFill>
                  <a:schemeClr val="accent3">
                    <a:lumMod val="60000"/>
                    <a:lumOff val="40000"/>
                  </a:schemeClr>
                </a:solidFill>
                <a:latin typeface="Aptos"/>
              </a:rPr>
              <a:t>Engenharia é bem mais que engenharia: </a:t>
            </a:r>
            <a:r>
              <a:rPr lang="pt-BR" sz="1700" b="1" noProof="0" dirty="0">
                <a:solidFill>
                  <a:srgbClr val="FFFFFF"/>
                </a:solidFill>
                <a:latin typeface="Aptos"/>
              </a:rPr>
              <a:t>é método para resolver problemas que importam.</a:t>
            </a:r>
          </a:p>
        </p:txBody>
      </p:sp>
      <p:sp>
        <p:nvSpPr>
          <p:cNvPr id="30" name="TextBox 29"/>
          <p:cNvSpPr txBox="1"/>
          <p:nvPr/>
        </p:nvSpPr>
        <p:spPr>
          <a:xfrm>
            <a:off x="777240" y="5507180"/>
            <a:ext cx="10607040" cy="502920"/>
          </a:xfrm>
          <a:prstGeom prst="rect">
            <a:avLst/>
          </a:prstGeom>
          <a:noFill/>
        </p:spPr>
        <p:txBody>
          <a:bodyPr wrap="square" lIns="45720" rIns="45720" anchor="t">
            <a:spAutoFit/>
          </a:bodyPr>
          <a:lstStyle/>
          <a:p>
            <a:pPr algn="ctr">
              <a:spcAft>
                <a:spcPts val="0"/>
              </a:spcAft>
            </a:pPr>
            <a:r>
              <a:rPr sz="1500" b="0">
                <a:solidFill>
                  <a:srgbClr val="3A4B51"/>
                </a:solidFill>
                <a:latin typeface="Aptos"/>
              </a:rPr>
              <a:t>Dados abertos para praticar: Kaggle, UCI Machine Learning Repository e dados abertos da sua área.</a:t>
            </a:r>
          </a:p>
        </p:txBody>
      </p:sp>
      <p:sp>
        <p:nvSpPr>
          <p:cNvPr id="31" name="TextBox 30"/>
          <p:cNvSpPr txBox="1"/>
          <p:nvPr/>
        </p:nvSpPr>
        <p:spPr>
          <a:xfrm>
            <a:off x="594360" y="6519672"/>
            <a:ext cx="10515600" cy="201168"/>
          </a:xfrm>
          <a:prstGeom prst="rect">
            <a:avLst/>
          </a:prstGeom>
          <a:noFill/>
        </p:spPr>
        <p:txBody>
          <a:bodyPr wrap="square" lIns="45720" rIns="45720" anchor="t">
            <a:spAutoFit/>
          </a:bodyPr>
          <a:lstStyle/>
          <a:p>
            <a:pPr algn="l">
              <a:spcAft>
                <a:spcPts val="0"/>
              </a:spcAft>
            </a:pPr>
            <a:r>
              <a:rPr sz="900" b="0">
                <a:solidFill>
                  <a:srgbClr val="3A4B51"/>
                </a:solidFill>
                <a:latin typeface="Aptos"/>
              </a:rPr>
              <a:t>Da engenharia à oncologia: IA na solução de problemas reais</a:t>
            </a:r>
          </a:p>
        </p:txBody>
      </p:sp>
      <p:sp>
        <p:nvSpPr>
          <p:cNvPr id="32" name="TextBox 31"/>
          <p:cNvSpPr txBox="1"/>
          <p:nvPr/>
        </p:nvSpPr>
        <p:spPr>
          <a:xfrm>
            <a:off x="11155680" y="6519672"/>
            <a:ext cx="320040" cy="201168"/>
          </a:xfrm>
          <a:prstGeom prst="rect">
            <a:avLst/>
          </a:prstGeom>
          <a:noFill/>
        </p:spPr>
        <p:txBody>
          <a:bodyPr wrap="square" lIns="45720" rIns="45720" anchor="t">
            <a:spAutoFit/>
          </a:bodyPr>
          <a:lstStyle/>
          <a:p>
            <a:pPr algn="r">
              <a:spcAft>
                <a:spcPts val="0"/>
              </a:spcAft>
            </a:pPr>
            <a:r>
              <a:rPr sz="900" b="0">
                <a:solidFill>
                  <a:srgbClr val="3A4B51"/>
                </a:solidFill>
                <a:latin typeface="Aptos"/>
              </a:rPr>
              <a:t>65</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8229600" cy="228600"/>
          </a:xfrm>
          <a:prstGeom prst="rect">
            <a:avLst/>
          </a:prstGeom>
          <a:noFill/>
        </p:spPr>
        <p:txBody>
          <a:bodyPr wrap="square">
            <a:spAutoFit/>
          </a:bodyPr>
          <a:lstStyle/>
          <a:p>
            <a:pPr>
              <a:spcAft>
                <a:spcPts val="700"/>
              </a:spcAft>
            </a:pPr>
            <a:r>
              <a:rPr sz="1000" b="1">
                <a:solidFill>
                  <a:srgbClr val="007875"/>
                </a:solidFill>
                <a:latin typeface="Aptos"/>
              </a:rPr>
              <a:t>MATERIAIS</a:t>
            </a:r>
          </a:p>
        </p:txBody>
      </p:sp>
      <p:sp>
        <p:nvSpPr>
          <p:cNvPr id="4" name="TextBox 3"/>
          <p:cNvSpPr txBox="1"/>
          <p:nvPr/>
        </p:nvSpPr>
        <p:spPr>
          <a:xfrm>
            <a:off x="530352" y="566928"/>
            <a:ext cx="11155680" cy="566928"/>
          </a:xfrm>
          <a:prstGeom prst="rect">
            <a:avLst/>
          </a:prstGeom>
          <a:noFill/>
        </p:spPr>
        <p:txBody>
          <a:bodyPr wrap="square">
            <a:spAutoFit/>
          </a:bodyPr>
          <a:lstStyle/>
          <a:p>
            <a:pPr>
              <a:spcAft>
                <a:spcPts val="700"/>
              </a:spcAft>
            </a:pPr>
            <a:r>
              <a:rPr sz="2700" b="1">
                <a:solidFill>
                  <a:srgbClr val="142A38"/>
                </a:solidFill>
                <a:latin typeface="Georgia"/>
              </a:rPr>
              <a:t>Referências e recursos para continuar</a:t>
            </a:r>
          </a:p>
        </p:txBody>
      </p:sp>
      <p:sp>
        <p:nvSpPr>
          <p:cNvPr id="5" name="TextBox 4"/>
          <p:cNvSpPr txBox="1"/>
          <p:nvPr/>
        </p:nvSpPr>
        <p:spPr>
          <a:xfrm>
            <a:off x="566928" y="1170432"/>
            <a:ext cx="10972800" cy="411480"/>
          </a:xfrm>
          <a:prstGeom prst="rect">
            <a:avLst/>
          </a:prstGeom>
          <a:noFill/>
        </p:spPr>
        <p:txBody>
          <a:bodyPr wrap="square">
            <a:spAutoFit/>
          </a:bodyPr>
          <a:lstStyle/>
          <a:p>
            <a:pPr>
              <a:spcAft>
                <a:spcPts val="700"/>
              </a:spcAft>
            </a:pPr>
            <a:r>
              <a:rPr sz="1300" b="0">
                <a:solidFill>
                  <a:srgbClr val="637478"/>
                </a:solidFill>
                <a:latin typeface="Aptos"/>
              </a:rPr>
              <a:t>Consulte documentação oficial e use os notebooks como ponto de partida.</a:t>
            </a:r>
          </a:p>
        </p:txBody>
      </p:sp>
      <p:sp>
        <p:nvSpPr>
          <p:cNvPr id="6" name="TextBox 5"/>
          <p:cNvSpPr txBox="1"/>
          <p:nvPr/>
        </p:nvSpPr>
        <p:spPr>
          <a:xfrm>
            <a:off x="530352" y="6519672"/>
            <a:ext cx="9144000" cy="182880"/>
          </a:xfrm>
          <a:prstGeom prst="rect">
            <a:avLst/>
          </a:prstGeom>
          <a:noFill/>
        </p:spPr>
        <p:txBody>
          <a:bodyPr wrap="square">
            <a:spAutoFit/>
          </a:bodyPr>
          <a:lstStyle/>
          <a:p>
            <a:pPr>
              <a:spcAft>
                <a:spcPts val="700"/>
              </a:spcAft>
            </a:pPr>
            <a:r>
              <a:rPr sz="900" b="0">
                <a:solidFill>
                  <a:srgbClr val="637478"/>
                </a:solidFill>
                <a:latin typeface="Aptos"/>
              </a:rPr>
              <a:t>Da engenharia à oncologia · IA na solução de problemas reais</a:t>
            </a:r>
          </a:p>
        </p:txBody>
      </p:sp>
      <p:sp>
        <p:nvSpPr>
          <p:cNvPr id="7" name="TextBox 6"/>
          <p:cNvSpPr txBox="1"/>
          <p:nvPr/>
        </p:nvSpPr>
        <p:spPr>
          <a:xfrm>
            <a:off x="11201400" y="6492240"/>
            <a:ext cx="457200" cy="228600"/>
          </a:xfrm>
          <a:prstGeom prst="rect">
            <a:avLst/>
          </a:prstGeom>
          <a:noFill/>
        </p:spPr>
        <p:txBody>
          <a:bodyPr wrap="square">
            <a:spAutoFit/>
          </a:bodyPr>
          <a:lstStyle/>
          <a:p>
            <a:pPr algn="r">
              <a:spcAft>
                <a:spcPts val="700"/>
              </a:spcAft>
            </a:pPr>
            <a:r>
              <a:rPr sz="1000" b="1">
                <a:solidFill>
                  <a:srgbClr val="637478"/>
                </a:solidFill>
                <a:latin typeface="Aptos"/>
              </a:rPr>
              <a:t>66</a:t>
            </a:r>
          </a:p>
        </p:txBody>
      </p:sp>
      <p:sp>
        <p:nvSpPr>
          <p:cNvPr id="8" name="TextBox 7"/>
          <p:cNvSpPr txBox="1"/>
          <p:nvPr/>
        </p:nvSpPr>
        <p:spPr>
          <a:xfrm>
            <a:off x="822960" y="1645920"/>
            <a:ext cx="10789920" cy="4114800"/>
          </a:xfrm>
          <a:prstGeom prst="rect">
            <a:avLst/>
          </a:prstGeom>
          <a:noFill/>
        </p:spPr>
        <p:txBody>
          <a:bodyPr wrap="square">
            <a:spAutoFit/>
          </a:bodyPr>
          <a:lstStyle/>
          <a:p>
            <a:pPr>
              <a:spcAft>
                <a:spcPts val="700"/>
              </a:spcAft>
            </a:pPr>
            <a:r>
              <a:rPr sz="1600" b="0">
                <a:solidFill>
                  <a:srgbClr val="303E44"/>
                </a:solidFill>
                <a:latin typeface="Aptos"/>
              </a:rPr>
              <a:t>• Google Colab — https://colab.research.google.com/</a:t>
            </a:r>
          </a:p>
          <a:p>
            <a:pPr>
              <a:spcAft>
                <a:spcPts val="700"/>
              </a:spcAft>
            </a:pPr>
            <a:r>
              <a:rPr sz="1600" b="0">
                <a:solidFill>
                  <a:srgbClr val="303E44"/>
                </a:solidFill>
                <a:latin typeface="Aptos"/>
              </a:rPr>
              <a:t>• scikit-learn — https://scikit-learn.org/stable/</a:t>
            </a:r>
          </a:p>
          <a:p>
            <a:pPr>
              <a:spcAft>
                <a:spcPts val="700"/>
              </a:spcAft>
            </a:pPr>
            <a:r>
              <a:rPr sz="1600" b="0">
                <a:solidFill>
                  <a:srgbClr val="303E44"/>
                </a:solidFill>
                <a:latin typeface="Aptos"/>
              </a:rPr>
              <a:t>• Supervised learning — https://scikit-learn.org/stable/supervised_learning.html</a:t>
            </a:r>
          </a:p>
          <a:p>
            <a:pPr>
              <a:spcAft>
                <a:spcPts val="700"/>
              </a:spcAft>
            </a:pPr>
            <a:r>
              <a:rPr sz="1600" b="0">
                <a:solidFill>
                  <a:srgbClr val="303E44"/>
                </a:solidFill>
                <a:latin typeface="Aptos"/>
              </a:rPr>
              <a:t>• Clustering — https://scikit-learn.org/stable/modules/clustering.html</a:t>
            </a:r>
          </a:p>
          <a:p>
            <a:pPr>
              <a:spcAft>
                <a:spcPts val="700"/>
              </a:spcAft>
            </a:pPr>
            <a:r>
              <a:rPr sz="1600" b="0">
                <a:solidFill>
                  <a:srgbClr val="303E44"/>
                </a:solidFill>
                <a:latin typeface="Aptos"/>
              </a:rPr>
              <a:t>• PCA — https://scikit-learn.org/stable/modules/decomposition.html#pca</a:t>
            </a:r>
          </a:p>
          <a:p>
            <a:pPr>
              <a:spcAft>
                <a:spcPts val="700"/>
              </a:spcAft>
            </a:pPr>
            <a:r>
              <a:rPr sz="1600" b="0">
                <a:solidFill>
                  <a:srgbClr val="303E44"/>
                </a:solidFill>
                <a:latin typeface="Aptos"/>
              </a:rPr>
              <a:t>• Notebook e slides do curso — repositório no GitHub (link da ministrante)</a:t>
            </a:r>
          </a:p>
        </p:txBody>
      </p:sp>
      <p:sp>
        <p:nvSpPr>
          <p:cNvPr id="9" name="TextBox 8"/>
          <p:cNvSpPr txBox="1"/>
          <p:nvPr/>
        </p:nvSpPr>
        <p:spPr>
          <a:xfrm>
            <a:off x="822960" y="5715000"/>
            <a:ext cx="10424160" cy="320040"/>
          </a:xfrm>
          <a:prstGeom prst="rect">
            <a:avLst/>
          </a:prstGeom>
          <a:noFill/>
        </p:spPr>
        <p:txBody>
          <a:bodyPr wrap="square">
            <a:spAutoFit/>
          </a:bodyPr>
          <a:lstStyle/>
          <a:p>
            <a:pPr>
              <a:spcAft>
                <a:spcPts val="700"/>
              </a:spcAft>
            </a:pPr>
            <a:r>
              <a:rPr sz="1300" b="0">
                <a:solidFill>
                  <a:srgbClr val="637478"/>
                </a:solidFill>
                <a:latin typeface="Aptos"/>
              </a:rPr>
              <a:t>Antes de divulgar, revise links, biografia, tempo disponível e permissões de uso dos materiais.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1BBDCE-00D6-2E38-1C87-18115D0B8AD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16668769-8567-B9DB-1978-D40E1BC0CE7B}"/>
              </a:ext>
            </a:extLst>
          </p:cNvPr>
          <p:cNvSpPr>
            <a:spLocks noGrp="1"/>
          </p:cNvSpPr>
          <p:nvPr>
            <p:ph type="title"/>
          </p:nvPr>
        </p:nvSpPr>
        <p:spPr>
          <a:xfrm>
            <a:off x="812800" y="242005"/>
            <a:ext cx="10883392" cy="825500"/>
          </a:xfrm>
          <a:prstGeom prst="rect">
            <a:avLst/>
          </a:prstGeom>
          <a:noFill/>
          <a:ln/>
        </p:spPr>
        <p:txBody>
          <a:bodyPr wrap="square" lIns="0" tIns="0" rIns="0" bIns="0" rtlCol="0" anchor="t">
            <a:normAutofit/>
          </a:bodyPr>
          <a:lstStyle/>
          <a:p>
            <a:pPr marL="0" indent="0" algn="ctr">
              <a:lnSpc>
                <a:spcPts val="6300"/>
              </a:lnSpc>
              <a:buNone/>
            </a:pPr>
            <a:r>
              <a:rPr lang="en-US" sz="6000" b="1" i="0" dirty="0">
                <a:solidFill>
                  <a:schemeClr val="tx1"/>
                </a:solidFill>
                <a:latin typeface="EB Garamond" pitchFamily="18" charset="0"/>
                <a:ea typeface="EB Garamond" pitchFamily="18" charset="-122"/>
                <a:cs typeface="EB Garamond" pitchFamily="18" charset="-120"/>
              </a:rPr>
              <a:t>Perguntas e conversa</a:t>
            </a:r>
            <a:endParaRPr lang="en-US" sz="6000" dirty="0">
              <a:solidFill>
                <a:schemeClr val="tx1"/>
              </a:solidFill>
            </a:endParaRPr>
          </a:p>
        </p:txBody>
      </p:sp>
      <p:sp>
        <p:nvSpPr>
          <p:cNvPr id="4" name="Text 2">
            <a:extLst>
              <a:ext uri="{FF2B5EF4-FFF2-40B4-BE49-F238E27FC236}">
                <a16:creationId xmlns:a16="http://schemas.microsoft.com/office/drawing/2014/main" id="{15238421-3F7A-232C-FD99-48BD78300793}"/>
              </a:ext>
            </a:extLst>
          </p:cNvPr>
          <p:cNvSpPr/>
          <p:nvPr/>
        </p:nvSpPr>
        <p:spPr>
          <a:xfrm>
            <a:off x="812800" y="3790950"/>
            <a:ext cx="10883392" cy="309860"/>
          </a:xfrm>
          <a:prstGeom prst="rect">
            <a:avLst/>
          </a:prstGeom>
          <a:noFill/>
          <a:ln/>
        </p:spPr>
        <p:txBody>
          <a:bodyPr wrap="square" lIns="0" tIns="0" rIns="0" bIns="0" rtlCol="0" anchor="t">
            <a:normAutofit/>
          </a:bodyPr>
          <a:lstStyle/>
          <a:p>
            <a:pPr marL="0" indent="0" algn="l">
              <a:lnSpc>
                <a:spcPts val="2240"/>
              </a:lnSpc>
              <a:buNone/>
            </a:pPr>
            <a:endParaRPr lang="en-US" sz="1600" dirty="0"/>
          </a:p>
        </p:txBody>
      </p:sp>
      <p:sp>
        <p:nvSpPr>
          <p:cNvPr id="5" name="Text 3">
            <a:extLst>
              <a:ext uri="{FF2B5EF4-FFF2-40B4-BE49-F238E27FC236}">
                <a16:creationId xmlns:a16="http://schemas.microsoft.com/office/drawing/2014/main" id="{2FBFD4FA-BD18-BF0E-14C9-89E5F150CC9B}"/>
              </a:ext>
            </a:extLst>
          </p:cNvPr>
          <p:cNvSpPr/>
          <p:nvPr/>
        </p:nvSpPr>
        <p:spPr>
          <a:xfrm>
            <a:off x="1284267" y="5896750"/>
            <a:ext cx="10883392" cy="309860"/>
          </a:xfrm>
          <a:prstGeom prst="rect">
            <a:avLst/>
          </a:prstGeom>
          <a:noFill/>
          <a:ln/>
        </p:spPr>
        <p:txBody>
          <a:bodyPr wrap="square" lIns="0" tIns="0" rIns="0" bIns="0" rtlCol="0" anchor="t">
            <a:noAutofit/>
          </a:bodyPr>
          <a:lstStyle/>
          <a:p>
            <a:pPr marL="0" indent="0" algn="l">
              <a:lnSpc>
                <a:spcPts val="2240"/>
              </a:lnSpc>
              <a:buNone/>
            </a:pPr>
            <a:r>
              <a:rPr lang="en-US" sz="3000" dirty="0">
                <a:latin typeface="DM Sans" pitchFamily="34" charset="0"/>
                <a:ea typeface="DM Sans" pitchFamily="34" charset="-122"/>
                <a:cs typeface="DM Sans" pitchFamily="34" charset="-120"/>
              </a:rPr>
              <a:t>E-mail: </a:t>
            </a:r>
            <a:r>
              <a:rPr lang="en-US" sz="3000" dirty="0" err="1">
                <a:latin typeface="DM Sans" pitchFamily="34" charset="0"/>
                <a:ea typeface="DM Sans" pitchFamily="34" charset="-122"/>
                <a:cs typeface="DM Sans" pitchFamily="34" charset="-120"/>
              </a:rPr>
              <a:t>patriciapedrosoestevam@gmail.com</a:t>
            </a:r>
            <a:endParaRPr lang="en-US" sz="3000" dirty="0"/>
          </a:p>
        </p:txBody>
      </p:sp>
      <p:sp>
        <p:nvSpPr>
          <p:cNvPr id="7" name="Text 5">
            <a:extLst>
              <a:ext uri="{FF2B5EF4-FFF2-40B4-BE49-F238E27FC236}">
                <a16:creationId xmlns:a16="http://schemas.microsoft.com/office/drawing/2014/main" id="{8BDBC28C-EA11-1E77-A8B6-DECA1DBCDEA3}"/>
              </a:ext>
            </a:extLst>
          </p:cNvPr>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4B1"/>
                </a:solidFill>
                <a:latin typeface="DM Sans" pitchFamily="34" charset="0"/>
                <a:ea typeface="DM Sans" pitchFamily="34" charset="-122"/>
                <a:cs typeface="DM Sans" pitchFamily="34" charset="-120"/>
              </a:rPr>
              <a:t>67</a:t>
            </a:r>
            <a:endParaRPr lang="en-US" sz="1200" dirty="0"/>
          </a:p>
        </p:txBody>
      </p:sp>
      <p:pic>
        <p:nvPicPr>
          <p:cNvPr id="8" name="Imagem 7">
            <a:extLst>
              <a:ext uri="{FF2B5EF4-FFF2-40B4-BE49-F238E27FC236}">
                <a16:creationId xmlns:a16="http://schemas.microsoft.com/office/drawing/2014/main" id="{C1AC0A4C-BEA6-5643-5EDC-1BE5AD3E4E92}"/>
              </a:ext>
            </a:extLst>
          </p:cNvPr>
          <p:cNvPicPr>
            <a:picLocks noChangeAspect="1"/>
          </p:cNvPicPr>
          <p:nvPr/>
        </p:nvPicPr>
        <p:blipFill>
          <a:blip r:embed="rId3"/>
          <a:stretch>
            <a:fillRect/>
          </a:stretch>
        </p:blipFill>
        <p:spPr>
          <a:xfrm>
            <a:off x="6469830" y="2477727"/>
            <a:ext cx="2413692" cy="2447330"/>
          </a:xfrm>
          <a:prstGeom prst="rect">
            <a:avLst/>
          </a:prstGeom>
        </p:spPr>
      </p:pic>
      <p:pic>
        <p:nvPicPr>
          <p:cNvPr id="9" name="Imagem 8">
            <a:extLst>
              <a:ext uri="{FF2B5EF4-FFF2-40B4-BE49-F238E27FC236}">
                <a16:creationId xmlns:a16="http://schemas.microsoft.com/office/drawing/2014/main" id="{EE468542-F608-ACBF-7FA2-5B9ADF27D634}"/>
              </a:ext>
            </a:extLst>
          </p:cNvPr>
          <p:cNvPicPr>
            <a:picLocks noChangeAspect="1"/>
          </p:cNvPicPr>
          <p:nvPr/>
        </p:nvPicPr>
        <p:blipFill>
          <a:blip r:embed="rId4"/>
          <a:stretch>
            <a:fillRect/>
          </a:stretch>
        </p:blipFill>
        <p:spPr>
          <a:xfrm>
            <a:off x="9276417" y="2557284"/>
            <a:ext cx="2505012" cy="2447330"/>
          </a:xfrm>
          <a:prstGeom prst="rect">
            <a:avLst/>
          </a:prstGeom>
        </p:spPr>
      </p:pic>
      <p:pic>
        <p:nvPicPr>
          <p:cNvPr id="7172" name="Picture 4" descr="Linkedin: a rede social para profissionais de todas as áreas">
            <a:extLst>
              <a:ext uri="{FF2B5EF4-FFF2-40B4-BE49-F238E27FC236}">
                <a16:creationId xmlns:a16="http://schemas.microsoft.com/office/drawing/2014/main" id="{2A6C9C73-D07B-0C6B-F6D0-AE74FFBC37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18620" y="1444651"/>
            <a:ext cx="1800810" cy="1122336"/>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F877A599-FA2F-BEB5-7E51-304834F422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5467" y="1498706"/>
            <a:ext cx="2047350" cy="934660"/>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m 10" descr="Mulher com camisa branca&#10;&#10;O conteúdo gerado por IA pode estar incorreto.">
            <a:extLst>
              <a:ext uri="{FF2B5EF4-FFF2-40B4-BE49-F238E27FC236}">
                <a16:creationId xmlns:a16="http://schemas.microsoft.com/office/drawing/2014/main" id="{BEC2CACA-B631-95E8-623E-6C5BE8EE9664}"/>
              </a:ext>
            </a:extLst>
          </p:cNvPr>
          <p:cNvPicPr>
            <a:picLocks noChangeAspect="1"/>
          </p:cNvPicPr>
          <p:nvPr/>
        </p:nvPicPr>
        <p:blipFill>
          <a:blip r:embed="rId7"/>
          <a:stretch>
            <a:fillRect/>
          </a:stretch>
        </p:blipFill>
        <p:spPr>
          <a:xfrm>
            <a:off x="812800" y="1921743"/>
            <a:ext cx="2047351" cy="3077037"/>
          </a:xfrm>
          <a:prstGeom prst="rect">
            <a:avLst/>
          </a:prstGeom>
        </p:spPr>
      </p:pic>
      <p:pic>
        <p:nvPicPr>
          <p:cNvPr id="2" name="Imagem 1">
            <a:extLst>
              <a:ext uri="{FF2B5EF4-FFF2-40B4-BE49-F238E27FC236}">
                <a16:creationId xmlns:a16="http://schemas.microsoft.com/office/drawing/2014/main" id="{CE92408B-0E54-6BD4-8ECC-530BDE9D1E6D}"/>
              </a:ext>
            </a:extLst>
          </p:cNvPr>
          <p:cNvPicPr>
            <a:picLocks noChangeAspect="1"/>
          </p:cNvPicPr>
          <p:nvPr/>
        </p:nvPicPr>
        <p:blipFill>
          <a:blip r:embed="rId8"/>
          <a:srcRect t="3337"/>
          <a:stretch>
            <a:fillRect/>
          </a:stretch>
        </p:blipFill>
        <p:spPr>
          <a:xfrm>
            <a:off x="3379395" y="2551450"/>
            <a:ext cx="2455337" cy="2447330"/>
          </a:xfrm>
          <a:prstGeom prst="rect">
            <a:avLst/>
          </a:prstGeom>
        </p:spPr>
      </p:pic>
      <p:sp>
        <p:nvSpPr>
          <p:cNvPr id="10" name="CaixaDeTexto 9">
            <a:extLst>
              <a:ext uri="{FF2B5EF4-FFF2-40B4-BE49-F238E27FC236}">
                <a16:creationId xmlns:a16="http://schemas.microsoft.com/office/drawing/2014/main" id="{1ED4FD42-E2EC-591E-16BC-BB4A7E9C27E6}"/>
              </a:ext>
            </a:extLst>
          </p:cNvPr>
          <p:cNvSpPr txBox="1"/>
          <p:nvPr/>
        </p:nvSpPr>
        <p:spPr>
          <a:xfrm>
            <a:off x="3394504" y="1770760"/>
            <a:ext cx="2455337" cy="861774"/>
          </a:xfrm>
          <a:prstGeom prst="rect">
            <a:avLst/>
          </a:prstGeom>
          <a:noFill/>
        </p:spPr>
        <p:txBody>
          <a:bodyPr wrap="square">
            <a:spAutoFit/>
          </a:bodyPr>
          <a:lstStyle/>
          <a:p>
            <a:pPr algn="ctr"/>
            <a:r>
              <a:rPr lang="pt-BR" sz="2500" b="1" noProof="0">
                <a:latin typeface="DM Sans" pitchFamily="34" charset="0"/>
              </a:rPr>
              <a:t>Baixar os arquivos</a:t>
            </a:r>
            <a:endParaRPr lang="pt-BR" sz="2500" b="1" noProof="0"/>
          </a:p>
        </p:txBody>
      </p:sp>
    </p:spTree>
    <p:extLst>
      <p:ext uri="{BB962C8B-B14F-4D97-AF65-F5344CB8AC3E}">
        <p14:creationId xmlns:p14="http://schemas.microsoft.com/office/powerpoint/2010/main" val="42270008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21903"/>
          </a:xfrm>
          <a:prstGeom prst="rect">
            <a:avLst/>
          </a:prstGeom>
          <a:noFill/>
          <a:ln/>
        </p:spPr>
        <p:txBody>
          <a:bodyPr wrap="square" lIns="0" tIns="0" rIns="0" bIns="0" rtlCol="0" anchor="t">
            <a:normAutofit/>
          </a:bodyPr>
          <a:lstStyle/>
          <a:p>
            <a:pPr marL="0" indent="0" algn="l">
              <a:lnSpc>
                <a:spcPts val="1570"/>
              </a:lnSpc>
              <a:buNone/>
            </a:pPr>
            <a:r>
              <a:rPr lang="en-US" sz="1121" b="1" kern="0" spc="200" dirty="0">
                <a:solidFill>
                  <a:srgbClr val="17706B"/>
                </a:solidFill>
                <a:latin typeface="DM Sans" pitchFamily="34" charset="0"/>
                <a:ea typeface="DM Sans" pitchFamily="34" charset="-122"/>
                <a:cs typeface="DM Sans" pitchFamily="34" charset="-120"/>
              </a:rPr>
              <a:t>ANEXO</a:t>
            </a:r>
            <a:endParaRPr lang="en-US" sz="1121" dirty="0"/>
          </a:p>
        </p:txBody>
      </p:sp>
      <p:sp>
        <p:nvSpPr>
          <p:cNvPr id="3" name="Text 1"/>
          <p:cNvSpPr>
            <a:spLocks noGrp="1"/>
          </p:cNvSpPr>
          <p:nvPr>
            <p:ph type="title"/>
          </p:nvPr>
        </p:nvSpPr>
        <p:spPr>
          <a:xfrm>
            <a:off x="812800" y="1110903"/>
            <a:ext cx="10883392" cy="488652"/>
          </a:xfrm>
          <a:prstGeom prst="rect">
            <a:avLst/>
          </a:prstGeom>
          <a:noFill/>
          <a:ln/>
        </p:spPr>
        <p:txBody>
          <a:bodyPr wrap="square" lIns="0" tIns="0" rIns="0" bIns="0" rtlCol="0" anchor="t">
            <a:normAutofit/>
          </a:bodyPr>
          <a:lstStyle/>
          <a:p>
            <a:pPr marL="0" indent="0" algn="l">
              <a:lnSpc>
                <a:spcPts val="3663"/>
              </a:lnSpc>
              <a:buNone/>
            </a:pPr>
            <a:r>
              <a:rPr lang="en-US" sz="3330" b="1" i="0" dirty="0">
                <a:solidFill>
                  <a:srgbClr val="10242B"/>
                </a:solidFill>
                <a:latin typeface="EB Garamond" pitchFamily="18" charset="0"/>
                <a:ea typeface="EB Garamond" pitchFamily="18" charset="-122"/>
                <a:cs typeface="EB Garamond" pitchFamily="18" charset="-120"/>
              </a:rPr>
              <a:t>Referências</a:t>
            </a:r>
            <a:endParaRPr lang="en-US" sz="3330" dirty="0"/>
          </a:p>
        </p:txBody>
      </p:sp>
      <p:sp>
        <p:nvSpPr>
          <p:cNvPr id="4" name="Text 2"/>
          <p:cNvSpPr/>
          <p:nvPr/>
        </p:nvSpPr>
        <p:spPr>
          <a:xfrm>
            <a:off x="812800" y="1777355"/>
            <a:ext cx="5284724" cy="595015"/>
          </a:xfrm>
          <a:prstGeom prst="rect">
            <a:avLst/>
          </a:prstGeom>
          <a:noFill/>
          <a:ln/>
        </p:spPr>
        <p:txBody>
          <a:bodyPr wrap="square" lIns="0" tIns="0" rIns="0" bIns="0" rtlCol="0" anchor="t">
            <a:normAutofit/>
          </a:bodyPr>
          <a:lstStyle/>
          <a:p>
            <a:pPr marL="0" indent="0" algn="l">
              <a:lnSpc>
                <a:spcPts val="1504"/>
              </a:lnSpc>
              <a:buNone/>
            </a:pPr>
            <a:r>
              <a:rPr lang="en-US" sz="1114" b="1" dirty="0">
                <a:solidFill>
                  <a:srgbClr val="10242B"/>
                </a:solidFill>
                <a:latin typeface="DM Sans" pitchFamily="34" charset="0"/>
                <a:ea typeface="DM Sans" pitchFamily="34" charset="-122"/>
                <a:cs typeface="DM Sans" pitchFamily="34" charset="-120"/>
              </a:rPr>
              <a:t>Ribeiro P. P. E. Aplicação de técnicas de processamento de imagens para diferenciação do greening de outras pragas. Dissertação, EESC-USP (2014).</a:t>
            </a:r>
            <a:endParaRPr lang="en-US" sz="1114" dirty="0"/>
          </a:p>
        </p:txBody>
      </p:sp>
      <p:sp>
        <p:nvSpPr>
          <p:cNvPr id="5" name="Text 3"/>
          <p:cNvSpPr/>
          <p:nvPr/>
        </p:nvSpPr>
        <p:spPr>
          <a:xfrm>
            <a:off x="812800" y="2423170"/>
            <a:ext cx="5284724" cy="594965"/>
          </a:xfrm>
          <a:prstGeom prst="rect">
            <a:avLst/>
          </a:prstGeom>
          <a:noFill/>
          <a:ln/>
        </p:spPr>
        <p:txBody>
          <a:bodyPr wrap="square" lIns="0" tIns="0" rIns="0" bIns="0" rtlCol="0" anchor="t">
            <a:normAutofit/>
          </a:bodyPr>
          <a:lstStyle/>
          <a:p>
            <a:pPr marL="0" indent="0" algn="l">
              <a:lnSpc>
                <a:spcPts val="1549"/>
              </a:lnSpc>
              <a:buNone/>
            </a:pPr>
            <a:r>
              <a:rPr lang="en-US" sz="1148" b="1" dirty="0">
                <a:solidFill>
                  <a:srgbClr val="10242B"/>
                </a:solidFill>
                <a:latin typeface="DM Sans" pitchFamily="34" charset="0"/>
                <a:ea typeface="DM Sans" pitchFamily="34" charset="-122"/>
                <a:cs typeface="DM Sans" pitchFamily="34" charset="-120"/>
              </a:rPr>
              <a:t>Ribeiro P. P. E.; Paiva M. S. V.; Jorge L. A. C. Application of texture analysis for differentiation of the greening from others pests. X WVC (2014).</a:t>
            </a:r>
            <a:endParaRPr lang="en-US" sz="1148" dirty="0"/>
          </a:p>
        </p:txBody>
      </p:sp>
      <p:sp>
        <p:nvSpPr>
          <p:cNvPr id="6" name="Text 4"/>
          <p:cNvSpPr/>
          <p:nvPr/>
        </p:nvSpPr>
        <p:spPr>
          <a:xfrm>
            <a:off x="812800" y="3068935"/>
            <a:ext cx="5284724" cy="595015"/>
          </a:xfrm>
          <a:prstGeom prst="rect">
            <a:avLst/>
          </a:prstGeom>
          <a:noFill/>
          <a:ln/>
        </p:spPr>
        <p:txBody>
          <a:bodyPr wrap="square" lIns="0" tIns="0" rIns="0" bIns="0" rtlCol="0" anchor="t">
            <a:normAutofit/>
          </a:bodyPr>
          <a:lstStyle/>
          <a:p>
            <a:pPr marL="0" indent="0" algn="l">
              <a:lnSpc>
                <a:spcPts val="1504"/>
              </a:lnSpc>
              <a:buNone/>
            </a:pPr>
            <a:r>
              <a:rPr lang="en-US" sz="1114" b="1" dirty="0">
                <a:solidFill>
                  <a:srgbClr val="10242B"/>
                </a:solidFill>
                <a:latin typeface="DM Sans" pitchFamily="34" charset="0"/>
                <a:ea typeface="DM Sans" pitchFamily="34" charset="-122"/>
                <a:cs typeface="DM Sans" pitchFamily="34" charset="-120"/>
              </a:rPr>
              <a:t>Ribeiro P. P. E.; Jorge L. A. C.; Paiva M. S. V. Diferenciação do greening de outras doenças foliares em citros. Avanços em Visão Computacional, cap. 8 (2012).</a:t>
            </a:r>
            <a:endParaRPr lang="en-US" sz="1114" dirty="0"/>
          </a:p>
        </p:txBody>
      </p:sp>
      <p:sp>
        <p:nvSpPr>
          <p:cNvPr id="7" name="Text 5"/>
          <p:cNvSpPr/>
          <p:nvPr/>
        </p:nvSpPr>
        <p:spPr>
          <a:xfrm>
            <a:off x="812800" y="3714750"/>
            <a:ext cx="5284724" cy="594965"/>
          </a:xfrm>
          <a:prstGeom prst="rect">
            <a:avLst/>
          </a:prstGeom>
          <a:noFill/>
          <a:ln/>
        </p:spPr>
        <p:txBody>
          <a:bodyPr wrap="square" lIns="0" tIns="0" rIns="0" bIns="0" rtlCol="0" anchor="t">
            <a:normAutofit/>
          </a:bodyPr>
          <a:lstStyle/>
          <a:p>
            <a:pPr marL="0" indent="0" algn="l">
              <a:lnSpc>
                <a:spcPts val="1519"/>
              </a:lnSpc>
              <a:buNone/>
            </a:pPr>
            <a:r>
              <a:rPr lang="en-US" sz="1125" b="1" dirty="0">
                <a:solidFill>
                  <a:srgbClr val="10242B"/>
                </a:solidFill>
                <a:latin typeface="DM Sans" pitchFamily="34" charset="0"/>
                <a:ea typeface="DM Sans" pitchFamily="34" charset="-122"/>
                <a:cs typeface="DM Sans" pitchFamily="34" charset="-120"/>
              </a:rPr>
              <a:t>Silva D. C. P.; Ribeiro P. P. E. et al. Extração de características para geração de um classificador para detecção precoce do HLB em citros. VI WVC.</a:t>
            </a:r>
            <a:endParaRPr lang="en-US" sz="1125" dirty="0"/>
          </a:p>
        </p:txBody>
      </p:sp>
      <p:sp>
        <p:nvSpPr>
          <p:cNvPr id="8" name="Text 6"/>
          <p:cNvSpPr/>
          <p:nvPr/>
        </p:nvSpPr>
        <p:spPr>
          <a:xfrm>
            <a:off x="812800" y="4360515"/>
            <a:ext cx="5284724" cy="594965"/>
          </a:xfrm>
          <a:prstGeom prst="rect">
            <a:avLst/>
          </a:prstGeom>
          <a:noFill/>
          <a:ln/>
        </p:spPr>
        <p:txBody>
          <a:bodyPr wrap="square" lIns="0" tIns="0" rIns="0" bIns="0" rtlCol="0" anchor="t">
            <a:normAutofit/>
          </a:bodyPr>
          <a:lstStyle/>
          <a:p>
            <a:pPr marL="0" indent="0" algn="l">
              <a:lnSpc>
                <a:spcPts val="1504"/>
              </a:lnSpc>
              <a:buNone/>
            </a:pPr>
            <a:r>
              <a:rPr lang="en-US" sz="1114" b="1" dirty="0">
                <a:solidFill>
                  <a:srgbClr val="10242B"/>
                </a:solidFill>
                <a:latin typeface="DM Sans" pitchFamily="34" charset="0"/>
                <a:ea typeface="DM Sans" pitchFamily="34" charset="-122"/>
                <a:cs typeface="DM Sans" pitchFamily="34" charset="-120"/>
              </a:rPr>
              <a:t>Ribeiro P. P. E.; Righetto A. J. Análise computacional de genes metilados para classificar risco em pacientes com câncer cervical e HPV. TCC, MBA USP/ESALQ (2024).</a:t>
            </a:r>
            <a:endParaRPr lang="en-US" sz="1114" dirty="0"/>
          </a:p>
        </p:txBody>
      </p:sp>
      <p:sp>
        <p:nvSpPr>
          <p:cNvPr id="10" name="Text 8"/>
          <p:cNvSpPr/>
          <p:nvPr/>
        </p:nvSpPr>
        <p:spPr>
          <a:xfrm>
            <a:off x="812800" y="5001768"/>
            <a:ext cx="5284724" cy="405160"/>
          </a:xfrm>
          <a:prstGeom prst="rect">
            <a:avLst/>
          </a:prstGeom>
          <a:noFill/>
          <a:ln/>
        </p:spPr>
        <p:txBody>
          <a:bodyPr wrap="square" lIns="0" tIns="0" rIns="0" bIns="0" rtlCol="0" anchor="t">
            <a:normAutofit/>
          </a:bodyPr>
          <a:lstStyle/>
          <a:p>
            <a:pPr marL="0" indent="0" algn="l">
              <a:lnSpc>
                <a:spcPts val="1509"/>
              </a:lnSpc>
              <a:buNone/>
            </a:pPr>
            <a:r>
              <a:rPr lang="en-US" sz="1118" dirty="0">
                <a:solidFill>
                  <a:srgbClr val="3B4A4F"/>
                </a:solidFill>
                <a:latin typeface="DM Sans" pitchFamily="34" charset="0"/>
                <a:ea typeface="DM Sans" pitchFamily="34" charset="-122"/>
                <a:cs typeface="DM Sans" pitchFamily="34" charset="-120"/>
              </a:rPr>
              <a:t>Da Q. et al. Computational pathology in the era of emerging foundation and agentic AI. arXiv:2603.05884 (2026).</a:t>
            </a:r>
            <a:endParaRPr lang="en-US" sz="1118" dirty="0"/>
          </a:p>
        </p:txBody>
      </p:sp>
      <p:sp>
        <p:nvSpPr>
          <p:cNvPr id="11" name="Text 9"/>
          <p:cNvSpPr/>
          <p:nvPr/>
        </p:nvSpPr>
        <p:spPr>
          <a:xfrm>
            <a:off x="6248400" y="1777355"/>
            <a:ext cx="5284724"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World Economic Forum. Future of Jobs Report 2025 (2025).</a:t>
            </a:r>
            <a:endParaRPr lang="en-US" sz="1200" dirty="0"/>
          </a:p>
        </p:txBody>
      </p:sp>
      <p:sp>
        <p:nvSpPr>
          <p:cNvPr id="12" name="Text 10"/>
          <p:cNvSpPr/>
          <p:nvPr/>
        </p:nvSpPr>
        <p:spPr>
          <a:xfrm>
            <a:off x="6248400" y="2059285"/>
            <a:ext cx="5284724"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PwC. Barômetro de Empregos de IA 2026, edição Brasil, via Movimento Econômico (30/09/2026).</a:t>
            </a:r>
            <a:endParaRPr lang="en-US" sz="1200" dirty="0"/>
          </a:p>
        </p:txBody>
      </p:sp>
      <p:sp>
        <p:nvSpPr>
          <p:cNvPr id="13" name="Text 11"/>
          <p:cNvSpPr/>
          <p:nvPr/>
        </p:nvSpPr>
        <p:spPr>
          <a:xfrm>
            <a:off x="6248400" y="2546945"/>
            <a:ext cx="5284724"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Afya. ASCO 2026: aplicações clínicas da IA na oncologia (31/05/2026).</a:t>
            </a:r>
            <a:endParaRPr lang="en-US" sz="1200" dirty="0"/>
          </a:p>
        </p:txBody>
      </p:sp>
      <p:sp>
        <p:nvSpPr>
          <p:cNvPr id="14" name="Text 12"/>
          <p:cNvSpPr/>
          <p:nvPr/>
        </p:nvSpPr>
        <p:spPr>
          <a:xfrm>
            <a:off x="6248400" y="2828875"/>
            <a:ext cx="5284724"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Ismail L. et al. Digital twin-driven predictive maintenance in industrial engineering. arXiv:2509.24443 (2025).</a:t>
            </a:r>
            <a:endParaRPr lang="en-US" sz="1200" dirty="0"/>
          </a:p>
        </p:txBody>
      </p:sp>
      <p:sp>
        <p:nvSpPr>
          <p:cNvPr id="15" name="Text 13"/>
          <p:cNvSpPr/>
          <p:nvPr/>
        </p:nvSpPr>
        <p:spPr>
          <a:xfrm>
            <a:off x="6248400" y="3316536"/>
            <a:ext cx="5284724"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IEEE Computer Society. IoT, edge, and digital twins: the new playbook for maintenance (2026).</a:t>
            </a:r>
            <a:endParaRPr lang="en-US" sz="1200" dirty="0"/>
          </a:p>
        </p:txBody>
      </p:sp>
      <p:sp>
        <p:nvSpPr>
          <p:cNvPr id="16" name="Text 14"/>
          <p:cNvSpPr/>
          <p:nvPr/>
        </p:nvSpPr>
        <p:spPr>
          <a:xfrm>
            <a:off x="6248400" y="3804196"/>
            <a:ext cx="5284724"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KaaIoT. Top 5 industrial automation trends for 2026 (12/05/2026).</a:t>
            </a:r>
            <a:endParaRPr lang="en-US" sz="1200" dirty="0"/>
          </a:p>
        </p:txBody>
      </p:sp>
      <p:sp>
        <p:nvSpPr>
          <p:cNvPr id="17" name="Text 15"/>
          <p:cNvSpPr/>
          <p:nvPr/>
        </p:nvSpPr>
        <p:spPr>
          <a:xfrm>
            <a:off x="6248400" y="4086126"/>
            <a:ext cx="5284724"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IBA. AI and digital health in Brazil: balancing innovation and regulation (2025).</a:t>
            </a:r>
            <a:endParaRPr lang="en-US" sz="1200" dirty="0"/>
          </a:p>
        </p:txBody>
      </p:sp>
      <p:sp>
        <p:nvSpPr>
          <p:cNvPr id="18" name="Text 16"/>
          <p:cNvSpPr/>
          <p:nvPr/>
        </p:nvSpPr>
        <p:spPr>
          <a:xfrm>
            <a:off x="6248400" y="4573786"/>
            <a:ext cx="5284724"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CI-IA Saúde (UFMG). Boletim de março de 2026: Resolução CFM nº 2.454/2026 e PreemieTest.</a:t>
            </a:r>
            <a:endParaRPr lang="en-US" sz="1200" dirty="0"/>
          </a:p>
        </p:txBody>
      </p:sp>
      <p:sp>
        <p:nvSpPr>
          <p:cNvPr id="19" name="Text 17"/>
          <p:cNvSpPr/>
          <p:nvPr/>
        </p:nvSpPr>
        <p:spPr>
          <a:xfrm>
            <a:off x="6248400" y="5061446"/>
            <a:ext cx="5284724"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Futuro da Saúde; Estratégia Med; Congresso em Foco: regulação e políticas de IA em saúde no Brasil (2025–2026).</a:t>
            </a:r>
            <a:endParaRPr lang="en-US" sz="1200" dirty="0"/>
          </a:p>
        </p:txBody>
      </p:sp>
      <p:sp>
        <p:nvSpPr>
          <p:cNvPr id="20" name="Text 18"/>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A6E"/>
                </a:solidFill>
                <a:latin typeface="DM Sans" pitchFamily="34" charset="0"/>
                <a:ea typeface="DM Sans" pitchFamily="34" charset="-122"/>
                <a:cs typeface="DM Sans" pitchFamily="34" charset="-120"/>
              </a:rPr>
              <a:t>Da engenharia à oncologia: IA na solução de problemas reais</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A6E"/>
                </a:solidFill>
                <a:latin typeface="DM Sans" pitchFamily="34" charset="0"/>
                <a:ea typeface="DM Sans" pitchFamily="34" charset="-122"/>
                <a:cs typeface="DM Sans" pitchFamily="34" charset="-120"/>
              </a:rPr>
              <a:t>68</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812800"/>
            <a:ext cx="10883392" cy="221903"/>
          </a:xfrm>
          <a:prstGeom prst="rect">
            <a:avLst/>
          </a:prstGeom>
          <a:noFill/>
          <a:ln/>
        </p:spPr>
        <p:txBody>
          <a:bodyPr wrap="square" lIns="0" tIns="0" rIns="0" bIns="0" rtlCol="0" anchor="t">
            <a:normAutofit/>
          </a:bodyPr>
          <a:lstStyle/>
          <a:p>
            <a:pPr marL="0" indent="0" algn="l">
              <a:lnSpc>
                <a:spcPts val="1570"/>
              </a:lnSpc>
              <a:buNone/>
            </a:pPr>
            <a:r>
              <a:rPr lang="en-US" sz="1121" b="1" kern="0" spc="200" dirty="0">
                <a:solidFill>
                  <a:srgbClr val="17706B"/>
                </a:solidFill>
                <a:latin typeface="DM Sans" pitchFamily="34" charset="0"/>
                <a:ea typeface="DM Sans" pitchFamily="34" charset="-122"/>
                <a:cs typeface="DM Sans" pitchFamily="34" charset="-120"/>
              </a:rPr>
              <a:t>ANEXO</a:t>
            </a:r>
            <a:endParaRPr lang="en-US" sz="1121" dirty="0"/>
          </a:p>
        </p:txBody>
      </p:sp>
      <p:sp>
        <p:nvSpPr>
          <p:cNvPr id="3" name="Text 1"/>
          <p:cNvSpPr>
            <a:spLocks noGrp="1"/>
          </p:cNvSpPr>
          <p:nvPr>
            <p:ph type="title"/>
          </p:nvPr>
        </p:nvSpPr>
        <p:spPr>
          <a:xfrm>
            <a:off x="812800" y="1110903"/>
            <a:ext cx="10883392" cy="488652"/>
          </a:xfrm>
          <a:prstGeom prst="rect">
            <a:avLst/>
          </a:prstGeom>
          <a:noFill/>
          <a:ln/>
        </p:spPr>
        <p:txBody>
          <a:bodyPr wrap="square" lIns="0" tIns="0" rIns="0" bIns="0" rtlCol="0" anchor="t">
            <a:normAutofit/>
          </a:bodyPr>
          <a:lstStyle/>
          <a:p>
            <a:pPr marL="0" indent="0" algn="l">
              <a:lnSpc>
                <a:spcPts val="3663"/>
              </a:lnSpc>
              <a:buNone/>
            </a:pPr>
            <a:r>
              <a:rPr lang="en-US" sz="3330" b="1" i="0" dirty="0">
                <a:solidFill>
                  <a:srgbClr val="10242B"/>
                </a:solidFill>
                <a:latin typeface="EB Garamond" pitchFamily="18" charset="0"/>
                <a:ea typeface="EB Garamond" pitchFamily="18" charset="-122"/>
                <a:cs typeface="EB Garamond" pitchFamily="18" charset="-120"/>
              </a:rPr>
              <a:t>Referências (continuação)</a:t>
            </a:r>
            <a:endParaRPr lang="en-US" sz="3330" dirty="0"/>
          </a:p>
        </p:txBody>
      </p:sp>
      <p:sp>
        <p:nvSpPr>
          <p:cNvPr id="20" name="Text 18"/>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A6E"/>
                </a:solidFill>
                <a:latin typeface="DM Sans" pitchFamily="34" charset="0"/>
                <a:ea typeface="DM Sans" pitchFamily="34" charset="-122"/>
                <a:cs typeface="DM Sans" pitchFamily="34" charset="-120"/>
              </a:rPr>
              <a:t>Da engenharia à oncologia: IA na solução de problemas reais</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A6E"/>
                </a:solidFill>
                <a:latin typeface="DM Sans" pitchFamily="34" charset="0"/>
                <a:ea typeface="DM Sans" pitchFamily="34" charset="-122"/>
                <a:cs typeface="DM Sans" pitchFamily="34" charset="-120"/>
              </a:rPr>
              <a:t>69</a:t>
            </a:r>
            <a:endParaRPr lang="en-US" sz="1200" dirty="0"/>
          </a:p>
        </p:txBody>
      </p:sp>
      <p:sp>
        <p:nvSpPr>
          <p:cNvPr id="22" name="Ref 1"/>
          <p:cNvSpPr/>
          <p:nvPr/>
        </p:nvSpPr>
        <p:spPr>
          <a:xfrm>
            <a:off x="813816" y="1773936"/>
            <a:ext cx="5285232" cy="548640"/>
          </a:xfrm>
          <a:prstGeom prst="rect">
            <a:avLst/>
          </a:prstGeom>
          <a:noFill/>
          <a:ln/>
        </p:spPr>
        <p:txBody>
          <a:bodyPr wrap="square" lIns="0" tIns="0" rIns="0" bIns="0" rtlCol="0" anchor="t">
            <a:no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Stack Overflow. 2025 Developer Survey: AI (2025).</a:t>
            </a:r>
            <a:endParaRPr lang="en-US" sz="1200" dirty="0"/>
          </a:p>
        </p:txBody>
      </p:sp>
      <p:sp>
        <p:nvSpPr>
          <p:cNvPr id="23" name="Ref 2"/>
          <p:cNvSpPr/>
          <p:nvPr/>
        </p:nvSpPr>
        <p:spPr>
          <a:xfrm>
            <a:off x="813816" y="2459736"/>
            <a:ext cx="5285232" cy="548640"/>
          </a:xfrm>
          <a:prstGeom prst="rect">
            <a:avLst/>
          </a:prstGeom>
          <a:noFill/>
          <a:ln/>
        </p:spPr>
        <p:txBody>
          <a:bodyPr wrap="square" lIns="0" tIns="0" rIns="0" bIns="0" rtlCol="0" anchor="t">
            <a:no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Siemens. Siemens lança no Brasil o Eigen Engineering Agent (30/09/2026).</a:t>
            </a:r>
            <a:endParaRPr lang="en-US" sz="1200" dirty="0"/>
          </a:p>
        </p:txBody>
      </p:sp>
      <p:sp>
        <p:nvSpPr>
          <p:cNvPr id="24" name="Ref 3"/>
          <p:cNvSpPr/>
          <p:nvPr/>
        </p:nvSpPr>
        <p:spPr>
          <a:xfrm>
            <a:off x="813816" y="3145536"/>
            <a:ext cx="5285232" cy="548640"/>
          </a:xfrm>
          <a:prstGeom prst="rect">
            <a:avLst/>
          </a:prstGeom>
          <a:noFill/>
          <a:ln/>
        </p:spPr>
        <p:txBody>
          <a:bodyPr wrap="square" lIns="0" tIns="0" rIns="0" bIns="0" rtlCol="0" anchor="t">
            <a:no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Tesla. Documentação oficial sobre câmeras e assistência à condução (Tesla Vision / FSD Supervised).</a:t>
            </a:r>
            <a:endParaRPr lang="en-US" sz="1200" dirty="0"/>
          </a:p>
        </p:txBody>
      </p:sp>
      <p:sp>
        <p:nvSpPr>
          <p:cNvPr id="25" name="Ref 4"/>
          <p:cNvSpPr/>
          <p:nvPr/>
        </p:nvSpPr>
        <p:spPr>
          <a:xfrm>
            <a:off x="813816" y="3831335"/>
            <a:ext cx="5285232" cy="548640"/>
          </a:xfrm>
          <a:prstGeom prst="rect">
            <a:avLst/>
          </a:prstGeom>
          <a:noFill/>
          <a:ln/>
        </p:spPr>
        <p:txBody>
          <a:bodyPr wrap="square" lIns="0" tIns="0" rIns="0" bIns="0" rtlCol="0" anchor="t">
            <a:no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Karpathy A. (Tesla). Keynote do workshop de veículos autônomos, CVPR 2021, via InsideEVs (2021).</a:t>
            </a:r>
            <a:endParaRPr lang="en-US" sz="1200" dirty="0"/>
          </a:p>
        </p:txBody>
      </p:sp>
      <p:sp>
        <p:nvSpPr>
          <p:cNvPr id="26" name="Ref 5"/>
          <p:cNvSpPr/>
          <p:nvPr/>
        </p:nvSpPr>
        <p:spPr>
          <a:xfrm>
            <a:off x="813816" y="4517136"/>
            <a:ext cx="5285232" cy="548640"/>
          </a:xfrm>
          <a:prstGeom prst="rect">
            <a:avLst/>
          </a:prstGeom>
          <a:noFill/>
          <a:ln/>
        </p:spPr>
        <p:txBody>
          <a:bodyPr wrap="square" lIns="0" tIns="0" rIns="0" bIns="0" rtlCol="0" anchor="t">
            <a:no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TechCrunch. Tesla is no longer using radar sensors in Model 3 and Model Y built in North America (25/05/2021).</a:t>
            </a:r>
            <a:endParaRPr lang="en-US" sz="1200" dirty="0"/>
          </a:p>
        </p:txBody>
      </p:sp>
      <p:sp>
        <p:nvSpPr>
          <p:cNvPr id="27" name="Ref 6"/>
          <p:cNvSpPr/>
          <p:nvPr/>
        </p:nvSpPr>
        <p:spPr>
          <a:xfrm>
            <a:off x="6245352" y="1773936"/>
            <a:ext cx="5285232" cy="548640"/>
          </a:xfrm>
          <a:prstGeom prst="rect">
            <a:avLst/>
          </a:prstGeom>
          <a:noFill/>
          <a:ln/>
        </p:spPr>
        <p:txBody>
          <a:bodyPr wrap="square" lIns="0" tIns="0" rIns="0" bIns="0" rtlCol="0" anchor="t">
            <a:no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TOMRA Food. LUCAi: classificação de frutas com inteligência artificial (aplicação comercial).</a:t>
            </a:r>
            <a:endParaRPr lang="en-US" sz="1200" dirty="0"/>
          </a:p>
        </p:txBody>
      </p:sp>
      <p:sp>
        <p:nvSpPr>
          <p:cNvPr id="28" name="Ref 7"/>
          <p:cNvSpPr/>
          <p:nvPr/>
        </p:nvSpPr>
        <p:spPr>
          <a:xfrm>
            <a:off x="6245352" y="2459736"/>
            <a:ext cx="5285232" cy="548640"/>
          </a:xfrm>
          <a:prstGeom prst="rect">
            <a:avLst/>
          </a:prstGeom>
          <a:noFill/>
          <a:ln/>
        </p:spPr>
        <p:txBody>
          <a:bodyPr wrap="square" lIns="0" tIns="0" rIns="0" bIns="0" rtlCol="0" anchor="t">
            <a:no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Mercado Livre. Página oficial de tecnologia, logística e armazenagem.</a:t>
            </a:r>
            <a:endParaRPr lang="en-US" sz="1200" dirty="0"/>
          </a:p>
        </p:txBody>
      </p:sp>
      <p:sp>
        <p:nvSpPr>
          <p:cNvPr id="29" name="Ref 8"/>
          <p:cNvSpPr/>
          <p:nvPr/>
        </p:nvSpPr>
        <p:spPr>
          <a:xfrm>
            <a:off x="6245352" y="3145536"/>
            <a:ext cx="5285232" cy="548640"/>
          </a:xfrm>
          <a:prstGeom prst="rect">
            <a:avLst/>
          </a:prstGeom>
          <a:noFill/>
          <a:ln/>
        </p:spPr>
        <p:txBody>
          <a:bodyPr wrap="square" lIns="0" tIns="0" rIns="0" bIns="0" rtlCol="0" anchor="t">
            <a:no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Canaltech. Mercado Livre introduz nova geração de robôs para reforçar operação logística (24/09/2025).</a:t>
            </a:r>
            <a:endParaRPr lang="en-US" sz="1200" dirty="0"/>
          </a:p>
        </p:txBody>
      </p:sp>
      <p:sp>
        <p:nvSpPr>
          <p:cNvPr id="30" name="Ref 9"/>
          <p:cNvSpPr/>
          <p:nvPr/>
        </p:nvSpPr>
        <p:spPr>
          <a:xfrm>
            <a:off x="6245352" y="3831335"/>
            <a:ext cx="5285232" cy="548640"/>
          </a:xfrm>
          <a:prstGeom prst="rect">
            <a:avLst/>
          </a:prstGeom>
          <a:noFill/>
          <a:ln/>
        </p:spPr>
        <p:txBody>
          <a:bodyPr wrap="square" lIns="0" tIns="0" rIns="0" bIns="0" rtlCol="0" anchor="t">
            <a:no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Istoé Dinheiro. Mercado Livre usa robôs de separação (25/09/2025).</a:t>
            </a:r>
            <a:endParaRPr lang="en-US" sz="1200" dirty="0"/>
          </a:p>
        </p:txBody>
      </p:sp>
      <p:sp>
        <p:nvSpPr>
          <p:cNvPr id="32" name="Ref 9"/>
          <p:cNvSpPr/>
          <p:nvPr/>
        </p:nvSpPr>
        <p:spPr>
          <a:xfrm>
            <a:off x="813816" y="5202936"/>
            <a:ext cx="5285232" cy="868680"/>
          </a:xfrm>
          <a:prstGeom prst="rect">
            <a:avLst/>
          </a:prstGeom>
          <a:noFill/>
          <a:ln/>
        </p:spPr>
        <p:txBody>
          <a:bodyPr wrap="square" lIns="0" tIns="0" rIns="0" bIns="0" rtlCol="0" anchor="t">
            <a:no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Jumper J. et al. Protein structure prediction with AlphaFold. Nature 596:583–589 (2021).</a:t>
            </a:r>
            <a:endParaRPr lang="en-US" sz="1200" dirty="0"/>
          </a:p>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Perez M. V. et al. Smartwatch to identify atrial fibrillation. N Engl J Med 381:1909–1917 (2019).</a:t>
            </a:r>
            <a:endParaRPr lang="en-US" sz="1200" dirty="0"/>
          </a:p>
        </p:txBody>
      </p:sp>
      <p:sp>
        <p:nvSpPr>
          <p:cNvPr id="31" name="Ref 9"/>
          <p:cNvSpPr/>
          <p:nvPr/>
        </p:nvSpPr>
        <p:spPr>
          <a:xfrm>
            <a:off x="6245352" y="4517136"/>
            <a:ext cx="5285232" cy="868680"/>
          </a:xfrm>
          <a:prstGeom prst="rect">
            <a:avLst/>
          </a:prstGeom>
          <a:noFill/>
          <a:ln/>
        </p:spPr>
        <p:txBody>
          <a:bodyPr wrap="square" lIns="0" tIns="0" rIns="0" bIns="0" rtlCol="0" anchor="t">
            <a:noAutofit/>
          </a:bodyPr>
          <a:lstStyle/>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Abràmoff M. D. et al. Autonomous AI for diabetic retinopathy (IDx-DR). npj Digit Med 1:39 (2018).</a:t>
            </a:r>
            <a:endParaRPr lang="en-US" sz="1200" dirty="0"/>
          </a:p>
          <a:p>
            <a:pPr marL="0" indent="0" algn="l">
              <a:lnSpc>
                <a:spcPts val="1620"/>
              </a:lnSpc>
              <a:buNone/>
            </a:pPr>
            <a:r>
              <a:rPr lang="en-US" sz="1200" dirty="0">
                <a:solidFill>
                  <a:srgbClr val="3B4A4F"/>
                </a:solidFill>
                <a:latin typeface="DM Sans" pitchFamily="34" charset="0"/>
                <a:ea typeface="DM Sans" pitchFamily="34" charset="-122"/>
                <a:cs typeface="DM Sans" pitchFamily="34" charset="-120"/>
              </a:rPr>
              <a:t>McKinney S. M. et al. AI system for breast cancer screening. Nature 577:89–94 (2020).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1309</TotalTime>
  <Words>18234</Words>
  <Application>Microsoft Macintosh PowerPoint</Application>
  <PresentationFormat>Widescreen</PresentationFormat>
  <Paragraphs>1182</Paragraphs>
  <Slides>69</Slides>
  <Notes>44</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69</vt:i4>
      </vt:variant>
    </vt:vector>
  </HeadingPairs>
  <TitlesOfParts>
    <vt:vector size="76" baseType="lpstr">
      <vt:lpstr>Aptos</vt:lpstr>
      <vt:lpstr>Arial</vt:lpstr>
      <vt:lpstr>Calibri</vt:lpstr>
      <vt:lpstr>DM Sans</vt:lpstr>
      <vt:lpstr>EB Garamond</vt:lpstr>
      <vt:lpstr>Georgia</vt:lpstr>
      <vt:lpstr>Office Theme</vt:lpstr>
      <vt:lpstr>Apresentação do PowerPoint</vt:lpstr>
      <vt:lpstr>Do curso técnico para a engenharia até a bioinformática em oncologia</vt:lpstr>
      <vt:lpstr>Meu primeiro projeto: controlar a irrigação com um microcontrolador PIC</vt:lpstr>
      <vt:lpstr>Visão computacional para identificar o greening nos citros</vt:lpstr>
      <vt:lpstr>Apresentação do PowerPoint</vt:lpstr>
      <vt:lpstr>Metilação do DNA e aprendizado de máquina no câncer cervical</vt:lpstr>
      <vt:lpstr>TILs e resposta à imunoterapia anti-PD-1</vt:lpstr>
      <vt:lpstr>Validação externa de uma assinatura gênica para imunoterapia (Anti-PDL1) para câncer de pulmão</vt:lpstr>
      <vt:lpstr>Calculadora de risco de neoplasia intraepitelial cervical (NIC)</vt:lpstr>
      <vt:lpstr>O que a engenharia elétrica me ensinou?</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Inteligência artificial</vt:lpstr>
      <vt:lpstr>Apresentação do PowerPoint</vt:lpstr>
      <vt:lpstr>As técnicas de IA e onde as encontramos</vt:lpstr>
      <vt:lpstr>Apresentação do PowerPoint</vt:lpstr>
      <vt:lpstr>Apresentação do PowerPoint</vt:lpstr>
      <vt:lpstr>Apresentação do PowerPoint</vt:lpstr>
      <vt:lpstr>Apresentação do PowerPoint</vt:lpstr>
      <vt:lpstr>Apresentação do PowerPoint</vt:lpstr>
      <vt:lpstr>Demonstração prática de Machine Learning Teachable Machine</vt:lpstr>
      <vt:lpstr>Demonstração prática de Machine Learning Teachable Machine</vt:lpstr>
      <vt:lpstr>Demonstração prática de Machine Learning Teachable Machine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Três algoritmos em uma imagem</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O que aprendi ao implementar</vt:lpstr>
      <vt:lpstr>Apresentação do PowerPoint</vt:lpstr>
      <vt:lpstr>Apresentação do PowerPoint</vt:lpstr>
      <vt:lpstr>Apresentação do PowerPoint</vt:lpstr>
      <vt:lpstr>Apresentação do PowerPoint</vt:lpstr>
      <vt:lpstr>Perguntas e conversa</vt:lpstr>
      <vt:lpstr>Referências</vt:lpstr>
      <vt:lpstr>Referências (continuação)</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Patricia Pedroso Estevam Ribeiro</cp:lastModifiedBy>
  <cp:revision>11</cp:revision>
  <dcterms:created xsi:type="dcterms:W3CDTF">2013-01-27T09:14:16Z</dcterms:created>
  <dcterms:modified xsi:type="dcterms:W3CDTF">2026-10-29T17:29:56Z</dcterms:modified>
  <cp:category/>
</cp:coreProperties>
</file>